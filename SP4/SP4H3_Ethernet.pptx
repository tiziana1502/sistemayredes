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63" y="4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7260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737360"/>
            <a:ext cx="2926080" cy="0"/>
          </a:xfrm>
          <a:prstGeom prst="line">
            <a:avLst/>
          </a:prstGeom>
          <a:noFill/>
          <a:ln w="508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737360"/>
            <a:ext cx="292608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2148840"/>
            <a:ext cx="2926080" cy="0"/>
          </a:xfrm>
          <a:prstGeom prst="line">
            <a:avLst/>
          </a:prstGeom>
          <a:noFill/>
          <a:ln w="508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2148840"/>
            <a:ext cx="292608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2560320"/>
            <a:ext cx="2926080" cy="0"/>
          </a:xfrm>
          <a:prstGeom prst="line">
            <a:avLst/>
          </a:prstGeom>
          <a:noFill/>
          <a:ln w="50800">
            <a:solidFill>
              <a:srgbClr val="43A0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292608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2971800"/>
            <a:ext cx="2926080" cy="0"/>
          </a:xfrm>
          <a:prstGeom prst="line">
            <a:avLst/>
          </a:prstGeom>
          <a:noFill/>
          <a:ln w="50800">
            <a:solidFill>
              <a:srgbClr val="FB8C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2971800"/>
            <a:ext cx="292608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31029" y="1673352"/>
            <a:ext cx="640080" cy="1371600"/>
          </a:xfrm>
          <a:prstGeom prst="rect">
            <a:avLst/>
          </a:prstGeom>
          <a:solidFill>
            <a:srgbClr val="555555"/>
          </a:solidFill>
          <a:ln w="1270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31029" y="2257425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RJ-45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65760" y="3474720"/>
            <a:ext cx="685800" cy="411480"/>
          </a:xfrm>
          <a:prstGeom prst="roundRect">
            <a:avLst>
              <a:gd name="adj" fmla="val 17778"/>
            </a:avLst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3474720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70432" y="3474720"/>
            <a:ext cx="685800" cy="411480"/>
          </a:xfrm>
          <a:prstGeom prst="roundRect">
            <a:avLst>
              <a:gd name="adj" fmla="val 17778"/>
            </a:avLst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70432" y="3474720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75104" y="3474720"/>
            <a:ext cx="685800" cy="411480"/>
          </a:xfrm>
          <a:prstGeom prst="roundRect">
            <a:avLst>
              <a:gd name="adj" fmla="val 17778"/>
            </a:avLst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975104" y="3474720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79776" y="3474720"/>
            <a:ext cx="685800" cy="411480"/>
          </a:xfrm>
          <a:prstGeom prst="roundRect">
            <a:avLst>
              <a:gd name="adj" fmla="val 17778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79776" y="3474720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10G+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89120" y="1188720"/>
            <a:ext cx="4434840" cy="2834640"/>
          </a:xfrm>
          <a:prstGeom prst="rect">
            <a:avLst/>
          </a:prstGeom>
          <a:solidFill>
            <a:srgbClr val="3A7BAA">
              <a:alpha val="90000"/>
            </a:srgbClr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480560" y="1325880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SP4 / H3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480560" y="1719072"/>
            <a:ext cx="4251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Red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Ethernet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4480560" y="2788920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AA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802.3 — CSMA/CD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480560" y="3200400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 y Comunicaciones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64592"/>
            <a:ext cx="8229600" cy="749808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164592"/>
            <a:ext cx="80101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Ethernet?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66928" y="987552"/>
            <a:ext cx="8010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tecnología LAN más extendida del mundo — IEEE 802.3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8503920" cy="914400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73152" cy="91440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444752"/>
            <a:ext cx="818388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Ethernet es la familia de productos LAN comprendida por el estándar IEEE 802.3. Usa CSMA/CD como protocolo de acceso al medio. Permite conectar computadoras, servidores e impresoras a través de un sistema flexible y de bajo costo que prácticamente todos los dispositivos modernos soportan.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2487168"/>
            <a:ext cx="2011680" cy="2240280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" y="2487168"/>
            <a:ext cx="2011680" cy="438912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93192" y="2487168"/>
            <a:ext cx="18653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🔌  Tecnología LAN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2990088"/>
            <a:ext cx="1828800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Diseñada para redes locales (edificio, campus). Cableada e inalámbrica.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468880" y="2487168"/>
            <a:ext cx="2011680" cy="2240280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468880" y="2487168"/>
            <a:ext cx="2011680" cy="438912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542032" y="2487168"/>
            <a:ext cx="18653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Estándar IEEE 802.3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0320" y="2990088"/>
            <a:ext cx="1828800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del estándar. Publicado en 1983. Más de 40 años de historia.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17720" y="2487168"/>
            <a:ext cx="2011680" cy="2240280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17720" y="2487168"/>
            <a:ext cx="2011680" cy="438912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90872" y="2487168"/>
            <a:ext cx="18653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Protocolo CSMA/CD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09160" y="2990088"/>
            <a:ext cx="1828800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al medio. Con switches modernos, colisiones prácticamente eliminadas.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766560" y="2487168"/>
            <a:ext cx="2011680" cy="2240280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766560" y="2487168"/>
            <a:ext cx="2011680" cy="438912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39712" y="2487168"/>
            <a:ext cx="186537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 Universal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58000" y="2990088"/>
            <a:ext cx="1828800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Soportado por Windows, Linux, macOS, iOS, Android, todos los SO de red.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37160" y="4846320"/>
            <a:ext cx="88696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🎤 Preguntar: ¿qué dispositivos en el aula usan Ethernet ahora mismo? (laptops, router, switch, celulares por Wi-Fi)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D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64592"/>
            <a:ext cx="8229600" cy="749808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164592"/>
            <a:ext cx="80101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origen de Ethernet — Xerox PARC, 1973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277096" y="930890"/>
            <a:ext cx="8010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Bob Metcalfe y la evolución desde ALOHA hasta CSMA/CD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51560" y="1389888"/>
            <a:ext cx="0" cy="3383280"/>
          </a:xfrm>
          <a:prstGeom prst="line">
            <a:avLst/>
          </a:prstGeom>
          <a:noFill/>
          <a:ln w="2540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87552" y="1316736"/>
            <a:ext cx="146304" cy="146304"/>
          </a:xfrm>
          <a:prstGeom prst="ellipse">
            <a:avLst/>
          </a:prstGeom>
          <a:solidFill>
            <a:srgbClr val="80808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1280160"/>
            <a:ext cx="621792" cy="274320"/>
          </a:xfrm>
          <a:prstGeom prst="rect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28016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1970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261872" y="1192315"/>
            <a:ext cx="7543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ALOHA (Univ. Hawaii): primer protocolo de acceso múltiple por radio.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87552" y="1883664"/>
            <a:ext cx="146304" cy="146304"/>
          </a:xfrm>
          <a:prstGeom prst="ellipse">
            <a:avLst/>
          </a:prstGeom>
          <a:solidFill>
            <a:srgbClr val="5AA8D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" y="1847088"/>
            <a:ext cx="621792" cy="27432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1847088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261872" y="1759243"/>
            <a:ext cx="7543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Bob Metcalfe (Xerox PARC) inventa Ethernet. Opera a 2,94 Mbps. Conecta Xerox Alto + impresoras láser.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87552" y="2450592"/>
            <a:ext cx="146304" cy="146304"/>
          </a:xfrm>
          <a:prstGeom prst="ellipse">
            <a:avLst/>
          </a:prstGeom>
          <a:solidFill>
            <a:srgbClr val="3A7BA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" y="2414016"/>
            <a:ext cx="621792" cy="274320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" y="2414016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1980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261872" y="2326171"/>
            <a:ext cx="7543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Consorcio DIX (Digital+Intel+Xerox) publica Ethernet 10 Mbps v2.0.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87552" y="3017520"/>
            <a:ext cx="146304" cy="146304"/>
          </a:xfrm>
          <a:prstGeom prst="ellipse">
            <a:avLst/>
          </a:prstGeom>
          <a:solidFill>
            <a:srgbClr val="1565C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0040" y="2980944"/>
            <a:ext cx="621792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2980944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1983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261872" y="2893099"/>
            <a:ext cx="7543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adopta 802.3. Ethernet se convierte en estándar abierto internacional.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87552" y="3584448"/>
            <a:ext cx="146304" cy="146304"/>
          </a:xfrm>
          <a:prstGeom prst="ellipse">
            <a:avLst/>
          </a:prstGeom>
          <a:solidFill>
            <a:srgbClr val="0D47A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20040" y="3547872"/>
            <a:ext cx="621792" cy="27432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0040" y="3547872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1995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261872" y="3460027"/>
            <a:ext cx="7543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Ethernet (100 Mbps). Autonegociación entre 10 y 100 Mbps automática.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87552" y="4151376"/>
            <a:ext cx="146304" cy="146304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20040" y="4114800"/>
            <a:ext cx="621792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20040" y="4114800"/>
            <a:ext cx="621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1998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261872" y="4026955"/>
            <a:ext cx="7543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Gigabit Ethernet (1000 Mbps). Mismos cables UTP Cat5e. 10x más rápido que Fast Ethernet.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37160" y="4846320"/>
            <a:ext cx="88696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🎤 Dato curioso: Metcalfe también cofundó 3Com en 1979 y más tarde presidió la IEEE. El nombre 'Ethernet' viene del éter, el medio hipotético por el que viajaba la luz en la física del siglo XIX.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38385"/>
            <a:ext cx="8229600" cy="502920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90787"/>
            <a:ext cx="8010144" cy="6113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Velocidades de Ethernet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66928" y="736419"/>
            <a:ext cx="8010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10 Mbps a 400 Gbps — siempre el mismo estándar, más rápido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4066631"/>
            <a:ext cx="1097280" cy="411480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4121495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3517991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Ethernet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10Base-T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920240" y="3517991"/>
            <a:ext cx="1097280" cy="960120"/>
          </a:xfrm>
          <a:prstGeom prst="rect">
            <a:avLst/>
          </a:prstGeom>
          <a:solidFill>
            <a:srgbClr val="B9DEF8"/>
          </a:solidFill>
          <a:ln w="12700">
            <a:solidFill>
              <a:srgbClr val="B9DE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920240" y="3572855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0" y="2969351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100Base-TX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337560" y="2877911"/>
            <a:ext cx="1097280" cy="160020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37560" y="2932775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46120" y="2329271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Gigabit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1000Base-T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54880" y="2237831"/>
            <a:ext cx="1097280" cy="2240280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0" y="2292695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1689191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Gigabit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802.3ae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172200" y="1597751"/>
            <a:ext cx="1097280" cy="28803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72200" y="1652615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80760" y="1049111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GbE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802.3ba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589520" y="1094831"/>
            <a:ext cx="1097280" cy="338328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589520" y="1149695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61341" y="656327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GbE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802.3bs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37160" y="4846320"/>
            <a:ext cx="88696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🎤 Preguntar: ¿a cuántos Mbps funciona la red Wi-Fi de tu casa? ¿Y el puerto Ethernet de tu laptop?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D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64592"/>
            <a:ext cx="8229600" cy="749808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164592"/>
            <a:ext cx="80101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Razones por las que Ethernet Domina el Mundo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66928" y="987552"/>
            <a:ext cx="8010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ganó la guerra de protocolos LAN?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444752"/>
            <a:ext cx="2788920" cy="1554480"/>
          </a:xfrm>
          <a:prstGeom prst="rect">
            <a:avLst/>
          </a:prstGeom>
          <a:solidFill>
            <a:srgbClr val="3A4550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444752"/>
            <a:ext cx="2788920" cy="438912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93192" y="1444752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 1. Bajo Costo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938528"/>
            <a:ext cx="260604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simple = chips económicos. NIC integrada en todas las placas base. Switch 8p Gigabit &lt; 20 USD.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64408" y="1444752"/>
            <a:ext cx="2788920" cy="1554480"/>
          </a:xfrm>
          <a:prstGeom prst="rect">
            <a:avLst/>
          </a:prstGeom>
          <a:solidFill>
            <a:srgbClr val="3A4550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64408" y="1444752"/>
            <a:ext cx="2788920" cy="438912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37560" y="1444752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 2. Escalabilidad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55848" y="1938528"/>
            <a:ext cx="260604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10→100→1000 Mbps sin cambiar cables. Autonegociación automática entre velocidades.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08776" y="1444752"/>
            <a:ext cx="2788920" cy="1554480"/>
          </a:xfrm>
          <a:prstGeom prst="rect">
            <a:avLst/>
          </a:prstGeom>
          <a:solidFill>
            <a:srgbClr val="3A4550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08776" y="1444752"/>
            <a:ext cx="2788920" cy="438912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81928" y="1444752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 3. Confiabilidad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0216" y="1938528"/>
            <a:ext cx="260604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Switches full-duplex eliminan colisiones. STP y LACP para redundancia y tolerancia a fallas.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182112"/>
            <a:ext cx="2788920" cy="1554480"/>
          </a:xfrm>
          <a:prstGeom prst="rect">
            <a:avLst/>
          </a:prstGeom>
          <a:solidFill>
            <a:srgbClr val="3A4550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0040" y="3182112"/>
            <a:ext cx="2788920" cy="438912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93192" y="3182112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 4. Estandarización Física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" y="3675888"/>
            <a:ext cx="260604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UTP Cat5e/6/6A funciona para 10M / 100M / 1G / 10G. Mismo cable, diferentes velocidades.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19757" y="3182112"/>
            <a:ext cx="2788920" cy="1554480"/>
          </a:xfrm>
          <a:prstGeom prst="rect">
            <a:avLst/>
          </a:prstGeom>
          <a:solidFill>
            <a:srgbClr val="3A4550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319757" y="3182112"/>
            <a:ext cx="2788920" cy="438912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392909" y="3182112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🛠️  5. Herramientas de Admin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11197" y="3675888"/>
            <a:ext cx="260604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SNMP, Wireshark, NetFlow, Zabbix, PRTG. Ecosistema enorme de monitoreo y diagnóstico.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37160" y="4846320"/>
            <a:ext cx="88696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🎤 Pregunta clave: ¿por qué Token Ring, que era más eficiente bajo alta carga, perdió frente a Ethernet? (Costo y escalabilidad ganaron)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64592"/>
            <a:ext cx="8229600" cy="749808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164592"/>
            <a:ext cx="80101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4 Elementos Básicos de Ethernet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66928" y="987552"/>
            <a:ext cx="8010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sistema Ethernet se define por estos cuatro componentes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4251960" cy="1664208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4251960" cy="411480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93192" y="1417320"/>
            <a:ext cx="4105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🔌  1. Medio Físico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874520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Cables y dispositivos que transportan la señal digital.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480" y="2276856"/>
            <a:ext cx="4069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Ej: UTP Cat5e/6/6A, fibra óptica monomodo/multimodo, cables DAC/AOC, transceptores SFP/QSFP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1417320"/>
            <a:ext cx="4251960" cy="1664208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0" y="1417320"/>
            <a:ext cx="4251960" cy="41148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28032" y="1417320"/>
            <a:ext cx="4105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 2. Trama (Frame)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874520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Conjunto ordenado de bits para transportar datos. Incluye cabecera, datos y CRC.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46320" y="2276856"/>
            <a:ext cx="4069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Ej: Trama Ethernet II (DIX) o IEEE 802.3. Se verá en detalle en SP4/H5.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246120"/>
            <a:ext cx="4251960" cy="1664208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" y="3246120"/>
            <a:ext cx="425196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93192" y="3246120"/>
            <a:ext cx="4105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3. Protocolo MAC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3703320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que permiten a múltiples estaciones acceder al medio compartido.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11480" y="4105656"/>
            <a:ext cx="4069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Ej: CSMA/CD (cableado, full-duplex), CSMA/CA (Wi-Fi 802.11).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3246120"/>
            <a:ext cx="4251960" cy="1664208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54880" y="3246120"/>
            <a:ext cx="4251960" cy="41148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28032" y="3246120"/>
            <a:ext cx="4105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  4. Componentes de Señalización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3703320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Dispositivos electrónicos que envían y reciben señales sobre Ethernet.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846320" y="4105656"/>
            <a:ext cx="4069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Ej: NIC (placa de red), PHY chip, transceptores SFP/QSFP, cables de fibra.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37160" y="4846320"/>
            <a:ext cx="88696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🎤 Tip: el 'medio físico' más común hoy es UTP Cat6. La 'trama' la vemos en H5. El 'protocolo MAC' fue el tema de H2.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D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64592"/>
            <a:ext cx="8229600" cy="749808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164592"/>
            <a:ext cx="80101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Cableado Estructurado — La base física de Ethernet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66928" y="987552"/>
            <a:ext cx="8010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cable bien instalado dura décadas y soporta varias generaciones de velocidad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1280160" cy="384048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1207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Categoría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600200" y="1417320"/>
            <a:ext cx="1417320" cy="384048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645920" y="1417320"/>
            <a:ext cx="1344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Velocidad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17520" y="1417320"/>
            <a:ext cx="1280160" cy="384048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063240" y="1417320"/>
            <a:ext cx="1207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Frec. máx.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7680" y="1417320"/>
            <a:ext cx="4754880" cy="384048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343400" y="1417320"/>
            <a:ext cx="46817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típico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1819656"/>
            <a:ext cx="1280160" cy="402336"/>
          </a:xfrm>
          <a:prstGeom prst="rect">
            <a:avLst/>
          </a:prstGeom>
          <a:solidFill>
            <a:srgbClr val="3A4550"/>
          </a:solidFill>
          <a:ln w="635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74904" y="1819656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 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600200" y="1819656"/>
            <a:ext cx="1417320" cy="402336"/>
          </a:xfrm>
          <a:prstGeom prst="rect">
            <a:avLst/>
          </a:prstGeom>
          <a:solidFill>
            <a:srgbClr val="3A4550"/>
          </a:solidFill>
          <a:ln w="635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655064" y="1819656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Mbps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017520" y="1819656"/>
            <a:ext cx="1280160" cy="402336"/>
          </a:xfrm>
          <a:prstGeom prst="rect">
            <a:avLst/>
          </a:prstGeom>
          <a:solidFill>
            <a:srgbClr val="3A4550"/>
          </a:solidFill>
          <a:ln w="635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072384" y="1819656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MHz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97680" y="1819656"/>
            <a:ext cx="4754880" cy="402336"/>
          </a:xfrm>
          <a:prstGeom prst="rect">
            <a:avLst/>
          </a:prstGeom>
          <a:solidFill>
            <a:srgbClr val="3A4550"/>
          </a:solidFill>
          <a:ln w="635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352544" y="1819656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 telefónicas. Ethernet 10Base-T.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2240280"/>
            <a:ext cx="1280160" cy="402336"/>
          </a:xfrm>
          <a:prstGeom prst="rect">
            <a:avLst/>
          </a:prstGeom>
          <a:solidFill>
            <a:srgbClr val="323E48"/>
          </a:solidFill>
          <a:ln w="635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74904" y="2240280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 5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600200" y="2240280"/>
            <a:ext cx="1417320" cy="402336"/>
          </a:xfrm>
          <a:prstGeom prst="rect">
            <a:avLst/>
          </a:prstGeom>
          <a:solidFill>
            <a:srgbClr val="323E48"/>
          </a:solidFill>
          <a:ln w="635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655064" y="2240280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Mbps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017520" y="2240280"/>
            <a:ext cx="1280160" cy="402336"/>
          </a:xfrm>
          <a:prstGeom prst="rect">
            <a:avLst/>
          </a:prstGeom>
          <a:solidFill>
            <a:srgbClr val="323E48"/>
          </a:solidFill>
          <a:ln w="635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072384" y="2240280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MHz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97680" y="2240280"/>
            <a:ext cx="4754880" cy="402336"/>
          </a:xfrm>
          <a:prstGeom prst="rect">
            <a:avLst/>
          </a:prstGeom>
          <a:solidFill>
            <a:srgbClr val="323E48"/>
          </a:solidFill>
          <a:ln w="635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352544" y="2240280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Ethernet. Obsoleto para nuevas inst.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2660904"/>
            <a:ext cx="1280160" cy="402336"/>
          </a:xfrm>
          <a:prstGeom prst="rect">
            <a:avLst/>
          </a:prstGeom>
          <a:solidFill>
            <a:srgbClr val="3A4550"/>
          </a:solidFill>
          <a:ln w="635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74904" y="2660904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 5e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600200" y="2660904"/>
            <a:ext cx="1417320" cy="402336"/>
          </a:xfrm>
          <a:prstGeom prst="rect">
            <a:avLst/>
          </a:prstGeom>
          <a:solidFill>
            <a:srgbClr val="3A4550"/>
          </a:solidFill>
          <a:ln w="635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655064" y="2660904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Gbps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017520" y="2660904"/>
            <a:ext cx="1280160" cy="402336"/>
          </a:xfrm>
          <a:prstGeom prst="rect">
            <a:avLst/>
          </a:prstGeom>
          <a:solidFill>
            <a:srgbClr val="3A4550"/>
          </a:solidFill>
          <a:ln w="635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3072384" y="2660904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MHz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297680" y="2660904"/>
            <a:ext cx="4754880" cy="402336"/>
          </a:xfrm>
          <a:prstGeom prst="rect">
            <a:avLst/>
          </a:prstGeom>
          <a:solidFill>
            <a:srgbClr val="3A4550"/>
          </a:solidFill>
          <a:ln w="635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352544" y="2660904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Gigabit Ethernet. Estándar mínimo hoy.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0040" y="3081528"/>
            <a:ext cx="1280160" cy="402336"/>
          </a:xfrm>
          <a:prstGeom prst="rect">
            <a:avLst/>
          </a:prstGeom>
          <a:solidFill>
            <a:srgbClr val="323E48"/>
          </a:solidFill>
          <a:ln w="635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74904" y="3081528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 6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600200" y="3081528"/>
            <a:ext cx="1417320" cy="402336"/>
          </a:xfrm>
          <a:prstGeom prst="rect">
            <a:avLst/>
          </a:prstGeom>
          <a:solidFill>
            <a:srgbClr val="323E48"/>
          </a:solidFill>
          <a:ln w="635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655064" y="3081528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Gbps / 10G* 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017520" y="3081528"/>
            <a:ext cx="1280160" cy="402336"/>
          </a:xfrm>
          <a:prstGeom prst="rect">
            <a:avLst/>
          </a:prstGeom>
          <a:solidFill>
            <a:srgbClr val="323E48"/>
          </a:solidFill>
          <a:ln w="635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072384" y="3081528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 MHz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297680" y="3081528"/>
            <a:ext cx="4754880" cy="402336"/>
          </a:xfrm>
          <a:prstGeom prst="rect">
            <a:avLst/>
          </a:prstGeom>
          <a:solidFill>
            <a:srgbClr val="323E48"/>
          </a:solidFill>
          <a:ln w="635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352544" y="3081528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Gigabit + 10G hasta 55m. Muy común.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20040" y="3502152"/>
            <a:ext cx="1280160" cy="402336"/>
          </a:xfrm>
          <a:prstGeom prst="rect">
            <a:avLst/>
          </a:prstGeom>
          <a:solidFill>
            <a:srgbClr val="3A4550"/>
          </a:solidFill>
          <a:ln w="635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74904" y="3502152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 6A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1600200" y="3502152"/>
            <a:ext cx="1417320" cy="402336"/>
          </a:xfrm>
          <a:prstGeom prst="rect">
            <a:avLst/>
          </a:prstGeom>
          <a:solidFill>
            <a:srgbClr val="3A4550"/>
          </a:solidFill>
          <a:ln w="635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1655064" y="3502152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Gbps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017520" y="3502152"/>
            <a:ext cx="1280160" cy="402336"/>
          </a:xfrm>
          <a:prstGeom prst="rect">
            <a:avLst/>
          </a:prstGeom>
          <a:solidFill>
            <a:srgbClr val="3A4550"/>
          </a:solidFill>
          <a:ln w="635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072384" y="3502152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MHz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297680" y="3502152"/>
            <a:ext cx="4754880" cy="402336"/>
          </a:xfrm>
          <a:prstGeom prst="rect">
            <a:avLst/>
          </a:prstGeom>
          <a:solidFill>
            <a:srgbClr val="3A4550"/>
          </a:solidFill>
          <a:ln w="635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352544" y="3502152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10GbE hasta 100m. Recomendado para nuevas instalaciones.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320040" y="3922776"/>
            <a:ext cx="1280160" cy="402336"/>
          </a:xfrm>
          <a:prstGeom prst="rect">
            <a:avLst/>
          </a:prstGeom>
          <a:solidFill>
            <a:srgbClr val="323E48"/>
          </a:solidFill>
          <a:ln w="635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74904" y="3922776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 7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1600200" y="3922776"/>
            <a:ext cx="1417320" cy="402336"/>
          </a:xfrm>
          <a:prstGeom prst="rect">
            <a:avLst/>
          </a:prstGeom>
          <a:solidFill>
            <a:srgbClr val="323E48"/>
          </a:solidFill>
          <a:ln w="635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1655064" y="3922776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Gbps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3017520" y="3922776"/>
            <a:ext cx="1280160" cy="402336"/>
          </a:xfrm>
          <a:prstGeom prst="rect">
            <a:avLst/>
          </a:prstGeom>
          <a:solidFill>
            <a:srgbClr val="323E48"/>
          </a:solidFill>
          <a:ln w="635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3072384" y="3922776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 MHz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297680" y="3922776"/>
            <a:ext cx="4754880" cy="402336"/>
          </a:xfrm>
          <a:prstGeom prst="rect">
            <a:avLst/>
          </a:prstGeom>
          <a:solidFill>
            <a:srgbClr val="323E48"/>
          </a:solidFill>
          <a:ln w="635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352544" y="3922776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Blindado (STP). Usado en centros de datos.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320040" y="4343400"/>
            <a:ext cx="1280160" cy="402336"/>
          </a:xfrm>
          <a:prstGeom prst="rect">
            <a:avLst/>
          </a:prstGeom>
          <a:solidFill>
            <a:srgbClr val="3A4550"/>
          </a:solidFill>
          <a:ln w="635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374904" y="4343400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 8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1600200" y="4343400"/>
            <a:ext cx="1417320" cy="402336"/>
          </a:xfrm>
          <a:prstGeom prst="rect">
            <a:avLst/>
          </a:prstGeom>
          <a:solidFill>
            <a:srgbClr val="3A4550"/>
          </a:solidFill>
          <a:ln w="635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1655064" y="4343400"/>
            <a:ext cx="1325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25-40 Gbps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3017520" y="4343400"/>
            <a:ext cx="1280160" cy="402336"/>
          </a:xfrm>
          <a:prstGeom prst="rect">
            <a:avLst/>
          </a:prstGeom>
          <a:solidFill>
            <a:srgbClr val="3A4550"/>
          </a:solidFill>
          <a:ln w="635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3072384" y="4343400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 MHz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4297680" y="4343400"/>
            <a:ext cx="4754880" cy="402336"/>
          </a:xfrm>
          <a:prstGeom prst="rect">
            <a:avLst/>
          </a:prstGeom>
          <a:solidFill>
            <a:srgbClr val="3A4550"/>
          </a:solidFill>
          <a:ln w="6350">
            <a:solidFill>
              <a:srgbClr val="B9D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4352544" y="4343400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centers. Distancias cortas (30m).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137160" y="4846320"/>
            <a:ext cx="88696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🎤 Para nuevas instalaciones: mínimo Cat6, idealmente Cat6A. La diferencia de costo es mínima y la diferencia de capacidad es enorme.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164592"/>
            <a:ext cx="8229600" cy="749808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164592"/>
            <a:ext cx="80101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Ethernet Hoy — Actualización Tecnológica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66928" y="987552"/>
            <a:ext cx="8010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allá del Gigabit: el mundo de los centros de datos y el 5G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2788920" cy="1536192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2788920" cy="411480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93192" y="14173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 10 GbE / 25 GbE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892808"/>
            <a:ext cx="260604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Estándar en servidores y switches core empresariales. SFP+ / SFP28 sobre fibra o cables DAC.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64408" y="1417320"/>
            <a:ext cx="2788920" cy="1536192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64408" y="1417320"/>
            <a:ext cx="2788920" cy="411480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37560" y="14173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40 GbE / 100 GbE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55848" y="1892808"/>
            <a:ext cx="260604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Backbone de centros de datos. Uplinks de switches core. QSFP28. Fibra óptica.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08776" y="1417320"/>
            <a:ext cx="2788920" cy="1536192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08776" y="1417320"/>
            <a:ext cx="2788920" cy="411480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81928" y="14173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400 GbE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0216" y="1892808"/>
            <a:ext cx="260604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Hiperescalas (Google, AWS, Meta). 802.3bs. Próxima frontera: 800 GbE y 1.6 TbE.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136392"/>
            <a:ext cx="2788920" cy="1536192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0040" y="3136392"/>
            <a:ext cx="2788920" cy="411480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93192" y="313639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 Ethernet en 5G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" y="3611880"/>
            <a:ext cx="260604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backhaul y fronthaul de las antenas 5G usa Ethernet 25/100 GbE. La 'última milla' del 5G es Ethernet.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64408" y="3136392"/>
            <a:ext cx="2788920" cy="1536192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64408" y="3136392"/>
            <a:ext cx="2788920" cy="411480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337560" y="313639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PoE / PoE+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55848" y="3611880"/>
            <a:ext cx="260604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over Ethernet: alimenta cámaras IP, APs Wi-Fi, teléfonos VoIP. 802.3af (15W) / 802.3at (30W) / 802.3bt (90W).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08776" y="3136392"/>
            <a:ext cx="2788920" cy="1536192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208776" y="3136392"/>
            <a:ext cx="2788920" cy="411480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281928" y="313639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  2.5G / 5G Multi-Gig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00216" y="3611880"/>
            <a:ext cx="260604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Nuevo estándar para puntos de acceso Wi-Fi 6/7. Más rápido que 1G, más económico que 10G.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37160" y="4846320"/>
            <a:ext cx="886968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9D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🎤 El mundo de redes avanza rápido. En 2024, instalaciones nuevas deberían planear para 10 GbE en el acceso y 100 GbE en el backbone.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201168"/>
            <a:ext cx="2011680" cy="502920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20116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VERDADERO / FALSO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377440" y="2743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1 de 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2651760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91440" cy="265176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960120"/>
            <a:ext cx="78181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Ethernet fue inventada por el IEEE en 1983 como parte del comité 802.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371600" y="3749040"/>
            <a:ext cx="25603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71600" y="37490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VERDADERO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212080" y="3749040"/>
            <a:ext cx="25603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212080" y="37490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FALSO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D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201168"/>
            <a:ext cx="2011680" cy="502920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20116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64592"/>
            <a:ext cx="3657600" cy="5943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0" y="16459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FALSO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914400"/>
            <a:ext cx="8412480" cy="777240"/>
          </a:xfrm>
          <a:prstGeom prst="rect">
            <a:avLst/>
          </a:prstGeom>
          <a:solidFill>
            <a:srgbClr val="3A4550"/>
          </a:solidFill>
          <a:ln w="12700">
            <a:solidFill>
              <a:srgbClr val="40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914400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Ethernet fue inventada por el IEEE en 1983 como parte del comité 802.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828800"/>
            <a:ext cx="8412480" cy="2880360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1828800"/>
            <a:ext cx="8412480" cy="384048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8288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Justificación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2286000"/>
            <a:ext cx="822960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FALSO. Ethernet fue inventada por Bob Metcalfe en Xerox PARC en 1973, diez años antes. El IEEE la adoptó como estándar 802.3 en 1983, pero el inventor y el origen son anteriores y ajenos al IEEE. El IEEE estandarizó lo que ya existía; no la inventó.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201168"/>
            <a:ext cx="2011680" cy="502920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20116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VERDADERO / FALSO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377440" y="2743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2 de 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2651760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91440" cy="265176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960120"/>
            <a:ext cx="78181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cable UTP Cat5e puede soportar tanto Fast Ethernet (100 Mbps) como Gigabit Ethernet (1000 Mbps), sin necesidad de cambiar la instalación.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371600" y="3749040"/>
            <a:ext cx="25603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71600" y="37490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VERDADERO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212080" y="3749040"/>
            <a:ext cx="25603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212080" y="37490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FALSO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D3030"/>
          </a:solidFill>
          <a:ln w="12700">
            <a:solidFill>
              <a:srgbClr val="2D30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D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201168"/>
            <a:ext cx="2011680" cy="502920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20116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64592"/>
            <a:ext cx="3657600" cy="5943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0" y="16459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VERDADERO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914400"/>
            <a:ext cx="8412480" cy="777240"/>
          </a:xfrm>
          <a:prstGeom prst="rect">
            <a:avLst/>
          </a:prstGeom>
          <a:solidFill>
            <a:srgbClr val="3A4550"/>
          </a:solidFill>
          <a:ln w="12700">
            <a:solidFill>
              <a:srgbClr val="40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914400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cable UTP Cat5e puede soportar tanto Fast Ethernet (100 Mbps) como Gigabit Ethernet (1000 Mbps), sin necesidad de cambiar la instalación.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828800"/>
            <a:ext cx="8412480" cy="2880360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1828800"/>
            <a:ext cx="8412480" cy="384048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8288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Justificación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2286000"/>
            <a:ext cx="822960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VERDADERO. Esta es una de las grandes ventajas de la estandarización del medio físico en Ethernet. Un cable Cat5e soporta Gigabit Ethernet (1000Base-T) hasta 100 metros. La autonegociación permite que los dispositivos acuerden automáticamente la velocidad máxima soportada por ambos extremos.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201168"/>
            <a:ext cx="2011680" cy="502920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20116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VERDADERO / FALSO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377440" y="2743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 3 de 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2651760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914400"/>
            <a:ext cx="91440" cy="265176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960120"/>
            <a:ext cx="78181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la llegada de los switches modernos y la operación full-duplex, las colisiones en Ethernet cableada son prácticamente eliminadas.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371600" y="3749040"/>
            <a:ext cx="25603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71600" y="37490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VERDADERO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212080" y="3749040"/>
            <a:ext cx="25603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212080" y="37490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A7B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FALSO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D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201168"/>
            <a:ext cx="2011680" cy="502920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20116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64592"/>
            <a:ext cx="3657600" cy="5943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0" y="16459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VERDADERO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914400"/>
            <a:ext cx="8412480" cy="777240"/>
          </a:xfrm>
          <a:prstGeom prst="rect">
            <a:avLst/>
          </a:prstGeom>
          <a:solidFill>
            <a:srgbClr val="3A4550"/>
          </a:solidFill>
          <a:ln w="12700">
            <a:solidFill>
              <a:srgbClr val="404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914400"/>
            <a:ext cx="8138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la llegada de los switches modernos y la operación full-duplex, las colisiones en Ethernet cableada son prácticamente eliminadas.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828800"/>
            <a:ext cx="8412480" cy="2880360"/>
          </a:xfrm>
          <a:prstGeom prst="rect">
            <a:avLst/>
          </a:prstGeom>
          <a:solidFill>
            <a:srgbClr val="E8F4FC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1828800"/>
            <a:ext cx="8412480" cy="384048"/>
          </a:xfrm>
          <a:prstGeom prst="rect">
            <a:avLst/>
          </a:prstGeom>
          <a:solidFill>
            <a:srgbClr val="3A7BAA"/>
          </a:solidFill>
          <a:ln w="12700">
            <a:solidFill>
              <a:srgbClr val="3A7B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8288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Justificación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2286000"/>
            <a:ext cx="822960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VERDADERO. Los switches crean un segmento de red separado (dominio de colisión propio) para cada puerto. En modo full-duplex, un dispositivo puede transmitir y recibir simultáneamente. Esto hace que el CSMA/CD sea </a:t>
            </a:r>
            <a:r>
              <a:rPr lang="en-US" sz="1300" dirty="0" err="1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casi</a:t>
            </a: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00" dirty="0" err="1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irrelevante</a:t>
            </a:r>
            <a:r>
              <a:rPr lang="en-US" sz="13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 la práctica, aunque el estándar 802.3 sigue vigente como base del protocolo.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D30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047488"/>
            <a:ext cx="9144000" cy="9144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371600" y="685800"/>
            <a:ext cx="6400800" cy="4206240"/>
          </a:xfrm>
          <a:prstGeom prst="rect">
            <a:avLst/>
          </a:prstGeom>
          <a:solidFill>
            <a:srgbClr val="3A4550"/>
          </a:solidFill>
          <a:ln w="12700">
            <a:solidFill>
              <a:srgbClr val="5AA8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554480" y="822960"/>
            <a:ext cx="6035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AA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Clave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554480" y="1325880"/>
            <a:ext cx="54864" cy="27432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691640" y="1298448"/>
            <a:ext cx="5897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Ethernet = IEEE 802.3 = la LAN más extendida del mundo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554480" y="1764792"/>
            <a:ext cx="54864" cy="27432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691640" y="1737360"/>
            <a:ext cx="5897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Inventada por Bob Metcalfe (Xerox PARC, 1973), no por el IEEE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554480" y="2203704"/>
            <a:ext cx="54864" cy="27432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691640" y="2176272"/>
            <a:ext cx="5897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razones de su éxito: bajo costo, escalabilidad, confiabilidad, estandarización física, herramientas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554480" y="2642616"/>
            <a:ext cx="54864" cy="27432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691640" y="2615184"/>
            <a:ext cx="5897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elementos: medio físico, trama, protocolo MAC, señalización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554480" y="3081528"/>
            <a:ext cx="54864" cy="27432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691640" y="3054096"/>
            <a:ext cx="5897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Velocidades clásicas: 10 / 100 / 1000 Mbps — hoy hasta 400 Gbps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554480" y="3520440"/>
            <a:ext cx="54864" cy="27432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691640" y="3493008"/>
            <a:ext cx="5897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UTP Cat5e/6/6A: el mismo cable soporta múltiples velocidades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554480" y="3959352"/>
            <a:ext cx="54864" cy="274320"/>
          </a:xfrm>
          <a:prstGeom prst="rect">
            <a:avLst/>
          </a:prstGeom>
          <a:solidFill>
            <a:srgbClr val="5AA8D8"/>
          </a:solidFill>
          <a:ln w="12700">
            <a:solidFill>
              <a:srgbClr val="5AA8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691640" y="3931920"/>
            <a:ext cx="5897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switches full-duplex: colisiones prácticamente eliminadas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0" y="47091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Redes y Comunicaciones  —  SP4 / H3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1554</Words>
  <Application>Microsoft Office PowerPoint</Application>
  <PresentationFormat>Presentación en pantalla (16:9)</PresentationFormat>
  <Paragraphs>190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7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SP4/H3: La Red Ethernet</dc:title>
  <dc:subject>PptxGenJS Presentation</dc:subject>
  <dc:creator>PptxGenJS</dc:creator>
  <cp:lastModifiedBy>PEREZ ESPAÑON, ANTONIO VICTOR</cp:lastModifiedBy>
  <cp:revision>3</cp:revision>
  <dcterms:created xsi:type="dcterms:W3CDTF">2026-04-06T21:38:39Z</dcterms:created>
  <dcterms:modified xsi:type="dcterms:W3CDTF">2026-04-14T00:50:42Z</dcterms:modified>
</cp:coreProperties>
</file>