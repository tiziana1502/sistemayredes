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55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67128" y="1984248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38728" y="1435608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53128" y="2258568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898648" y="2807208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70248" y="3081528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0" y="1554480"/>
            <a:ext cx="1371600" cy="548640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0" y="1554480"/>
            <a:ext cx="914400" cy="822960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0" y="2103120"/>
            <a:ext cx="731520" cy="822960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17520" y="2926080"/>
            <a:ext cx="1371600" cy="274320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182880" cy="822960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17520" y="1554480"/>
            <a:ext cx="640080" cy="1371600"/>
          </a:xfrm>
          <a:prstGeom prst="line">
            <a:avLst/>
          </a:prstGeom>
          <a:noFill/>
          <a:ln w="190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931920" cy="2651760"/>
          </a:xfrm>
          <a:prstGeom prst="rect">
            <a:avLst/>
          </a:prstGeom>
          <a:solidFill>
            <a:srgbClr val="3A7BAA">
              <a:alpha val="90000"/>
            </a:srgbClr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SP4 / H1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de Área Local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— MAN — WAN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Red LAN?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Area Network — La red que tenés en casa y en la oficina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3931920" cy="10058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64008" cy="10058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847088"/>
            <a:ext cx="3767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que conecta dispositivos en un área geográfica reducida: una oficina, un piso, un edificio o un campus. El cableado es propio de la organización.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clave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146304" cy="14630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33101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velocidad (1 Gbps – 10+ Gbps)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146304" cy="14630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" y="3584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tasa de error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886200"/>
            <a:ext cx="146304" cy="14630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3858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físico propio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146304" cy="14630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41330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difusión (broadcast)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146304" cy="14630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44074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Cobertura: pocos km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709160"/>
            <a:ext cx="146304" cy="14630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" y="46817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organización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417320"/>
            <a:ext cx="4114800" cy="32461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LAN — Edificio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9202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94767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212140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77840" y="212140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09360" y="212140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212140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212140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40880" y="212140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001000" y="2139696"/>
            <a:ext cx="34747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01000" y="21396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45552" y="2267712"/>
            <a:ext cx="155448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845552" y="2267712"/>
            <a:ext cx="9144" cy="347472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274320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27706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0" y="294436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77840" y="294436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09360" y="294436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09360" y="294436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040880" y="294436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40880" y="294436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001000" y="2962656"/>
            <a:ext cx="34747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001000" y="29626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845552" y="3090672"/>
            <a:ext cx="155448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845552" y="3090672"/>
            <a:ext cx="9144" cy="347472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800600" y="356616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46320" y="35935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77840" y="376732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77840" y="376732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09360" y="376732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09360" y="376732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040880" y="3767328"/>
            <a:ext cx="438912" cy="292608"/>
          </a:xfrm>
          <a:prstGeom prst="rect">
            <a:avLst/>
          </a:prstGeom>
          <a:solidFill>
            <a:srgbClr val="B9DEF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040880" y="3767328"/>
            <a:ext cx="438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001000" y="3785616"/>
            <a:ext cx="347472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001000" y="378561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845552" y="3913632"/>
            <a:ext cx="155448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45552" y="3913632"/>
            <a:ext cx="9144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09560" y="4462272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2D303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909560" y="4462272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Preguntar: ¿Cuántas redes LAN usás en tu día a día sin darte cuenta? (Wi-Fi hogar, trabajo, universidad...)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las LAN son tan rápidas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clave está en la distancia y la interferencia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solidFill>
            <a:srgbClr val="3A7BAA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Interferencia ∝ Distancia  ×  Velocidad de transmisión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4023360" cy="24688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402336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LAN — Distancia corta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633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Distancias: metros a pocos km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3035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Interferencia: mínima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3438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 actual: 1 – 100 Gbps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840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error: muy baja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242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Medio: cable Cat6, Cat7, fibra, Wi-Fi 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176272"/>
            <a:ext cx="4023360" cy="24688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176272"/>
            <a:ext cx="4023360" cy="384048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176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WAN — Distancia larga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670048"/>
            <a:ext cx="128016" cy="12801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47488" y="26334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Distancias: ciudades, países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3072384"/>
            <a:ext cx="128016" cy="12801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47488" y="3035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Interferencia: alta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128016" cy="12801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47488" y="34381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Velocidad: variable (56K – varios Gbps)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3877056"/>
            <a:ext cx="128016" cy="12801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47488" y="3840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error: más alta que LAN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4279392"/>
            <a:ext cx="128016" cy="12801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47488" y="42428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más complejos necesarios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Analogía: cuánto más lejos le gritás a alguien, más distorsionado te escucha. Agreguemos velocidad: como un SMS en movimiento en una autopista.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WAN — Wide Area Network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infraestructura que conecta ciudades, países y continentes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743200" cy="141732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74320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4813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Cobertura ilimitada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Continentes, países, ciudades. Internet = la WAN más grande del mundo.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481328"/>
            <a:ext cx="2743200" cy="141732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1481328"/>
            <a:ext cx="274320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813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Medio </a:t>
            </a:r>
            <a:r>
              <a:rPr lang="en-US" sz="1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alquilado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93852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Provisto por telcos. Fibra óptica, microondas, satélites. Costo alto.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1481328"/>
            <a:ext cx="2743200" cy="141732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481328"/>
            <a:ext cx="274320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14813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Canal punto a punto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193852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dedicado entre dos nodos. Sin colisiones, pero sin compartir.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081528"/>
            <a:ext cx="2743200" cy="141732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081528"/>
            <a:ext cx="274320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30815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Protocolos complejos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53872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MPLS, BGP, IP. Los paquetes deben enrutarse por múltiples subredes.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3081528"/>
            <a:ext cx="2743200" cy="141732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64408" y="3081528"/>
            <a:ext cx="274320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30815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WAN en celulares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53872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4G/5G son WAN móviles. Tu operador es el 'telco' de tu móvil.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3081528"/>
            <a:ext cx="2743200" cy="141732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08776" y="3081528"/>
            <a:ext cx="274320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81928" y="3081528"/>
            <a:ext cx="2596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WAN empresarial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0216" y="3538728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conecta sucursales via Internet con calidad de servicio garantizada.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Preguntar: cuando abrís Instagram </a:t>
            </a:r>
            <a:r>
              <a:rPr lang="en-US" sz="1000" i="1" dirty="0" err="1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5G, ¿qué tipo de red estás usando? (WAN: la red de tu operadora)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— Red de Área Metropolitana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eslabón entre LAN y WAN — y las redes de hoy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1645920" cy="6400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 / Campus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481328"/>
            <a:ext cx="2560320" cy="6400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03120" y="1481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18288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481328"/>
            <a:ext cx="4114800" cy="6400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 / Mundo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3840480" cy="23774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3840480" cy="34747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286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MAN?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2724912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Cubre una ciudad completa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108960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tecnología LAN (Ethernet, Wi-Fi)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4048" y="3493008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3456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clásico: redes CATV (cable TV)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3877056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5216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actuales: Wi-Fi municipal, redes de fibra FTTx por barrio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" y="4261104"/>
            <a:ext cx="128016" cy="128016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216" y="42245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Administrada por una o varias entidades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4160520" cy="23774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2286000"/>
            <a:ext cx="416052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2860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actuales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27249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cableada: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7249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Gigabit Ethernet / 10 GbE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Wi-Fi: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6 / Wi-Fi 7 (802.11ax/be)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493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493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FTTx, WiMAX, cable coaxil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38770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38770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MPLS, SD-WAN, fibra submarina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42611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móvil: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42611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 LTE / 5G NR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¡Ojo! Las redes CATV son MAN, no LAN. Error frecuente en los exámenes.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Difusión y Acceso al Medio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tiene derecho a usar el canal cuando hay competencia?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333756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43891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Canal de Difusión (LAN)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1956816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dispositivos comparten el mismo canal.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350008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2313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reciben el paquete; solo el destinatario lo procesa.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743200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" y="2706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colisiones si dos transmiten al mismo tiempo.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136392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30998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Solución: protocolos de acceso al medio.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529584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3493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CSMA/CD → Ethernet </a:t>
            </a:r>
            <a:r>
              <a:rPr lang="en-US" sz="1100" dirty="0" err="1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cableado</a:t>
            </a: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 switches full-duplex).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922776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3886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CSMA/CA → Wi-Fi (vigente hoy; evita colisiones antes de transmitir).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4315968"/>
            <a:ext cx="118872" cy="118872"/>
          </a:xfrm>
          <a:prstGeom prst="ellipse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" y="4279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llamado: canal de acceso múltiple o aleatorio.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069080" cy="333756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solidFill>
            <a:srgbClr val="2D303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41732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Canal Punto a Punto (WAN)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64608" y="1956816"/>
            <a:ext cx="118872" cy="11887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56632" y="19202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dedicado entre exactamente dos nodos.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64608" y="2350008"/>
            <a:ext cx="118872" cy="11887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56632" y="231343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competencia por el canal.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64608" y="2743200"/>
            <a:ext cx="118872" cy="11887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56632" y="27066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colisiones.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64608" y="3136392"/>
            <a:ext cx="118872" cy="11887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56632" y="309981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costoso: se necesita infraestructura dedicada.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64608" y="3529584"/>
            <a:ext cx="118872" cy="11887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56632" y="34930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Usado en WAN: fibra dedicada, MPLS, SD-WAN.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64608" y="3922776"/>
            <a:ext cx="118872" cy="11887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56632" y="38862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en Wi-Fi: modo Ad-Hoc entre dos dispositivos.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64608" y="4315968"/>
            <a:ext cx="118872" cy="118872"/>
          </a:xfrm>
          <a:prstGeom prst="ellipse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56632" y="42793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llamada directa entre dos sucursales.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Analogía: difusión = grupo de WhatsApp (todos ven todo). Punto a punto = chat privado (solo dos leen).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vs WAN — Tabla Comparativa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Diferencias fundamentales a tener siempre claras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02027"/>
              </p:ext>
            </p:extLst>
          </p:nvPr>
        </p:nvGraphicFramePr>
        <p:xfrm>
          <a:off x="274320" y="1481328"/>
          <a:ext cx="8595360" cy="32918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B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Edificio / Campus (km)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Ciudad → Continente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– 100 Gbps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(56 Kbps – Gbps)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 físico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Propio (organización)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Alquilado</a:t>
                      </a: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(telecom)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canal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Difusión (broadcast)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Punto a punto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error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Muy baja (x1000 menor)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Simples (Ethernet, Wi-Fi)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Complejos (MPLS, BGP)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Tratamiento errores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en capas superiores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cada capa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Ancho de banda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no crítico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precioso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A7B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actual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empresa, Wi-Fi hogar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Internet, 5G, MPLS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DE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Esta tabla es excelente para repasar antes del examen. Preguntar: ¿cuál es la diferencia más importante para vos?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Hoy — Actualización Tecnológica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estaba en los libros de hace 10 años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788920" cy="1536192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  Wi-Fi 6/7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802.11ax/be: hasta 9.6 Gbps (Wi-Fi 6) y 46 Gbps teóricos (Wi-Fi 7, 2024+). Mejor en entornos con muchos dispositivos.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444752"/>
            <a:ext cx="2788920" cy="1536192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44475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10GbE / 100GbE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901952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de 10 y 100 Gbps en centros de datos y backbones corporativos. Ya no es solo 1 Gbps.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444752"/>
            <a:ext cx="2788920" cy="1536192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63056" y="144475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4447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5G NR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54496" y="1901952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móvil de 5ª generación. Latencia &lt;1ms, hasta 10 Gbps. Permite IoT masivo y conectividad fija inalámbrica.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163824"/>
            <a:ext cx="2788920" cy="1536192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163824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31638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SD-WAN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621024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MPLS en muchas empresas. Virtualiza la WAN y permite usar internet como backbone seguro y controlado.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18688" y="3163824"/>
            <a:ext cx="2788920" cy="1536192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18688" y="3163824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31638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PoE / PoE+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10128" y="3621024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over Ethernet: alimenta cámaras, APs Wi-Fi y teléfonos IP por el mismo cable de red. Estándar hoy en redes empresariales.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3163824"/>
            <a:ext cx="2788920" cy="1536192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63056" y="3163824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6208" y="31638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LAN virtual / VLAN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54496" y="3621024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una LAN física en redes lógicas separadas. Clave para seguridad y organización en redes modernas.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El mundo de redes cambió mucho. Wi-Fi 7 ya está en routers de 2024. 5G es la WAN de hoy para celulares.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1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560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de televisión por cable (CATV) son redes LAN porque transmiten datos a muchos hogares al mismo tiempo.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0332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Dar un minuto para pensar. Invitar a justificar la respuesta antes de pasar.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de televisión por cable (CATV) son redes LAN porque transmiten datos a muchos hogares al mismo tiempo.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7432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 Las redes CATV son redes MAN (Metropolitan Area Network). Cubren una ciudad completa, no un área reducida de una sola organización. Aunque usan tecnología similar a las LAN, su cobertura geográfica las clasifica como MAN.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2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560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redes LAN, el medio físico de comunicación es propio de la organización, lo que le da ventajas en velocidad y costo de ancho de banda.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0332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Dar un minuto para pensar. Invitar a justificar la respuesta antes de pasar.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redes LAN, el medio físico de comunicación es propio de la organización, lo que le da ventajas en velocidad y costo de ancho de banda.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7432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VERDADERO. Que el medio sea propio elimina el costo de alquiler a una telco y da control total sobre el ancho de banda. Por eso en LAN el ancho de banda no es un recurso escaso como en WAN, y se pueden usar protocolos más simples.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3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560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WAN usan canales de difusión (broadcast), igual que las redes LAN.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0332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Dar un minuto para pensar. Invitar a justificar la respuesta antes de pasar.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WAN usan canales de difusión (broadcast), igual que las redes LAN.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7432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 Las redes WAN usan canales punto a punto: enlaces dedicados entre dos nodos. Son las LAN las que usan canales de difusión (broadcast), donde todos los dispositivos comparten el mismo canal.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731520"/>
            <a:ext cx="6400800" cy="411480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868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389888"/>
            <a:ext cx="54864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135331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interferencia crece con la distancia Y con la velocidad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828800"/>
            <a:ext cx="54864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79222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LAN son rápidas porque las distancias son cortas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267712"/>
            <a:ext cx="54864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2231136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 = canal broadcast   |   WAN = canal punto a punto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706624"/>
            <a:ext cx="54864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267004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LAN el medio es propio; en WAN es arrendado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145536"/>
            <a:ext cx="54864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0" y="310896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CATV son MAN, no LAN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3584448"/>
            <a:ext cx="54864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354787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5G son WAN móviles para tu celular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4023360"/>
            <a:ext cx="54864" cy="25603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398678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6/7 y SD-WAN son la realidad de las redes hoy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7091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  —  SP4 / H1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1528</Words>
  <Application>Microsoft Office PowerPoint</Application>
  <PresentationFormat>Presentación en pantalla (16:9)</PresentationFormat>
  <Paragraphs>215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SP4/H1: Introducción a las Redes LAN</dc:title>
  <dc:subject>PptxGenJS Presentation</dc:subject>
  <dc:creator>PptxGenJS</dc:creator>
  <cp:lastModifiedBy>PEREZ ESPAÑON, ANTONIO VICTOR</cp:lastModifiedBy>
  <cp:revision>3</cp:revision>
  <dcterms:created xsi:type="dcterms:W3CDTF">2026-04-06T21:21:49Z</dcterms:created>
  <dcterms:modified xsi:type="dcterms:W3CDTF">2026-04-06T22:30:41Z</dcterms:modified>
</cp:coreProperties>
</file>