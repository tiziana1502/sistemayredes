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19" autoAdjust="0"/>
    <p:restoredTop sz="94610"/>
  </p:normalViewPr>
  <p:slideViewPr>
    <p:cSldViewPr snapToGrid="0" snapToObjects="1">
      <p:cViewPr varScale="1">
        <p:scale>
          <a:sx n="116" d="100"/>
          <a:sy n="116" d="100"/>
        </p:scale>
        <p:origin x="69"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77685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D3030"/>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5AA8D8"/>
          </a:solidFill>
          <a:ln w="12700">
            <a:solidFill>
              <a:srgbClr val="5AA8D8"/>
            </a:solidFill>
            <a:prstDash val="solid"/>
          </a:ln>
        </p:spPr>
        <p:txBody>
          <a:bodyPr/>
          <a:lstStyle/>
          <a:p>
            <a:endParaRPr lang="en-US"/>
          </a:p>
        </p:txBody>
      </p:sp>
      <p:sp>
        <p:nvSpPr>
          <p:cNvPr id="3" name="Shape 1"/>
          <p:cNvSpPr/>
          <p:nvPr/>
        </p:nvSpPr>
        <p:spPr>
          <a:xfrm>
            <a:off x="0" y="5033772"/>
            <a:ext cx="9144000" cy="109728"/>
          </a:xfrm>
          <a:prstGeom prst="rect">
            <a:avLst/>
          </a:prstGeom>
          <a:solidFill>
            <a:srgbClr val="5AA8D8"/>
          </a:solidFill>
          <a:ln w="12700">
            <a:solidFill>
              <a:srgbClr val="5AA8D8"/>
            </a:solidFill>
            <a:prstDash val="solid"/>
          </a:ln>
        </p:spPr>
        <p:txBody>
          <a:bodyPr/>
          <a:lstStyle/>
          <a:p>
            <a:endParaRPr lang="en-US"/>
          </a:p>
        </p:txBody>
      </p:sp>
      <p:sp>
        <p:nvSpPr>
          <p:cNvPr id="4" name="Shape 2"/>
          <p:cNvSpPr/>
          <p:nvPr/>
        </p:nvSpPr>
        <p:spPr>
          <a:xfrm>
            <a:off x="365760" y="2743200"/>
            <a:ext cx="3657600" cy="0"/>
          </a:xfrm>
          <a:prstGeom prst="line">
            <a:avLst/>
          </a:prstGeom>
          <a:noFill/>
          <a:ln w="38100">
            <a:solidFill>
              <a:srgbClr val="B9DEF8"/>
            </a:solidFill>
            <a:prstDash val="solid"/>
          </a:ln>
        </p:spPr>
        <p:txBody>
          <a:bodyPr/>
          <a:lstStyle/>
          <a:p>
            <a:endParaRPr lang="en-US"/>
          </a:p>
        </p:txBody>
      </p:sp>
      <p:sp>
        <p:nvSpPr>
          <p:cNvPr id="5" name="Shape 3"/>
          <p:cNvSpPr/>
          <p:nvPr/>
        </p:nvSpPr>
        <p:spPr>
          <a:xfrm>
            <a:off x="320040" y="2359152"/>
            <a:ext cx="731520" cy="347472"/>
          </a:xfrm>
          <a:prstGeom prst="rect">
            <a:avLst/>
          </a:prstGeom>
          <a:solidFill>
            <a:srgbClr val="3A7BAA"/>
          </a:solidFill>
          <a:ln w="12700">
            <a:solidFill>
              <a:srgbClr val="5AA8D8"/>
            </a:solidFill>
            <a:prstDash val="solid"/>
          </a:ln>
        </p:spPr>
        <p:txBody>
          <a:bodyPr/>
          <a:lstStyle/>
          <a:p>
            <a:endParaRPr lang="en-US"/>
          </a:p>
        </p:txBody>
      </p:sp>
      <p:sp>
        <p:nvSpPr>
          <p:cNvPr id="6" name="Text 4"/>
          <p:cNvSpPr/>
          <p:nvPr/>
        </p:nvSpPr>
        <p:spPr>
          <a:xfrm>
            <a:off x="320040" y="2359152"/>
            <a:ext cx="731520" cy="347472"/>
          </a:xfrm>
          <a:prstGeom prst="rect">
            <a:avLst/>
          </a:prstGeom>
          <a:noFill/>
          <a:ln/>
        </p:spPr>
        <p:txBody>
          <a:bodyPr wrap="square" rtlCol="0" anchor="ctr"/>
          <a:lstStyle/>
          <a:p>
            <a:pPr marL="0" indent="0" algn="ctr">
              <a:buNone/>
            </a:pPr>
            <a:r>
              <a:rPr lang="en-US" sz="800" dirty="0">
                <a:solidFill>
                  <a:srgbClr val="FFFFFF"/>
                </a:solidFill>
                <a:latin typeface="Arial" pitchFamily="34" charset="0"/>
                <a:ea typeface="Arial" pitchFamily="34" charset="-122"/>
                <a:cs typeface="Arial" pitchFamily="34" charset="-120"/>
              </a:rPr>
              <a:t>Host A</a:t>
            </a:r>
            <a:endParaRPr lang="en-US" sz="800" dirty="0"/>
          </a:p>
        </p:txBody>
      </p:sp>
      <p:sp>
        <p:nvSpPr>
          <p:cNvPr id="7" name="Shape 5"/>
          <p:cNvSpPr/>
          <p:nvPr/>
        </p:nvSpPr>
        <p:spPr>
          <a:xfrm>
            <a:off x="685800" y="2706624"/>
            <a:ext cx="0" cy="36576"/>
          </a:xfrm>
          <a:prstGeom prst="line">
            <a:avLst/>
          </a:prstGeom>
          <a:noFill/>
          <a:ln w="25400">
            <a:solidFill>
              <a:srgbClr val="5AA8D8"/>
            </a:solidFill>
            <a:prstDash val="solid"/>
          </a:ln>
        </p:spPr>
        <p:txBody>
          <a:bodyPr/>
          <a:lstStyle/>
          <a:p>
            <a:endParaRPr lang="en-US"/>
          </a:p>
        </p:txBody>
      </p:sp>
      <p:sp>
        <p:nvSpPr>
          <p:cNvPr id="8" name="Shape 6"/>
          <p:cNvSpPr/>
          <p:nvPr/>
        </p:nvSpPr>
        <p:spPr>
          <a:xfrm>
            <a:off x="685800" y="2743200"/>
            <a:ext cx="1097280" cy="0"/>
          </a:xfrm>
          <a:prstGeom prst="line">
            <a:avLst/>
          </a:prstGeom>
          <a:noFill/>
          <a:ln w="31750">
            <a:solidFill>
              <a:srgbClr val="E65100"/>
            </a:solidFill>
            <a:prstDash val="solid"/>
          </a:ln>
        </p:spPr>
        <p:txBody>
          <a:bodyPr/>
          <a:lstStyle/>
          <a:p>
            <a:endParaRPr lang="en-US"/>
          </a:p>
        </p:txBody>
      </p:sp>
      <p:sp>
        <p:nvSpPr>
          <p:cNvPr id="9" name="Text 7"/>
          <p:cNvSpPr/>
          <p:nvPr/>
        </p:nvSpPr>
        <p:spPr>
          <a:xfrm>
            <a:off x="1645920" y="2578608"/>
            <a:ext cx="274320" cy="329184"/>
          </a:xfrm>
          <a:prstGeom prst="rect">
            <a:avLst/>
          </a:prstGeom>
          <a:noFill/>
          <a:ln/>
        </p:spPr>
        <p:txBody>
          <a:bodyPr wrap="square" rtlCol="0" anchor="ctr"/>
          <a:lstStyle/>
          <a:p>
            <a:pPr marL="0" indent="0">
              <a:buNone/>
            </a:pPr>
            <a:r>
              <a:rPr lang="en-US" sz="1400" dirty="0">
                <a:solidFill>
                  <a:srgbClr val="E65100"/>
                </a:solidFill>
                <a:latin typeface="Arial" pitchFamily="34" charset="0"/>
                <a:ea typeface="Arial" pitchFamily="34" charset="-122"/>
                <a:cs typeface="Arial" pitchFamily="34" charset="-120"/>
              </a:rPr>
              <a:t>→</a:t>
            </a:r>
            <a:endParaRPr lang="en-US" sz="1400" dirty="0"/>
          </a:p>
        </p:txBody>
      </p:sp>
      <p:sp>
        <p:nvSpPr>
          <p:cNvPr id="10" name="Shape 8"/>
          <p:cNvSpPr/>
          <p:nvPr/>
        </p:nvSpPr>
        <p:spPr>
          <a:xfrm>
            <a:off x="3246120" y="2359152"/>
            <a:ext cx="731520" cy="347472"/>
          </a:xfrm>
          <a:prstGeom prst="rect">
            <a:avLst/>
          </a:prstGeom>
          <a:solidFill>
            <a:srgbClr val="3A7BAA"/>
          </a:solidFill>
          <a:ln w="12700">
            <a:solidFill>
              <a:srgbClr val="5AA8D8"/>
            </a:solidFill>
            <a:prstDash val="solid"/>
          </a:ln>
        </p:spPr>
        <p:txBody>
          <a:bodyPr/>
          <a:lstStyle/>
          <a:p>
            <a:endParaRPr lang="en-US"/>
          </a:p>
        </p:txBody>
      </p:sp>
      <p:sp>
        <p:nvSpPr>
          <p:cNvPr id="11" name="Text 9"/>
          <p:cNvSpPr/>
          <p:nvPr/>
        </p:nvSpPr>
        <p:spPr>
          <a:xfrm>
            <a:off x="3246120" y="2359152"/>
            <a:ext cx="731520" cy="347472"/>
          </a:xfrm>
          <a:prstGeom prst="rect">
            <a:avLst/>
          </a:prstGeom>
          <a:noFill/>
          <a:ln/>
        </p:spPr>
        <p:txBody>
          <a:bodyPr wrap="square" rtlCol="0" anchor="ctr"/>
          <a:lstStyle/>
          <a:p>
            <a:pPr marL="0" indent="0" algn="ctr">
              <a:buNone/>
            </a:pPr>
            <a:r>
              <a:rPr lang="en-US" sz="800" dirty="0">
                <a:solidFill>
                  <a:srgbClr val="FFFFFF"/>
                </a:solidFill>
                <a:latin typeface="Arial" pitchFamily="34" charset="0"/>
                <a:ea typeface="Arial" pitchFamily="34" charset="-122"/>
                <a:cs typeface="Arial" pitchFamily="34" charset="-120"/>
              </a:rPr>
              <a:t>Host B</a:t>
            </a:r>
            <a:endParaRPr lang="en-US" sz="800" dirty="0"/>
          </a:p>
        </p:txBody>
      </p:sp>
      <p:sp>
        <p:nvSpPr>
          <p:cNvPr id="12" name="Shape 10"/>
          <p:cNvSpPr/>
          <p:nvPr/>
        </p:nvSpPr>
        <p:spPr>
          <a:xfrm>
            <a:off x="3611880" y="2706624"/>
            <a:ext cx="0" cy="36576"/>
          </a:xfrm>
          <a:prstGeom prst="line">
            <a:avLst/>
          </a:prstGeom>
          <a:noFill/>
          <a:ln w="25400">
            <a:solidFill>
              <a:srgbClr val="5AA8D8"/>
            </a:solidFill>
            <a:prstDash val="solid"/>
          </a:ln>
        </p:spPr>
        <p:txBody>
          <a:bodyPr/>
          <a:lstStyle/>
          <a:p>
            <a:endParaRPr lang="en-US"/>
          </a:p>
        </p:txBody>
      </p:sp>
      <p:sp>
        <p:nvSpPr>
          <p:cNvPr id="13" name="Shape 11"/>
          <p:cNvSpPr/>
          <p:nvPr/>
        </p:nvSpPr>
        <p:spPr>
          <a:xfrm>
            <a:off x="2194560" y="2743200"/>
            <a:ext cx="1234440" cy="0"/>
          </a:xfrm>
          <a:prstGeom prst="line">
            <a:avLst/>
          </a:prstGeom>
          <a:noFill/>
          <a:ln w="31750">
            <a:solidFill>
              <a:srgbClr val="1E88E5"/>
            </a:solidFill>
            <a:prstDash val="solid"/>
          </a:ln>
        </p:spPr>
        <p:txBody>
          <a:bodyPr/>
          <a:lstStyle/>
          <a:p>
            <a:endParaRPr lang="en-US"/>
          </a:p>
        </p:txBody>
      </p:sp>
      <p:sp>
        <p:nvSpPr>
          <p:cNvPr id="14" name="Text 12"/>
          <p:cNvSpPr/>
          <p:nvPr/>
        </p:nvSpPr>
        <p:spPr>
          <a:xfrm>
            <a:off x="2148840" y="2578608"/>
            <a:ext cx="274320" cy="329184"/>
          </a:xfrm>
          <a:prstGeom prst="rect">
            <a:avLst/>
          </a:prstGeom>
          <a:noFill/>
          <a:ln/>
        </p:spPr>
        <p:txBody>
          <a:bodyPr wrap="square" rtlCol="0" anchor="ctr"/>
          <a:lstStyle/>
          <a:p>
            <a:pPr marL="0" indent="0">
              <a:buNone/>
            </a:pPr>
            <a:r>
              <a:rPr lang="en-US" sz="1400" dirty="0">
                <a:solidFill>
                  <a:srgbClr val="1E88E5"/>
                </a:solidFill>
                <a:latin typeface="Arial" pitchFamily="34" charset="0"/>
                <a:ea typeface="Arial" pitchFamily="34" charset="-122"/>
                <a:cs typeface="Arial" pitchFamily="34" charset="-120"/>
              </a:rPr>
              <a:t>←</a:t>
            </a:r>
            <a:endParaRPr lang="en-US" sz="1400" dirty="0"/>
          </a:p>
        </p:txBody>
      </p:sp>
      <p:sp>
        <p:nvSpPr>
          <p:cNvPr id="15" name="Shape 13"/>
          <p:cNvSpPr/>
          <p:nvPr/>
        </p:nvSpPr>
        <p:spPr>
          <a:xfrm>
            <a:off x="1828800" y="2487168"/>
            <a:ext cx="457200" cy="502920"/>
          </a:xfrm>
          <a:prstGeom prst="ellipse">
            <a:avLst/>
          </a:prstGeom>
          <a:solidFill>
            <a:srgbClr val="C62828"/>
          </a:solidFill>
          <a:ln w="19050">
            <a:solidFill>
              <a:srgbClr val="E65100"/>
            </a:solidFill>
            <a:prstDash val="solid"/>
          </a:ln>
        </p:spPr>
        <p:txBody>
          <a:bodyPr/>
          <a:lstStyle/>
          <a:p>
            <a:endParaRPr lang="en-US"/>
          </a:p>
        </p:txBody>
      </p:sp>
      <p:sp>
        <p:nvSpPr>
          <p:cNvPr id="16" name="Text 14"/>
          <p:cNvSpPr/>
          <p:nvPr/>
        </p:nvSpPr>
        <p:spPr>
          <a:xfrm>
            <a:off x="1755648" y="2487168"/>
            <a:ext cx="594360" cy="502920"/>
          </a:xfrm>
          <a:prstGeom prst="rect">
            <a:avLst/>
          </a:prstGeom>
          <a:noFill/>
          <a:ln/>
        </p:spPr>
        <p:txBody>
          <a:bodyPr wrap="square" rtlCol="0" anchor="ctr"/>
          <a:lstStyle/>
          <a:p>
            <a:pPr marL="0" indent="0" algn="ctr">
              <a:buNone/>
            </a:pPr>
            <a:r>
              <a:rPr lang="en-US" sz="1600" dirty="0">
                <a:solidFill>
                  <a:srgbClr val="000000"/>
                </a:solidFill>
                <a:latin typeface="Arial" pitchFamily="34" charset="0"/>
                <a:ea typeface="Arial" pitchFamily="34" charset="-122"/>
                <a:cs typeface="Arial" pitchFamily="34" charset="-120"/>
              </a:rPr>
              <a:t>💥</a:t>
            </a:r>
            <a:endParaRPr lang="en-US" sz="1600" dirty="0"/>
          </a:p>
        </p:txBody>
      </p:sp>
      <p:sp>
        <p:nvSpPr>
          <p:cNvPr id="17" name="Text 15"/>
          <p:cNvSpPr/>
          <p:nvPr/>
        </p:nvSpPr>
        <p:spPr>
          <a:xfrm>
            <a:off x="1627632" y="2944368"/>
            <a:ext cx="822960" cy="274320"/>
          </a:xfrm>
          <a:prstGeom prst="rect">
            <a:avLst/>
          </a:prstGeom>
          <a:noFill/>
          <a:ln/>
        </p:spPr>
        <p:txBody>
          <a:bodyPr wrap="square" rtlCol="0" anchor="ctr"/>
          <a:lstStyle/>
          <a:p>
            <a:pPr marL="0" indent="0" algn="ctr">
              <a:buNone/>
            </a:pPr>
            <a:r>
              <a:rPr lang="en-US" sz="900" b="1" dirty="0">
                <a:solidFill>
                  <a:srgbClr val="C62828"/>
                </a:solidFill>
                <a:latin typeface="Arial" pitchFamily="34" charset="0"/>
                <a:ea typeface="Arial" pitchFamily="34" charset="-122"/>
                <a:cs typeface="Arial" pitchFamily="34" charset="-120"/>
              </a:rPr>
              <a:t>COLISIÓN</a:t>
            </a:r>
            <a:endParaRPr lang="en-US" sz="900" dirty="0"/>
          </a:p>
        </p:txBody>
      </p:sp>
      <p:sp>
        <p:nvSpPr>
          <p:cNvPr id="18" name="Text 16"/>
          <p:cNvSpPr/>
          <p:nvPr/>
        </p:nvSpPr>
        <p:spPr>
          <a:xfrm>
            <a:off x="320040" y="3273552"/>
            <a:ext cx="3749040" cy="274320"/>
          </a:xfrm>
          <a:prstGeom prst="rect">
            <a:avLst/>
          </a:prstGeom>
          <a:noFill/>
          <a:ln/>
        </p:spPr>
        <p:txBody>
          <a:bodyPr wrap="square" rtlCol="0" anchor="ctr"/>
          <a:lstStyle/>
          <a:p>
            <a:pPr marL="0" indent="0" algn="ctr">
              <a:buNone/>
            </a:pPr>
            <a:r>
              <a:rPr lang="en-US" sz="1000" dirty="0">
                <a:solidFill>
                  <a:srgbClr val="B9DEF8"/>
                </a:solidFill>
                <a:latin typeface="Arial" pitchFamily="34" charset="0"/>
                <a:ea typeface="Arial" pitchFamily="34" charset="-122"/>
                <a:cs typeface="Arial" pitchFamily="34" charset="-120"/>
              </a:rPr>
              <a:t>Backoff aleatorio → Reintento</a:t>
            </a:r>
            <a:endParaRPr lang="en-US" sz="1000" dirty="0"/>
          </a:p>
        </p:txBody>
      </p:sp>
      <p:sp>
        <p:nvSpPr>
          <p:cNvPr id="19" name="Shape 17"/>
          <p:cNvSpPr/>
          <p:nvPr/>
        </p:nvSpPr>
        <p:spPr>
          <a:xfrm>
            <a:off x="4572000" y="1097280"/>
            <a:ext cx="4251960" cy="2926080"/>
          </a:xfrm>
          <a:prstGeom prst="rect">
            <a:avLst/>
          </a:prstGeom>
          <a:solidFill>
            <a:srgbClr val="3A7BAA">
              <a:alpha val="90000"/>
            </a:srgbClr>
          </a:solidFill>
          <a:ln w="12700">
            <a:solidFill>
              <a:srgbClr val="5AA8D8"/>
            </a:solidFill>
            <a:prstDash val="solid"/>
          </a:ln>
          <a:effectLst>
            <a:outerShdw blurRad="101600" dist="38100" dir="8100000" algn="bl" rotWithShape="0">
              <a:srgbClr val="000000">
                <a:alpha val="15000"/>
              </a:srgbClr>
            </a:outerShdw>
          </a:effectLst>
        </p:spPr>
        <p:txBody>
          <a:bodyPr/>
          <a:lstStyle/>
          <a:p>
            <a:endParaRPr lang="en-US"/>
          </a:p>
        </p:txBody>
      </p:sp>
      <p:sp>
        <p:nvSpPr>
          <p:cNvPr id="20" name="Text 18"/>
          <p:cNvSpPr/>
          <p:nvPr/>
        </p:nvSpPr>
        <p:spPr>
          <a:xfrm>
            <a:off x="4663440" y="1234440"/>
            <a:ext cx="4069080" cy="347472"/>
          </a:xfrm>
          <a:prstGeom prst="rect">
            <a:avLst/>
          </a:prstGeom>
          <a:noFill/>
          <a:ln/>
        </p:spPr>
        <p:txBody>
          <a:bodyPr wrap="square" rtlCol="0" anchor="ctr"/>
          <a:lstStyle/>
          <a:p>
            <a:pPr marL="0" indent="0" algn="ctr">
              <a:buNone/>
            </a:pPr>
            <a:r>
              <a:rPr lang="en-US" sz="1200" b="1" dirty="0">
                <a:solidFill>
                  <a:srgbClr val="B9DEF8"/>
                </a:solidFill>
                <a:latin typeface="Arial" pitchFamily="34" charset="0"/>
                <a:ea typeface="Arial" pitchFamily="34" charset="-122"/>
                <a:cs typeface="Arial" pitchFamily="34" charset="-120"/>
              </a:rPr>
              <a:t>SP4 / H4</a:t>
            </a:r>
            <a:endParaRPr lang="en-US" sz="1200" dirty="0"/>
          </a:p>
        </p:txBody>
      </p:sp>
      <p:sp>
        <p:nvSpPr>
          <p:cNvPr id="21" name="Text 19"/>
          <p:cNvSpPr/>
          <p:nvPr/>
        </p:nvSpPr>
        <p:spPr>
          <a:xfrm>
            <a:off x="4663440" y="1627632"/>
            <a:ext cx="4069080" cy="1097280"/>
          </a:xfrm>
          <a:prstGeom prst="rect">
            <a:avLst/>
          </a:prstGeom>
          <a:noFill/>
          <a:ln/>
        </p:spPr>
        <p:txBody>
          <a:bodyPr wrap="square"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CSMA/CD</a:t>
            </a:r>
            <a:endParaRPr lang="en-US" sz="2400" dirty="0"/>
          </a:p>
          <a:p>
            <a:pPr marL="0" indent="0" algn="ctr">
              <a:buNone/>
            </a:pPr>
            <a:r>
              <a:rPr lang="en-US" sz="2400" b="1" dirty="0">
                <a:solidFill>
                  <a:srgbClr val="FFFFFF"/>
                </a:solidFill>
                <a:latin typeface="Arial" pitchFamily="34" charset="0"/>
                <a:ea typeface="Arial" pitchFamily="34" charset="-122"/>
                <a:cs typeface="Arial" pitchFamily="34" charset="-120"/>
              </a:rPr>
              <a:t>en Profundidad</a:t>
            </a:r>
            <a:endParaRPr lang="en-US" sz="2400" dirty="0"/>
          </a:p>
        </p:txBody>
      </p:sp>
      <p:sp>
        <p:nvSpPr>
          <p:cNvPr id="22" name="Text 20"/>
          <p:cNvSpPr/>
          <p:nvPr/>
        </p:nvSpPr>
        <p:spPr>
          <a:xfrm>
            <a:off x="4663440" y="2788920"/>
            <a:ext cx="4069080" cy="347472"/>
          </a:xfrm>
          <a:prstGeom prst="rect">
            <a:avLst/>
          </a:prstGeom>
          <a:noFill/>
          <a:ln/>
        </p:spPr>
        <p:txBody>
          <a:bodyPr wrap="square" rtlCol="0" anchor="ctr"/>
          <a:lstStyle/>
          <a:p>
            <a:pPr marL="0" indent="0" algn="ctr">
              <a:buNone/>
            </a:pPr>
            <a:r>
              <a:rPr lang="en-US" sz="1100" dirty="0">
                <a:solidFill>
                  <a:srgbClr val="5AA8D8"/>
                </a:solidFill>
                <a:latin typeface="Arial" pitchFamily="34" charset="0"/>
                <a:ea typeface="Arial" pitchFamily="34" charset="-122"/>
                <a:cs typeface="Arial" pitchFamily="34" charset="-120"/>
              </a:rPr>
              <a:t>Colisiones · Backoff · MAC · Manchester</a:t>
            </a:r>
            <a:endParaRPr lang="en-US" sz="1100" dirty="0"/>
          </a:p>
        </p:txBody>
      </p:sp>
      <p:sp>
        <p:nvSpPr>
          <p:cNvPr id="23" name="Text 21"/>
          <p:cNvSpPr/>
          <p:nvPr/>
        </p:nvSpPr>
        <p:spPr>
          <a:xfrm>
            <a:off x="4663440" y="3200400"/>
            <a:ext cx="4069080" cy="292608"/>
          </a:xfrm>
          <a:prstGeom prst="rect">
            <a:avLst/>
          </a:prstGeom>
          <a:noFill/>
          <a:ln/>
        </p:spPr>
        <p:txBody>
          <a:bodyPr wrap="square" rtlCol="0" anchor="ctr"/>
          <a:lstStyle/>
          <a:p>
            <a:pPr marL="0" indent="0" algn="ctr">
              <a:buNone/>
            </a:pPr>
            <a:r>
              <a:rPr lang="en-US" sz="1100" dirty="0">
                <a:solidFill>
                  <a:srgbClr val="808080"/>
                </a:solidFill>
                <a:latin typeface="Arial" pitchFamily="34" charset="0"/>
                <a:ea typeface="Arial" pitchFamily="34" charset="-122"/>
                <a:cs typeface="Arial" pitchFamily="34" charset="-120"/>
              </a:rPr>
              <a:t>Redes y Comunicaciones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5AA8D8"/>
          </a:solidFill>
          <a:ln w="12700">
            <a:solidFill>
              <a:srgbClr val="5AA8D8"/>
            </a:solidFill>
            <a:prstDash val="solid"/>
          </a:ln>
        </p:spPr>
        <p:txBody>
          <a:bodyPr/>
          <a:lstStyle/>
          <a:p>
            <a:endParaRPr lang="en-US"/>
          </a:p>
        </p:txBody>
      </p:sp>
      <p:sp>
        <p:nvSpPr>
          <p:cNvPr id="3" name="Shape 1"/>
          <p:cNvSpPr/>
          <p:nvPr/>
        </p:nvSpPr>
        <p:spPr>
          <a:xfrm>
            <a:off x="457200" y="164592"/>
            <a:ext cx="8229600" cy="749808"/>
          </a:xfrm>
          <a:prstGeom prst="rect">
            <a:avLst/>
          </a:prstGeom>
          <a:solidFill>
            <a:srgbClr val="3A7BAA"/>
          </a:solidFill>
          <a:ln w="12700">
            <a:solidFill>
              <a:srgbClr val="3A7BAA"/>
            </a:solidFill>
            <a:prstDash val="solid"/>
          </a:ln>
          <a:effectLst>
            <a:outerShdw blurRad="101600" dist="38100" dir="8100000" algn="bl" rotWithShape="0">
              <a:srgbClr val="000000">
                <a:alpha val="15000"/>
              </a:srgbClr>
            </a:outerShdw>
          </a:effectLst>
        </p:spPr>
        <p:txBody>
          <a:bodyPr/>
          <a:lstStyle/>
          <a:p>
            <a:endParaRPr lang="en-US"/>
          </a:p>
        </p:txBody>
      </p:sp>
      <p:sp>
        <p:nvSpPr>
          <p:cNvPr id="4" name="Text 2"/>
          <p:cNvSpPr/>
          <p:nvPr/>
        </p:nvSpPr>
        <p:spPr>
          <a:xfrm>
            <a:off x="566928" y="164592"/>
            <a:ext cx="8010144" cy="749808"/>
          </a:xfrm>
          <a:prstGeom prst="rect">
            <a:avLst/>
          </a:prstGeom>
          <a:noFill/>
          <a:ln/>
        </p:spPr>
        <p:txBody>
          <a:bodyPr wrap="square" lIns="0" tIns="0" rIns="0" bIns="0" rtlCol="0" anchor="ctr"/>
          <a:lstStyle/>
          <a:p>
            <a:pPr marL="0" indent="0">
              <a:buNone/>
            </a:pPr>
            <a:r>
              <a:rPr lang="en-US" sz="2500" b="1" dirty="0">
                <a:solidFill>
                  <a:srgbClr val="FFFFFF"/>
                </a:solidFill>
                <a:latin typeface="Arial" pitchFamily="34" charset="0"/>
                <a:ea typeface="Arial" pitchFamily="34" charset="-122"/>
                <a:cs typeface="Arial" pitchFamily="34" charset="-120"/>
              </a:rPr>
              <a:t>La Regla Principal de CSMA/CD</a:t>
            </a:r>
            <a:endParaRPr lang="en-US" sz="2500" dirty="0"/>
          </a:p>
        </p:txBody>
      </p:sp>
      <p:sp>
        <p:nvSpPr>
          <p:cNvPr id="5" name="Text 3"/>
          <p:cNvSpPr/>
          <p:nvPr/>
        </p:nvSpPr>
        <p:spPr>
          <a:xfrm>
            <a:off x="566928" y="987552"/>
            <a:ext cx="8010144" cy="347472"/>
          </a:xfrm>
          <a:prstGeom prst="rect">
            <a:avLst/>
          </a:prstGeom>
          <a:noFill/>
          <a:ln/>
        </p:spPr>
        <p:txBody>
          <a:bodyPr wrap="square" rtlCol="0" anchor="ctr"/>
          <a:lstStyle/>
          <a:p>
            <a:pPr marL="0" indent="0">
              <a:buNone/>
            </a:pPr>
            <a:r>
              <a:rPr lang="en-US" sz="1200" i="1" dirty="0">
                <a:solidFill>
                  <a:srgbClr val="B9DEF8"/>
                </a:solidFill>
                <a:latin typeface="Arial" pitchFamily="34" charset="0"/>
                <a:ea typeface="Arial" pitchFamily="34" charset="-122"/>
                <a:cs typeface="Arial" pitchFamily="34" charset="-120"/>
              </a:rPr>
              <a:t>Carrier Sense: escuchá antes de transmitir</a:t>
            </a:r>
            <a:endParaRPr lang="en-US" sz="1200" dirty="0"/>
          </a:p>
        </p:txBody>
      </p:sp>
      <p:sp>
        <p:nvSpPr>
          <p:cNvPr id="6" name="Shape 4"/>
          <p:cNvSpPr/>
          <p:nvPr/>
        </p:nvSpPr>
        <p:spPr>
          <a:xfrm>
            <a:off x="320040" y="1417320"/>
            <a:ext cx="8503920" cy="749808"/>
          </a:xfrm>
          <a:prstGeom prst="rect">
            <a:avLst/>
          </a:prstGeom>
          <a:solidFill>
            <a:srgbClr val="3A7BAA"/>
          </a:solidFill>
          <a:ln w="12700">
            <a:solidFill>
              <a:srgbClr val="5AA8D8"/>
            </a:solidFill>
            <a:prstDash val="solid"/>
          </a:ln>
          <a:effectLst>
            <a:outerShdw blurRad="101600" dist="38100" dir="8100000" algn="bl" rotWithShape="0">
              <a:srgbClr val="000000">
                <a:alpha val="15000"/>
              </a:srgbClr>
            </a:outerShdw>
          </a:effectLst>
        </p:spPr>
        <p:txBody>
          <a:bodyPr/>
          <a:lstStyle/>
          <a:p>
            <a:endParaRPr lang="en-US"/>
          </a:p>
        </p:txBody>
      </p:sp>
      <p:sp>
        <p:nvSpPr>
          <p:cNvPr id="7" name="Text 5"/>
          <p:cNvSpPr/>
          <p:nvPr/>
        </p:nvSpPr>
        <p:spPr>
          <a:xfrm>
            <a:off x="411480" y="1417320"/>
            <a:ext cx="8321040" cy="749808"/>
          </a:xfrm>
          <a:prstGeom prst="rect">
            <a:avLst/>
          </a:prstGeom>
          <a:noFill/>
          <a:ln/>
        </p:spPr>
        <p:txBody>
          <a:bodyPr wrap="square" rtlCol="0" anchor="ctr"/>
          <a:lstStyle/>
          <a:p>
            <a:pPr marL="0" indent="0">
              <a:buNone/>
            </a:pPr>
            <a:r>
              <a:rPr lang="en-US" sz="1400" b="1" i="1" dirty="0">
                <a:solidFill>
                  <a:srgbClr val="FFFFFF"/>
                </a:solidFill>
                <a:latin typeface="Arial" pitchFamily="34" charset="0"/>
                <a:ea typeface="Arial" pitchFamily="34" charset="-122"/>
                <a:cs typeface="Arial" pitchFamily="34" charset="-120"/>
              </a:rPr>
              <a:t>"En una red CSMA/CD, cualquier host puede transmitir en cualquier momento, EXCEPTO cuando otro host esté usando el medio."</a:t>
            </a:r>
            <a:endParaRPr lang="en-US" sz="1400" dirty="0"/>
          </a:p>
        </p:txBody>
      </p:sp>
      <p:sp>
        <p:nvSpPr>
          <p:cNvPr id="8" name="Shape 6"/>
          <p:cNvSpPr/>
          <p:nvPr/>
        </p:nvSpPr>
        <p:spPr>
          <a:xfrm>
            <a:off x="320040" y="2331720"/>
            <a:ext cx="2029968" cy="2377440"/>
          </a:xfrm>
          <a:prstGeom prst="rect">
            <a:avLst/>
          </a:prstGeom>
          <a:solidFill>
            <a:srgbClr val="E8F4FC"/>
          </a:solidFill>
          <a:ln w="12700">
            <a:solidFill>
              <a:srgbClr val="5AA8D8"/>
            </a:solidFill>
            <a:prstDash val="solid"/>
          </a:ln>
          <a:effectLst>
            <a:outerShdw blurRad="101600" dist="38100" dir="8100000" algn="bl" rotWithShape="0">
              <a:srgbClr val="000000">
                <a:alpha val="15000"/>
              </a:srgbClr>
            </a:outerShdw>
          </a:effectLst>
        </p:spPr>
        <p:txBody>
          <a:bodyPr/>
          <a:lstStyle/>
          <a:p>
            <a:endParaRPr lang="en-US"/>
          </a:p>
        </p:txBody>
      </p:sp>
      <p:sp>
        <p:nvSpPr>
          <p:cNvPr id="9" name="Shape 7"/>
          <p:cNvSpPr/>
          <p:nvPr/>
        </p:nvSpPr>
        <p:spPr>
          <a:xfrm>
            <a:off x="320040" y="2331720"/>
            <a:ext cx="2029968" cy="438912"/>
          </a:xfrm>
          <a:prstGeom prst="rect">
            <a:avLst/>
          </a:prstGeom>
          <a:solidFill>
            <a:srgbClr val="5AA8D8"/>
          </a:solidFill>
          <a:ln w="12700">
            <a:solidFill>
              <a:srgbClr val="5AA8D8"/>
            </a:solidFill>
            <a:prstDash val="solid"/>
          </a:ln>
        </p:spPr>
        <p:txBody>
          <a:bodyPr/>
          <a:lstStyle/>
          <a:p>
            <a:endParaRPr lang="en-US"/>
          </a:p>
        </p:txBody>
      </p:sp>
      <p:sp>
        <p:nvSpPr>
          <p:cNvPr id="10" name="Text 8"/>
          <p:cNvSpPr/>
          <p:nvPr/>
        </p:nvSpPr>
        <p:spPr>
          <a:xfrm>
            <a:off x="384048" y="2331720"/>
            <a:ext cx="1901952" cy="438912"/>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1. Carrier Sense</a:t>
            </a:r>
            <a:endParaRPr lang="en-US" sz="1200" dirty="0"/>
          </a:p>
        </p:txBody>
      </p:sp>
      <p:sp>
        <p:nvSpPr>
          <p:cNvPr id="11" name="Text 9"/>
          <p:cNvSpPr/>
          <p:nvPr/>
        </p:nvSpPr>
        <p:spPr>
          <a:xfrm>
            <a:off x="402336" y="2834640"/>
            <a:ext cx="1865376" cy="1783080"/>
          </a:xfrm>
          <a:prstGeom prst="rect">
            <a:avLst/>
          </a:prstGeom>
          <a:noFill/>
          <a:ln/>
        </p:spPr>
        <p:txBody>
          <a:bodyPr wrap="square" rtlCol="0" anchor="t"/>
          <a:lstStyle/>
          <a:p>
            <a:pPr marL="0" indent="0">
              <a:buNone/>
            </a:pPr>
            <a:r>
              <a:rPr lang="en-US" sz="1100" dirty="0">
                <a:solidFill>
                  <a:srgbClr val="404040"/>
                </a:solidFill>
                <a:latin typeface="Arial" pitchFamily="34" charset="0"/>
                <a:ea typeface="Arial" pitchFamily="34" charset="-122"/>
                <a:cs typeface="Arial" pitchFamily="34" charset="-120"/>
              </a:rPr>
              <a:t>El host escucha continuamente el cable.</a:t>
            </a:r>
            <a:endParaRPr lang="en-US" sz="1100" dirty="0"/>
          </a:p>
          <a:p>
            <a:pPr marL="0" indent="0">
              <a:buNone/>
            </a:pPr>
            <a:r>
              <a:rPr lang="en-US" sz="1100" dirty="0">
                <a:solidFill>
                  <a:srgbClr val="404040"/>
                </a:solidFill>
                <a:latin typeface="Arial" pitchFamily="34" charset="0"/>
                <a:ea typeface="Arial" pitchFamily="34" charset="-122"/>
                <a:cs typeface="Arial" pitchFamily="34" charset="-120"/>
              </a:rPr>
              <a:t>¿Hay señal? → Medio OCUPADO. ¿Sin señal? → Medio LIBRE.</a:t>
            </a:r>
            <a:endParaRPr lang="en-US" sz="1100" dirty="0"/>
          </a:p>
        </p:txBody>
      </p:sp>
      <p:sp>
        <p:nvSpPr>
          <p:cNvPr id="12" name="Text 10"/>
          <p:cNvSpPr/>
          <p:nvPr/>
        </p:nvSpPr>
        <p:spPr>
          <a:xfrm>
            <a:off x="2350008" y="3291840"/>
            <a:ext cx="146304" cy="365760"/>
          </a:xfrm>
          <a:prstGeom prst="rect">
            <a:avLst/>
          </a:prstGeom>
          <a:noFill/>
          <a:ln/>
        </p:spPr>
        <p:txBody>
          <a:bodyPr wrap="square" rtlCol="0" anchor="ctr"/>
          <a:lstStyle/>
          <a:p>
            <a:pPr marL="0" indent="0" algn="ctr">
              <a:buNone/>
            </a:pPr>
            <a:r>
              <a:rPr lang="en-US" sz="1800" dirty="0">
                <a:solidFill>
                  <a:srgbClr val="5AA8D8"/>
                </a:solidFill>
                <a:latin typeface="Arial" pitchFamily="34" charset="0"/>
                <a:ea typeface="Arial" pitchFamily="34" charset="-122"/>
                <a:cs typeface="Arial" pitchFamily="34" charset="-120"/>
              </a:rPr>
              <a:t>→</a:t>
            </a:r>
            <a:endParaRPr lang="en-US" sz="1800" dirty="0"/>
          </a:p>
        </p:txBody>
      </p:sp>
      <p:sp>
        <p:nvSpPr>
          <p:cNvPr id="13" name="Shape 11"/>
          <p:cNvSpPr/>
          <p:nvPr/>
        </p:nvSpPr>
        <p:spPr>
          <a:xfrm>
            <a:off x="2496312" y="2331720"/>
            <a:ext cx="2029968" cy="2377440"/>
          </a:xfrm>
          <a:prstGeom prst="rect">
            <a:avLst/>
          </a:prstGeom>
          <a:solidFill>
            <a:srgbClr val="E8F4FC"/>
          </a:solidFill>
          <a:ln w="12700">
            <a:solidFill>
              <a:srgbClr val="2E7D32"/>
            </a:solidFill>
            <a:prstDash val="solid"/>
          </a:ln>
          <a:effectLst>
            <a:outerShdw blurRad="101600" dist="38100" dir="8100000" algn="bl" rotWithShape="0">
              <a:srgbClr val="000000">
                <a:alpha val="15000"/>
              </a:srgbClr>
            </a:outerShdw>
          </a:effectLst>
        </p:spPr>
        <p:txBody>
          <a:bodyPr/>
          <a:lstStyle/>
          <a:p>
            <a:endParaRPr lang="en-US"/>
          </a:p>
        </p:txBody>
      </p:sp>
      <p:sp>
        <p:nvSpPr>
          <p:cNvPr id="14" name="Shape 12"/>
          <p:cNvSpPr/>
          <p:nvPr/>
        </p:nvSpPr>
        <p:spPr>
          <a:xfrm>
            <a:off x="2496312" y="2331720"/>
            <a:ext cx="2029968" cy="438912"/>
          </a:xfrm>
          <a:prstGeom prst="rect">
            <a:avLst/>
          </a:prstGeom>
          <a:solidFill>
            <a:srgbClr val="2E7D32"/>
          </a:solidFill>
          <a:ln w="12700">
            <a:solidFill>
              <a:srgbClr val="2E7D32"/>
            </a:solidFill>
            <a:prstDash val="solid"/>
          </a:ln>
        </p:spPr>
        <p:txBody>
          <a:bodyPr/>
          <a:lstStyle/>
          <a:p>
            <a:endParaRPr lang="en-US"/>
          </a:p>
        </p:txBody>
      </p:sp>
      <p:sp>
        <p:nvSpPr>
          <p:cNvPr id="15" name="Text 13"/>
          <p:cNvSpPr/>
          <p:nvPr/>
        </p:nvSpPr>
        <p:spPr>
          <a:xfrm>
            <a:off x="2560320" y="2331720"/>
            <a:ext cx="1901952" cy="438912"/>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2. Transmitir</a:t>
            </a:r>
            <a:endParaRPr lang="en-US" sz="1200" dirty="0"/>
          </a:p>
        </p:txBody>
      </p:sp>
      <p:sp>
        <p:nvSpPr>
          <p:cNvPr id="16" name="Text 14"/>
          <p:cNvSpPr/>
          <p:nvPr/>
        </p:nvSpPr>
        <p:spPr>
          <a:xfrm>
            <a:off x="2578608" y="2834640"/>
            <a:ext cx="1865376" cy="1783080"/>
          </a:xfrm>
          <a:prstGeom prst="rect">
            <a:avLst/>
          </a:prstGeom>
          <a:noFill/>
          <a:ln/>
        </p:spPr>
        <p:txBody>
          <a:bodyPr wrap="square" rtlCol="0" anchor="t"/>
          <a:lstStyle/>
          <a:p>
            <a:pPr marL="0" indent="0">
              <a:buNone/>
            </a:pPr>
            <a:r>
              <a:rPr lang="en-US" sz="1100" dirty="0">
                <a:solidFill>
                  <a:srgbClr val="404040"/>
                </a:solidFill>
                <a:latin typeface="Arial" pitchFamily="34" charset="0"/>
                <a:ea typeface="Arial" pitchFamily="34" charset="-122"/>
                <a:cs typeface="Arial" pitchFamily="34" charset="-120"/>
              </a:rPr>
              <a:t>Si el medio está libre, comienza la transmisión de la trama. Continúa escuchando mientras transmite.</a:t>
            </a:r>
            <a:endParaRPr lang="en-US" sz="1100" dirty="0"/>
          </a:p>
        </p:txBody>
      </p:sp>
      <p:sp>
        <p:nvSpPr>
          <p:cNvPr id="17" name="Text 15"/>
          <p:cNvSpPr/>
          <p:nvPr/>
        </p:nvSpPr>
        <p:spPr>
          <a:xfrm>
            <a:off x="4526280" y="3291840"/>
            <a:ext cx="146304" cy="365760"/>
          </a:xfrm>
          <a:prstGeom prst="rect">
            <a:avLst/>
          </a:prstGeom>
          <a:noFill/>
          <a:ln/>
        </p:spPr>
        <p:txBody>
          <a:bodyPr wrap="square" rtlCol="0" anchor="ctr"/>
          <a:lstStyle/>
          <a:p>
            <a:pPr marL="0" indent="0" algn="ctr">
              <a:buNone/>
            </a:pPr>
            <a:r>
              <a:rPr lang="en-US" sz="1800" dirty="0">
                <a:solidFill>
                  <a:srgbClr val="5AA8D8"/>
                </a:solidFill>
                <a:latin typeface="Arial" pitchFamily="34" charset="0"/>
                <a:ea typeface="Arial" pitchFamily="34" charset="-122"/>
                <a:cs typeface="Arial" pitchFamily="34" charset="-120"/>
              </a:rPr>
              <a:t>→</a:t>
            </a:r>
            <a:endParaRPr lang="en-US" sz="1800" dirty="0"/>
          </a:p>
        </p:txBody>
      </p:sp>
      <p:sp>
        <p:nvSpPr>
          <p:cNvPr id="18" name="Shape 16"/>
          <p:cNvSpPr/>
          <p:nvPr/>
        </p:nvSpPr>
        <p:spPr>
          <a:xfrm>
            <a:off x="4672584" y="2331720"/>
            <a:ext cx="2029968" cy="2377440"/>
          </a:xfrm>
          <a:prstGeom prst="rect">
            <a:avLst/>
          </a:prstGeom>
          <a:solidFill>
            <a:srgbClr val="E8F4FC"/>
          </a:solidFill>
          <a:ln w="12700">
            <a:solidFill>
              <a:srgbClr val="C62828"/>
            </a:solidFill>
            <a:prstDash val="solid"/>
          </a:ln>
          <a:effectLst>
            <a:outerShdw blurRad="101600" dist="38100" dir="8100000" algn="bl" rotWithShape="0">
              <a:srgbClr val="000000">
                <a:alpha val="15000"/>
              </a:srgbClr>
            </a:outerShdw>
          </a:effectLst>
        </p:spPr>
        <p:txBody>
          <a:bodyPr/>
          <a:lstStyle/>
          <a:p>
            <a:endParaRPr lang="en-US"/>
          </a:p>
        </p:txBody>
      </p:sp>
      <p:sp>
        <p:nvSpPr>
          <p:cNvPr id="19" name="Shape 17"/>
          <p:cNvSpPr/>
          <p:nvPr/>
        </p:nvSpPr>
        <p:spPr>
          <a:xfrm>
            <a:off x="4672584" y="2331720"/>
            <a:ext cx="2029968" cy="438912"/>
          </a:xfrm>
          <a:prstGeom prst="rect">
            <a:avLst/>
          </a:prstGeom>
          <a:solidFill>
            <a:srgbClr val="C62828"/>
          </a:solidFill>
          <a:ln w="12700">
            <a:solidFill>
              <a:srgbClr val="C62828"/>
            </a:solidFill>
            <a:prstDash val="solid"/>
          </a:ln>
        </p:spPr>
        <p:txBody>
          <a:bodyPr/>
          <a:lstStyle/>
          <a:p>
            <a:endParaRPr lang="en-US"/>
          </a:p>
        </p:txBody>
      </p:sp>
      <p:sp>
        <p:nvSpPr>
          <p:cNvPr id="20" name="Text 18"/>
          <p:cNvSpPr/>
          <p:nvPr/>
        </p:nvSpPr>
        <p:spPr>
          <a:xfrm>
            <a:off x="4736592" y="2331720"/>
            <a:ext cx="1901952" cy="438912"/>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3. Colisión detectada</a:t>
            </a:r>
            <a:endParaRPr lang="en-US" sz="1200" dirty="0"/>
          </a:p>
        </p:txBody>
      </p:sp>
      <p:sp>
        <p:nvSpPr>
          <p:cNvPr id="21" name="Text 19"/>
          <p:cNvSpPr/>
          <p:nvPr/>
        </p:nvSpPr>
        <p:spPr>
          <a:xfrm>
            <a:off x="4754880" y="2834640"/>
            <a:ext cx="1865376" cy="1783080"/>
          </a:xfrm>
          <a:prstGeom prst="rect">
            <a:avLst/>
          </a:prstGeom>
          <a:noFill/>
          <a:ln/>
        </p:spPr>
        <p:txBody>
          <a:bodyPr wrap="square" rtlCol="0" anchor="t"/>
          <a:lstStyle/>
          <a:p>
            <a:pPr marL="0" indent="0">
              <a:buNone/>
            </a:pPr>
            <a:r>
              <a:rPr lang="en-US" sz="1100" dirty="0">
                <a:solidFill>
                  <a:srgbClr val="404040"/>
                </a:solidFill>
                <a:latin typeface="Arial" pitchFamily="34" charset="0"/>
                <a:ea typeface="Arial" pitchFamily="34" charset="-122"/>
                <a:cs typeface="Arial" pitchFamily="34" charset="-120"/>
              </a:rPr>
              <a:t>Si detecta que la señal en el cable difiere de la propia → COLISIÓN. Emite jam signal, detiene la transmisión.</a:t>
            </a:r>
            <a:endParaRPr lang="en-US" sz="1100" dirty="0"/>
          </a:p>
        </p:txBody>
      </p:sp>
      <p:sp>
        <p:nvSpPr>
          <p:cNvPr id="22" name="Text 20"/>
          <p:cNvSpPr/>
          <p:nvPr/>
        </p:nvSpPr>
        <p:spPr>
          <a:xfrm>
            <a:off x="6702552" y="3291840"/>
            <a:ext cx="146304" cy="365760"/>
          </a:xfrm>
          <a:prstGeom prst="rect">
            <a:avLst/>
          </a:prstGeom>
          <a:noFill/>
          <a:ln/>
        </p:spPr>
        <p:txBody>
          <a:bodyPr wrap="square" rtlCol="0" anchor="ctr"/>
          <a:lstStyle/>
          <a:p>
            <a:pPr marL="0" indent="0" algn="ctr">
              <a:buNone/>
            </a:pPr>
            <a:r>
              <a:rPr lang="en-US" sz="1800" dirty="0">
                <a:solidFill>
                  <a:srgbClr val="5AA8D8"/>
                </a:solidFill>
                <a:latin typeface="Arial" pitchFamily="34" charset="0"/>
                <a:ea typeface="Arial" pitchFamily="34" charset="-122"/>
                <a:cs typeface="Arial" pitchFamily="34" charset="-120"/>
              </a:rPr>
              <a:t>→</a:t>
            </a:r>
            <a:endParaRPr lang="en-US" sz="1800" dirty="0"/>
          </a:p>
        </p:txBody>
      </p:sp>
      <p:sp>
        <p:nvSpPr>
          <p:cNvPr id="23" name="Shape 21"/>
          <p:cNvSpPr/>
          <p:nvPr/>
        </p:nvSpPr>
        <p:spPr>
          <a:xfrm>
            <a:off x="6848856" y="2331720"/>
            <a:ext cx="2029968" cy="2377440"/>
          </a:xfrm>
          <a:prstGeom prst="rect">
            <a:avLst/>
          </a:prstGeom>
          <a:solidFill>
            <a:srgbClr val="E8F4FC"/>
          </a:solidFill>
          <a:ln w="12700">
            <a:solidFill>
              <a:srgbClr val="E65100"/>
            </a:solidFill>
            <a:prstDash val="solid"/>
          </a:ln>
          <a:effectLst>
            <a:outerShdw blurRad="101600" dist="38100" dir="8100000" algn="bl" rotWithShape="0">
              <a:srgbClr val="000000">
                <a:alpha val="15000"/>
              </a:srgbClr>
            </a:outerShdw>
          </a:effectLst>
        </p:spPr>
        <p:txBody>
          <a:bodyPr/>
          <a:lstStyle/>
          <a:p>
            <a:endParaRPr lang="en-US"/>
          </a:p>
        </p:txBody>
      </p:sp>
      <p:sp>
        <p:nvSpPr>
          <p:cNvPr id="24" name="Shape 22"/>
          <p:cNvSpPr/>
          <p:nvPr/>
        </p:nvSpPr>
        <p:spPr>
          <a:xfrm>
            <a:off x="6848856" y="2331720"/>
            <a:ext cx="2029968" cy="438912"/>
          </a:xfrm>
          <a:prstGeom prst="rect">
            <a:avLst/>
          </a:prstGeom>
          <a:solidFill>
            <a:srgbClr val="E65100"/>
          </a:solidFill>
          <a:ln w="12700">
            <a:solidFill>
              <a:srgbClr val="E65100"/>
            </a:solidFill>
            <a:prstDash val="solid"/>
          </a:ln>
        </p:spPr>
        <p:txBody>
          <a:bodyPr/>
          <a:lstStyle/>
          <a:p>
            <a:endParaRPr lang="en-US"/>
          </a:p>
        </p:txBody>
      </p:sp>
      <p:sp>
        <p:nvSpPr>
          <p:cNvPr id="25" name="Text 23"/>
          <p:cNvSpPr/>
          <p:nvPr/>
        </p:nvSpPr>
        <p:spPr>
          <a:xfrm>
            <a:off x="6912864" y="2331720"/>
            <a:ext cx="1901952" cy="438912"/>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4. Backoff y reintento</a:t>
            </a:r>
            <a:endParaRPr lang="en-US" sz="1200" dirty="0"/>
          </a:p>
        </p:txBody>
      </p:sp>
      <p:sp>
        <p:nvSpPr>
          <p:cNvPr id="26" name="Text 24"/>
          <p:cNvSpPr/>
          <p:nvPr/>
        </p:nvSpPr>
        <p:spPr>
          <a:xfrm>
            <a:off x="6931152" y="2834640"/>
            <a:ext cx="1865376" cy="1783080"/>
          </a:xfrm>
          <a:prstGeom prst="rect">
            <a:avLst/>
          </a:prstGeom>
          <a:noFill/>
          <a:ln/>
        </p:spPr>
        <p:txBody>
          <a:bodyPr wrap="square" rtlCol="0" anchor="t"/>
          <a:lstStyle/>
          <a:p>
            <a:pPr marL="0" indent="0">
              <a:buNone/>
            </a:pPr>
            <a:r>
              <a:rPr lang="en-US" sz="1100" dirty="0">
                <a:solidFill>
                  <a:srgbClr val="404040"/>
                </a:solidFill>
                <a:latin typeface="Arial" pitchFamily="34" charset="0"/>
                <a:ea typeface="Arial" pitchFamily="34" charset="-122"/>
                <a:cs typeface="Arial" pitchFamily="34" charset="-120"/>
              </a:rPr>
              <a:t>Espera un tiempo aleatorio (backoff exponencial) y vuelve al paso 1. Máximo 16 intentos.</a:t>
            </a:r>
            <a:endParaRPr lang="en-US" sz="1100" dirty="0"/>
          </a:p>
        </p:txBody>
      </p:sp>
      <p:sp>
        <p:nvSpPr>
          <p:cNvPr id="27" name="Shape 25"/>
          <p:cNvSpPr/>
          <p:nvPr/>
        </p:nvSpPr>
        <p:spPr>
          <a:xfrm>
            <a:off x="0" y="4846320"/>
            <a:ext cx="9144000" cy="297180"/>
          </a:xfrm>
          <a:prstGeom prst="rect">
            <a:avLst/>
          </a:prstGeom>
          <a:solidFill>
            <a:srgbClr val="2D3030"/>
          </a:solidFill>
          <a:ln w="12700">
            <a:solidFill>
              <a:srgbClr val="2D3030"/>
            </a:solidFill>
            <a:prstDash val="solid"/>
          </a:ln>
        </p:spPr>
        <p:txBody>
          <a:bodyPr/>
          <a:lstStyle/>
          <a:p>
            <a:endParaRPr lang="en-US"/>
          </a:p>
        </p:txBody>
      </p:sp>
      <p:sp>
        <p:nvSpPr>
          <p:cNvPr id="28" name="Text 26"/>
          <p:cNvSpPr/>
          <p:nvPr/>
        </p:nvSpPr>
        <p:spPr>
          <a:xfrm>
            <a:off x="137160" y="4846320"/>
            <a:ext cx="8869680" cy="297180"/>
          </a:xfrm>
          <a:prstGeom prst="rect">
            <a:avLst/>
          </a:prstGeom>
          <a:noFill/>
          <a:ln/>
        </p:spPr>
        <p:txBody>
          <a:bodyPr wrap="square" rtlCol="0" anchor="ctr"/>
          <a:lstStyle/>
          <a:p>
            <a:pPr marL="0" indent="0">
              <a:buNone/>
            </a:pPr>
            <a:r>
              <a:rPr lang="en-US" sz="1000" i="1" dirty="0">
                <a:solidFill>
                  <a:srgbClr val="B9DEF8"/>
                </a:solidFill>
                <a:latin typeface="Arial" pitchFamily="34" charset="0"/>
                <a:ea typeface="Arial" pitchFamily="34" charset="-122"/>
                <a:cs typeface="Arial" pitchFamily="34" charset="-120"/>
              </a:rPr>
              <a:t>🎤 Preguntar: ¿por qué puede ocurrir una colisión aunque AMBOS hosts detectaron el medio libre?</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D3030"/>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5AA8D8"/>
          </a:solidFill>
          <a:ln w="12700">
            <a:solidFill>
              <a:srgbClr val="5AA8D8"/>
            </a:solidFill>
            <a:prstDash val="solid"/>
          </a:ln>
        </p:spPr>
        <p:txBody>
          <a:bodyPr/>
          <a:lstStyle/>
          <a:p>
            <a:endParaRPr lang="en-US"/>
          </a:p>
        </p:txBody>
      </p:sp>
      <p:sp>
        <p:nvSpPr>
          <p:cNvPr id="3" name="Shape 1"/>
          <p:cNvSpPr/>
          <p:nvPr/>
        </p:nvSpPr>
        <p:spPr>
          <a:xfrm>
            <a:off x="457200" y="164592"/>
            <a:ext cx="8229600" cy="749808"/>
          </a:xfrm>
          <a:prstGeom prst="rect">
            <a:avLst/>
          </a:prstGeom>
          <a:solidFill>
            <a:srgbClr val="3A7BAA"/>
          </a:solidFill>
          <a:ln w="12700">
            <a:solidFill>
              <a:srgbClr val="3A7BAA"/>
            </a:solidFill>
            <a:prstDash val="solid"/>
          </a:ln>
          <a:effectLst>
            <a:outerShdw blurRad="101600" dist="38100" dir="8100000" algn="bl" rotWithShape="0">
              <a:srgbClr val="000000">
                <a:alpha val="15000"/>
              </a:srgbClr>
            </a:outerShdw>
          </a:effectLst>
        </p:spPr>
        <p:txBody>
          <a:bodyPr/>
          <a:lstStyle/>
          <a:p>
            <a:endParaRPr lang="en-US"/>
          </a:p>
        </p:txBody>
      </p:sp>
      <p:sp>
        <p:nvSpPr>
          <p:cNvPr id="4" name="Text 2"/>
          <p:cNvSpPr/>
          <p:nvPr/>
        </p:nvSpPr>
        <p:spPr>
          <a:xfrm>
            <a:off x="566928" y="164592"/>
            <a:ext cx="8010144" cy="749808"/>
          </a:xfrm>
          <a:prstGeom prst="rect">
            <a:avLst/>
          </a:prstGeom>
          <a:noFill/>
          <a:ln/>
        </p:spPr>
        <p:txBody>
          <a:bodyPr wrap="square" lIns="0" tIns="0" rIns="0" bIns="0" rtlCol="0" anchor="ctr"/>
          <a:lstStyle/>
          <a:p>
            <a:pPr marL="0" indent="0">
              <a:buNone/>
            </a:pPr>
            <a:r>
              <a:rPr lang="en-US" sz="2500" b="1" dirty="0">
                <a:solidFill>
                  <a:srgbClr val="FFFFFF"/>
                </a:solidFill>
                <a:latin typeface="Arial" pitchFamily="34" charset="0"/>
                <a:ea typeface="Arial" pitchFamily="34" charset="-122"/>
                <a:cs typeface="Arial" pitchFamily="34" charset="-120"/>
              </a:rPr>
              <a:t>¿Por qué ocurren las colisiones?</a:t>
            </a:r>
            <a:endParaRPr lang="en-US" sz="2500" dirty="0"/>
          </a:p>
        </p:txBody>
      </p:sp>
      <p:sp>
        <p:nvSpPr>
          <p:cNvPr id="5" name="Text 3"/>
          <p:cNvSpPr/>
          <p:nvPr/>
        </p:nvSpPr>
        <p:spPr>
          <a:xfrm>
            <a:off x="566928" y="987552"/>
            <a:ext cx="8010144" cy="347472"/>
          </a:xfrm>
          <a:prstGeom prst="rect">
            <a:avLst/>
          </a:prstGeom>
          <a:noFill/>
          <a:ln/>
        </p:spPr>
        <p:txBody>
          <a:bodyPr wrap="square" rtlCol="0" anchor="ctr"/>
          <a:lstStyle/>
          <a:p>
            <a:pPr marL="0" indent="0">
              <a:buNone/>
            </a:pPr>
            <a:r>
              <a:rPr lang="en-US" sz="1200" i="1" dirty="0">
                <a:solidFill>
                  <a:srgbClr val="B9DEF8"/>
                </a:solidFill>
                <a:latin typeface="Arial" pitchFamily="34" charset="0"/>
                <a:ea typeface="Arial" pitchFamily="34" charset="-122"/>
                <a:cs typeface="Arial" pitchFamily="34" charset="-120"/>
              </a:rPr>
              <a:t>El tiempo de propagación: el enemigo invisible de CSMA/CD</a:t>
            </a:r>
            <a:endParaRPr lang="en-US" sz="1200" dirty="0"/>
          </a:p>
        </p:txBody>
      </p:sp>
      <p:sp>
        <p:nvSpPr>
          <p:cNvPr id="6" name="Shape 4"/>
          <p:cNvSpPr/>
          <p:nvPr/>
        </p:nvSpPr>
        <p:spPr>
          <a:xfrm>
            <a:off x="365760" y="2743200"/>
            <a:ext cx="8412480" cy="0"/>
          </a:xfrm>
          <a:prstGeom prst="line">
            <a:avLst/>
          </a:prstGeom>
          <a:noFill/>
          <a:ln w="50800">
            <a:solidFill>
              <a:srgbClr val="B9DEF8"/>
            </a:solidFill>
            <a:prstDash val="solid"/>
          </a:ln>
        </p:spPr>
        <p:txBody>
          <a:bodyPr/>
          <a:lstStyle/>
          <a:p>
            <a:endParaRPr lang="en-US"/>
          </a:p>
        </p:txBody>
      </p:sp>
      <p:sp>
        <p:nvSpPr>
          <p:cNvPr id="7" name="Shape 5"/>
          <p:cNvSpPr/>
          <p:nvPr/>
        </p:nvSpPr>
        <p:spPr>
          <a:xfrm>
            <a:off x="320040" y="2121408"/>
            <a:ext cx="914400" cy="502920"/>
          </a:xfrm>
          <a:prstGeom prst="rect">
            <a:avLst/>
          </a:prstGeom>
          <a:solidFill>
            <a:srgbClr val="3A7BAA"/>
          </a:solidFill>
          <a:ln w="12700">
            <a:solidFill>
              <a:srgbClr val="5AA8D8"/>
            </a:solidFill>
            <a:prstDash val="solid"/>
          </a:ln>
        </p:spPr>
        <p:txBody>
          <a:bodyPr/>
          <a:lstStyle/>
          <a:p>
            <a:endParaRPr lang="en-US"/>
          </a:p>
        </p:txBody>
      </p:sp>
      <p:sp>
        <p:nvSpPr>
          <p:cNvPr id="8" name="Text 6"/>
          <p:cNvSpPr/>
          <p:nvPr/>
        </p:nvSpPr>
        <p:spPr>
          <a:xfrm>
            <a:off x="320040" y="2121408"/>
            <a:ext cx="914400" cy="502920"/>
          </a:xfrm>
          <a:prstGeom prst="rect">
            <a:avLst/>
          </a:prstGeom>
          <a:noFill/>
          <a:ln/>
        </p:spPr>
        <p:txBody>
          <a:bodyPr wrap="square"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Host A</a:t>
            </a:r>
            <a:endParaRPr lang="en-US" sz="1000" dirty="0"/>
          </a:p>
        </p:txBody>
      </p:sp>
      <p:sp>
        <p:nvSpPr>
          <p:cNvPr id="9" name="Shape 7"/>
          <p:cNvSpPr/>
          <p:nvPr/>
        </p:nvSpPr>
        <p:spPr>
          <a:xfrm>
            <a:off x="7909560" y="2121408"/>
            <a:ext cx="914400" cy="502920"/>
          </a:xfrm>
          <a:prstGeom prst="rect">
            <a:avLst/>
          </a:prstGeom>
          <a:solidFill>
            <a:srgbClr val="3A7BAA"/>
          </a:solidFill>
          <a:ln w="12700">
            <a:solidFill>
              <a:srgbClr val="5AA8D8"/>
            </a:solidFill>
            <a:prstDash val="solid"/>
          </a:ln>
        </p:spPr>
        <p:txBody>
          <a:bodyPr/>
          <a:lstStyle/>
          <a:p>
            <a:endParaRPr lang="en-US"/>
          </a:p>
        </p:txBody>
      </p:sp>
      <p:sp>
        <p:nvSpPr>
          <p:cNvPr id="10" name="Text 8"/>
          <p:cNvSpPr/>
          <p:nvPr/>
        </p:nvSpPr>
        <p:spPr>
          <a:xfrm>
            <a:off x="7909560" y="2121408"/>
            <a:ext cx="914400" cy="502920"/>
          </a:xfrm>
          <a:prstGeom prst="rect">
            <a:avLst/>
          </a:prstGeom>
          <a:noFill/>
          <a:ln/>
        </p:spPr>
        <p:txBody>
          <a:bodyPr wrap="square"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Host B</a:t>
            </a:r>
            <a:endParaRPr lang="en-US" sz="1000" dirty="0"/>
          </a:p>
        </p:txBody>
      </p:sp>
      <p:sp>
        <p:nvSpPr>
          <p:cNvPr id="11" name="Shape 9"/>
          <p:cNvSpPr/>
          <p:nvPr/>
        </p:nvSpPr>
        <p:spPr>
          <a:xfrm>
            <a:off x="1234440" y="2651760"/>
            <a:ext cx="3200400" cy="0"/>
          </a:xfrm>
          <a:prstGeom prst="line">
            <a:avLst/>
          </a:prstGeom>
          <a:noFill/>
          <a:ln w="38100">
            <a:solidFill>
              <a:srgbClr val="E65100"/>
            </a:solidFill>
            <a:prstDash val="solid"/>
          </a:ln>
        </p:spPr>
        <p:txBody>
          <a:bodyPr/>
          <a:lstStyle/>
          <a:p>
            <a:endParaRPr lang="en-US"/>
          </a:p>
        </p:txBody>
      </p:sp>
      <p:sp>
        <p:nvSpPr>
          <p:cNvPr id="12" name="Text 10"/>
          <p:cNvSpPr/>
          <p:nvPr/>
        </p:nvSpPr>
        <p:spPr>
          <a:xfrm>
            <a:off x="1280160" y="2359152"/>
            <a:ext cx="2286000" cy="274320"/>
          </a:xfrm>
          <a:prstGeom prst="rect">
            <a:avLst/>
          </a:prstGeom>
          <a:noFill/>
          <a:ln/>
        </p:spPr>
        <p:txBody>
          <a:bodyPr wrap="square" rtlCol="0" anchor="ctr"/>
          <a:lstStyle/>
          <a:p>
            <a:pPr marL="0" indent="0">
              <a:buNone/>
            </a:pPr>
            <a:r>
              <a:rPr lang="en-US" sz="1000" dirty="0">
                <a:solidFill>
                  <a:srgbClr val="E65100"/>
                </a:solidFill>
                <a:latin typeface="Arial" pitchFamily="34" charset="0"/>
                <a:ea typeface="Arial" pitchFamily="34" charset="-122"/>
                <a:cs typeface="Arial" pitchFamily="34" charset="-120"/>
              </a:rPr>
              <a:t>Señal de A →</a:t>
            </a:r>
            <a:endParaRPr lang="en-US" sz="1000" dirty="0"/>
          </a:p>
        </p:txBody>
      </p:sp>
      <p:sp>
        <p:nvSpPr>
          <p:cNvPr id="13" name="Shape 11"/>
          <p:cNvSpPr/>
          <p:nvPr/>
        </p:nvSpPr>
        <p:spPr>
          <a:xfrm>
            <a:off x="4709160" y="2834640"/>
            <a:ext cx="3200400" cy="0"/>
          </a:xfrm>
          <a:prstGeom prst="line">
            <a:avLst/>
          </a:prstGeom>
          <a:noFill/>
          <a:ln w="38100">
            <a:solidFill>
              <a:srgbClr val="1E88E5"/>
            </a:solidFill>
            <a:prstDash val="solid"/>
          </a:ln>
        </p:spPr>
        <p:txBody>
          <a:bodyPr/>
          <a:lstStyle/>
          <a:p>
            <a:endParaRPr lang="en-US"/>
          </a:p>
        </p:txBody>
      </p:sp>
      <p:sp>
        <p:nvSpPr>
          <p:cNvPr id="14" name="Text 12"/>
          <p:cNvSpPr/>
          <p:nvPr/>
        </p:nvSpPr>
        <p:spPr>
          <a:xfrm>
            <a:off x="5120640" y="2907792"/>
            <a:ext cx="2286000" cy="274320"/>
          </a:xfrm>
          <a:prstGeom prst="rect">
            <a:avLst/>
          </a:prstGeom>
          <a:noFill/>
          <a:ln/>
        </p:spPr>
        <p:txBody>
          <a:bodyPr wrap="square" rtlCol="0" anchor="ctr"/>
          <a:lstStyle/>
          <a:p>
            <a:pPr marL="0" indent="0">
              <a:buNone/>
            </a:pPr>
            <a:r>
              <a:rPr lang="en-US" sz="1000" dirty="0">
                <a:solidFill>
                  <a:srgbClr val="1E88E5"/>
                </a:solidFill>
                <a:latin typeface="Arial" pitchFamily="34" charset="0"/>
                <a:ea typeface="Arial" pitchFamily="34" charset="-122"/>
                <a:cs typeface="Arial" pitchFamily="34" charset="-120"/>
              </a:rPr>
              <a:t>← Señal de B</a:t>
            </a:r>
            <a:endParaRPr lang="en-US" sz="1000" dirty="0"/>
          </a:p>
        </p:txBody>
      </p:sp>
      <p:sp>
        <p:nvSpPr>
          <p:cNvPr id="15" name="Shape 13"/>
          <p:cNvSpPr/>
          <p:nvPr/>
        </p:nvSpPr>
        <p:spPr>
          <a:xfrm>
            <a:off x="4160520" y="2377440"/>
            <a:ext cx="822960" cy="731520"/>
          </a:xfrm>
          <a:prstGeom prst="ellipse">
            <a:avLst/>
          </a:prstGeom>
          <a:solidFill>
            <a:srgbClr val="C62828"/>
          </a:solidFill>
          <a:ln w="25400">
            <a:solidFill>
              <a:srgbClr val="E65100"/>
            </a:solidFill>
            <a:prstDash val="solid"/>
          </a:ln>
        </p:spPr>
        <p:txBody>
          <a:bodyPr/>
          <a:lstStyle/>
          <a:p>
            <a:endParaRPr lang="en-US"/>
          </a:p>
        </p:txBody>
      </p:sp>
      <p:sp>
        <p:nvSpPr>
          <p:cNvPr id="16" name="Text 14"/>
          <p:cNvSpPr/>
          <p:nvPr/>
        </p:nvSpPr>
        <p:spPr>
          <a:xfrm>
            <a:off x="4160520" y="2377440"/>
            <a:ext cx="822960" cy="731520"/>
          </a:xfrm>
          <a:prstGeom prst="rect">
            <a:avLst/>
          </a:prstGeom>
          <a:noFill/>
          <a:ln/>
        </p:spPr>
        <p:txBody>
          <a:bodyPr wrap="square" rtlCol="0" anchor="ctr"/>
          <a:lstStyle/>
          <a:p>
            <a:pPr marL="0" indent="0" algn="ctr">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17" name="Shape 15"/>
          <p:cNvSpPr/>
          <p:nvPr/>
        </p:nvSpPr>
        <p:spPr>
          <a:xfrm>
            <a:off x="320040" y="3200400"/>
            <a:ext cx="8503920" cy="0"/>
          </a:xfrm>
          <a:prstGeom prst="line">
            <a:avLst/>
          </a:prstGeom>
          <a:noFill/>
          <a:ln w="12700">
            <a:solidFill>
              <a:srgbClr val="808080"/>
            </a:solidFill>
            <a:prstDash val="dash"/>
          </a:ln>
        </p:spPr>
        <p:txBody>
          <a:bodyPr/>
          <a:lstStyle/>
          <a:p>
            <a:endParaRPr lang="en-US"/>
          </a:p>
        </p:txBody>
      </p:sp>
      <p:sp>
        <p:nvSpPr>
          <p:cNvPr id="18" name="Text 16"/>
          <p:cNvSpPr/>
          <p:nvPr/>
        </p:nvSpPr>
        <p:spPr>
          <a:xfrm>
            <a:off x="320040" y="3291840"/>
            <a:ext cx="3200400" cy="347472"/>
          </a:xfrm>
          <a:prstGeom prst="rect">
            <a:avLst/>
          </a:prstGeom>
          <a:noFill/>
          <a:ln/>
        </p:spPr>
        <p:txBody>
          <a:bodyPr wrap="square" rtlCol="0" anchor="ctr"/>
          <a:lstStyle/>
          <a:p>
            <a:pPr marL="0" indent="0">
              <a:buNone/>
            </a:pPr>
            <a:r>
              <a:rPr lang="en-US" sz="1000" dirty="0">
                <a:solidFill>
                  <a:srgbClr val="B9DEF8"/>
                </a:solidFill>
                <a:latin typeface="Arial" pitchFamily="34" charset="0"/>
                <a:ea typeface="Arial" pitchFamily="34" charset="-122"/>
                <a:cs typeface="Arial" pitchFamily="34" charset="-120"/>
              </a:rPr>
              <a:t>t₀: A ve el medio libre y transmite</a:t>
            </a:r>
            <a:endParaRPr lang="en-US" sz="1000" dirty="0"/>
          </a:p>
        </p:txBody>
      </p:sp>
      <p:sp>
        <p:nvSpPr>
          <p:cNvPr id="19" name="Text 17"/>
          <p:cNvSpPr/>
          <p:nvPr/>
        </p:nvSpPr>
        <p:spPr>
          <a:xfrm>
            <a:off x="2286000" y="3657600"/>
            <a:ext cx="4114800" cy="347472"/>
          </a:xfrm>
          <a:prstGeom prst="rect">
            <a:avLst/>
          </a:prstGeom>
          <a:noFill/>
          <a:ln/>
        </p:spPr>
        <p:txBody>
          <a:bodyPr wrap="square" rtlCol="0" anchor="ctr"/>
          <a:lstStyle/>
          <a:p>
            <a:pPr marL="0" indent="0">
              <a:buNone/>
            </a:pPr>
            <a:r>
              <a:rPr lang="en-US" sz="1000" dirty="0">
                <a:solidFill>
                  <a:srgbClr val="1E88E5"/>
                </a:solidFill>
                <a:latin typeface="Arial" pitchFamily="34" charset="0"/>
                <a:ea typeface="Arial" pitchFamily="34" charset="-122"/>
                <a:cs typeface="Arial" pitchFamily="34" charset="-120"/>
              </a:rPr>
              <a:t>t₁: La señal de A no llegó a B todavía</a:t>
            </a:r>
            <a:endParaRPr lang="en-US" sz="1000" dirty="0"/>
          </a:p>
        </p:txBody>
      </p:sp>
      <p:sp>
        <p:nvSpPr>
          <p:cNvPr id="20" name="Text 18"/>
          <p:cNvSpPr/>
          <p:nvPr/>
        </p:nvSpPr>
        <p:spPr>
          <a:xfrm>
            <a:off x="3200400" y="4023360"/>
            <a:ext cx="5303520" cy="347472"/>
          </a:xfrm>
          <a:prstGeom prst="rect">
            <a:avLst/>
          </a:prstGeom>
          <a:noFill/>
          <a:ln/>
        </p:spPr>
        <p:txBody>
          <a:bodyPr wrap="square" rtlCol="0" anchor="ctr"/>
          <a:lstStyle/>
          <a:p>
            <a:pPr marL="0" indent="0">
              <a:buNone/>
            </a:pPr>
            <a:r>
              <a:rPr lang="en-US" sz="1000" b="1" dirty="0">
                <a:solidFill>
                  <a:srgbClr val="C62828"/>
                </a:solidFill>
                <a:latin typeface="Arial" pitchFamily="34" charset="0"/>
                <a:ea typeface="Arial" pitchFamily="34" charset="-122"/>
                <a:cs typeface="Arial" pitchFamily="34" charset="-120"/>
              </a:rPr>
              <a:t>B ve el medio libre y también transmite →  COLISIÓN</a:t>
            </a:r>
            <a:endParaRPr lang="en-US" sz="1000" dirty="0"/>
          </a:p>
        </p:txBody>
      </p:sp>
      <p:sp>
        <p:nvSpPr>
          <p:cNvPr id="21" name="Shape 19"/>
          <p:cNvSpPr/>
          <p:nvPr/>
        </p:nvSpPr>
        <p:spPr>
          <a:xfrm>
            <a:off x="320040" y="1417320"/>
            <a:ext cx="8503920" cy="566928"/>
          </a:xfrm>
          <a:prstGeom prst="rect">
            <a:avLst/>
          </a:prstGeom>
          <a:solidFill>
            <a:srgbClr val="3A4550"/>
          </a:solidFill>
          <a:ln w="12700">
            <a:solidFill>
              <a:srgbClr val="5AA8D8"/>
            </a:solidFill>
            <a:prstDash val="solid"/>
          </a:ln>
        </p:spPr>
        <p:txBody>
          <a:bodyPr/>
          <a:lstStyle/>
          <a:p>
            <a:endParaRPr lang="en-US"/>
          </a:p>
        </p:txBody>
      </p:sp>
      <p:sp>
        <p:nvSpPr>
          <p:cNvPr id="22" name="Text 20"/>
          <p:cNvSpPr/>
          <p:nvPr/>
        </p:nvSpPr>
        <p:spPr>
          <a:xfrm>
            <a:off x="411480" y="1417320"/>
            <a:ext cx="8321040" cy="566928"/>
          </a:xfrm>
          <a:prstGeom prst="rect">
            <a:avLst/>
          </a:prstGeom>
          <a:noFill/>
          <a:ln/>
        </p:spPr>
        <p:txBody>
          <a:bodyPr wrap="square" rtlCol="0" anchor="ctr"/>
          <a:lstStyle/>
          <a:p>
            <a:pPr marL="0" indent="0">
              <a:buNone/>
            </a:pPr>
            <a:r>
              <a:rPr lang="en-US" sz="1200" b="1" dirty="0">
                <a:solidFill>
                  <a:srgbClr val="B9DEF8"/>
                </a:solidFill>
                <a:latin typeface="Arial" pitchFamily="34" charset="0"/>
                <a:ea typeface="Arial" pitchFamily="34" charset="-122"/>
                <a:cs typeface="Arial" pitchFamily="34" charset="-120"/>
              </a:rPr>
              <a:t>🔑  Período de vulnerabilidad = 2 × tiempo de propagación entre los extremos más alejados de la red (RTT: Round Trip Time)</a:t>
            </a:r>
            <a:endParaRPr lang="en-US" sz="1200" dirty="0"/>
          </a:p>
        </p:txBody>
      </p:sp>
      <p:sp>
        <p:nvSpPr>
          <p:cNvPr id="23" name="Shape 21"/>
          <p:cNvSpPr/>
          <p:nvPr/>
        </p:nvSpPr>
        <p:spPr>
          <a:xfrm>
            <a:off x="0" y="4846320"/>
            <a:ext cx="9144000" cy="297180"/>
          </a:xfrm>
          <a:prstGeom prst="rect">
            <a:avLst/>
          </a:prstGeom>
          <a:solidFill>
            <a:srgbClr val="2D3030"/>
          </a:solidFill>
          <a:ln w="12700">
            <a:solidFill>
              <a:srgbClr val="2D3030"/>
            </a:solidFill>
            <a:prstDash val="solid"/>
          </a:ln>
        </p:spPr>
        <p:txBody>
          <a:bodyPr/>
          <a:lstStyle/>
          <a:p>
            <a:endParaRPr lang="en-US"/>
          </a:p>
        </p:txBody>
      </p:sp>
      <p:sp>
        <p:nvSpPr>
          <p:cNvPr id="24" name="Text 22"/>
          <p:cNvSpPr/>
          <p:nvPr/>
        </p:nvSpPr>
        <p:spPr>
          <a:xfrm>
            <a:off x="137160" y="4846320"/>
            <a:ext cx="8869680" cy="297180"/>
          </a:xfrm>
          <a:prstGeom prst="rect">
            <a:avLst/>
          </a:prstGeom>
          <a:noFill/>
          <a:ln/>
        </p:spPr>
        <p:txBody>
          <a:bodyPr wrap="square" rtlCol="0" anchor="ctr"/>
          <a:lstStyle/>
          <a:p>
            <a:pPr marL="0" indent="0">
              <a:buNone/>
            </a:pPr>
            <a:r>
              <a:rPr lang="en-US" sz="1000" i="1" dirty="0">
                <a:solidFill>
                  <a:srgbClr val="B9DEF8"/>
                </a:solidFill>
                <a:latin typeface="Arial" pitchFamily="34" charset="0"/>
                <a:ea typeface="Arial" pitchFamily="34" charset="-122"/>
                <a:cs typeface="Arial" pitchFamily="34" charset="-120"/>
              </a:rPr>
              <a:t>🎤 Esto explica por qué Ethernet tiene un tamaño MÍNIMO de trama (64 bytes): la trama debe ser lo bastante grande para que A siga transmitiendo mientras su señal llega al extremo más lejano y vuelve.</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5AA8D8"/>
          </a:solidFill>
          <a:ln w="12700">
            <a:solidFill>
              <a:srgbClr val="5AA8D8"/>
            </a:solidFill>
            <a:prstDash val="solid"/>
          </a:ln>
        </p:spPr>
        <p:txBody>
          <a:bodyPr/>
          <a:lstStyle/>
          <a:p>
            <a:endParaRPr lang="en-US"/>
          </a:p>
        </p:txBody>
      </p:sp>
      <p:sp>
        <p:nvSpPr>
          <p:cNvPr id="3" name="Shape 1"/>
          <p:cNvSpPr/>
          <p:nvPr/>
        </p:nvSpPr>
        <p:spPr>
          <a:xfrm>
            <a:off x="457200" y="164592"/>
            <a:ext cx="8229600" cy="749808"/>
          </a:xfrm>
          <a:prstGeom prst="rect">
            <a:avLst/>
          </a:prstGeom>
          <a:solidFill>
            <a:srgbClr val="3A7BAA"/>
          </a:solidFill>
          <a:ln w="12700">
            <a:solidFill>
              <a:srgbClr val="3A7BAA"/>
            </a:solidFill>
            <a:prstDash val="solid"/>
          </a:ln>
          <a:effectLst>
            <a:outerShdw blurRad="101600" dist="38100" dir="8100000" algn="bl" rotWithShape="0">
              <a:srgbClr val="000000">
                <a:alpha val="15000"/>
              </a:srgbClr>
            </a:outerShdw>
          </a:effectLst>
        </p:spPr>
        <p:txBody>
          <a:bodyPr/>
          <a:lstStyle/>
          <a:p>
            <a:endParaRPr lang="en-US"/>
          </a:p>
        </p:txBody>
      </p:sp>
      <p:sp>
        <p:nvSpPr>
          <p:cNvPr id="4" name="Text 2"/>
          <p:cNvSpPr/>
          <p:nvPr/>
        </p:nvSpPr>
        <p:spPr>
          <a:xfrm>
            <a:off x="566928" y="164592"/>
            <a:ext cx="8010144" cy="749808"/>
          </a:xfrm>
          <a:prstGeom prst="rect">
            <a:avLst/>
          </a:prstGeom>
          <a:noFill/>
          <a:ln/>
        </p:spPr>
        <p:txBody>
          <a:bodyPr wrap="square" lIns="0" tIns="0" rIns="0" bIns="0" rtlCol="0" anchor="ctr"/>
          <a:lstStyle/>
          <a:p>
            <a:pPr marL="0" indent="0">
              <a:buNone/>
            </a:pPr>
            <a:r>
              <a:rPr lang="en-US" sz="2500" b="1" dirty="0">
                <a:solidFill>
                  <a:srgbClr val="FFFFFF"/>
                </a:solidFill>
                <a:latin typeface="Arial" pitchFamily="34" charset="0"/>
                <a:ea typeface="Arial" pitchFamily="34" charset="-122"/>
                <a:cs typeface="Arial" pitchFamily="34" charset="-120"/>
              </a:rPr>
              <a:t>El Algoritmo de Backoff Exponencial</a:t>
            </a:r>
            <a:endParaRPr lang="en-US" sz="2500" dirty="0"/>
          </a:p>
        </p:txBody>
      </p:sp>
      <p:sp>
        <p:nvSpPr>
          <p:cNvPr id="5" name="Text 3"/>
          <p:cNvSpPr/>
          <p:nvPr/>
        </p:nvSpPr>
        <p:spPr>
          <a:xfrm>
            <a:off x="566928" y="987552"/>
            <a:ext cx="8010144" cy="347472"/>
          </a:xfrm>
          <a:prstGeom prst="rect">
            <a:avLst/>
          </a:prstGeom>
          <a:noFill/>
          <a:ln/>
        </p:spPr>
        <p:txBody>
          <a:bodyPr wrap="square" rtlCol="0" anchor="ctr"/>
          <a:lstStyle/>
          <a:p>
            <a:pPr marL="0" indent="0">
              <a:buNone/>
            </a:pPr>
            <a:r>
              <a:rPr lang="en-US" sz="1200" i="1" dirty="0">
                <a:solidFill>
                  <a:srgbClr val="B9DEF8"/>
                </a:solidFill>
                <a:latin typeface="Arial" pitchFamily="34" charset="0"/>
                <a:ea typeface="Arial" pitchFamily="34" charset="-122"/>
                <a:cs typeface="Arial" pitchFamily="34" charset="-120"/>
              </a:rPr>
              <a:t>La clave para no seguir colisionando indefinidamente</a:t>
            </a:r>
            <a:endParaRPr lang="en-US" sz="1200" dirty="0"/>
          </a:p>
        </p:txBody>
      </p:sp>
      <p:sp>
        <p:nvSpPr>
          <p:cNvPr id="6" name="Shape 4"/>
          <p:cNvSpPr/>
          <p:nvPr/>
        </p:nvSpPr>
        <p:spPr>
          <a:xfrm>
            <a:off x="320040" y="1417320"/>
            <a:ext cx="8503920" cy="594360"/>
          </a:xfrm>
          <a:prstGeom prst="rect">
            <a:avLst/>
          </a:prstGeom>
          <a:solidFill>
            <a:srgbClr val="3A7BAA"/>
          </a:solidFill>
          <a:ln w="12700">
            <a:solidFill>
              <a:srgbClr val="5AA8D8"/>
            </a:solidFill>
            <a:prstDash val="solid"/>
          </a:ln>
          <a:effectLst>
            <a:outerShdw blurRad="101600" dist="38100" dir="8100000" algn="bl" rotWithShape="0">
              <a:srgbClr val="000000">
                <a:alpha val="15000"/>
              </a:srgbClr>
            </a:outerShdw>
          </a:effectLst>
        </p:spPr>
        <p:txBody>
          <a:bodyPr/>
          <a:lstStyle/>
          <a:p>
            <a:endParaRPr lang="en-US"/>
          </a:p>
        </p:txBody>
      </p:sp>
      <p:sp>
        <p:nvSpPr>
          <p:cNvPr id="7" name="Text 5"/>
          <p:cNvSpPr/>
          <p:nvPr/>
        </p:nvSpPr>
        <p:spPr>
          <a:xfrm>
            <a:off x="411480" y="1417320"/>
            <a:ext cx="8321040" cy="59436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Tiempo de espera = número aleatorio entre [0, 2^k − 1] × slot_time    |    k = min(n, 10)    |    n = número de colisión</a:t>
            </a:r>
            <a:endParaRPr lang="en-US" sz="1200" dirty="0"/>
          </a:p>
        </p:txBody>
      </p:sp>
      <p:sp>
        <p:nvSpPr>
          <p:cNvPr id="8" name="Shape 6"/>
          <p:cNvSpPr/>
          <p:nvPr/>
        </p:nvSpPr>
        <p:spPr>
          <a:xfrm>
            <a:off x="457200" y="4343400"/>
            <a:ext cx="1005840" cy="320040"/>
          </a:xfrm>
          <a:prstGeom prst="rect">
            <a:avLst/>
          </a:prstGeom>
          <a:solidFill>
            <a:srgbClr val="2E7D32"/>
          </a:solidFill>
          <a:ln w="12700">
            <a:solidFill>
              <a:srgbClr val="2E7D32"/>
            </a:solidFill>
            <a:prstDash val="solid"/>
          </a:ln>
          <a:effectLst>
            <a:outerShdw blurRad="101600" dist="38100" dir="8100000" algn="bl" rotWithShape="0">
              <a:srgbClr val="000000">
                <a:alpha val="15000"/>
              </a:srgbClr>
            </a:outerShdw>
          </a:effectLst>
        </p:spPr>
        <p:txBody>
          <a:bodyPr/>
          <a:lstStyle/>
          <a:p>
            <a:endParaRPr lang="en-US"/>
          </a:p>
        </p:txBody>
      </p:sp>
      <p:sp>
        <p:nvSpPr>
          <p:cNvPr id="9" name="Text 7"/>
          <p:cNvSpPr/>
          <p:nvPr/>
        </p:nvSpPr>
        <p:spPr>
          <a:xfrm>
            <a:off x="457200" y="4069080"/>
            <a:ext cx="1005840" cy="256032"/>
          </a:xfrm>
          <a:prstGeom prst="rect">
            <a:avLst/>
          </a:prstGeom>
          <a:noFill/>
          <a:ln/>
        </p:spPr>
        <p:txBody>
          <a:bodyPr wrap="square" rtlCol="0" anchor="ctr"/>
          <a:lstStyle/>
          <a:p>
            <a:pPr marL="0" indent="0" algn="ctr">
              <a:buNone/>
            </a:pPr>
            <a:r>
              <a:rPr lang="en-US" sz="900" dirty="0">
                <a:solidFill>
                  <a:srgbClr val="404040"/>
                </a:solidFill>
                <a:latin typeface="Arial" pitchFamily="34" charset="0"/>
                <a:ea typeface="Arial" pitchFamily="34" charset="-122"/>
                <a:cs typeface="Arial" pitchFamily="34" charset="-120"/>
              </a:rPr>
              <a:t>[0,2)</a:t>
            </a:r>
            <a:endParaRPr lang="en-US" sz="900" dirty="0"/>
          </a:p>
        </p:txBody>
      </p:sp>
      <p:sp>
        <p:nvSpPr>
          <p:cNvPr id="10" name="Text 8"/>
          <p:cNvSpPr/>
          <p:nvPr/>
        </p:nvSpPr>
        <p:spPr>
          <a:xfrm>
            <a:off x="457200" y="4718304"/>
            <a:ext cx="1005840" cy="256032"/>
          </a:xfrm>
          <a:prstGeom prst="rect">
            <a:avLst/>
          </a:prstGeom>
          <a:noFill/>
          <a:ln/>
        </p:spPr>
        <p:txBody>
          <a:bodyPr wrap="square" rtlCol="0" anchor="ctr"/>
          <a:lstStyle/>
          <a:p>
            <a:pPr marL="0" indent="0" algn="ctr">
              <a:buNone/>
            </a:pPr>
            <a:r>
              <a:rPr lang="en-US" sz="900" dirty="0">
                <a:solidFill>
                  <a:srgbClr val="404040"/>
                </a:solidFill>
                <a:latin typeface="Arial" pitchFamily="34" charset="0"/>
                <a:ea typeface="Arial" pitchFamily="34" charset="-122"/>
                <a:cs typeface="Arial" pitchFamily="34" charset="-120"/>
              </a:rPr>
              <a:t>Col 1</a:t>
            </a:r>
            <a:endParaRPr lang="en-US" sz="900" dirty="0"/>
          </a:p>
        </p:txBody>
      </p:sp>
      <p:sp>
        <p:nvSpPr>
          <p:cNvPr id="11" name="Shape 9"/>
          <p:cNvSpPr/>
          <p:nvPr/>
        </p:nvSpPr>
        <p:spPr>
          <a:xfrm>
            <a:off x="1847088" y="4160520"/>
            <a:ext cx="1005840" cy="502920"/>
          </a:xfrm>
          <a:prstGeom prst="rect">
            <a:avLst/>
          </a:prstGeom>
          <a:solidFill>
            <a:srgbClr val="5AA8D8"/>
          </a:solidFill>
          <a:ln w="12700">
            <a:solidFill>
              <a:srgbClr val="5AA8D8"/>
            </a:solidFill>
            <a:prstDash val="solid"/>
          </a:ln>
          <a:effectLst>
            <a:outerShdw blurRad="101600" dist="38100" dir="8100000" algn="bl" rotWithShape="0">
              <a:srgbClr val="000000">
                <a:alpha val="15000"/>
              </a:srgbClr>
            </a:outerShdw>
          </a:effectLst>
        </p:spPr>
        <p:txBody>
          <a:bodyPr/>
          <a:lstStyle/>
          <a:p>
            <a:endParaRPr lang="en-US"/>
          </a:p>
        </p:txBody>
      </p:sp>
      <p:sp>
        <p:nvSpPr>
          <p:cNvPr id="12" name="Text 10"/>
          <p:cNvSpPr/>
          <p:nvPr/>
        </p:nvSpPr>
        <p:spPr>
          <a:xfrm>
            <a:off x="1847088" y="3886200"/>
            <a:ext cx="1005840" cy="256032"/>
          </a:xfrm>
          <a:prstGeom prst="rect">
            <a:avLst/>
          </a:prstGeom>
          <a:noFill/>
          <a:ln/>
        </p:spPr>
        <p:txBody>
          <a:bodyPr wrap="square" rtlCol="0" anchor="ctr"/>
          <a:lstStyle/>
          <a:p>
            <a:pPr marL="0" indent="0" algn="ctr">
              <a:buNone/>
            </a:pPr>
            <a:r>
              <a:rPr lang="en-US" sz="900" dirty="0">
                <a:solidFill>
                  <a:srgbClr val="404040"/>
                </a:solidFill>
                <a:latin typeface="Arial" pitchFamily="34" charset="0"/>
                <a:ea typeface="Arial" pitchFamily="34" charset="-122"/>
                <a:cs typeface="Arial" pitchFamily="34" charset="-120"/>
              </a:rPr>
              <a:t>[0,4)</a:t>
            </a:r>
            <a:endParaRPr lang="en-US" sz="900" dirty="0"/>
          </a:p>
        </p:txBody>
      </p:sp>
      <p:sp>
        <p:nvSpPr>
          <p:cNvPr id="13" name="Text 11"/>
          <p:cNvSpPr/>
          <p:nvPr/>
        </p:nvSpPr>
        <p:spPr>
          <a:xfrm>
            <a:off x="1847088" y="4718304"/>
            <a:ext cx="1005840" cy="256032"/>
          </a:xfrm>
          <a:prstGeom prst="rect">
            <a:avLst/>
          </a:prstGeom>
          <a:noFill/>
          <a:ln/>
        </p:spPr>
        <p:txBody>
          <a:bodyPr wrap="square" rtlCol="0" anchor="ctr"/>
          <a:lstStyle/>
          <a:p>
            <a:pPr marL="0" indent="0" algn="ctr">
              <a:buNone/>
            </a:pPr>
            <a:r>
              <a:rPr lang="en-US" sz="900" dirty="0">
                <a:solidFill>
                  <a:srgbClr val="404040"/>
                </a:solidFill>
                <a:latin typeface="Arial" pitchFamily="34" charset="0"/>
                <a:ea typeface="Arial" pitchFamily="34" charset="-122"/>
                <a:cs typeface="Arial" pitchFamily="34" charset="-120"/>
              </a:rPr>
              <a:t>Col 2</a:t>
            </a:r>
            <a:endParaRPr lang="en-US" sz="900" dirty="0"/>
          </a:p>
        </p:txBody>
      </p:sp>
      <p:sp>
        <p:nvSpPr>
          <p:cNvPr id="14" name="Shape 12"/>
          <p:cNvSpPr/>
          <p:nvPr/>
        </p:nvSpPr>
        <p:spPr>
          <a:xfrm>
            <a:off x="3236976" y="3931920"/>
            <a:ext cx="1005840" cy="731520"/>
          </a:xfrm>
          <a:prstGeom prst="rect">
            <a:avLst/>
          </a:prstGeom>
          <a:solidFill>
            <a:srgbClr val="5AA8D8"/>
          </a:solidFill>
          <a:ln w="12700">
            <a:solidFill>
              <a:srgbClr val="5AA8D8"/>
            </a:solidFill>
            <a:prstDash val="solid"/>
          </a:ln>
          <a:effectLst>
            <a:outerShdw blurRad="101600" dist="38100" dir="8100000" algn="bl" rotWithShape="0">
              <a:srgbClr val="000000">
                <a:alpha val="15000"/>
              </a:srgbClr>
            </a:outerShdw>
          </a:effectLst>
        </p:spPr>
        <p:txBody>
          <a:bodyPr/>
          <a:lstStyle/>
          <a:p>
            <a:endParaRPr lang="en-US"/>
          </a:p>
        </p:txBody>
      </p:sp>
      <p:sp>
        <p:nvSpPr>
          <p:cNvPr id="15" name="Text 13"/>
          <p:cNvSpPr/>
          <p:nvPr/>
        </p:nvSpPr>
        <p:spPr>
          <a:xfrm>
            <a:off x="3236976" y="3657600"/>
            <a:ext cx="1005840" cy="256032"/>
          </a:xfrm>
          <a:prstGeom prst="rect">
            <a:avLst/>
          </a:prstGeom>
          <a:noFill/>
          <a:ln/>
        </p:spPr>
        <p:txBody>
          <a:bodyPr wrap="square" rtlCol="0" anchor="ctr"/>
          <a:lstStyle/>
          <a:p>
            <a:pPr marL="0" indent="0" algn="ctr">
              <a:buNone/>
            </a:pPr>
            <a:r>
              <a:rPr lang="en-US" sz="900" dirty="0">
                <a:solidFill>
                  <a:srgbClr val="404040"/>
                </a:solidFill>
                <a:latin typeface="Arial" pitchFamily="34" charset="0"/>
                <a:ea typeface="Arial" pitchFamily="34" charset="-122"/>
                <a:cs typeface="Arial" pitchFamily="34" charset="-120"/>
              </a:rPr>
              <a:t>[0,8)</a:t>
            </a:r>
            <a:endParaRPr lang="en-US" sz="900" dirty="0"/>
          </a:p>
        </p:txBody>
      </p:sp>
      <p:sp>
        <p:nvSpPr>
          <p:cNvPr id="16" name="Text 14"/>
          <p:cNvSpPr/>
          <p:nvPr/>
        </p:nvSpPr>
        <p:spPr>
          <a:xfrm>
            <a:off x="3236976" y="4718304"/>
            <a:ext cx="1005840" cy="256032"/>
          </a:xfrm>
          <a:prstGeom prst="rect">
            <a:avLst/>
          </a:prstGeom>
          <a:noFill/>
          <a:ln/>
        </p:spPr>
        <p:txBody>
          <a:bodyPr wrap="square" rtlCol="0" anchor="ctr"/>
          <a:lstStyle/>
          <a:p>
            <a:pPr marL="0" indent="0" algn="ctr">
              <a:buNone/>
            </a:pPr>
            <a:r>
              <a:rPr lang="en-US" sz="900" dirty="0">
                <a:solidFill>
                  <a:srgbClr val="404040"/>
                </a:solidFill>
                <a:latin typeface="Arial" pitchFamily="34" charset="0"/>
                <a:ea typeface="Arial" pitchFamily="34" charset="-122"/>
                <a:cs typeface="Arial" pitchFamily="34" charset="-120"/>
              </a:rPr>
              <a:t>Col 3</a:t>
            </a:r>
            <a:endParaRPr lang="en-US" sz="900" dirty="0"/>
          </a:p>
        </p:txBody>
      </p:sp>
      <p:sp>
        <p:nvSpPr>
          <p:cNvPr id="17" name="Shape 15"/>
          <p:cNvSpPr/>
          <p:nvPr/>
        </p:nvSpPr>
        <p:spPr>
          <a:xfrm>
            <a:off x="4626864" y="3703320"/>
            <a:ext cx="1005840" cy="960120"/>
          </a:xfrm>
          <a:prstGeom prst="rect">
            <a:avLst/>
          </a:prstGeom>
          <a:solidFill>
            <a:srgbClr val="3A7BAA"/>
          </a:solidFill>
          <a:ln w="12700">
            <a:solidFill>
              <a:srgbClr val="3A7BAA"/>
            </a:solidFill>
            <a:prstDash val="solid"/>
          </a:ln>
          <a:effectLst>
            <a:outerShdw blurRad="101600" dist="38100" dir="8100000" algn="bl" rotWithShape="0">
              <a:srgbClr val="000000">
                <a:alpha val="15000"/>
              </a:srgbClr>
            </a:outerShdw>
          </a:effectLst>
        </p:spPr>
        <p:txBody>
          <a:bodyPr/>
          <a:lstStyle/>
          <a:p>
            <a:endParaRPr lang="en-US"/>
          </a:p>
        </p:txBody>
      </p:sp>
      <p:sp>
        <p:nvSpPr>
          <p:cNvPr id="18" name="Text 16"/>
          <p:cNvSpPr/>
          <p:nvPr/>
        </p:nvSpPr>
        <p:spPr>
          <a:xfrm>
            <a:off x="4626864" y="3429000"/>
            <a:ext cx="1005840" cy="256032"/>
          </a:xfrm>
          <a:prstGeom prst="rect">
            <a:avLst/>
          </a:prstGeom>
          <a:noFill/>
          <a:ln/>
        </p:spPr>
        <p:txBody>
          <a:bodyPr wrap="square" rtlCol="0" anchor="ctr"/>
          <a:lstStyle/>
          <a:p>
            <a:pPr marL="0" indent="0" algn="ctr">
              <a:buNone/>
            </a:pPr>
            <a:r>
              <a:rPr lang="en-US" sz="900" dirty="0">
                <a:solidFill>
                  <a:srgbClr val="404040"/>
                </a:solidFill>
                <a:latin typeface="Arial" pitchFamily="34" charset="0"/>
                <a:ea typeface="Arial" pitchFamily="34" charset="-122"/>
                <a:cs typeface="Arial" pitchFamily="34" charset="-120"/>
              </a:rPr>
              <a:t>[0,16)</a:t>
            </a:r>
            <a:endParaRPr lang="en-US" sz="900" dirty="0"/>
          </a:p>
        </p:txBody>
      </p:sp>
      <p:sp>
        <p:nvSpPr>
          <p:cNvPr id="19" name="Text 17"/>
          <p:cNvSpPr/>
          <p:nvPr/>
        </p:nvSpPr>
        <p:spPr>
          <a:xfrm>
            <a:off x="4626864" y="4718304"/>
            <a:ext cx="1005840" cy="256032"/>
          </a:xfrm>
          <a:prstGeom prst="rect">
            <a:avLst/>
          </a:prstGeom>
          <a:noFill/>
          <a:ln/>
        </p:spPr>
        <p:txBody>
          <a:bodyPr wrap="square" rtlCol="0" anchor="ctr"/>
          <a:lstStyle/>
          <a:p>
            <a:pPr marL="0" indent="0" algn="ctr">
              <a:buNone/>
            </a:pPr>
            <a:r>
              <a:rPr lang="en-US" sz="900" dirty="0">
                <a:solidFill>
                  <a:srgbClr val="404040"/>
                </a:solidFill>
                <a:latin typeface="Arial" pitchFamily="34" charset="0"/>
                <a:ea typeface="Arial" pitchFamily="34" charset="-122"/>
                <a:cs typeface="Arial" pitchFamily="34" charset="-120"/>
              </a:rPr>
              <a:t>Col 4</a:t>
            </a:r>
            <a:endParaRPr lang="en-US" sz="900" dirty="0"/>
          </a:p>
        </p:txBody>
      </p:sp>
      <p:sp>
        <p:nvSpPr>
          <p:cNvPr id="20" name="Shape 18"/>
          <p:cNvSpPr/>
          <p:nvPr/>
        </p:nvSpPr>
        <p:spPr>
          <a:xfrm>
            <a:off x="6016752" y="3474720"/>
            <a:ext cx="1005840" cy="1188720"/>
          </a:xfrm>
          <a:prstGeom prst="rect">
            <a:avLst/>
          </a:prstGeom>
          <a:solidFill>
            <a:srgbClr val="3A7BAA"/>
          </a:solidFill>
          <a:ln w="12700">
            <a:solidFill>
              <a:srgbClr val="3A7BAA"/>
            </a:solidFill>
            <a:prstDash val="solid"/>
          </a:ln>
          <a:effectLst>
            <a:outerShdw blurRad="101600" dist="38100" dir="8100000" algn="bl" rotWithShape="0">
              <a:srgbClr val="000000">
                <a:alpha val="15000"/>
              </a:srgbClr>
            </a:outerShdw>
          </a:effectLst>
        </p:spPr>
        <p:txBody>
          <a:bodyPr/>
          <a:lstStyle/>
          <a:p>
            <a:endParaRPr lang="en-US"/>
          </a:p>
        </p:txBody>
      </p:sp>
      <p:sp>
        <p:nvSpPr>
          <p:cNvPr id="21" name="Text 19"/>
          <p:cNvSpPr/>
          <p:nvPr/>
        </p:nvSpPr>
        <p:spPr>
          <a:xfrm>
            <a:off x="6016752" y="3200400"/>
            <a:ext cx="1005840" cy="256032"/>
          </a:xfrm>
          <a:prstGeom prst="rect">
            <a:avLst/>
          </a:prstGeom>
          <a:noFill/>
          <a:ln/>
        </p:spPr>
        <p:txBody>
          <a:bodyPr wrap="square" rtlCol="0" anchor="ctr"/>
          <a:lstStyle/>
          <a:p>
            <a:pPr marL="0" indent="0" algn="ctr">
              <a:buNone/>
            </a:pPr>
            <a:r>
              <a:rPr lang="en-US" sz="900" dirty="0">
                <a:solidFill>
                  <a:srgbClr val="404040"/>
                </a:solidFill>
                <a:latin typeface="Arial" pitchFamily="34" charset="0"/>
                <a:ea typeface="Arial" pitchFamily="34" charset="-122"/>
                <a:cs typeface="Arial" pitchFamily="34" charset="-120"/>
              </a:rPr>
              <a:t>[0,32)</a:t>
            </a:r>
            <a:endParaRPr lang="en-US" sz="900" dirty="0"/>
          </a:p>
        </p:txBody>
      </p:sp>
      <p:sp>
        <p:nvSpPr>
          <p:cNvPr id="22" name="Text 20"/>
          <p:cNvSpPr/>
          <p:nvPr/>
        </p:nvSpPr>
        <p:spPr>
          <a:xfrm>
            <a:off x="6016752" y="4718304"/>
            <a:ext cx="1005840" cy="256032"/>
          </a:xfrm>
          <a:prstGeom prst="rect">
            <a:avLst/>
          </a:prstGeom>
          <a:noFill/>
          <a:ln/>
        </p:spPr>
        <p:txBody>
          <a:bodyPr wrap="square" rtlCol="0" anchor="ctr"/>
          <a:lstStyle/>
          <a:p>
            <a:pPr marL="0" indent="0" algn="ctr">
              <a:buNone/>
            </a:pPr>
            <a:r>
              <a:rPr lang="en-US" sz="900" dirty="0">
                <a:solidFill>
                  <a:srgbClr val="404040"/>
                </a:solidFill>
                <a:latin typeface="Arial" pitchFamily="34" charset="0"/>
                <a:ea typeface="Arial" pitchFamily="34" charset="-122"/>
                <a:cs typeface="Arial" pitchFamily="34" charset="-120"/>
              </a:rPr>
              <a:t>Col 5</a:t>
            </a:r>
            <a:endParaRPr lang="en-US" sz="900" dirty="0"/>
          </a:p>
        </p:txBody>
      </p:sp>
      <p:sp>
        <p:nvSpPr>
          <p:cNvPr id="23" name="Shape 21"/>
          <p:cNvSpPr/>
          <p:nvPr/>
        </p:nvSpPr>
        <p:spPr>
          <a:xfrm>
            <a:off x="7406640" y="2286000"/>
            <a:ext cx="1005840" cy="2377440"/>
          </a:xfrm>
          <a:prstGeom prst="rect">
            <a:avLst/>
          </a:prstGeom>
          <a:solidFill>
            <a:srgbClr val="2D3030"/>
          </a:solidFill>
          <a:ln w="12700">
            <a:solidFill>
              <a:srgbClr val="2D3030"/>
            </a:solidFill>
            <a:prstDash val="solid"/>
          </a:ln>
          <a:effectLst>
            <a:outerShdw blurRad="101600" dist="38100" dir="8100000" algn="bl" rotWithShape="0">
              <a:srgbClr val="000000">
                <a:alpha val="15000"/>
              </a:srgbClr>
            </a:outerShdw>
          </a:effectLst>
        </p:spPr>
        <p:txBody>
          <a:bodyPr/>
          <a:lstStyle/>
          <a:p>
            <a:endParaRPr lang="en-US"/>
          </a:p>
        </p:txBody>
      </p:sp>
      <p:sp>
        <p:nvSpPr>
          <p:cNvPr id="24" name="Text 22"/>
          <p:cNvSpPr/>
          <p:nvPr/>
        </p:nvSpPr>
        <p:spPr>
          <a:xfrm>
            <a:off x="7406640" y="2011680"/>
            <a:ext cx="1005840" cy="256032"/>
          </a:xfrm>
          <a:prstGeom prst="rect">
            <a:avLst/>
          </a:prstGeom>
          <a:noFill/>
          <a:ln/>
        </p:spPr>
        <p:txBody>
          <a:bodyPr wrap="square" rtlCol="0" anchor="ctr"/>
          <a:lstStyle/>
          <a:p>
            <a:pPr marL="0" indent="0" algn="ctr">
              <a:buNone/>
            </a:pPr>
            <a:r>
              <a:rPr lang="en-US" sz="900" dirty="0">
                <a:solidFill>
                  <a:srgbClr val="404040"/>
                </a:solidFill>
                <a:latin typeface="Arial" pitchFamily="34" charset="0"/>
                <a:ea typeface="Arial" pitchFamily="34" charset="-122"/>
                <a:cs typeface="Arial" pitchFamily="34" charset="-120"/>
              </a:rPr>
              <a:t>[0,1024)</a:t>
            </a:r>
            <a:endParaRPr lang="en-US" sz="900" dirty="0"/>
          </a:p>
        </p:txBody>
      </p:sp>
      <p:sp>
        <p:nvSpPr>
          <p:cNvPr id="25" name="Text 23"/>
          <p:cNvSpPr/>
          <p:nvPr/>
        </p:nvSpPr>
        <p:spPr>
          <a:xfrm>
            <a:off x="7406640" y="4718304"/>
            <a:ext cx="1005840" cy="256032"/>
          </a:xfrm>
          <a:prstGeom prst="rect">
            <a:avLst/>
          </a:prstGeom>
          <a:noFill/>
          <a:ln/>
        </p:spPr>
        <p:txBody>
          <a:bodyPr wrap="square" rtlCol="0" anchor="ctr"/>
          <a:lstStyle/>
          <a:p>
            <a:pPr marL="0" indent="0" algn="ctr">
              <a:buNone/>
            </a:pPr>
            <a:r>
              <a:rPr lang="en-US" sz="900" dirty="0">
                <a:solidFill>
                  <a:srgbClr val="404040"/>
                </a:solidFill>
                <a:latin typeface="Arial" pitchFamily="34" charset="0"/>
                <a:ea typeface="Arial" pitchFamily="34" charset="-122"/>
                <a:cs typeface="Arial" pitchFamily="34" charset="-120"/>
              </a:rPr>
              <a:t>Col10</a:t>
            </a:r>
            <a:endParaRPr lang="en-US" sz="900" dirty="0"/>
          </a:p>
        </p:txBody>
      </p:sp>
      <p:sp>
        <p:nvSpPr>
          <p:cNvPr id="26" name="Shape 24"/>
          <p:cNvSpPr/>
          <p:nvPr/>
        </p:nvSpPr>
        <p:spPr>
          <a:xfrm>
            <a:off x="365760" y="4663440"/>
            <a:ext cx="8412480" cy="0"/>
          </a:xfrm>
          <a:prstGeom prst="line">
            <a:avLst/>
          </a:prstGeom>
          <a:noFill/>
          <a:ln w="12700">
            <a:solidFill>
              <a:srgbClr val="808080"/>
            </a:solidFill>
            <a:prstDash val="solid"/>
          </a:ln>
        </p:spPr>
        <p:txBody>
          <a:bodyPr/>
          <a:lstStyle/>
          <a:p>
            <a:endParaRPr lang="en-US"/>
          </a:p>
        </p:txBody>
      </p:sp>
      <p:sp>
        <p:nvSpPr>
          <p:cNvPr id="27" name="Shape 25"/>
          <p:cNvSpPr/>
          <p:nvPr/>
        </p:nvSpPr>
        <p:spPr>
          <a:xfrm>
            <a:off x="320040" y="2148840"/>
            <a:ext cx="4114800" cy="2331720"/>
          </a:xfrm>
          <a:prstGeom prst="rect">
            <a:avLst/>
          </a:prstGeom>
          <a:solidFill>
            <a:srgbClr val="E8F4FC"/>
          </a:solidFill>
          <a:ln w="12700">
            <a:solidFill>
              <a:srgbClr val="5AA8D8"/>
            </a:solidFill>
            <a:prstDash val="solid"/>
          </a:ln>
          <a:effectLst>
            <a:outerShdw blurRad="101600" dist="38100" dir="8100000" algn="bl" rotWithShape="0">
              <a:srgbClr val="000000">
                <a:alpha val="15000"/>
              </a:srgbClr>
            </a:outerShdw>
          </a:effectLst>
        </p:spPr>
        <p:txBody>
          <a:bodyPr/>
          <a:lstStyle/>
          <a:p>
            <a:endParaRPr lang="en-US"/>
          </a:p>
        </p:txBody>
      </p:sp>
      <p:sp>
        <p:nvSpPr>
          <p:cNvPr id="28" name="Shape 26"/>
          <p:cNvSpPr/>
          <p:nvPr/>
        </p:nvSpPr>
        <p:spPr>
          <a:xfrm>
            <a:off x="320040" y="2148840"/>
            <a:ext cx="73152" cy="2331720"/>
          </a:xfrm>
          <a:prstGeom prst="rect">
            <a:avLst/>
          </a:prstGeom>
          <a:solidFill>
            <a:srgbClr val="5AA8D8"/>
          </a:solidFill>
          <a:ln w="12700">
            <a:solidFill>
              <a:srgbClr val="5AA8D8"/>
            </a:solidFill>
            <a:prstDash val="solid"/>
          </a:ln>
        </p:spPr>
        <p:txBody>
          <a:bodyPr/>
          <a:lstStyle/>
          <a:p>
            <a:endParaRPr lang="en-US"/>
          </a:p>
        </p:txBody>
      </p:sp>
      <p:sp>
        <p:nvSpPr>
          <p:cNvPr id="29" name="Shape 27"/>
          <p:cNvSpPr/>
          <p:nvPr/>
        </p:nvSpPr>
        <p:spPr>
          <a:xfrm>
            <a:off x="457200" y="2240280"/>
            <a:ext cx="109728" cy="109728"/>
          </a:xfrm>
          <a:prstGeom prst="ellipse">
            <a:avLst/>
          </a:prstGeom>
          <a:solidFill>
            <a:srgbClr val="5AA8D8"/>
          </a:solidFill>
          <a:ln w="12700">
            <a:solidFill>
              <a:srgbClr val="5AA8D8"/>
            </a:solidFill>
            <a:prstDash val="solid"/>
          </a:ln>
        </p:spPr>
        <p:txBody>
          <a:bodyPr/>
          <a:lstStyle/>
          <a:p>
            <a:endParaRPr lang="en-US"/>
          </a:p>
        </p:txBody>
      </p:sp>
      <p:sp>
        <p:nvSpPr>
          <p:cNvPr id="30" name="Text 28"/>
          <p:cNvSpPr/>
          <p:nvPr/>
        </p:nvSpPr>
        <p:spPr>
          <a:xfrm>
            <a:off x="640080" y="2212848"/>
            <a:ext cx="3703320" cy="384048"/>
          </a:xfrm>
          <a:prstGeom prst="rect">
            <a:avLst/>
          </a:prstGeom>
          <a:noFill/>
          <a:ln/>
        </p:spPr>
        <p:txBody>
          <a:bodyPr wrap="square" rtlCol="0" anchor="ctr"/>
          <a:lstStyle/>
          <a:p>
            <a:pPr marL="0" indent="0">
              <a:buNone/>
            </a:pPr>
            <a:r>
              <a:rPr lang="en-US" sz="1100" dirty="0">
                <a:solidFill>
                  <a:srgbClr val="404040"/>
                </a:solidFill>
                <a:latin typeface="Arial" pitchFamily="34" charset="0"/>
                <a:ea typeface="Arial" pitchFamily="34" charset="-122"/>
                <a:cs typeface="Arial" pitchFamily="34" charset="-120"/>
              </a:rPr>
              <a:t>Cada colisión duplica el intervalo máximo de espera.</a:t>
            </a:r>
            <a:endParaRPr lang="en-US" sz="1100" dirty="0"/>
          </a:p>
        </p:txBody>
      </p:sp>
      <p:sp>
        <p:nvSpPr>
          <p:cNvPr id="31" name="Shape 29"/>
          <p:cNvSpPr/>
          <p:nvPr/>
        </p:nvSpPr>
        <p:spPr>
          <a:xfrm>
            <a:off x="457200" y="2670048"/>
            <a:ext cx="109728" cy="109728"/>
          </a:xfrm>
          <a:prstGeom prst="ellipse">
            <a:avLst/>
          </a:prstGeom>
          <a:solidFill>
            <a:srgbClr val="5AA8D8"/>
          </a:solidFill>
          <a:ln w="12700">
            <a:solidFill>
              <a:srgbClr val="5AA8D8"/>
            </a:solidFill>
            <a:prstDash val="solid"/>
          </a:ln>
        </p:spPr>
        <p:txBody>
          <a:bodyPr/>
          <a:lstStyle/>
          <a:p>
            <a:endParaRPr lang="en-US"/>
          </a:p>
        </p:txBody>
      </p:sp>
      <p:sp>
        <p:nvSpPr>
          <p:cNvPr id="32" name="Text 30"/>
          <p:cNvSpPr/>
          <p:nvPr/>
        </p:nvSpPr>
        <p:spPr>
          <a:xfrm>
            <a:off x="640080" y="2642616"/>
            <a:ext cx="3703320" cy="384048"/>
          </a:xfrm>
          <a:prstGeom prst="rect">
            <a:avLst/>
          </a:prstGeom>
          <a:noFill/>
          <a:ln/>
        </p:spPr>
        <p:txBody>
          <a:bodyPr wrap="square" rtlCol="0" anchor="ctr"/>
          <a:lstStyle/>
          <a:p>
            <a:pPr marL="0" indent="0">
              <a:buNone/>
            </a:pPr>
            <a:r>
              <a:rPr lang="en-US" sz="1100" dirty="0">
                <a:solidFill>
                  <a:srgbClr val="404040"/>
                </a:solidFill>
                <a:latin typeface="Arial" pitchFamily="34" charset="0"/>
                <a:ea typeface="Arial" pitchFamily="34" charset="-122"/>
                <a:cs typeface="Arial" pitchFamily="34" charset="-120"/>
              </a:rPr>
              <a:t>El intervalo máximo se 'trunka' en la colisión 10 (k=10, máx 1023 slots).</a:t>
            </a:r>
            <a:endParaRPr lang="en-US" sz="1100" dirty="0"/>
          </a:p>
        </p:txBody>
      </p:sp>
      <p:sp>
        <p:nvSpPr>
          <p:cNvPr id="33" name="Shape 31"/>
          <p:cNvSpPr/>
          <p:nvPr/>
        </p:nvSpPr>
        <p:spPr>
          <a:xfrm>
            <a:off x="457200" y="3099816"/>
            <a:ext cx="109728" cy="109728"/>
          </a:xfrm>
          <a:prstGeom prst="ellipse">
            <a:avLst/>
          </a:prstGeom>
          <a:solidFill>
            <a:srgbClr val="5AA8D8"/>
          </a:solidFill>
          <a:ln w="12700">
            <a:solidFill>
              <a:srgbClr val="5AA8D8"/>
            </a:solidFill>
            <a:prstDash val="solid"/>
          </a:ln>
        </p:spPr>
        <p:txBody>
          <a:bodyPr/>
          <a:lstStyle/>
          <a:p>
            <a:endParaRPr lang="en-US"/>
          </a:p>
        </p:txBody>
      </p:sp>
      <p:sp>
        <p:nvSpPr>
          <p:cNvPr id="34" name="Text 32"/>
          <p:cNvSpPr/>
          <p:nvPr/>
        </p:nvSpPr>
        <p:spPr>
          <a:xfrm>
            <a:off x="640080" y="3072384"/>
            <a:ext cx="3703320" cy="384048"/>
          </a:xfrm>
          <a:prstGeom prst="rect">
            <a:avLst/>
          </a:prstGeom>
          <a:noFill/>
          <a:ln/>
        </p:spPr>
        <p:txBody>
          <a:bodyPr wrap="square" rtlCol="0" anchor="ctr"/>
          <a:lstStyle/>
          <a:p>
            <a:pPr marL="0" indent="0">
              <a:buNone/>
            </a:pPr>
            <a:r>
              <a:rPr lang="en-US" sz="1100" dirty="0">
                <a:solidFill>
                  <a:srgbClr val="404040"/>
                </a:solidFill>
                <a:latin typeface="Arial" pitchFamily="34" charset="0"/>
                <a:ea typeface="Arial" pitchFamily="34" charset="-122"/>
                <a:cs typeface="Arial" pitchFamily="34" charset="-120"/>
              </a:rPr>
              <a:t>Máximo 16 intentos. Si el 16° también falla → se descarta la trama y se notifica error.</a:t>
            </a:r>
            <a:endParaRPr lang="en-US" sz="1100" dirty="0"/>
          </a:p>
        </p:txBody>
      </p:sp>
      <p:sp>
        <p:nvSpPr>
          <p:cNvPr id="35" name="Shape 33"/>
          <p:cNvSpPr/>
          <p:nvPr/>
        </p:nvSpPr>
        <p:spPr>
          <a:xfrm>
            <a:off x="457200" y="3529584"/>
            <a:ext cx="109728" cy="109728"/>
          </a:xfrm>
          <a:prstGeom prst="ellipse">
            <a:avLst/>
          </a:prstGeom>
          <a:solidFill>
            <a:srgbClr val="5AA8D8"/>
          </a:solidFill>
          <a:ln w="12700">
            <a:solidFill>
              <a:srgbClr val="5AA8D8"/>
            </a:solidFill>
            <a:prstDash val="solid"/>
          </a:ln>
        </p:spPr>
        <p:txBody>
          <a:bodyPr/>
          <a:lstStyle/>
          <a:p>
            <a:endParaRPr lang="en-US"/>
          </a:p>
        </p:txBody>
      </p:sp>
      <p:sp>
        <p:nvSpPr>
          <p:cNvPr id="36" name="Text 34"/>
          <p:cNvSpPr/>
          <p:nvPr/>
        </p:nvSpPr>
        <p:spPr>
          <a:xfrm>
            <a:off x="640080" y="3502152"/>
            <a:ext cx="3703320" cy="384048"/>
          </a:xfrm>
          <a:prstGeom prst="rect">
            <a:avLst/>
          </a:prstGeom>
          <a:noFill/>
          <a:ln/>
        </p:spPr>
        <p:txBody>
          <a:bodyPr wrap="square" rtlCol="0" anchor="ctr"/>
          <a:lstStyle/>
          <a:p>
            <a:pPr marL="0" indent="0">
              <a:buNone/>
            </a:pPr>
            <a:r>
              <a:rPr lang="en-US" sz="1100" dirty="0">
                <a:solidFill>
                  <a:srgbClr val="404040"/>
                </a:solidFill>
                <a:latin typeface="Arial" pitchFamily="34" charset="0"/>
                <a:ea typeface="Arial" pitchFamily="34" charset="-122"/>
                <a:cs typeface="Arial" pitchFamily="34" charset="-120"/>
              </a:rPr>
              <a:t>Slot time en Ethernet 10 Mbps = 51,2 µs (tiempo para transmitir 512 bits, el mínimo de trama).</a:t>
            </a:r>
            <a:endParaRPr lang="en-US" sz="1100" dirty="0"/>
          </a:p>
        </p:txBody>
      </p:sp>
      <p:sp>
        <p:nvSpPr>
          <p:cNvPr id="37" name="Shape 35"/>
          <p:cNvSpPr/>
          <p:nvPr/>
        </p:nvSpPr>
        <p:spPr>
          <a:xfrm>
            <a:off x="457200" y="3959352"/>
            <a:ext cx="109728" cy="109728"/>
          </a:xfrm>
          <a:prstGeom prst="ellipse">
            <a:avLst/>
          </a:prstGeom>
          <a:solidFill>
            <a:srgbClr val="5AA8D8"/>
          </a:solidFill>
          <a:ln w="12700">
            <a:solidFill>
              <a:srgbClr val="5AA8D8"/>
            </a:solidFill>
            <a:prstDash val="solid"/>
          </a:ln>
        </p:spPr>
        <p:txBody>
          <a:bodyPr/>
          <a:lstStyle/>
          <a:p>
            <a:endParaRPr lang="en-US"/>
          </a:p>
        </p:txBody>
      </p:sp>
      <p:sp>
        <p:nvSpPr>
          <p:cNvPr id="38" name="Text 36"/>
          <p:cNvSpPr/>
          <p:nvPr/>
        </p:nvSpPr>
        <p:spPr>
          <a:xfrm>
            <a:off x="640080" y="3931920"/>
            <a:ext cx="3703320" cy="384048"/>
          </a:xfrm>
          <a:prstGeom prst="rect">
            <a:avLst/>
          </a:prstGeom>
          <a:noFill/>
          <a:ln/>
        </p:spPr>
        <p:txBody>
          <a:bodyPr wrap="square" rtlCol="0" anchor="ctr"/>
          <a:lstStyle/>
          <a:p>
            <a:pPr marL="0" indent="0">
              <a:buNone/>
            </a:pPr>
            <a:r>
              <a:rPr lang="en-US" sz="1100" dirty="0">
                <a:solidFill>
                  <a:srgbClr val="404040"/>
                </a:solidFill>
                <a:latin typeface="Arial" pitchFamily="34" charset="0"/>
                <a:ea typeface="Arial" pitchFamily="34" charset="-122"/>
                <a:cs typeface="Arial" pitchFamily="34" charset="-120"/>
              </a:rPr>
              <a:t>El backoff aleatorio reduce la probabilidad de colisiones repetidas.</a:t>
            </a:r>
            <a:endParaRPr lang="en-US" sz="1100" dirty="0"/>
          </a:p>
        </p:txBody>
      </p:sp>
      <p:sp>
        <p:nvSpPr>
          <p:cNvPr id="39" name="Shape 37"/>
          <p:cNvSpPr/>
          <p:nvPr/>
        </p:nvSpPr>
        <p:spPr>
          <a:xfrm>
            <a:off x="0" y="4846320"/>
            <a:ext cx="9144000" cy="297180"/>
          </a:xfrm>
          <a:prstGeom prst="rect">
            <a:avLst/>
          </a:prstGeom>
          <a:solidFill>
            <a:srgbClr val="2D3030"/>
          </a:solidFill>
          <a:ln w="12700">
            <a:solidFill>
              <a:srgbClr val="2D3030"/>
            </a:solidFill>
            <a:prstDash val="solid"/>
          </a:ln>
        </p:spPr>
        <p:txBody>
          <a:bodyPr/>
          <a:lstStyle/>
          <a:p>
            <a:endParaRPr lang="en-US"/>
          </a:p>
        </p:txBody>
      </p:sp>
      <p:sp>
        <p:nvSpPr>
          <p:cNvPr id="40" name="Text 38"/>
          <p:cNvSpPr/>
          <p:nvPr/>
        </p:nvSpPr>
        <p:spPr>
          <a:xfrm>
            <a:off x="137160" y="4846320"/>
            <a:ext cx="8869680" cy="297180"/>
          </a:xfrm>
          <a:prstGeom prst="rect">
            <a:avLst/>
          </a:prstGeom>
          <a:noFill/>
          <a:ln/>
        </p:spPr>
        <p:txBody>
          <a:bodyPr wrap="square" rtlCol="0" anchor="ctr"/>
          <a:lstStyle/>
          <a:p>
            <a:pPr marL="0" indent="0">
              <a:buNone/>
            </a:pPr>
            <a:r>
              <a:rPr lang="en-US" sz="1000" i="1" dirty="0">
                <a:solidFill>
                  <a:srgbClr val="B9DEF8"/>
                </a:solidFill>
                <a:latin typeface="Arial" pitchFamily="34" charset="0"/>
                <a:ea typeface="Arial" pitchFamily="34" charset="-122"/>
                <a:cs typeface="Arial" pitchFamily="34" charset="-120"/>
              </a:rPr>
              <a:t>🎤 Analogía: después del 1er choque esperás hasta 1s; después del 2do hasta 2s; etc. Con cada colisión, la ventana de espera se duplica. Si en 16 intentos no pudo, se rinde.</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D3030"/>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5AA8D8"/>
          </a:solidFill>
          <a:ln w="12700">
            <a:solidFill>
              <a:srgbClr val="5AA8D8"/>
            </a:solidFill>
            <a:prstDash val="solid"/>
          </a:ln>
        </p:spPr>
        <p:txBody>
          <a:bodyPr/>
          <a:lstStyle/>
          <a:p>
            <a:endParaRPr lang="en-US"/>
          </a:p>
        </p:txBody>
      </p:sp>
      <p:sp>
        <p:nvSpPr>
          <p:cNvPr id="3" name="Shape 1"/>
          <p:cNvSpPr/>
          <p:nvPr/>
        </p:nvSpPr>
        <p:spPr>
          <a:xfrm>
            <a:off x="457200" y="164592"/>
            <a:ext cx="8229600" cy="749808"/>
          </a:xfrm>
          <a:prstGeom prst="rect">
            <a:avLst/>
          </a:prstGeom>
          <a:solidFill>
            <a:srgbClr val="3A7BAA"/>
          </a:solidFill>
          <a:ln w="12700">
            <a:solidFill>
              <a:srgbClr val="3A7BAA"/>
            </a:solidFill>
            <a:prstDash val="solid"/>
          </a:ln>
          <a:effectLst>
            <a:outerShdw blurRad="101600" dist="38100" dir="8100000" algn="bl" rotWithShape="0">
              <a:srgbClr val="000000">
                <a:alpha val="15000"/>
              </a:srgbClr>
            </a:outerShdw>
          </a:effectLst>
        </p:spPr>
        <p:txBody>
          <a:bodyPr/>
          <a:lstStyle/>
          <a:p>
            <a:endParaRPr lang="en-US"/>
          </a:p>
        </p:txBody>
      </p:sp>
      <p:sp>
        <p:nvSpPr>
          <p:cNvPr id="4" name="Text 2"/>
          <p:cNvSpPr/>
          <p:nvPr/>
        </p:nvSpPr>
        <p:spPr>
          <a:xfrm>
            <a:off x="566928" y="164592"/>
            <a:ext cx="8010144" cy="749808"/>
          </a:xfrm>
          <a:prstGeom prst="rect">
            <a:avLst/>
          </a:prstGeom>
          <a:noFill/>
          <a:ln/>
        </p:spPr>
        <p:txBody>
          <a:bodyPr wrap="square" lIns="0" tIns="0" rIns="0" bIns="0" rtlCol="0" anchor="ctr"/>
          <a:lstStyle/>
          <a:p>
            <a:pPr marL="0" indent="0">
              <a:buNone/>
            </a:pPr>
            <a:r>
              <a:rPr lang="en-US" sz="2500" b="1" dirty="0">
                <a:solidFill>
                  <a:srgbClr val="FFFFFF"/>
                </a:solidFill>
                <a:latin typeface="Arial" pitchFamily="34" charset="0"/>
                <a:ea typeface="Arial" pitchFamily="34" charset="-122"/>
                <a:cs typeface="Arial" pitchFamily="34" charset="-120"/>
              </a:rPr>
              <a:t>Red No Determinística y Tipos de Difusión</a:t>
            </a:r>
            <a:endParaRPr lang="en-US" sz="2500" dirty="0"/>
          </a:p>
        </p:txBody>
      </p:sp>
      <p:sp>
        <p:nvSpPr>
          <p:cNvPr id="5" name="Text 3"/>
          <p:cNvSpPr/>
          <p:nvPr/>
        </p:nvSpPr>
        <p:spPr>
          <a:xfrm>
            <a:off x="566928" y="987552"/>
            <a:ext cx="8010144" cy="347472"/>
          </a:xfrm>
          <a:prstGeom prst="rect">
            <a:avLst/>
          </a:prstGeom>
          <a:noFill/>
          <a:ln/>
        </p:spPr>
        <p:txBody>
          <a:bodyPr wrap="square" rtlCol="0" anchor="ctr"/>
          <a:lstStyle/>
          <a:p>
            <a:pPr marL="0" indent="0">
              <a:buNone/>
            </a:pPr>
            <a:r>
              <a:rPr lang="en-US" sz="1200" i="1" dirty="0">
                <a:solidFill>
                  <a:srgbClr val="B9DEF8"/>
                </a:solidFill>
                <a:latin typeface="Arial" pitchFamily="34" charset="0"/>
                <a:ea typeface="Arial" pitchFamily="34" charset="-122"/>
                <a:cs typeface="Arial" pitchFamily="34" charset="-120"/>
              </a:rPr>
              <a:t>Ethernet no puede garantizar cuándo transmitirás</a:t>
            </a:r>
            <a:endParaRPr lang="en-US" sz="1200" dirty="0"/>
          </a:p>
        </p:txBody>
      </p:sp>
      <p:sp>
        <p:nvSpPr>
          <p:cNvPr id="6" name="Shape 4"/>
          <p:cNvSpPr/>
          <p:nvPr/>
        </p:nvSpPr>
        <p:spPr>
          <a:xfrm>
            <a:off x="320040" y="1417320"/>
            <a:ext cx="4114800" cy="3337560"/>
          </a:xfrm>
          <a:prstGeom prst="rect">
            <a:avLst/>
          </a:prstGeom>
          <a:solidFill>
            <a:srgbClr val="3A4550"/>
          </a:solidFill>
          <a:ln w="12700">
            <a:solidFill>
              <a:srgbClr val="5AA8D8"/>
            </a:solidFill>
            <a:prstDash val="solid"/>
          </a:ln>
          <a:effectLst>
            <a:outerShdw blurRad="101600" dist="38100" dir="8100000" algn="bl" rotWithShape="0">
              <a:srgbClr val="000000">
                <a:alpha val="15000"/>
              </a:srgbClr>
            </a:outerShdw>
          </a:effectLst>
        </p:spPr>
        <p:txBody>
          <a:bodyPr/>
          <a:lstStyle/>
          <a:p>
            <a:endParaRPr lang="en-US"/>
          </a:p>
        </p:txBody>
      </p:sp>
      <p:sp>
        <p:nvSpPr>
          <p:cNvPr id="7" name="Shape 5"/>
          <p:cNvSpPr/>
          <p:nvPr/>
        </p:nvSpPr>
        <p:spPr>
          <a:xfrm>
            <a:off x="320040" y="1417320"/>
            <a:ext cx="4114800" cy="411480"/>
          </a:xfrm>
          <a:prstGeom prst="rect">
            <a:avLst/>
          </a:prstGeom>
          <a:solidFill>
            <a:srgbClr val="C62828"/>
          </a:solidFill>
          <a:ln w="12700">
            <a:solidFill>
              <a:srgbClr val="C62828"/>
            </a:solidFill>
            <a:prstDash val="solid"/>
          </a:ln>
        </p:spPr>
        <p:txBody>
          <a:bodyPr/>
          <a:lstStyle/>
          <a:p>
            <a:endParaRPr lang="en-US"/>
          </a:p>
        </p:txBody>
      </p:sp>
      <p:sp>
        <p:nvSpPr>
          <p:cNvPr id="8" name="Text 6"/>
          <p:cNvSpPr/>
          <p:nvPr/>
        </p:nvSpPr>
        <p:spPr>
          <a:xfrm>
            <a:off x="402336" y="1417320"/>
            <a:ext cx="3950208" cy="411480"/>
          </a:xfrm>
          <a:prstGeom prst="rect">
            <a:avLst/>
          </a:prstGeom>
          <a:noFill/>
          <a:ln/>
        </p:spPr>
        <p:txBody>
          <a:bodyPr wrap="square" rtlCol="0" anchor="ctr"/>
          <a:lstStyle/>
          <a:p>
            <a:pPr marL="0" indent="0">
              <a:buNone/>
            </a:pPr>
            <a:r>
              <a:rPr lang="en-US" sz="1300" b="1" dirty="0">
                <a:solidFill>
                  <a:srgbClr val="FFFFFF"/>
                </a:solidFill>
                <a:latin typeface="Arial" pitchFamily="34" charset="0"/>
                <a:ea typeface="Arial" pitchFamily="34" charset="-122"/>
                <a:cs typeface="Arial" pitchFamily="34" charset="-120"/>
              </a:rPr>
              <a:t>⚠️  Red NO Determinística</a:t>
            </a:r>
            <a:endParaRPr lang="en-US" sz="1300" dirty="0"/>
          </a:p>
        </p:txBody>
      </p:sp>
      <p:sp>
        <p:nvSpPr>
          <p:cNvPr id="9" name="Shape 7"/>
          <p:cNvSpPr/>
          <p:nvPr/>
        </p:nvSpPr>
        <p:spPr>
          <a:xfrm>
            <a:off x="438912" y="1920240"/>
            <a:ext cx="118872" cy="118872"/>
          </a:xfrm>
          <a:prstGeom prst="ellipse">
            <a:avLst/>
          </a:prstGeom>
          <a:solidFill>
            <a:srgbClr val="C62828"/>
          </a:solidFill>
          <a:ln w="12700">
            <a:solidFill>
              <a:srgbClr val="C62828"/>
            </a:solidFill>
            <a:prstDash val="solid"/>
          </a:ln>
        </p:spPr>
        <p:txBody>
          <a:bodyPr/>
          <a:lstStyle/>
          <a:p>
            <a:endParaRPr lang="en-US"/>
          </a:p>
        </p:txBody>
      </p:sp>
      <p:sp>
        <p:nvSpPr>
          <p:cNvPr id="10" name="Text 8"/>
          <p:cNvSpPr/>
          <p:nvPr/>
        </p:nvSpPr>
        <p:spPr>
          <a:xfrm>
            <a:off x="621792" y="1892808"/>
            <a:ext cx="3749040" cy="420624"/>
          </a:xfrm>
          <a:prstGeom prst="rect">
            <a:avLst/>
          </a:prstGeom>
          <a:noFill/>
          <a:ln/>
        </p:spPr>
        <p:txBody>
          <a:bodyPr wrap="square" rtlCol="0" anchor="ctr"/>
          <a:lstStyle/>
          <a:p>
            <a:pPr marL="0" indent="0">
              <a:buNone/>
            </a:pPr>
            <a:r>
              <a:rPr lang="en-US" sz="1100" dirty="0">
                <a:solidFill>
                  <a:srgbClr val="B9DEF8"/>
                </a:solidFill>
                <a:latin typeface="Arial" pitchFamily="34" charset="0"/>
                <a:ea typeface="Arial" pitchFamily="34" charset="-122"/>
                <a:cs typeface="Arial" pitchFamily="34" charset="-120"/>
              </a:rPr>
              <a:t>El backoff es ALEATORIO: nadie sabe cuándo podrá transmitir.</a:t>
            </a:r>
            <a:endParaRPr lang="en-US" sz="1100" dirty="0"/>
          </a:p>
        </p:txBody>
      </p:sp>
      <p:sp>
        <p:nvSpPr>
          <p:cNvPr id="11" name="Shape 9"/>
          <p:cNvSpPr/>
          <p:nvPr/>
        </p:nvSpPr>
        <p:spPr>
          <a:xfrm>
            <a:off x="438912" y="2386584"/>
            <a:ext cx="118872" cy="118872"/>
          </a:xfrm>
          <a:prstGeom prst="ellipse">
            <a:avLst/>
          </a:prstGeom>
          <a:solidFill>
            <a:srgbClr val="C62828"/>
          </a:solidFill>
          <a:ln w="12700">
            <a:solidFill>
              <a:srgbClr val="C62828"/>
            </a:solidFill>
            <a:prstDash val="solid"/>
          </a:ln>
        </p:spPr>
        <p:txBody>
          <a:bodyPr/>
          <a:lstStyle/>
          <a:p>
            <a:endParaRPr lang="en-US"/>
          </a:p>
        </p:txBody>
      </p:sp>
      <p:sp>
        <p:nvSpPr>
          <p:cNvPr id="12" name="Text 10"/>
          <p:cNvSpPr/>
          <p:nvPr/>
        </p:nvSpPr>
        <p:spPr>
          <a:xfrm>
            <a:off x="621792" y="2359152"/>
            <a:ext cx="3749040" cy="420624"/>
          </a:xfrm>
          <a:prstGeom prst="rect">
            <a:avLst/>
          </a:prstGeom>
          <a:noFill/>
          <a:ln/>
        </p:spPr>
        <p:txBody>
          <a:bodyPr wrap="square" rtlCol="0" anchor="ctr"/>
          <a:lstStyle/>
          <a:p>
            <a:pPr marL="0" indent="0">
              <a:buNone/>
            </a:pPr>
            <a:r>
              <a:rPr lang="en-US" sz="1100" dirty="0">
                <a:solidFill>
                  <a:srgbClr val="B9DEF8"/>
                </a:solidFill>
                <a:latin typeface="Arial" pitchFamily="34" charset="0"/>
                <a:ea typeface="Arial" pitchFamily="34" charset="-122"/>
                <a:cs typeface="Arial" pitchFamily="34" charset="-120"/>
              </a:rPr>
              <a:t>Con más hosts → más colisiones → más esperas.</a:t>
            </a:r>
            <a:endParaRPr lang="en-US" sz="1100" dirty="0"/>
          </a:p>
        </p:txBody>
      </p:sp>
      <p:sp>
        <p:nvSpPr>
          <p:cNvPr id="13" name="Shape 11"/>
          <p:cNvSpPr/>
          <p:nvPr/>
        </p:nvSpPr>
        <p:spPr>
          <a:xfrm>
            <a:off x="438912" y="2852928"/>
            <a:ext cx="118872" cy="118872"/>
          </a:xfrm>
          <a:prstGeom prst="ellipse">
            <a:avLst/>
          </a:prstGeom>
          <a:solidFill>
            <a:srgbClr val="C62828"/>
          </a:solidFill>
          <a:ln w="12700">
            <a:solidFill>
              <a:srgbClr val="C62828"/>
            </a:solidFill>
            <a:prstDash val="solid"/>
          </a:ln>
        </p:spPr>
        <p:txBody>
          <a:bodyPr/>
          <a:lstStyle/>
          <a:p>
            <a:endParaRPr lang="en-US"/>
          </a:p>
        </p:txBody>
      </p:sp>
      <p:sp>
        <p:nvSpPr>
          <p:cNvPr id="14" name="Text 12"/>
          <p:cNvSpPr/>
          <p:nvPr/>
        </p:nvSpPr>
        <p:spPr>
          <a:xfrm>
            <a:off x="621792" y="2825496"/>
            <a:ext cx="3749040" cy="420624"/>
          </a:xfrm>
          <a:prstGeom prst="rect">
            <a:avLst/>
          </a:prstGeom>
          <a:noFill/>
          <a:ln/>
        </p:spPr>
        <p:txBody>
          <a:bodyPr wrap="square" rtlCol="0" anchor="ctr"/>
          <a:lstStyle/>
          <a:p>
            <a:pPr marL="0" indent="0">
              <a:buNone/>
            </a:pPr>
            <a:r>
              <a:rPr lang="en-US" sz="1100" dirty="0">
                <a:solidFill>
                  <a:srgbClr val="B9DEF8"/>
                </a:solidFill>
                <a:latin typeface="Arial" pitchFamily="34" charset="0"/>
                <a:ea typeface="Arial" pitchFamily="34" charset="-122"/>
                <a:cs typeface="Arial" pitchFamily="34" charset="-120"/>
              </a:rPr>
              <a:t>El rendimiento DECRECE con la cantidad de dispositivos en el mismo segmento.</a:t>
            </a:r>
            <a:endParaRPr lang="en-US" sz="1100" dirty="0"/>
          </a:p>
        </p:txBody>
      </p:sp>
      <p:sp>
        <p:nvSpPr>
          <p:cNvPr id="15" name="Shape 13"/>
          <p:cNvSpPr/>
          <p:nvPr/>
        </p:nvSpPr>
        <p:spPr>
          <a:xfrm>
            <a:off x="438912" y="3319272"/>
            <a:ext cx="118872" cy="118872"/>
          </a:xfrm>
          <a:prstGeom prst="ellipse">
            <a:avLst/>
          </a:prstGeom>
          <a:solidFill>
            <a:srgbClr val="C62828"/>
          </a:solidFill>
          <a:ln w="12700">
            <a:solidFill>
              <a:srgbClr val="C62828"/>
            </a:solidFill>
            <a:prstDash val="solid"/>
          </a:ln>
        </p:spPr>
        <p:txBody>
          <a:bodyPr/>
          <a:lstStyle/>
          <a:p>
            <a:endParaRPr lang="en-US"/>
          </a:p>
        </p:txBody>
      </p:sp>
      <p:sp>
        <p:nvSpPr>
          <p:cNvPr id="16" name="Text 14"/>
          <p:cNvSpPr/>
          <p:nvPr/>
        </p:nvSpPr>
        <p:spPr>
          <a:xfrm>
            <a:off x="621792" y="3291840"/>
            <a:ext cx="3749040" cy="420624"/>
          </a:xfrm>
          <a:prstGeom prst="rect">
            <a:avLst/>
          </a:prstGeom>
          <a:noFill/>
          <a:ln/>
        </p:spPr>
        <p:txBody>
          <a:bodyPr wrap="square" rtlCol="0" anchor="ctr"/>
          <a:lstStyle/>
          <a:p>
            <a:pPr marL="0" indent="0">
              <a:buNone/>
            </a:pPr>
            <a:r>
              <a:rPr lang="en-US" sz="1100" dirty="0">
                <a:solidFill>
                  <a:srgbClr val="B9DEF8"/>
                </a:solidFill>
                <a:latin typeface="Arial" pitchFamily="34" charset="0"/>
                <a:ea typeface="Arial" pitchFamily="34" charset="-122"/>
                <a:cs typeface="Arial" pitchFamily="34" charset="-120"/>
              </a:rPr>
              <a:t>No se puede garantizar un tiempo máximo de entrega.</a:t>
            </a:r>
            <a:endParaRPr lang="en-US" sz="1100" dirty="0"/>
          </a:p>
        </p:txBody>
      </p:sp>
      <p:sp>
        <p:nvSpPr>
          <p:cNvPr id="17" name="Shape 15"/>
          <p:cNvSpPr/>
          <p:nvPr/>
        </p:nvSpPr>
        <p:spPr>
          <a:xfrm>
            <a:off x="438912" y="3785616"/>
            <a:ext cx="118872" cy="118872"/>
          </a:xfrm>
          <a:prstGeom prst="ellipse">
            <a:avLst/>
          </a:prstGeom>
          <a:solidFill>
            <a:srgbClr val="C62828"/>
          </a:solidFill>
          <a:ln w="12700">
            <a:solidFill>
              <a:srgbClr val="C62828"/>
            </a:solidFill>
            <a:prstDash val="solid"/>
          </a:ln>
        </p:spPr>
        <p:txBody>
          <a:bodyPr/>
          <a:lstStyle/>
          <a:p>
            <a:endParaRPr lang="en-US"/>
          </a:p>
        </p:txBody>
      </p:sp>
      <p:sp>
        <p:nvSpPr>
          <p:cNvPr id="18" name="Text 16"/>
          <p:cNvSpPr/>
          <p:nvPr/>
        </p:nvSpPr>
        <p:spPr>
          <a:xfrm>
            <a:off x="621792" y="3758184"/>
            <a:ext cx="3749040" cy="420624"/>
          </a:xfrm>
          <a:prstGeom prst="rect">
            <a:avLst/>
          </a:prstGeom>
          <a:noFill/>
          <a:ln/>
        </p:spPr>
        <p:txBody>
          <a:bodyPr wrap="square" rtlCol="0" anchor="ctr"/>
          <a:lstStyle/>
          <a:p>
            <a:pPr marL="0" indent="0">
              <a:buNone/>
            </a:pPr>
            <a:r>
              <a:rPr lang="en-US" sz="1100" dirty="0">
                <a:solidFill>
                  <a:srgbClr val="B9DEF8"/>
                </a:solidFill>
                <a:latin typeface="Arial" pitchFamily="34" charset="0"/>
                <a:ea typeface="Arial" pitchFamily="34" charset="-122"/>
                <a:cs typeface="Arial" pitchFamily="34" charset="-120"/>
              </a:rPr>
              <a:t>Por eso también se dice que CSMA/CD es 'acceso por contención'.</a:t>
            </a:r>
            <a:endParaRPr lang="en-US" sz="1100" dirty="0"/>
          </a:p>
        </p:txBody>
      </p:sp>
      <p:sp>
        <p:nvSpPr>
          <p:cNvPr id="19" name="Shape 17"/>
          <p:cNvSpPr/>
          <p:nvPr/>
        </p:nvSpPr>
        <p:spPr>
          <a:xfrm>
            <a:off x="438912" y="4251960"/>
            <a:ext cx="118872" cy="118872"/>
          </a:xfrm>
          <a:prstGeom prst="ellipse">
            <a:avLst/>
          </a:prstGeom>
          <a:solidFill>
            <a:srgbClr val="C62828"/>
          </a:solidFill>
          <a:ln w="12700">
            <a:solidFill>
              <a:srgbClr val="C62828"/>
            </a:solidFill>
            <a:prstDash val="solid"/>
          </a:ln>
        </p:spPr>
        <p:txBody>
          <a:bodyPr/>
          <a:lstStyle/>
          <a:p>
            <a:endParaRPr lang="en-US"/>
          </a:p>
        </p:txBody>
      </p:sp>
      <p:sp>
        <p:nvSpPr>
          <p:cNvPr id="20" name="Text 18"/>
          <p:cNvSpPr/>
          <p:nvPr/>
        </p:nvSpPr>
        <p:spPr>
          <a:xfrm>
            <a:off x="621792" y="4224528"/>
            <a:ext cx="3749040" cy="420624"/>
          </a:xfrm>
          <a:prstGeom prst="rect">
            <a:avLst/>
          </a:prstGeom>
          <a:noFill/>
          <a:ln/>
        </p:spPr>
        <p:txBody>
          <a:bodyPr wrap="square" rtlCol="0" anchor="ctr"/>
          <a:lstStyle/>
          <a:p>
            <a:pPr marL="0" indent="0">
              <a:buNone/>
            </a:pPr>
            <a:r>
              <a:rPr lang="en-US" sz="1100" dirty="0">
                <a:solidFill>
                  <a:srgbClr val="B9DEF8"/>
                </a:solidFill>
                <a:latin typeface="Arial" pitchFamily="34" charset="0"/>
                <a:ea typeface="Arial" pitchFamily="34" charset="-122"/>
                <a:cs typeface="Arial" pitchFamily="34" charset="-120"/>
              </a:rPr>
              <a:t>Solución moderna: switches full-duplex (sin colisiones) + QoS para tráfico prioritario.</a:t>
            </a:r>
            <a:endParaRPr lang="en-US" sz="1100" dirty="0"/>
          </a:p>
        </p:txBody>
      </p:sp>
      <p:sp>
        <p:nvSpPr>
          <p:cNvPr id="21" name="Shape 19"/>
          <p:cNvSpPr/>
          <p:nvPr/>
        </p:nvSpPr>
        <p:spPr>
          <a:xfrm>
            <a:off x="4617720" y="1417320"/>
            <a:ext cx="4206240" cy="3337560"/>
          </a:xfrm>
          <a:prstGeom prst="rect">
            <a:avLst/>
          </a:prstGeom>
          <a:solidFill>
            <a:srgbClr val="3A4550"/>
          </a:solidFill>
          <a:ln w="12700">
            <a:solidFill>
              <a:srgbClr val="5AA8D8"/>
            </a:solidFill>
            <a:prstDash val="solid"/>
          </a:ln>
          <a:effectLst>
            <a:outerShdw blurRad="101600" dist="38100" dir="8100000" algn="bl" rotWithShape="0">
              <a:srgbClr val="000000">
                <a:alpha val="15000"/>
              </a:srgbClr>
            </a:outerShdw>
          </a:effectLst>
        </p:spPr>
        <p:txBody>
          <a:bodyPr/>
          <a:lstStyle/>
          <a:p>
            <a:endParaRPr lang="en-US"/>
          </a:p>
        </p:txBody>
      </p:sp>
      <p:sp>
        <p:nvSpPr>
          <p:cNvPr id="22" name="Shape 20"/>
          <p:cNvSpPr/>
          <p:nvPr/>
        </p:nvSpPr>
        <p:spPr>
          <a:xfrm>
            <a:off x="4617720" y="1417320"/>
            <a:ext cx="4206240" cy="411480"/>
          </a:xfrm>
          <a:prstGeom prst="rect">
            <a:avLst/>
          </a:prstGeom>
          <a:solidFill>
            <a:srgbClr val="5AA8D8"/>
          </a:solidFill>
          <a:ln w="12700">
            <a:solidFill>
              <a:srgbClr val="5AA8D8"/>
            </a:solidFill>
            <a:prstDash val="solid"/>
          </a:ln>
        </p:spPr>
        <p:txBody>
          <a:bodyPr/>
          <a:lstStyle/>
          <a:p>
            <a:endParaRPr lang="en-US"/>
          </a:p>
        </p:txBody>
      </p:sp>
      <p:sp>
        <p:nvSpPr>
          <p:cNvPr id="23" name="Text 21"/>
          <p:cNvSpPr/>
          <p:nvPr/>
        </p:nvSpPr>
        <p:spPr>
          <a:xfrm>
            <a:off x="4700016" y="1417320"/>
            <a:ext cx="4041648" cy="411480"/>
          </a:xfrm>
          <a:prstGeom prst="rect">
            <a:avLst/>
          </a:prstGeom>
          <a:noFill/>
          <a:ln/>
        </p:spPr>
        <p:txBody>
          <a:bodyPr wrap="square" rtlCol="0" anchor="ctr"/>
          <a:lstStyle/>
          <a:p>
            <a:pPr marL="0" indent="0">
              <a:buNone/>
            </a:pPr>
            <a:r>
              <a:rPr lang="en-US" sz="1300" b="1" dirty="0">
                <a:solidFill>
                  <a:srgbClr val="FFFFFF"/>
                </a:solidFill>
                <a:latin typeface="Arial" pitchFamily="34" charset="0"/>
                <a:ea typeface="Arial" pitchFamily="34" charset="-122"/>
                <a:cs typeface="Arial" pitchFamily="34" charset="-120"/>
              </a:rPr>
              <a:t>Tipos de difusión en Ethernet</a:t>
            </a:r>
            <a:endParaRPr lang="en-US" sz="1300" dirty="0"/>
          </a:p>
        </p:txBody>
      </p:sp>
      <p:sp>
        <p:nvSpPr>
          <p:cNvPr id="24" name="Shape 22"/>
          <p:cNvSpPr/>
          <p:nvPr/>
        </p:nvSpPr>
        <p:spPr>
          <a:xfrm>
            <a:off x="4709160" y="1920240"/>
            <a:ext cx="4005072" cy="822960"/>
          </a:xfrm>
          <a:prstGeom prst="rect">
            <a:avLst/>
          </a:prstGeom>
          <a:solidFill>
            <a:srgbClr val="2D3030"/>
          </a:solidFill>
          <a:ln w="12700">
            <a:solidFill>
              <a:srgbClr val="2E7D32"/>
            </a:solidFill>
            <a:prstDash val="solid"/>
          </a:ln>
        </p:spPr>
        <p:txBody>
          <a:bodyPr/>
          <a:lstStyle/>
          <a:p>
            <a:endParaRPr lang="en-US"/>
          </a:p>
        </p:txBody>
      </p:sp>
      <p:sp>
        <p:nvSpPr>
          <p:cNvPr id="25" name="Shape 23"/>
          <p:cNvSpPr/>
          <p:nvPr/>
        </p:nvSpPr>
        <p:spPr>
          <a:xfrm>
            <a:off x="4709160" y="1920240"/>
            <a:ext cx="1005840" cy="822960"/>
          </a:xfrm>
          <a:prstGeom prst="rect">
            <a:avLst/>
          </a:prstGeom>
          <a:solidFill>
            <a:srgbClr val="2E7D32"/>
          </a:solidFill>
          <a:ln w="12700">
            <a:solidFill>
              <a:srgbClr val="2E7D32"/>
            </a:solidFill>
            <a:prstDash val="solid"/>
          </a:ln>
        </p:spPr>
        <p:txBody>
          <a:bodyPr/>
          <a:lstStyle/>
          <a:p>
            <a:endParaRPr lang="en-US"/>
          </a:p>
        </p:txBody>
      </p:sp>
      <p:sp>
        <p:nvSpPr>
          <p:cNvPr id="26" name="Text 24"/>
          <p:cNvSpPr/>
          <p:nvPr/>
        </p:nvSpPr>
        <p:spPr>
          <a:xfrm>
            <a:off x="4709160" y="1920240"/>
            <a:ext cx="1005840" cy="82296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Unicast</a:t>
            </a:r>
            <a:endParaRPr lang="en-US" sz="1200" dirty="0"/>
          </a:p>
        </p:txBody>
      </p:sp>
      <p:sp>
        <p:nvSpPr>
          <p:cNvPr id="27" name="Text 25"/>
          <p:cNvSpPr/>
          <p:nvPr/>
        </p:nvSpPr>
        <p:spPr>
          <a:xfrm>
            <a:off x="5779008" y="1975104"/>
            <a:ext cx="2889504" cy="713232"/>
          </a:xfrm>
          <a:prstGeom prst="rect">
            <a:avLst/>
          </a:prstGeom>
          <a:noFill/>
          <a:ln/>
        </p:spPr>
        <p:txBody>
          <a:bodyPr wrap="square" rtlCol="0" anchor="ctr"/>
          <a:lstStyle/>
          <a:p>
            <a:pPr marL="0" indent="0">
              <a:buNone/>
            </a:pPr>
            <a:r>
              <a:rPr lang="en-US" sz="1050" dirty="0">
                <a:solidFill>
                  <a:srgbClr val="B9DEF8"/>
                </a:solidFill>
                <a:latin typeface="Arial" pitchFamily="34" charset="0"/>
                <a:ea typeface="Arial" pitchFamily="34" charset="-122"/>
                <a:cs typeface="Arial" pitchFamily="34" charset="-120"/>
              </a:rPr>
              <a:t>A un solo host. MAC destino específica.</a:t>
            </a:r>
            <a:endParaRPr lang="en-US" sz="1050" dirty="0"/>
          </a:p>
          <a:p>
            <a:pPr marL="0" indent="0">
              <a:buNone/>
            </a:pPr>
            <a:r>
              <a:rPr lang="en-US" sz="1050" dirty="0">
                <a:solidFill>
                  <a:srgbClr val="B9DEF8"/>
                </a:solidFill>
                <a:latin typeface="Arial" pitchFamily="34" charset="0"/>
                <a:ea typeface="Arial" pitchFamily="34" charset="-122"/>
                <a:cs typeface="Arial" pitchFamily="34" charset="-120"/>
              </a:rPr>
              <a:t>Ej: HTTP, FTP, SSH.</a:t>
            </a:r>
            <a:endParaRPr lang="en-US" sz="1050" dirty="0"/>
          </a:p>
        </p:txBody>
      </p:sp>
      <p:sp>
        <p:nvSpPr>
          <p:cNvPr id="28" name="Shape 26"/>
          <p:cNvSpPr/>
          <p:nvPr/>
        </p:nvSpPr>
        <p:spPr>
          <a:xfrm>
            <a:off x="4709160" y="2880360"/>
            <a:ext cx="4005072" cy="822960"/>
          </a:xfrm>
          <a:prstGeom prst="rect">
            <a:avLst/>
          </a:prstGeom>
          <a:solidFill>
            <a:srgbClr val="2D3030"/>
          </a:solidFill>
          <a:ln w="12700">
            <a:solidFill>
              <a:srgbClr val="E65100"/>
            </a:solidFill>
            <a:prstDash val="solid"/>
          </a:ln>
        </p:spPr>
        <p:txBody>
          <a:bodyPr/>
          <a:lstStyle/>
          <a:p>
            <a:endParaRPr lang="en-US"/>
          </a:p>
        </p:txBody>
      </p:sp>
      <p:sp>
        <p:nvSpPr>
          <p:cNvPr id="29" name="Shape 27"/>
          <p:cNvSpPr/>
          <p:nvPr/>
        </p:nvSpPr>
        <p:spPr>
          <a:xfrm>
            <a:off x="4709160" y="2880360"/>
            <a:ext cx="1005840" cy="822960"/>
          </a:xfrm>
          <a:prstGeom prst="rect">
            <a:avLst/>
          </a:prstGeom>
          <a:solidFill>
            <a:srgbClr val="E65100"/>
          </a:solidFill>
          <a:ln w="12700">
            <a:solidFill>
              <a:srgbClr val="E65100"/>
            </a:solidFill>
            <a:prstDash val="solid"/>
          </a:ln>
        </p:spPr>
        <p:txBody>
          <a:bodyPr/>
          <a:lstStyle/>
          <a:p>
            <a:endParaRPr lang="en-US"/>
          </a:p>
        </p:txBody>
      </p:sp>
      <p:sp>
        <p:nvSpPr>
          <p:cNvPr id="30" name="Text 28"/>
          <p:cNvSpPr/>
          <p:nvPr/>
        </p:nvSpPr>
        <p:spPr>
          <a:xfrm>
            <a:off x="4709160" y="2880360"/>
            <a:ext cx="1005840" cy="82296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Broadcast</a:t>
            </a:r>
            <a:endParaRPr lang="en-US" sz="1200" dirty="0"/>
          </a:p>
        </p:txBody>
      </p:sp>
      <p:sp>
        <p:nvSpPr>
          <p:cNvPr id="31" name="Text 29"/>
          <p:cNvSpPr/>
          <p:nvPr/>
        </p:nvSpPr>
        <p:spPr>
          <a:xfrm>
            <a:off x="5779008" y="2935224"/>
            <a:ext cx="2889504" cy="713232"/>
          </a:xfrm>
          <a:prstGeom prst="rect">
            <a:avLst/>
          </a:prstGeom>
          <a:noFill/>
          <a:ln/>
        </p:spPr>
        <p:txBody>
          <a:bodyPr wrap="square" rtlCol="0" anchor="ctr"/>
          <a:lstStyle/>
          <a:p>
            <a:pPr marL="0" indent="0">
              <a:buNone/>
            </a:pPr>
            <a:r>
              <a:rPr lang="en-US" sz="1050" dirty="0">
                <a:solidFill>
                  <a:srgbClr val="B9DEF8"/>
                </a:solidFill>
                <a:latin typeface="Arial" pitchFamily="34" charset="0"/>
                <a:ea typeface="Arial" pitchFamily="34" charset="-122"/>
                <a:cs typeface="Arial" pitchFamily="34" charset="-120"/>
              </a:rPr>
              <a:t>A TODOS los hosts. MAC: FF:FF:FF:FF:FF:FF.</a:t>
            </a:r>
            <a:endParaRPr lang="en-US" sz="1050" dirty="0"/>
          </a:p>
          <a:p>
            <a:pPr marL="0" indent="0">
              <a:buNone/>
            </a:pPr>
            <a:r>
              <a:rPr lang="en-US" sz="1050" dirty="0">
                <a:solidFill>
                  <a:srgbClr val="B9DEF8"/>
                </a:solidFill>
                <a:latin typeface="Arial" pitchFamily="34" charset="0"/>
                <a:ea typeface="Arial" pitchFamily="34" charset="-122"/>
                <a:cs typeface="Arial" pitchFamily="34" charset="-120"/>
              </a:rPr>
              <a:t>Ej: ARP request, DHCP discover.</a:t>
            </a:r>
            <a:endParaRPr lang="en-US" sz="1050" dirty="0"/>
          </a:p>
        </p:txBody>
      </p:sp>
      <p:sp>
        <p:nvSpPr>
          <p:cNvPr id="32" name="Shape 30"/>
          <p:cNvSpPr/>
          <p:nvPr/>
        </p:nvSpPr>
        <p:spPr>
          <a:xfrm>
            <a:off x="4709160" y="3840480"/>
            <a:ext cx="4005072" cy="822960"/>
          </a:xfrm>
          <a:prstGeom prst="rect">
            <a:avLst/>
          </a:prstGeom>
          <a:solidFill>
            <a:srgbClr val="2D3030"/>
          </a:solidFill>
          <a:ln w="12700">
            <a:solidFill>
              <a:srgbClr val="5AA8D8"/>
            </a:solidFill>
            <a:prstDash val="solid"/>
          </a:ln>
        </p:spPr>
        <p:txBody>
          <a:bodyPr/>
          <a:lstStyle/>
          <a:p>
            <a:endParaRPr lang="en-US"/>
          </a:p>
        </p:txBody>
      </p:sp>
      <p:sp>
        <p:nvSpPr>
          <p:cNvPr id="33" name="Shape 31"/>
          <p:cNvSpPr/>
          <p:nvPr/>
        </p:nvSpPr>
        <p:spPr>
          <a:xfrm>
            <a:off x="4709160" y="3840480"/>
            <a:ext cx="1005840" cy="822960"/>
          </a:xfrm>
          <a:prstGeom prst="rect">
            <a:avLst/>
          </a:prstGeom>
          <a:solidFill>
            <a:srgbClr val="5AA8D8"/>
          </a:solidFill>
          <a:ln w="12700">
            <a:solidFill>
              <a:srgbClr val="5AA8D8"/>
            </a:solidFill>
            <a:prstDash val="solid"/>
          </a:ln>
        </p:spPr>
        <p:txBody>
          <a:bodyPr/>
          <a:lstStyle/>
          <a:p>
            <a:endParaRPr lang="en-US"/>
          </a:p>
        </p:txBody>
      </p:sp>
      <p:sp>
        <p:nvSpPr>
          <p:cNvPr id="34" name="Text 32"/>
          <p:cNvSpPr/>
          <p:nvPr/>
        </p:nvSpPr>
        <p:spPr>
          <a:xfrm>
            <a:off x="4709160" y="3840480"/>
            <a:ext cx="1005840" cy="82296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Multicast</a:t>
            </a:r>
            <a:endParaRPr lang="en-US" sz="1200" dirty="0"/>
          </a:p>
        </p:txBody>
      </p:sp>
      <p:sp>
        <p:nvSpPr>
          <p:cNvPr id="35" name="Text 33"/>
          <p:cNvSpPr/>
          <p:nvPr/>
        </p:nvSpPr>
        <p:spPr>
          <a:xfrm>
            <a:off x="5779008" y="3895344"/>
            <a:ext cx="2889504" cy="713232"/>
          </a:xfrm>
          <a:prstGeom prst="rect">
            <a:avLst/>
          </a:prstGeom>
          <a:noFill/>
          <a:ln/>
        </p:spPr>
        <p:txBody>
          <a:bodyPr wrap="square" rtlCol="0" anchor="ctr"/>
          <a:lstStyle/>
          <a:p>
            <a:pPr marL="0" indent="0">
              <a:buNone/>
            </a:pPr>
            <a:r>
              <a:rPr lang="en-US" sz="1050" dirty="0">
                <a:solidFill>
                  <a:srgbClr val="B9DEF8"/>
                </a:solidFill>
                <a:latin typeface="Arial" pitchFamily="34" charset="0"/>
                <a:ea typeface="Arial" pitchFamily="34" charset="-122"/>
                <a:cs typeface="Arial" pitchFamily="34" charset="-120"/>
              </a:rPr>
              <a:t>A un GRUPO de hosts suscritos. MAC: 01:00:5E:xx:xx:xx.</a:t>
            </a:r>
            <a:endParaRPr lang="en-US" sz="1050" dirty="0"/>
          </a:p>
          <a:p>
            <a:pPr marL="0" indent="0">
              <a:buNone/>
            </a:pPr>
            <a:r>
              <a:rPr lang="en-US" sz="1050" dirty="0">
                <a:solidFill>
                  <a:srgbClr val="B9DEF8"/>
                </a:solidFill>
                <a:latin typeface="Arial" pitchFamily="34" charset="0"/>
                <a:ea typeface="Arial" pitchFamily="34" charset="-122"/>
                <a:cs typeface="Arial" pitchFamily="34" charset="-120"/>
              </a:rPr>
              <a:t>Ej: streaming, OSPF, IGMP.</a:t>
            </a:r>
            <a:endParaRPr lang="en-US" sz="1050" dirty="0"/>
          </a:p>
        </p:txBody>
      </p:sp>
      <p:sp>
        <p:nvSpPr>
          <p:cNvPr id="36" name="Shape 34"/>
          <p:cNvSpPr/>
          <p:nvPr/>
        </p:nvSpPr>
        <p:spPr>
          <a:xfrm>
            <a:off x="0" y="4846320"/>
            <a:ext cx="9144000" cy="297180"/>
          </a:xfrm>
          <a:prstGeom prst="rect">
            <a:avLst/>
          </a:prstGeom>
          <a:solidFill>
            <a:srgbClr val="2D3030"/>
          </a:solidFill>
          <a:ln w="12700">
            <a:solidFill>
              <a:srgbClr val="2D3030"/>
            </a:solidFill>
            <a:prstDash val="solid"/>
          </a:ln>
        </p:spPr>
        <p:txBody>
          <a:bodyPr/>
          <a:lstStyle/>
          <a:p>
            <a:endParaRPr lang="en-US"/>
          </a:p>
        </p:txBody>
      </p:sp>
      <p:sp>
        <p:nvSpPr>
          <p:cNvPr id="37" name="Text 35"/>
          <p:cNvSpPr/>
          <p:nvPr/>
        </p:nvSpPr>
        <p:spPr>
          <a:xfrm>
            <a:off x="137160" y="4846320"/>
            <a:ext cx="8869680" cy="297180"/>
          </a:xfrm>
          <a:prstGeom prst="rect">
            <a:avLst/>
          </a:prstGeom>
          <a:noFill/>
          <a:ln/>
        </p:spPr>
        <p:txBody>
          <a:bodyPr wrap="square" rtlCol="0" anchor="ctr"/>
          <a:lstStyle/>
          <a:p>
            <a:pPr marL="0" indent="0">
              <a:buNone/>
            </a:pPr>
            <a:r>
              <a:rPr lang="en-US" sz="1000" i="1" dirty="0">
                <a:solidFill>
                  <a:srgbClr val="B9DEF8"/>
                </a:solidFill>
                <a:latin typeface="Arial" pitchFamily="34" charset="0"/>
                <a:ea typeface="Arial" pitchFamily="34" charset="-122"/>
                <a:cs typeface="Arial" pitchFamily="34" charset="-120"/>
              </a:rPr>
              <a:t>🎤 Preguntar: cuando tu celular busca un IP por DHCP al conectarse al Wi-Fi, ¿qué tipo de envío usa? (Broadcast — FF:FF:FF:FF:FF:FF)</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5AA8D8"/>
          </a:solidFill>
          <a:ln w="12700">
            <a:solidFill>
              <a:srgbClr val="5AA8D8"/>
            </a:solidFill>
            <a:prstDash val="solid"/>
          </a:ln>
        </p:spPr>
        <p:txBody>
          <a:bodyPr/>
          <a:lstStyle/>
          <a:p>
            <a:endParaRPr lang="en-US"/>
          </a:p>
        </p:txBody>
      </p:sp>
      <p:sp>
        <p:nvSpPr>
          <p:cNvPr id="3" name="Shape 1"/>
          <p:cNvSpPr/>
          <p:nvPr/>
        </p:nvSpPr>
        <p:spPr>
          <a:xfrm>
            <a:off x="457200" y="164592"/>
            <a:ext cx="8229600" cy="749808"/>
          </a:xfrm>
          <a:prstGeom prst="rect">
            <a:avLst/>
          </a:prstGeom>
          <a:solidFill>
            <a:srgbClr val="3A7BAA"/>
          </a:solidFill>
          <a:ln w="12700">
            <a:solidFill>
              <a:srgbClr val="3A7BAA"/>
            </a:solidFill>
            <a:prstDash val="solid"/>
          </a:ln>
          <a:effectLst>
            <a:outerShdw blurRad="101600" dist="38100" dir="8100000" algn="bl" rotWithShape="0">
              <a:srgbClr val="000000">
                <a:alpha val="15000"/>
              </a:srgbClr>
            </a:outerShdw>
          </a:effectLst>
        </p:spPr>
        <p:txBody>
          <a:bodyPr/>
          <a:lstStyle/>
          <a:p>
            <a:endParaRPr lang="en-US"/>
          </a:p>
        </p:txBody>
      </p:sp>
      <p:sp>
        <p:nvSpPr>
          <p:cNvPr id="4" name="Text 2"/>
          <p:cNvSpPr/>
          <p:nvPr/>
        </p:nvSpPr>
        <p:spPr>
          <a:xfrm>
            <a:off x="566928" y="164592"/>
            <a:ext cx="8010144" cy="749808"/>
          </a:xfrm>
          <a:prstGeom prst="rect">
            <a:avLst/>
          </a:prstGeom>
          <a:noFill/>
          <a:ln/>
        </p:spPr>
        <p:txBody>
          <a:bodyPr wrap="square" lIns="0" tIns="0" rIns="0" bIns="0" rtlCol="0" anchor="ctr"/>
          <a:lstStyle/>
          <a:p>
            <a:pPr marL="0" indent="0">
              <a:buNone/>
            </a:pPr>
            <a:r>
              <a:rPr lang="en-US" sz="2500" b="1" dirty="0">
                <a:solidFill>
                  <a:srgbClr val="FFFFFF"/>
                </a:solidFill>
                <a:latin typeface="Arial" pitchFamily="34" charset="0"/>
                <a:ea typeface="Arial" pitchFamily="34" charset="-122"/>
                <a:cs typeface="Arial" pitchFamily="34" charset="-120"/>
              </a:rPr>
              <a:t>Seguridad en Ethernet — El Modo Promiscuo</a:t>
            </a:r>
            <a:endParaRPr lang="en-US" sz="2500" dirty="0"/>
          </a:p>
        </p:txBody>
      </p:sp>
      <p:sp>
        <p:nvSpPr>
          <p:cNvPr id="5" name="Text 3"/>
          <p:cNvSpPr/>
          <p:nvPr/>
        </p:nvSpPr>
        <p:spPr>
          <a:xfrm>
            <a:off x="566928" y="987552"/>
            <a:ext cx="8010144" cy="347472"/>
          </a:xfrm>
          <a:prstGeom prst="rect">
            <a:avLst/>
          </a:prstGeom>
          <a:noFill/>
          <a:ln/>
        </p:spPr>
        <p:txBody>
          <a:bodyPr wrap="square" rtlCol="0" anchor="ctr"/>
          <a:lstStyle/>
          <a:p>
            <a:pPr marL="0" indent="0">
              <a:buNone/>
            </a:pPr>
            <a:r>
              <a:rPr lang="en-US" sz="1200" i="1" dirty="0">
                <a:solidFill>
                  <a:srgbClr val="B9DEF8"/>
                </a:solidFill>
                <a:latin typeface="Arial" pitchFamily="34" charset="0"/>
                <a:ea typeface="Arial" pitchFamily="34" charset="-122"/>
                <a:cs typeface="Arial" pitchFamily="34" charset="-120"/>
              </a:rPr>
              <a:t>La difusión inherente crea una vulnerabilidad fundamental</a:t>
            </a:r>
            <a:endParaRPr lang="en-US" sz="1200" dirty="0"/>
          </a:p>
        </p:txBody>
      </p:sp>
      <p:sp>
        <p:nvSpPr>
          <p:cNvPr id="6" name="Shape 4"/>
          <p:cNvSpPr/>
          <p:nvPr/>
        </p:nvSpPr>
        <p:spPr>
          <a:xfrm>
            <a:off x="320040" y="1417320"/>
            <a:ext cx="8503920" cy="685800"/>
          </a:xfrm>
          <a:prstGeom prst="rect">
            <a:avLst/>
          </a:prstGeom>
          <a:solidFill>
            <a:srgbClr val="C62828"/>
          </a:solidFill>
          <a:ln w="12700">
            <a:solidFill>
              <a:srgbClr val="C62828"/>
            </a:solidFill>
            <a:prstDash val="solid"/>
          </a:ln>
          <a:effectLst>
            <a:outerShdw blurRad="101600" dist="38100" dir="8100000" algn="bl" rotWithShape="0">
              <a:srgbClr val="000000">
                <a:alpha val="15000"/>
              </a:srgbClr>
            </a:outerShdw>
          </a:effectLst>
        </p:spPr>
        <p:txBody>
          <a:bodyPr/>
          <a:lstStyle/>
          <a:p>
            <a:endParaRPr lang="en-US"/>
          </a:p>
        </p:txBody>
      </p:sp>
      <p:sp>
        <p:nvSpPr>
          <p:cNvPr id="7" name="Text 5"/>
          <p:cNvSpPr/>
          <p:nvPr/>
        </p:nvSpPr>
        <p:spPr>
          <a:xfrm>
            <a:off x="411480" y="1417320"/>
            <a:ext cx="8321040" cy="685800"/>
          </a:xfrm>
          <a:prstGeom prst="rect">
            <a:avLst/>
          </a:prstGeom>
          <a:noFill/>
          <a:ln/>
        </p:spPr>
        <p:txBody>
          <a:bodyPr wrap="square" rtlCol="0" anchor="ctr"/>
          <a:lstStyle/>
          <a:p>
            <a:pPr marL="0" indent="0">
              <a:buNone/>
            </a:pPr>
            <a:r>
              <a:rPr lang="en-US" sz="1300" b="1" dirty="0">
                <a:solidFill>
                  <a:srgbClr val="FFFFFF"/>
                </a:solidFill>
                <a:latin typeface="Arial" pitchFamily="34" charset="0"/>
                <a:ea typeface="Arial" pitchFamily="34" charset="-122"/>
                <a:cs typeface="Arial" pitchFamily="34" charset="-120"/>
              </a:rPr>
              <a:t>🔒  Riesgo inherente: en un segmento Ethernet, TODOS los hosts reciben TODAS las tramas — incluso las que no les pertenecen.</a:t>
            </a:r>
            <a:endParaRPr lang="en-US" sz="1300" dirty="0"/>
          </a:p>
        </p:txBody>
      </p:sp>
      <p:sp>
        <p:nvSpPr>
          <p:cNvPr id="8" name="Shape 6"/>
          <p:cNvSpPr/>
          <p:nvPr/>
        </p:nvSpPr>
        <p:spPr>
          <a:xfrm>
            <a:off x="320040" y="2240280"/>
            <a:ext cx="4114800" cy="2514600"/>
          </a:xfrm>
          <a:prstGeom prst="rect">
            <a:avLst/>
          </a:prstGeom>
          <a:solidFill>
            <a:srgbClr val="E8F4FC"/>
          </a:solidFill>
          <a:ln w="12700">
            <a:solidFill>
              <a:srgbClr val="5AA8D8"/>
            </a:solidFill>
            <a:prstDash val="solid"/>
          </a:ln>
          <a:effectLst>
            <a:outerShdw blurRad="101600" dist="38100" dir="8100000" algn="bl" rotWithShape="0">
              <a:srgbClr val="000000">
                <a:alpha val="15000"/>
              </a:srgbClr>
            </a:outerShdw>
          </a:effectLst>
        </p:spPr>
        <p:txBody>
          <a:bodyPr/>
          <a:lstStyle/>
          <a:p>
            <a:endParaRPr lang="en-US"/>
          </a:p>
        </p:txBody>
      </p:sp>
      <p:sp>
        <p:nvSpPr>
          <p:cNvPr id="9" name="Shape 7"/>
          <p:cNvSpPr/>
          <p:nvPr/>
        </p:nvSpPr>
        <p:spPr>
          <a:xfrm>
            <a:off x="320040" y="2240280"/>
            <a:ext cx="4114800" cy="384048"/>
          </a:xfrm>
          <a:prstGeom prst="rect">
            <a:avLst/>
          </a:prstGeom>
          <a:solidFill>
            <a:srgbClr val="3A7BAA"/>
          </a:solidFill>
          <a:ln w="12700">
            <a:solidFill>
              <a:srgbClr val="3A7BAA"/>
            </a:solidFill>
            <a:prstDash val="solid"/>
          </a:ln>
        </p:spPr>
        <p:txBody>
          <a:bodyPr/>
          <a:lstStyle/>
          <a:p>
            <a:endParaRPr lang="en-US"/>
          </a:p>
        </p:txBody>
      </p:sp>
      <p:sp>
        <p:nvSpPr>
          <p:cNvPr id="10" name="Text 8"/>
          <p:cNvSpPr/>
          <p:nvPr/>
        </p:nvSpPr>
        <p:spPr>
          <a:xfrm>
            <a:off x="402336" y="2240280"/>
            <a:ext cx="3950208" cy="384048"/>
          </a:xfrm>
          <a:prstGeom prst="rect">
            <a:avLst/>
          </a:prstGeom>
          <a:noFill/>
          <a:ln/>
        </p:spPr>
        <p:txBody>
          <a:bodyPr wrap="square" rtlCol="0" anchor="ctr"/>
          <a:lstStyle/>
          <a:p>
            <a:pPr marL="0" indent="0">
              <a:buNone/>
            </a:pPr>
            <a:r>
              <a:rPr lang="en-US" sz="1300" b="1" dirty="0">
                <a:solidFill>
                  <a:srgbClr val="FFFFFF"/>
                </a:solidFill>
                <a:latin typeface="Arial" pitchFamily="34" charset="0"/>
                <a:ea typeface="Arial" pitchFamily="34" charset="-122"/>
                <a:cs typeface="Arial" pitchFamily="34" charset="-120"/>
              </a:rPr>
              <a:t>Modo Promiscuo</a:t>
            </a:r>
            <a:endParaRPr lang="en-US" sz="1300" dirty="0"/>
          </a:p>
        </p:txBody>
      </p:sp>
      <p:sp>
        <p:nvSpPr>
          <p:cNvPr id="11" name="Shape 9"/>
          <p:cNvSpPr/>
          <p:nvPr/>
        </p:nvSpPr>
        <p:spPr>
          <a:xfrm>
            <a:off x="438912" y="2724912"/>
            <a:ext cx="118872" cy="118872"/>
          </a:xfrm>
          <a:prstGeom prst="ellipse">
            <a:avLst/>
          </a:prstGeom>
          <a:solidFill>
            <a:srgbClr val="C62828"/>
          </a:solidFill>
          <a:ln w="12700">
            <a:solidFill>
              <a:srgbClr val="C62828"/>
            </a:solidFill>
            <a:prstDash val="solid"/>
          </a:ln>
        </p:spPr>
        <p:txBody>
          <a:bodyPr/>
          <a:lstStyle/>
          <a:p>
            <a:endParaRPr lang="en-US"/>
          </a:p>
        </p:txBody>
      </p:sp>
      <p:sp>
        <p:nvSpPr>
          <p:cNvPr id="12" name="Text 10"/>
          <p:cNvSpPr/>
          <p:nvPr/>
        </p:nvSpPr>
        <p:spPr>
          <a:xfrm>
            <a:off x="621792" y="2697480"/>
            <a:ext cx="3730752" cy="438912"/>
          </a:xfrm>
          <a:prstGeom prst="rect">
            <a:avLst/>
          </a:prstGeom>
          <a:noFill/>
          <a:ln/>
        </p:spPr>
        <p:txBody>
          <a:bodyPr wrap="square" rtlCol="0" anchor="ctr"/>
          <a:lstStyle/>
          <a:p>
            <a:pPr marL="0" indent="0">
              <a:buNone/>
            </a:pPr>
            <a:r>
              <a:rPr lang="en-US" sz="1150" dirty="0">
                <a:solidFill>
                  <a:srgbClr val="404040"/>
                </a:solidFill>
                <a:latin typeface="Arial" pitchFamily="34" charset="0"/>
                <a:ea typeface="Arial" pitchFamily="34" charset="-122"/>
                <a:cs typeface="Arial" pitchFamily="34" charset="-120"/>
              </a:rPr>
              <a:t>Una NIC normal descarta tramas que no van dirigidas a su MAC.</a:t>
            </a:r>
            <a:endParaRPr lang="en-US" sz="1150" dirty="0"/>
          </a:p>
        </p:txBody>
      </p:sp>
      <p:sp>
        <p:nvSpPr>
          <p:cNvPr id="13" name="Shape 11"/>
          <p:cNvSpPr/>
          <p:nvPr/>
        </p:nvSpPr>
        <p:spPr>
          <a:xfrm>
            <a:off x="438912" y="3218688"/>
            <a:ext cx="118872" cy="118872"/>
          </a:xfrm>
          <a:prstGeom prst="ellipse">
            <a:avLst/>
          </a:prstGeom>
          <a:solidFill>
            <a:srgbClr val="C62828"/>
          </a:solidFill>
          <a:ln w="12700">
            <a:solidFill>
              <a:srgbClr val="C62828"/>
            </a:solidFill>
            <a:prstDash val="solid"/>
          </a:ln>
        </p:spPr>
        <p:txBody>
          <a:bodyPr/>
          <a:lstStyle/>
          <a:p>
            <a:endParaRPr lang="en-US"/>
          </a:p>
        </p:txBody>
      </p:sp>
      <p:sp>
        <p:nvSpPr>
          <p:cNvPr id="14" name="Text 12"/>
          <p:cNvSpPr/>
          <p:nvPr/>
        </p:nvSpPr>
        <p:spPr>
          <a:xfrm>
            <a:off x="621792" y="3191256"/>
            <a:ext cx="3730752" cy="438912"/>
          </a:xfrm>
          <a:prstGeom prst="rect">
            <a:avLst/>
          </a:prstGeom>
          <a:noFill/>
          <a:ln/>
        </p:spPr>
        <p:txBody>
          <a:bodyPr wrap="square" rtlCol="0" anchor="ctr"/>
          <a:lstStyle/>
          <a:p>
            <a:pPr marL="0" indent="0">
              <a:buNone/>
            </a:pPr>
            <a:r>
              <a:rPr lang="en-US" sz="1150" dirty="0">
                <a:solidFill>
                  <a:srgbClr val="404040"/>
                </a:solidFill>
                <a:latin typeface="Arial" pitchFamily="34" charset="0"/>
                <a:ea typeface="Arial" pitchFamily="34" charset="-122"/>
                <a:cs typeface="Arial" pitchFamily="34" charset="-120"/>
              </a:rPr>
              <a:t>Una NIC en modo promiscuo captura y procesa TODAS las tramas del segmento.</a:t>
            </a:r>
            <a:endParaRPr lang="en-US" sz="1150" dirty="0"/>
          </a:p>
        </p:txBody>
      </p:sp>
      <p:sp>
        <p:nvSpPr>
          <p:cNvPr id="15" name="Shape 13"/>
          <p:cNvSpPr/>
          <p:nvPr/>
        </p:nvSpPr>
        <p:spPr>
          <a:xfrm>
            <a:off x="438912" y="3712464"/>
            <a:ext cx="118872" cy="118872"/>
          </a:xfrm>
          <a:prstGeom prst="ellipse">
            <a:avLst/>
          </a:prstGeom>
          <a:solidFill>
            <a:srgbClr val="C62828"/>
          </a:solidFill>
          <a:ln w="12700">
            <a:solidFill>
              <a:srgbClr val="C62828"/>
            </a:solidFill>
            <a:prstDash val="solid"/>
          </a:ln>
        </p:spPr>
        <p:txBody>
          <a:bodyPr/>
          <a:lstStyle/>
          <a:p>
            <a:endParaRPr lang="en-US"/>
          </a:p>
        </p:txBody>
      </p:sp>
      <p:sp>
        <p:nvSpPr>
          <p:cNvPr id="16" name="Text 14"/>
          <p:cNvSpPr/>
          <p:nvPr/>
        </p:nvSpPr>
        <p:spPr>
          <a:xfrm>
            <a:off x="621792" y="3685032"/>
            <a:ext cx="3730752" cy="438912"/>
          </a:xfrm>
          <a:prstGeom prst="rect">
            <a:avLst/>
          </a:prstGeom>
          <a:noFill/>
          <a:ln/>
        </p:spPr>
        <p:txBody>
          <a:bodyPr wrap="square" rtlCol="0" anchor="ctr"/>
          <a:lstStyle/>
          <a:p>
            <a:pPr marL="0" indent="0">
              <a:buNone/>
            </a:pPr>
            <a:r>
              <a:rPr lang="en-US" sz="1150" dirty="0">
                <a:solidFill>
                  <a:srgbClr val="404040"/>
                </a:solidFill>
                <a:latin typeface="Arial" pitchFamily="34" charset="0"/>
                <a:ea typeface="Arial" pitchFamily="34" charset="-122"/>
                <a:cs typeface="Arial" pitchFamily="34" charset="-120"/>
              </a:rPr>
              <a:t>Usada por sniffers (Wireshark) y analizadores de protocolos.</a:t>
            </a:r>
            <a:endParaRPr lang="en-US" sz="1150" dirty="0"/>
          </a:p>
        </p:txBody>
      </p:sp>
      <p:sp>
        <p:nvSpPr>
          <p:cNvPr id="17" name="Shape 15"/>
          <p:cNvSpPr/>
          <p:nvPr/>
        </p:nvSpPr>
        <p:spPr>
          <a:xfrm>
            <a:off x="438912" y="4206240"/>
            <a:ext cx="118872" cy="118872"/>
          </a:xfrm>
          <a:prstGeom prst="ellipse">
            <a:avLst/>
          </a:prstGeom>
          <a:solidFill>
            <a:srgbClr val="C62828"/>
          </a:solidFill>
          <a:ln w="12700">
            <a:solidFill>
              <a:srgbClr val="C62828"/>
            </a:solidFill>
            <a:prstDash val="solid"/>
          </a:ln>
        </p:spPr>
        <p:txBody>
          <a:bodyPr/>
          <a:lstStyle/>
          <a:p>
            <a:endParaRPr lang="en-US"/>
          </a:p>
        </p:txBody>
      </p:sp>
      <p:sp>
        <p:nvSpPr>
          <p:cNvPr id="18" name="Text 16"/>
          <p:cNvSpPr/>
          <p:nvPr/>
        </p:nvSpPr>
        <p:spPr>
          <a:xfrm>
            <a:off x="621792" y="4178808"/>
            <a:ext cx="3730752" cy="438912"/>
          </a:xfrm>
          <a:prstGeom prst="rect">
            <a:avLst/>
          </a:prstGeom>
          <a:noFill/>
          <a:ln/>
        </p:spPr>
        <p:txBody>
          <a:bodyPr wrap="square" rtlCol="0" anchor="ctr"/>
          <a:lstStyle/>
          <a:p>
            <a:pPr marL="0" indent="0">
              <a:buNone/>
            </a:pPr>
            <a:r>
              <a:rPr lang="en-US" sz="1150" dirty="0">
                <a:solidFill>
                  <a:srgbClr val="404040"/>
                </a:solidFill>
                <a:latin typeface="Arial" pitchFamily="34" charset="0"/>
                <a:ea typeface="Arial" pitchFamily="34" charset="-122"/>
                <a:cs typeface="Arial" pitchFamily="34" charset="-120"/>
              </a:rPr>
              <a:t>También usada por atacantes para capturar contraseñas en texto plano.</a:t>
            </a:r>
            <a:endParaRPr lang="en-US" sz="1150" dirty="0"/>
          </a:p>
        </p:txBody>
      </p:sp>
      <p:sp>
        <p:nvSpPr>
          <p:cNvPr id="19" name="Shape 17"/>
          <p:cNvSpPr/>
          <p:nvPr/>
        </p:nvSpPr>
        <p:spPr>
          <a:xfrm>
            <a:off x="4617720" y="2240280"/>
            <a:ext cx="4206240" cy="2514600"/>
          </a:xfrm>
          <a:prstGeom prst="rect">
            <a:avLst/>
          </a:prstGeom>
          <a:solidFill>
            <a:srgbClr val="E8F4FC"/>
          </a:solidFill>
          <a:ln w="12700">
            <a:solidFill>
              <a:srgbClr val="5AA8D8"/>
            </a:solidFill>
            <a:prstDash val="solid"/>
          </a:ln>
          <a:effectLst>
            <a:outerShdw blurRad="101600" dist="38100" dir="8100000" algn="bl" rotWithShape="0">
              <a:srgbClr val="000000">
                <a:alpha val="15000"/>
              </a:srgbClr>
            </a:outerShdw>
          </a:effectLst>
        </p:spPr>
        <p:txBody>
          <a:bodyPr/>
          <a:lstStyle/>
          <a:p>
            <a:endParaRPr lang="en-US"/>
          </a:p>
        </p:txBody>
      </p:sp>
      <p:sp>
        <p:nvSpPr>
          <p:cNvPr id="20" name="Shape 18"/>
          <p:cNvSpPr/>
          <p:nvPr/>
        </p:nvSpPr>
        <p:spPr>
          <a:xfrm>
            <a:off x="4617720" y="2240280"/>
            <a:ext cx="4206240" cy="384048"/>
          </a:xfrm>
          <a:prstGeom prst="rect">
            <a:avLst/>
          </a:prstGeom>
          <a:solidFill>
            <a:srgbClr val="2E7D32"/>
          </a:solidFill>
          <a:ln w="12700">
            <a:solidFill>
              <a:srgbClr val="2E7D32"/>
            </a:solidFill>
            <a:prstDash val="solid"/>
          </a:ln>
        </p:spPr>
        <p:txBody>
          <a:bodyPr/>
          <a:lstStyle/>
          <a:p>
            <a:endParaRPr lang="en-US"/>
          </a:p>
        </p:txBody>
      </p:sp>
      <p:sp>
        <p:nvSpPr>
          <p:cNvPr id="21" name="Text 19"/>
          <p:cNvSpPr/>
          <p:nvPr/>
        </p:nvSpPr>
        <p:spPr>
          <a:xfrm>
            <a:off x="4700016" y="2240280"/>
            <a:ext cx="4041648" cy="384048"/>
          </a:xfrm>
          <a:prstGeom prst="rect">
            <a:avLst/>
          </a:prstGeom>
          <a:noFill/>
          <a:ln/>
        </p:spPr>
        <p:txBody>
          <a:bodyPr wrap="square" rtlCol="0" anchor="ctr"/>
          <a:lstStyle/>
          <a:p>
            <a:pPr marL="0" indent="0">
              <a:buNone/>
            </a:pPr>
            <a:r>
              <a:rPr lang="en-US" sz="1300" b="1" dirty="0">
                <a:solidFill>
                  <a:srgbClr val="FFFFFF"/>
                </a:solidFill>
                <a:latin typeface="Arial" pitchFamily="34" charset="0"/>
                <a:ea typeface="Arial" pitchFamily="34" charset="-122"/>
                <a:cs typeface="Arial" pitchFamily="34" charset="-120"/>
              </a:rPr>
              <a:t>Mitigaciones</a:t>
            </a:r>
            <a:endParaRPr lang="en-US" sz="1300" dirty="0"/>
          </a:p>
        </p:txBody>
      </p:sp>
      <p:sp>
        <p:nvSpPr>
          <p:cNvPr id="22" name="Shape 20"/>
          <p:cNvSpPr/>
          <p:nvPr/>
        </p:nvSpPr>
        <p:spPr>
          <a:xfrm>
            <a:off x="4736592" y="2724912"/>
            <a:ext cx="118872" cy="118872"/>
          </a:xfrm>
          <a:prstGeom prst="ellipse">
            <a:avLst/>
          </a:prstGeom>
          <a:solidFill>
            <a:srgbClr val="2E7D32"/>
          </a:solidFill>
          <a:ln w="12700">
            <a:solidFill>
              <a:srgbClr val="2E7D32"/>
            </a:solidFill>
            <a:prstDash val="solid"/>
          </a:ln>
        </p:spPr>
        <p:txBody>
          <a:bodyPr/>
          <a:lstStyle/>
          <a:p>
            <a:endParaRPr lang="en-US"/>
          </a:p>
        </p:txBody>
      </p:sp>
      <p:sp>
        <p:nvSpPr>
          <p:cNvPr id="23" name="Text 21"/>
          <p:cNvSpPr/>
          <p:nvPr/>
        </p:nvSpPr>
        <p:spPr>
          <a:xfrm>
            <a:off x="4919472" y="2697480"/>
            <a:ext cx="3822192" cy="438912"/>
          </a:xfrm>
          <a:prstGeom prst="rect">
            <a:avLst/>
          </a:prstGeom>
          <a:noFill/>
          <a:ln/>
        </p:spPr>
        <p:txBody>
          <a:bodyPr wrap="square" rtlCol="0" anchor="ctr"/>
          <a:lstStyle/>
          <a:p>
            <a:pPr marL="0" indent="0">
              <a:buNone/>
            </a:pPr>
            <a:r>
              <a:rPr lang="en-US" sz="1150" dirty="0">
                <a:solidFill>
                  <a:srgbClr val="404040"/>
                </a:solidFill>
                <a:latin typeface="Arial" pitchFamily="34" charset="0"/>
                <a:ea typeface="Arial" pitchFamily="34" charset="-122"/>
                <a:cs typeface="Arial" pitchFamily="34" charset="-120"/>
              </a:rPr>
              <a:t>Switches: cada puerto es un dominio de colisión separado. La trama solo llega al puerto destino.</a:t>
            </a:r>
            <a:endParaRPr lang="en-US" sz="1150" dirty="0"/>
          </a:p>
        </p:txBody>
      </p:sp>
      <p:sp>
        <p:nvSpPr>
          <p:cNvPr id="24" name="Shape 22"/>
          <p:cNvSpPr/>
          <p:nvPr/>
        </p:nvSpPr>
        <p:spPr>
          <a:xfrm>
            <a:off x="4736592" y="3218688"/>
            <a:ext cx="118872" cy="118872"/>
          </a:xfrm>
          <a:prstGeom prst="ellipse">
            <a:avLst/>
          </a:prstGeom>
          <a:solidFill>
            <a:srgbClr val="2E7D32"/>
          </a:solidFill>
          <a:ln w="12700">
            <a:solidFill>
              <a:srgbClr val="2E7D32"/>
            </a:solidFill>
            <a:prstDash val="solid"/>
          </a:ln>
        </p:spPr>
        <p:txBody>
          <a:bodyPr/>
          <a:lstStyle/>
          <a:p>
            <a:endParaRPr lang="en-US"/>
          </a:p>
        </p:txBody>
      </p:sp>
      <p:sp>
        <p:nvSpPr>
          <p:cNvPr id="25" name="Text 23"/>
          <p:cNvSpPr/>
          <p:nvPr/>
        </p:nvSpPr>
        <p:spPr>
          <a:xfrm>
            <a:off x="4919472" y="3191256"/>
            <a:ext cx="3822192" cy="438912"/>
          </a:xfrm>
          <a:prstGeom prst="rect">
            <a:avLst/>
          </a:prstGeom>
          <a:noFill/>
          <a:ln/>
        </p:spPr>
        <p:txBody>
          <a:bodyPr wrap="square" rtlCol="0" anchor="ctr"/>
          <a:lstStyle/>
          <a:p>
            <a:pPr marL="0" indent="0">
              <a:buNone/>
            </a:pPr>
            <a:r>
              <a:rPr lang="en-US" sz="1150" dirty="0">
                <a:solidFill>
                  <a:srgbClr val="404040"/>
                </a:solidFill>
                <a:latin typeface="Arial" pitchFamily="34" charset="0"/>
                <a:ea typeface="Arial" pitchFamily="34" charset="-122"/>
                <a:cs typeface="Arial" pitchFamily="34" charset="-120"/>
              </a:rPr>
              <a:t>VLANs: segmentan la red lógicamente. Un host no puede 'ver' tráfico de otra VLAN.</a:t>
            </a:r>
            <a:endParaRPr lang="en-US" sz="1150" dirty="0"/>
          </a:p>
        </p:txBody>
      </p:sp>
      <p:sp>
        <p:nvSpPr>
          <p:cNvPr id="26" name="Shape 24"/>
          <p:cNvSpPr/>
          <p:nvPr/>
        </p:nvSpPr>
        <p:spPr>
          <a:xfrm>
            <a:off x="4736592" y="3712464"/>
            <a:ext cx="118872" cy="118872"/>
          </a:xfrm>
          <a:prstGeom prst="ellipse">
            <a:avLst/>
          </a:prstGeom>
          <a:solidFill>
            <a:srgbClr val="2E7D32"/>
          </a:solidFill>
          <a:ln w="12700">
            <a:solidFill>
              <a:srgbClr val="2E7D32"/>
            </a:solidFill>
            <a:prstDash val="solid"/>
          </a:ln>
        </p:spPr>
        <p:txBody>
          <a:bodyPr/>
          <a:lstStyle/>
          <a:p>
            <a:endParaRPr lang="en-US"/>
          </a:p>
        </p:txBody>
      </p:sp>
      <p:sp>
        <p:nvSpPr>
          <p:cNvPr id="27" name="Text 25"/>
          <p:cNvSpPr/>
          <p:nvPr/>
        </p:nvSpPr>
        <p:spPr>
          <a:xfrm>
            <a:off x="4919472" y="3685032"/>
            <a:ext cx="3822192" cy="438912"/>
          </a:xfrm>
          <a:prstGeom prst="rect">
            <a:avLst/>
          </a:prstGeom>
          <a:noFill/>
          <a:ln/>
        </p:spPr>
        <p:txBody>
          <a:bodyPr wrap="square" rtlCol="0" anchor="ctr"/>
          <a:lstStyle/>
          <a:p>
            <a:pPr marL="0" indent="0">
              <a:buNone/>
            </a:pPr>
            <a:r>
              <a:rPr lang="en-US" sz="1150" dirty="0">
                <a:solidFill>
                  <a:srgbClr val="404040"/>
                </a:solidFill>
                <a:latin typeface="Arial" pitchFamily="34" charset="0"/>
                <a:ea typeface="Arial" pitchFamily="34" charset="-122"/>
                <a:cs typeface="Arial" pitchFamily="34" charset="-120"/>
              </a:rPr>
              <a:t>Cifrado end-to-end (TLS/HTTPS): aunque la trama sea capturada, el contenido es ilegible.</a:t>
            </a:r>
            <a:endParaRPr lang="en-US" sz="1150" dirty="0"/>
          </a:p>
        </p:txBody>
      </p:sp>
      <p:sp>
        <p:nvSpPr>
          <p:cNvPr id="28" name="Shape 26"/>
          <p:cNvSpPr/>
          <p:nvPr/>
        </p:nvSpPr>
        <p:spPr>
          <a:xfrm>
            <a:off x="4736592" y="4206240"/>
            <a:ext cx="118872" cy="118872"/>
          </a:xfrm>
          <a:prstGeom prst="ellipse">
            <a:avLst/>
          </a:prstGeom>
          <a:solidFill>
            <a:srgbClr val="2E7D32"/>
          </a:solidFill>
          <a:ln w="12700">
            <a:solidFill>
              <a:srgbClr val="2E7D32"/>
            </a:solidFill>
            <a:prstDash val="solid"/>
          </a:ln>
        </p:spPr>
        <p:txBody>
          <a:bodyPr/>
          <a:lstStyle/>
          <a:p>
            <a:endParaRPr lang="en-US"/>
          </a:p>
        </p:txBody>
      </p:sp>
      <p:sp>
        <p:nvSpPr>
          <p:cNvPr id="29" name="Text 27"/>
          <p:cNvSpPr/>
          <p:nvPr/>
        </p:nvSpPr>
        <p:spPr>
          <a:xfrm>
            <a:off x="4919472" y="4178808"/>
            <a:ext cx="3822192" cy="438912"/>
          </a:xfrm>
          <a:prstGeom prst="rect">
            <a:avLst/>
          </a:prstGeom>
          <a:noFill/>
          <a:ln/>
        </p:spPr>
        <p:txBody>
          <a:bodyPr wrap="square" rtlCol="0" anchor="ctr"/>
          <a:lstStyle/>
          <a:p>
            <a:pPr marL="0" indent="0">
              <a:buNone/>
            </a:pPr>
            <a:r>
              <a:rPr lang="en-US" sz="1150" dirty="0">
                <a:solidFill>
                  <a:srgbClr val="404040"/>
                </a:solidFill>
                <a:latin typeface="Arial" pitchFamily="34" charset="0"/>
                <a:ea typeface="Arial" pitchFamily="34" charset="-122"/>
                <a:cs typeface="Arial" pitchFamily="34" charset="-120"/>
              </a:rPr>
              <a:t>Fibra óptica: más difícil de interceptar físicamente que UTP o coaxial.</a:t>
            </a:r>
            <a:endParaRPr lang="en-US" sz="1150" dirty="0"/>
          </a:p>
        </p:txBody>
      </p:sp>
      <p:sp>
        <p:nvSpPr>
          <p:cNvPr id="30" name="Shape 28"/>
          <p:cNvSpPr/>
          <p:nvPr/>
        </p:nvSpPr>
        <p:spPr>
          <a:xfrm>
            <a:off x="0" y="4846320"/>
            <a:ext cx="9144000" cy="297180"/>
          </a:xfrm>
          <a:prstGeom prst="rect">
            <a:avLst/>
          </a:prstGeom>
          <a:solidFill>
            <a:srgbClr val="2D3030"/>
          </a:solidFill>
          <a:ln w="12700">
            <a:solidFill>
              <a:srgbClr val="2D3030"/>
            </a:solidFill>
            <a:prstDash val="solid"/>
          </a:ln>
        </p:spPr>
        <p:txBody>
          <a:bodyPr/>
          <a:lstStyle/>
          <a:p>
            <a:endParaRPr lang="en-US"/>
          </a:p>
        </p:txBody>
      </p:sp>
      <p:sp>
        <p:nvSpPr>
          <p:cNvPr id="31" name="Text 29"/>
          <p:cNvSpPr/>
          <p:nvPr/>
        </p:nvSpPr>
        <p:spPr>
          <a:xfrm>
            <a:off x="137160" y="4846320"/>
            <a:ext cx="8869680" cy="297180"/>
          </a:xfrm>
          <a:prstGeom prst="rect">
            <a:avLst/>
          </a:prstGeom>
          <a:noFill/>
          <a:ln/>
        </p:spPr>
        <p:txBody>
          <a:bodyPr wrap="square" rtlCol="0" anchor="ctr"/>
          <a:lstStyle/>
          <a:p>
            <a:pPr marL="0" indent="0">
              <a:buNone/>
            </a:pPr>
            <a:r>
              <a:rPr lang="en-US" sz="1000" i="1" dirty="0">
                <a:solidFill>
                  <a:srgbClr val="B9DEF8"/>
                </a:solidFill>
                <a:latin typeface="Arial" pitchFamily="34" charset="0"/>
                <a:ea typeface="Arial" pitchFamily="34" charset="-122"/>
                <a:cs typeface="Arial" pitchFamily="34" charset="-120"/>
              </a:rPr>
              <a:t>🎤 Dato: el modo promiscuo es exactamente lo que activa Wireshark cuando lo ejecutás. Con acceso físico al cable, cualquiera puede capturar el tráfico no cifrado.</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D3030"/>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5AA8D8"/>
          </a:solidFill>
          <a:ln w="12700">
            <a:solidFill>
              <a:srgbClr val="5AA8D8"/>
            </a:solidFill>
            <a:prstDash val="solid"/>
          </a:ln>
        </p:spPr>
        <p:txBody>
          <a:bodyPr/>
          <a:lstStyle/>
          <a:p>
            <a:endParaRPr lang="en-US"/>
          </a:p>
        </p:txBody>
      </p:sp>
      <p:sp>
        <p:nvSpPr>
          <p:cNvPr id="3" name="Shape 1"/>
          <p:cNvSpPr/>
          <p:nvPr/>
        </p:nvSpPr>
        <p:spPr>
          <a:xfrm>
            <a:off x="457200" y="164592"/>
            <a:ext cx="8229600" cy="749808"/>
          </a:xfrm>
          <a:prstGeom prst="rect">
            <a:avLst/>
          </a:prstGeom>
          <a:solidFill>
            <a:srgbClr val="3A7BAA"/>
          </a:solidFill>
          <a:ln w="12700">
            <a:solidFill>
              <a:srgbClr val="3A7BAA"/>
            </a:solidFill>
            <a:prstDash val="solid"/>
          </a:ln>
          <a:effectLst>
            <a:outerShdw blurRad="101600" dist="38100" dir="8100000" algn="bl" rotWithShape="0">
              <a:srgbClr val="000000">
                <a:alpha val="15000"/>
              </a:srgbClr>
            </a:outerShdw>
          </a:effectLst>
        </p:spPr>
        <p:txBody>
          <a:bodyPr/>
          <a:lstStyle/>
          <a:p>
            <a:endParaRPr lang="en-US"/>
          </a:p>
        </p:txBody>
      </p:sp>
      <p:sp>
        <p:nvSpPr>
          <p:cNvPr id="4" name="Text 2"/>
          <p:cNvSpPr/>
          <p:nvPr/>
        </p:nvSpPr>
        <p:spPr>
          <a:xfrm>
            <a:off x="566928" y="164592"/>
            <a:ext cx="8010144" cy="749808"/>
          </a:xfrm>
          <a:prstGeom prst="rect">
            <a:avLst/>
          </a:prstGeom>
          <a:noFill/>
          <a:ln/>
        </p:spPr>
        <p:txBody>
          <a:bodyPr wrap="square" lIns="0" tIns="0" rIns="0" bIns="0" rtlCol="0" anchor="ctr"/>
          <a:lstStyle/>
          <a:p>
            <a:pPr marL="0" indent="0">
              <a:buNone/>
            </a:pPr>
            <a:r>
              <a:rPr lang="en-US" sz="2500" b="1" dirty="0">
                <a:solidFill>
                  <a:srgbClr val="FFFFFF"/>
                </a:solidFill>
                <a:latin typeface="Arial" pitchFamily="34" charset="0"/>
                <a:ea typeface="Arial" pitchFamily="34" charset="-122"/>
                <a:cs typeface="Arial" pitchFamily="34" charset="-120"/>
              </a:rPr>
              <a:t>Las Direcciones MAC</a:t>
            </a:r>
            <a:endParaRPr lang="en-US" sz="2500" dirty="0"/>
          </a:p>
        </p:txBody>
      </p:sp>
      <p:sp>
        <p:nvSpPr>
          <p:cNvPr id="5" name="Text 3"/>
          <p:cNvSpPr/>
          <p:nvPr/>
        </p:nvSpPr>
        <p:spPr>
          <a:xfrm>
            <a:off x="566928" y="987552"/>
            <a:ext cx="8010144" cy="347472"/>
          </a:xfrm>
          <a:prstGeom prst="rect">
            <a:avLst/>
          </a:prstGeom>
          <a:noFill/>
          <a:ln/>
        </p:spPr>
        <p:txBody>
          <a:bodyPr wrap="square" rtlCol="0" anchor="ctr"/>
          <a:lstStyle/>
          <a:p>
            <a:pPr marL="0" indent="0">
              <a:buNone/>
            </a:pPr>
            <a:r>
              <a:rPr lang="en-US" sz="1200" i="1" dirty="0">
                <a:solidFill>
                  <a:srgbClr val="B9DEF8"/>
                </a:solidFill>
                <a:latin typeface="Arial" pitchFamily="34" charset="0"/>
                <a:ea typeface="Arial" pitchFamily="34" charset="-122"/>
                <a:cs typeface="Arial" pitchFamily="34" charset="-120"/>
              </a:rPr>
              <a:t>48 bits · 6 bytes · ~70 billones de combinaciones · único en el mundo</a:t>
            </a:r>
            <a:endParaRPr lang="en-US" sz="1200" dirty="0"/>
          </a:p>
        </p:txBody>
      </p:sp>
      <p:sp>
        <p:nvSpPr>
          <p:cNvPr id="6" name="Shape 4"/>
          <p:cNvSpPr/>
          <p:nvPr/>
        </p:nvSpPr>
        <p:spPr>
          <a:xfrm>
            <a:off x="320040" y="1417320"/>
            <a:ext cx="8503920" cy="658368"/>
          </a:xfrm>
          <a:prstGeom prst="rect">
            <a:avLst/>
          </a:prstGeom>
          <a:solidFill>
            <a:srgbClr val="3A4550"/>
          </a:solidFill>
          <a:ln w="12700">
            <a:solidFill>
              <a:srgbClr val="5AA8D8"/>
            </a:solidFill>
            <a:prstDash val="solid"/>
          </a:ln>
          <a:effectLst>
            <a:outerShdw blurRad="101600" dist="38100" dir="8100000" algn="bl" rotWithShape="0">
              <a:srgbClr val="000000">
                <a:alpha val="15000"/>
              </a:srgbClr>
            </a:outerShdw>
          </a:effectLst>
        </p:spPr>
        <p:txBody>
          <a:bodyPr/>
          <a:lstStyle/>
          <a:p>
            <a:endParaRPr lang="en-US"/>
          </a:p>
        </p:txBody>
      </p:sp>
      <p:sp>
        <p:nvSpPr>
          <p:cNvPr id="7" name="Shape 5"/>
          <p:cNvSpPr/>
          <p:nvPr/>
        </p:nvSpPr>
        <p:spPr>
          <a:xfrm>
            <a:off x="320040" y="1417320"/>
            <a:ext cx="4114800" cy="658368"/>
          </a:xfrm>
          <a:prstGeom prst="rect">
            <a:avLst/>
          </a:prstGeom>
          <a:solidFill>
            <a:srgbClr val="3A7BAA"/>
          </a:solidFill>
          <a:ln w="12700">
            <a:solidFill>
              <a:srgbClr val="3A7BAA"/>
            </a:solidFill>
            <a:prstDash val="solid"/>
          </a:ln>
        </p:spPr>
        <p:txBody>
          <a:bodyPr/>
          <a:lstStyle/>
          <a:p>
            <a:endParaRPr lang="en-US"/>
          </a:p>
        </p:txBody>
      </p:sp>
      <p:sp>
        <p:nvSpPr>
          <p:cNvPr id="8" name="Text 6"/>
          <p:cNvSpPr/>
          <p:nvPr/>
        </p:nvSpPr>
        <p:spPr>
          <a:xfrm>
            <a:off x="402336" y="1417320"/>
            <a:ext cx="3950208" cy="347472"/>
          </a:xfrm>
          <a:prstGeom prst="rect">
            <a:avLst/>
          </a:prstGeom>
          <a:noFill/>
          <a:ln/>
        </p:spPr>
        <p:txBody>
          <a:bodyPr wrap="square" rtlCol="0" anchor="ctr"/>
          <a:lstStyle/>
          <a:p>
            <a:pPr marL="0" indent="0">
              <a:buNone/>
            </a:pPr>
            <a:r>
              <a:rPr lang="en-US" sz="1100" b="1" dirty="0">
                <a:solidFill>
                  <a:srgbClr val="FFFFFF"/>
                </a:solidFill>
                <a:latin typeface="Arial" pitchFamily="34" charset="0"/>
                <a:ea typeface="Arial" pitchFamily="34" charset="-122"/>
                <a:cs typeface="Arial" pitchFamily="34" charset="-120"/>
              </a:rPr>
              <a:t>OUI — Organizationally Unique Identifier</a:t>
            </a:r>
            <a:endParaRPr lang="en-US" sz="1100" dirty="0"/>
          </a:p>
        </p:txBody>
      </p:sp>
      <p:sp>
        <p:nvSpPr>
          <p:cNvPr id="9" name="Text 7"/>
          <p:cNvSpPr/>
          <p:nvPr/>
        </p:nvSpPr>
        <p:spPr>
          <a:xfrm>
            <a:off x="402336" y="1737360"/>
            <a:ext cx="3950208" cy="292608"/>
          </a:xfrm>
          <a:prstGeom prst="rect">
            <a:avLst/>
          </a:prstGeom>
          <a:noFill/>
          <a:ln/>
        </p:spPr>
        <p:txBody>
          <a:bodyPr wrap="square" rtlCol="0" anchor="ctr"/>
          <a:lstStyle/>
          <a:p>
            <a:pPr marL="0" indent="0">
              <a:buNone/>
            </a:pPr>
            <a:r>
              <a:rPr lang="en-US" sz="1000" dirty="0">
                <a:solidFill>
                  <a:srgbClr val="B9DEF8"/>
                </a:solidFill>
                <a:latin typeface="Arial" pitchFamily="34" charset="0"/>
                <a:ea typeface="Arial" pitchFamily="34" charset="-122"/>
                <a:cs typeface="Arial" pitchFamily="34" charset="-120"/>
              </a:rPr>
              <a:t>24 bits / 3 bytes — Asignado por IEEE al fabricante</a:t>
            </a:r>
            <a:endParaRPr lang="en-US" sz="1000" dirty="0"/>
          </a:p>
        </p:txBody>
      </p:sp>
      <p:sp>
        <p:nvSpPr>
          <p:cNvPr id="10" name="Shape 8"/>
          <p:cNvSpPr/>
          <p:nvPr/>
        </p:nvSpPr>
        <p:spPr>
          <a:xfrm>
            <a:off x="4434840" y="1417320"/>
            <a:ext cx="4389120" cy="658368"/>
          </a:xfrm>
          <a:prstGeom prst="rect">
            <a:avLst/>
          </a:prstGeom>
          <a:solidFill>
            <a:srgbClr val="1565C0"/>
          </a:solidFill>
          <a:ln w="12700">
            <a:solidFill>
              <a:srgbClr val="1565C0"/>
            </a:solidFill>
            <a:prstDash val="solid"/>
          </a:ln>
        </p:spPr>
        <p:txBody>
          <a:bodyPr/>
          <a:lstStyle/>
          <a:p>
            <a:endParaRPr lang="en-US"/>
          </a:p>
        </p:txBody>
      </p:sp>
      <p:sp>
        <p:nvSpPr>
          <p:cNvPr id="11" name="Text 9"/>
          <p:cNvSpPr/>
          <p:nvPr/>
        </p:nvSpPr>
        <p:spPr>
          <a:xfrm>
            <a:off x="4517136" y="1417320"/>
            <a:ext cx="4224528" cy="347472"/>
          </a:xfrm>
          <a:prstGeom prst="rect">
            <a:avLst/>
          </a:prstGeom>
          <a:noFill/>
          <a:ln/>
        </p:spPr>
        <p:txBody>
          <a:bodyPr wrap="square" rtlCol="0" anchor="ctr"/>
          <a:lstStyle/>
          <a:p>
            <a:pPr marL="0" indent="0">
              <a:buNone/>
            </a:pPr>
            <a:r>
              <a:rPr lang="en-US" sz="1100" b="1" dirty="0">
                <a:solidFill>
                  <a:srgbClr val="FFFFFF"/>
                </a:solidFill>
                <a:latin typeface="Arial" pitchFamily="34" charset="0"/>
                <a:ea typeface="Arial" pitchFamily="34" charset="-122"/>
                <a:cs typeface="Arial" pitchFamily="34" charset="-120"/>
              </a:rPr>
              <a:t>Número de Serie del dispositivo</a:t>
            </a:r>
            <a:endParaRPr lang="en-US" sz="1100" dirty="0"/>
          </a:p>
        </p:txBody>
      </p:sp>
      <p:sp>
        <p:nvSpPr>
          <p:cNvPr id="12" name="Text 10"/>
          <p:cNvSpPr/>
          <p:nvPr/>
        </p:nvSpPr>
        <p:spPr>
          <a:xfrm>
            <a:off x="4517136" y="1737360"/>
            <a:ext cx="4224528" cy="292608"/>
          </a:xfrm>
          <a:prstGeom prst="rect">
            <a:avLst/>
          </a:prstGeom>
          <a:noFill/>
          <a:ln/>
        </p:spPr>
        <p:txBody>
          <a:bodyPr wrap="square" rtlCol="0" anchor="ctr"/>
          <a:lstStyle/>
          <a:p>
            <a:pPr marL="0" indent="0">
              <a:buNone/>
            </a:pPr>
            <a:r>
              <a:rPr lang="en-US" sz="1000" dirty="0">
                <a:solidFill>
                  <a:srgbClr val="B9DEF8"/>
                </a:solidFill>
                <a:latin typeface="Arial" pitchFamily="34" charset="0"/>
                <a:ea typeface="Arial" pitchFamily="34" charset="-122"/>
                <a:cs typeface="Arial" pitchFamily="34" charset="-120"/>
              </a:rPr>
              <a:t>24 bits / 3 bytes — Asignado por el fabricante</a:t>
            </a:r>
            <a:endParaRPr lang="en-US" sz="1000" dirty="0"/>
          </a:p>
        </p:txBody>
      </p:sp>
      <p:sp>
        <p:nvSpPr>
          <p:cNvPr id="13" name="Shape 11"/>
          <p:cNvSpPr/>
          <p:nvPr/>
        </p:nvSpPr>
        <p:spPr>
          <a:xfrm>
            <a:off x="2286000" y="2176272"/>
            <a:ext cx="4572000" cy="548640"/>
          </a:xfrm>
          <a:prstGeom prst="rect">
            <a:avLst/>
          </a:prstGeom>
          <a:solidFill>
            <a:srgbClr val="2D3030"/>
          </a:solidFill>
          <a:ln w="12700">
            <a:solidFill>
              <a:srgbClr val="5AA8D8"/>
            </a:solidFill>
            <a:prstDash val="solid"/>
          </a:ln>
        </p:spPr>
        <p:txBody>
          <a:bodyPr/>
          <a:lstStyle/>
          <a:p>
            <a:endParaRPr lang="en-US"/>
          </a:p>
        </p:txBody>
      </p:sp>
      <p:sp>
        <p:nvSpPr>
          <p:cNvPr id="14" name="Text 12"/>
          <p:cNvSpPr/>
          <p:nvPr/>
        </p:nvSpPr>
        <p:spPr>
          <a:xfrm>
            <a:off x="2377440" y="2176272"/>
            <a:ext cx="1005840" cy="548640"/>
          </a:xfrm>
          <a:prstGeom prst="rect">
            <a:avLst/>
          </a:prstGeom>
          <a:noFill/>
          <a:ln/>
        </p:spPr>
        <p:txBody>
          <a:bodyPr wrap="square" rtlCol="0" anchor="ctr"/>
          <a:lstStyle/>
          <a:p>
            <a:pPr marL="0" indent="0">
              <a:buNone/>
            </a:pPr>
            <a:r>
              <a:rPr lang="en-US" sz="1400" dirty="0">
                <a:solidFill>
                  <a:srgbClr val="808080"/>
                </a:solidFill>
                <a:latin typeface="Arial" pitchFamily="34" charset="0"/>
                <a:ea typeface="Arial" pitchFamily="34" charset="-122"/>
                <a:cs typeface="Arial" pitchFamily="34" charset="-120"/>
              </a:rPr>
              <a:t>Ejemplo: </a:t>
            </a:r>
            <a:endParaRPr lang="en-US" sz="1400" dirty="0"/>
          </a:p>
        </p:txBody>
      </p:sp>
      <p:sp>
        <p:nvSpPr>
          <p:cNvPr id="15" name="Text 13"/>
          <p:cNvSpPr/>
          <p:nvPr/>
        </p:nvSpPr>
        <p:spPr>
          <a:xfrm>
            <a:off x="3291840" y="2176272"/>
            <a:ext cx="1417320" cy="548640"/>
          </a:xfrm>
          <a:prstGeom prst="rect">
            <a:avLst/>
          </a:prstGeom>
          <a:noFill/>
          <a:ln/>
        </p:spPr>
        <p:txBody>
          <a:bodyPr wrap="square" rtlCol="0" anchor="ctr"/>
          <a:lstStyle/>
          <a:p>
            <a:pPr marL="0" indent="0" algn="ctr">
              <a:buNone/>
            </a:pPr>
            <a:r>
              <a:rPr lang="en-US" sz="1800" b="1" dirty="0">
                <a:solidFill>
                  <a:srgbClr val="E65100"/>
                </a:solidFill>
                <a:latin typeface="Arial" pitchFamily="34" charset="0"/>
                <a:ea typeface="Arial" pitchFamily="34" charset="-122"/>
                <a:cs typeface="Arial" pitchFamily="34" charset="-120"/>
              </a:rPr>
              <a:t>3C:06:30</a:t>
            </a:r>
            <a:endParaRPr lang="en-US" sz="1800" dirty="0"/>
          </a:p>
        </p:txBody>
      </p:sp>
      <p:sp>
        <p:nvSpPr>
          <p:cNvPr id="16" name="Text 14"/>
          <p:cNvSpPr/>
          <p:nvPr/>
        </p:nvSpPr>
        <p:spPr>
          <a:xfrm>
            <a:off x="4700016" y="2176272"/>
            <a:ext cx="164592" cy="548640"/>
          </a:xfrm>
          <a:prstGeom prst="rect">
            <a:avLst/>
          </a:prstGeom>
          <a:noFill/>
          <a:ln/>
        </p:spPr>
        <p:txBody>
          <a:bodyPr wrap="square" rtlCol="0" anchor="ctr"/>
          <a:lstStyle/>
          <a:p>
            <a:pPr marL="0" indent="0" algn="ctr">
              <a:buNone/>
            </a:pPr>
            <a:r>
              <a:rPr lang="en-US" sz="1800" dirty="0">
                <a:solidFill>
                  <a:srgbClr val="FFFFFF"/>
                </a:solidFill>
                <a:latin typeface="Arial" pitchFamily="34" charset="0"/>
                <a:ea typeface="Arial" pitchFamily="34" charset="-122"/>
                <a:cs typeface="Arial" pitchFamily="34" charset="-120"/>
              </a:rPr>
              <a:t>:</a:t>
            </a:r>
            <a:endParaRPr lang="en-US" sz="1800" dirty="0"/>
          </a:p>
        </p:txBody>
      </p:sp>
      <p:sp>
        <p:nvSpPr>
          <p:cNvPr id="17" name="Text 15"/>
          <p:cNvSpPr/>
          <p:nvPr/>
        </p:nvSpPr>
        <p:spPr>
          <a:xfrm>
            <a:off x="4846320" y="2176272"/>
            <a:ext cx="1417320" cy="548640"/>
          </a:xfrm>
          <a:prstGeom prst="rect">
            <a:avLst/>
          </a:prstGeom>
          <a:noFill/>
          <a:ln/>
        </p:spPr>
        <p:txBody>
          <a:bodyPr wrap="square" rtlCol="0" anchor="ctr"/>
          <a:lstStyle/>
          <a:p>
            <a:pPr marL="0" indent="0" algn="ctr">
              <a:buNone/>
            </a:pPr>
            <a:r>
              <a:rPr lang="en-US" sz="1800" b="1" dirty="0">
                <a:solidFill>
                  <a:srgbClr val="5AA8D8"/>
                </a:solidFill>
                <a:latin typeface="Arial" pitchFamily="34" charset="0"/>
                <a:ea typeface="Arial" pitchFamily="34" charset="-122"/>
                <a:cs typeface="Arial" pitchFamily="34" charset="-120"/>
              </a:rPr>
              <a:t>A8:B2:C4</a:t>
            </a:r>
            <a:endParaRPr lang="en-US" sz="1800" dirty="0"/>
          </a:p>
        </p:txBody>
      </p:sp>
      <p:sp>
        <p:nvSpPr>
          <p:cNvPr id="18" name="Text 16"/>
          <p:cNvSpPr/>
          <p:nvPr/>
        </p:nvSpPr>
        <p:spPr>
          <a:xfrm>
            <a:off x="6309360" y="2176272"/>
            <a:ext cx="914400" cy="548640"/>
          </a:xfrm>
          <a:prstGeom prst="rect">
            <a:avLst/>
          </a:prstGeom>
          <a:noFill/>
          <a:ln/>
        </p:spPr>
        <p:txBody>
          <a:bodyPr wrap="square" rtlCol="0" anchor="ctr"/>
          <a:lstStyle/>
          <a:p>
            <a:pPr marL="0" indent="0">
              <a:buNone/>
            </a:pPr>
            <a:r>
              <a:rPr lang="en-US" sz="1100" i="1" dirty="0">
                <a:solidFill>
                  <a:srgbClr val="808080"/>
                </a:solidFill>
                <a:latin typeface="Arial" pitchFamily="34" charset="0"/>
                <a:ea typeface="Arial" pitchFamily="34" charset="-122"/>
                <a:cs typeface="Arial" pitchFamily="34" charset="-120"/>
              </a:rPr>
              <a:t>= Intel</a:t>
            </a:r>
            <a:endParaRPr lang="en-US" sz="1100" dirty="0"/>
          </a:p>
        </p:txBody>
      </p:sp>
      <p:sp>
        <p:nvSpPr>
          <p:cNvPr id="19" name="Shape 17"/>
          <p:cNvSpPr/>
          <p:nvPr/>
        </p:nvSpPr>
        <p:spPr>
          <a:xfrm>
            <a:off x="320040" y="2852928"/>
            <a:ext cx="2788920" cy="868680"/>
          </a:xfrm>
          <a:prstGeom prst="rect">
            <a:avLst/>
          </a:prstGeom>
          <a:solidFill>
            <a:srgbClr val="3A4550"/>
          </a:solidFill>
          <a:ln w="6350">
            <a:solidFill>
              <a:srgbClr val="B9DEF8"/>
            </a:solidFill>
            <a:prstDash val="solid"/>
          </a:ln>
        </p:spPr>
        <p:txBody>
          <a:bodyPr/>
          <a:lstStyle/>
          <a:p>
            <a:endParaRPr lang="en-US"/>
          </a:p>
        </p:txBody>
      </p:sp>
      <p:sp>
        <p:nvSpPr>
          <p:cNvPr id="20" name="Text 18"/>
          <p:cNvSpPr/>
          <p:nvPr/>
        </p:nvSpPr>
        <p:spPr>
          <a:xfrm>
            <a:off x="393192" y="2889504"/>
            <a:ext cx="2642616" cy="274320"/>
          </a:xfrm>
          <a:prstGeom prst="rect">
            <a:avLst/>
          </a:prstGeom>
          <a:noFill/>
          <a:ln/>
        </p:spPr>
        <p:txBody>
          <a:bodyPr wrap="square" rtlCol="0" anchor="ctr"/>
          <a:lstStyle/>
          <a:p>
            <a:pPr marL="0" indent="0">
              <a:buNone/>
            </a:pPr>
            <a:r>
              <a:rPr lang="en-US" sz="1100" b="1" dirty="0">
                <a:solidFill>
                  <a:srgbClr val="B9DEF8"/>
                </a:solidFill>
                <a:latin typeface="Arial" pitchFamily="34" charset="0"/>
                <a:ea typeface="Arial" pitchFamily="34" charset="-122"/>
                <a:cs typeface="Arial" pitchFamily="34" charset="-120"/>
              </a:rPr>
              <a:t>🔢 48 bits totales</a:t>
            </a:r>
            <a:endParaRPr lang="en-US" sz="1100" dirty="0"/>
          </a:p>
        </p:txBody>
      </p:sp>
      <p:sp>
        <p:nvSpPr>
          <p:cNvPr id="21" name="Text 19"/>
          <p:cNvSpPr/>
          <p:nvPr/>
        </p:nvSpPr>
        <p:spPr>
          <a:xfrm>
            <a:off x="393192" y="3182112"/>
            <a:ext cx="2642616" cy="475488"/>
          </a:xfrm>
          <a:prstGeom prst="rect">
            <a:avLst/>
          </a:prstGeom>
          <a:noFill/>
          <a:ln/>
        </p:spPr>
        <p:txBody>
          <a:bodyPr wrap="square" rtlCol="0" anchor="ctr"/>
          <a:lstStyle/>
          <a:p>
            <a:pPr marL="0" indent="0">
              <a:buNone/>
            </a:pPr>
            <a:r>
              <a:rPr lang="en-US" sz="1050" dirty="0">
                <a:solidFill>
                  <a:srgbClr val="FFFFFF"/>
                </a:solidFill>
                <a:latin typeface="Arial" pitchFamily="34" charset="0"/>
                <a:ea typeface="Arial" pitchFamily="34" charset="-122"/>
                <a:cs typeface="Arial" pitchFamily="34" charset="-120"/>
              </a:rPr>
              <a:t>12 dígitos hexadecimales. 6 grupos de 2.</a:t>
            </a:r>
            <a:endParaRPr lang="en-US" sz="1050" dirty="0"/>
          </a:p>
        </p:txBody>
      </p:sp>
      <p:sp>
        <p:nvSpPr>
          <p:cNvPr id="22" name="Shape 20"/>
          <p:cNvSpPr/>
          <p:nvPr/>
        </p:nvSpPr>
        <p:spPr>
          <a:xfrm>
            <a:off x="3264408" y="2852928"/>
            <a:ext cx="2788920" cy="868680"/>
          </a:xfrm>
          <a:prstGeom prst="rect">
            <a:avLst/>
          </a:prstGeom>
          <a:solidFill>
            <a:srgbClr val="3A4550"/>
          </a:solidFill>
          <a:ln w="6350">
            <a:solidFill>
              <a:srgbClr val="B9DEF8"/>
            </a:solidFill>
            <a:prstDash val="solid"/>
          </a:ln>
        </p:spPr>
        <p:txBody>
          <a:bodyPr/>
          <a:lstStyle/>
          <a:p>
            <a:endParaRPr lang="en-US"/>
          </a:p>
        </p:txBody>
      </p:sp>
      <p:sp>
        <p:nvSpPr>
          <p:cNvPr id="23" name="Text 21"/>
          <p:cNvSpPr/>
          <p:nvPr/>
        </p:nvSpPr>
        <p:spPr>
          <a:xfrm>
            <a:off x="3337560" y="2889504"/>
            <a:ext cx="2642616" cy="274320"/>
          </a:xfrm>
          <a:prstGeom prst="rect">
            <a:avLst/>
          </a:prstGeom>
          <a:noFill/>
          <a:ln/>
        </p:spPr>
        <p:txBody>
          <a:bodyPr wrap="square" rtlCol="0" anchor="ctr"/>
          <a:lstStyle/>
          <a:p>
            <a:pPr marL="0" indent="0">
              <a:buNone/>
            </a:pPr>
            <a:r>
              <a:rPr lang="en-US" sz="1100" b="1" dirty="0">
                <a:solidFill>
                  <a:srgbClr val="B9DEF8"/>
                </a:solidFill>
                <a:latin typeface="Arial" pitchFamily="34" charset="0"/>
                <a:ea typeface="Arial" pitchFamily="34" charset="-122"/>
                <a:cs typeface="Arial" pitchFamily="34" charset="-120"/>
              </a:rPr>
              <a:t>🏭 OUI = fabricante</a:t>
            </a:r>
            <a:endParaRPr lang="en-US" sz="1100" dirty="0"/>
          </a:p>
        </p:txBody>
      </p:sp>
      <p:sp>
        <p:nvSpPr>
          <p:cNvPr id="24" name="Text 22"/>
          <p:cNvSpPr/>
          <p:nvPr/>
        </p:nvSpPr>
        <p:spPr>
          <a:xfrm>
            <a:off x="3337560" y="3182112"/>
            <a:ext cx="2642616" cy="475488"/>
          </a:xfrm>
          <a:prstGeom prst="rect">
            <a:avLst/>
          </a:prstGeom>
          <a:noFill/>
          <a:ln/>
        </p:spPr>
        <p:txBody>
          <a:bodyPr wrap="square" rtlCol="0" anchor="ctr"/>
          <a:lstStyle/>
          <a:p>
            <a:pPr marL="0" indent="0">
              <a:buNone/>
            </a:pPr>
            <a:r>
              <a:rPr lang="en-US" sz="1050" dirty="0">
                <a:solidFill>
                  <a:srgbClr val="FFFFFF"/>
                </a:solidFill>
                <a:latin typeface="Arial" pitchFamily="34" charset="0"/>
                <a:ea typeface="Arial" pitchFamily="34" charset="-122"/>
                <a:cs typeface="Arial" pitchFamily="34" charset="-120"/>
              </a:rPr>
              <a:t>Los primeros 3 bytes identifican al fabricante. Ej: Apple, Intel, Cisco.</a:t>
            </a:r>
            <a:endParaRPr lang="en-US" sz="1050" dirty="0"/>
          </a:p>
        </p:txBody>
      </p:sp>
      <p:sp>
        <p:nvSpPr>
          <p:cNvPr id="25" name="Shape 23"/>
          <p:cNvSpPr/>
          <p:nvPr/>
        </p:nvSpPr>
        <p:spPr>
          <a:xfrm>
            <a:off x="6208776" y="2852928"/>
            <a:ext cx="2788920" cy="868680"/>
          </a:xfrm>
          <a:prstGeom prst="rect">
            <a:avLst/>
          </a:prstGeom>
          <a:solidFill>
            <a:srgbClr val="3A4550"/>
          </a:solidFill>
          <a:ln w="6350">
            <a:solidFill>
              <a:srgbClr val="B9DEF8"/>
            </a:solidFill>
            <a:prstDash val="solid"/>
          </a:ln>
        </p:spPr>
        <p:txBody>
          <a:bodyPr/>
          <a:lstStyle/>
          <a:p>
            <a:endParaRPr lang="en-US"/>
          </a:p>
        </p:txBody>
      </p:sp>
      <p:sp>
        <p:nvSpPr>
          <p:cNvPr id="26" name="Text 24"/>
          <p:cNvSpPr/>
          <p:nvPr/>
        </p:nvSpPr>
        <p:spPr>
          <a:xfrm>
            <a:off x="6281928" y="2889504"/>
            <a:ext cx="2642616" cy="274320"/>
          </a:xfrm>
          <a:prstGeom prst="rect">
            <a:avLst/>
          </a:prstGeom>
          <a:noFill/>
          <a:ln/>
        </p:spPr>
        <p:txBody>
          <a:bodyPr wrap="square" rtlCol="0" anchor="ctr"/>
          <a:lstStyle/>
          <a:p>
            <a:pPr marL="0" indent="0">
              <a:buNone/>
            </a:pPr>
            <a:r>
              <a:rPr lang="en-US" sz="1100" b="1" dirty="0">
                <a:solidFill>
                  <a:srgbClr val="B9DEF8"/>
                </a:solidFill>
                <a:latin typeface="Arial" pitchFamily="34" charset="0"/>
                <a:ea typeface="Arial" pitchFamily="34" charset="-122"/>
                <a:cs typeface="Arial" pitchFamily="34" charset="-120"/>
              </a:rPr>
              <a:t>🌍 ~70 billones</a:t>
            </a:r>
            <a:endParaRPr lang="en-US" sz="1100" dirty="0"/>
          </a:p>
        </p:txBody>
      </p:sp>
      <p:sp>
        <p:nvSpPr>
          <p:cNvPr id="27" name="Text 25"/>
          <p:cNvSpPr/>
          <p:nvPr/>
        </p:nvSpPr>
        <p:spPr>
          <a:xfrm>
            <a:off x="6281928" y="3182112"/>
            <a:ext cx="2642616" cy="475488"/>
          </a:xfrm>
          <a:prstGeom prst="rect">
            <a:avLst/>
          </a:prstGeom>
          <a:noFill/>
          <a:ln/>
        </p:spPr>
        <p:txBody>
          <a:bodyPr wrap="square" rtlCol="0" anchor="ctr"/>
          <a:lstStyle/>
          <a:p>
            <a:pPr marL="0" indent="0">
              <a:buNone/>
            </a:pPr>
            <a:r>
              <a:rPr lang="en-US" sz="1050" dirty="0">
                <a:solidFill>
                  <a:srgbClr val="FFFFFF"/>
                </a:solidFill>
                <a:latin typeface="Arial" pitchFamily="34" charset="0"/>
                <a:ea typeface="Arial" pitchFamily="34" charset="-122"/>
                <a:cs typeface="Arial" pitchFamily="34" charset="-120"/>
              </a:rPr>
              <a:t>2^46 combinaciones asignables. Prácticamente no se repiten.</a:t>
            </a:r>
            <a:endParaRPr lang="en-US" sz="1050" dirty="0"/>
          </a:p>
        </p:txBody>
      </p:sp>
      <p:sp>
        <p:nvSpPr>
          <p:cNvPr id="28" name="Shape 26"/>
          <p:cNvSpPr/>
          <p:nvPr/>
        </p:nvSpPr>
        <p:spPr>
          <a:xfrm>
            <a:off x="320040" y="3858768"/>
            <a:ext cx="2788920" cy="868680"/>
          </a:xfrm>
          <a:prstGeom prst="rect">
            <a:avLst/>
          </a:prstGeom>
          <a:solidFill>
            <a:srgbClr val="3A4550"/>
          </a:solidFill>
          <a:ln w="6350">
            <a:solidFill>
              <a:srgbClr val="B9DEF8"/>
            </a:solidFill>
            <a:prstDash val="solid"/>
          </a:ln>
        </p:spPr>
        <p:txBody>
          <a:bodyPr/>
          <a:lstStyle/>
          <a:p>
            <a:endParaRPr lang="en-US"/>
          </a:p>
        </p:txBody>
      </p:sp>
      <p:sp>
        <p:nvSpPr>
          <p:cNvPr id="29" name="Text 27"/>
          <p:cNvSpPr/>
          <p:nvPr/>
        </p:nvSpPr>
        <p:spPr>
          <a:xfrm>
            <a:off x="393192" y="3895344"/>
            <a:ext cx="2642616" cy="274320"/>
          </a:xfrm>
          <a:prstGeom prst="rect">
            <a:avLst/>
          </a:prstGeom>
          <a:noFill/>
          <a:ln/>
        </p:spPr>
        <p:txBody>
          <a:bodyPr wrap="square" rtlCol="0" anchor="ctr"/>
          <a:lstStyle/>
          <a:p>
            <a:pPr marL="0" indent="0">
              <a:buNone/>
            </a:pPr>
            <a:r>
              <a:rPr lang="en-US" sz="1100" b="1" dirty="0">
                <a:solidFill>
                  <a:srgbClr val="B9DEF8"/>
                </a:solidFill>
                <a:latin typeface="Arial" pitchFamily="34" charset="0"/>
                <a:ea typeface="Arial" pitchFamily="34" charset="-122"/>
                <a:cs typeface="Arial" pitchFamily="34" charset="-120"/>
              </a:rPr>
              <a:t>🔧 MAC spoofing</a:t>
            </a:r>
            <a:endParaRPr lang="en-US" sz="1100" dirty="0"/>
          </a:p>
        </p:txBody>
      </p:sp>
      <p:sp>
        <p:nvSpPr>
          <p:cNvPr id="30" name="Text 28"/>
          <p:cNvSpPr/>
          <p:nvPr/>
        </p:nvSpPr>
        <p:spPr>
          <a:xfrm>
            <a:off x="393192" y="4187952"/>
            <a:ext cx="2642616" cy="475488"/>
          </a:xfrm>
          <a:prstGeom prst="rect">
            <a:avLst/>
          </a:prstGeom>
          <a:noFill/>
          <a:ln/>
        </p:spPr>
        <p:txBody>
          <a:bodyPr wrap="square" rtlCol="0" anchor="ctr"/>
          <a:lstStyle/>
          <a:p>
            <a:pPr marL="0" indent="0">
              <a:buNone/>
            </a:pPr>
            <a:r>
              <a:rPr lang="en-US" sz="1050" dirty="0">
                <a:solidFill>
                  <a:srgbClr val="FFFFFF"/>
                </a:solidFill>
                <a:latin typeface="Arial" pitchFamily="34" charset="0"/>
                <a:ea typeface="Arial" pitchFamily="34" charset="-122"/>
                <a:cs typeface="Arial" pitchFamily="34" charset="-120"/>
              </a:rPr>
              <a:t>Hoy es posible cambiarla por software, aunque está grabada en ROM de fábrica.</a:t>
            </a:r>
            <a:endParaRPr lang="en-US" sz="1050" dirty="0"/>
          </a:p>
        </p:txBody>
      </p:sp>
      <p:sp>
        <p:nvSpPr>
          <p:cNvPr id="31" name="Shape 29"/>
          <p:cNvSpPr/>
          <p:nvPr/>
        </p:nvSpPr>
        <p:spPr>
          <a:xfrm>
            <a:off x="3264408" y="3858768"/>
            <a:ext cx="2788920" cy="868680"/>
          </a:xfrm>
          <a:prstGeom prst="rect">
            <a:avLst/>
          </a:prstGeom>
          <a:solidFill>
            <a:srgbClr val="3A4550"/>
          </a:solidFill>
          <a:ln w="6350">
            <a:solidFill>
              <a:srgbClr val="B9DEF8"/>
            </a:solidFill>
            <a:prstDash val="solid"/>
          </a:ln>
        </p:spPr>
        <p:txBody>
          <a:bodyPr/>
          <a:lstStyle/>
          <a:p>
            <a:endParaRPr lang="en-US"/>
          </a:p>
        </p:txBody>
      </p:sp>
      <p:sp>
        <p:nvSpPr>
          <p:cNvPr id="32" name="Text 30"/>
          <p:cNvSpPr/>
          <p:nvPr/>
        </p:nvSpPr>
        <p:spPr>
          <a:xfrm>
            <a:off x="3337560" y="3895344"/>
            <a:ext cx="2642616" cy="274320"/>
          </a:xfrm>
          <a:prstGeom prst="rect">
            <a:avLst/>
          </a:prstGeom>
          <a:noFill/>
          <a:ln/>
        </p:spPr>
        <p:txBody>
          <a:bodyPr wrap="square" rtlCol="0" anchor="ctr"/>
          <a:lstStyle/>
          <a:p>
            <a:pPr marL="0" indent="0">
              <a:buNone/>
            </a:pPr>
            <a:r>
              <a:rPr lang="en-US" sz="1100" b="1" dirty="0">
                <a:solidFill>
                  <a:srgbClr val="B9DEF8"/>
                </a:solidFill>
                <a:latin typeface="Arial" pitchFamily="34" charset="0"/>
                <a:ea typeface="Arial" pitchFamily="34" charset="-122"/>
                <a:cs typeface="Arial" pitchFamily="34" charset="-120"/>
              </a:rPr>
              <a:t>🔍 Cómo verla</a:t>
            </a:r>
            <a:endParaRPr lang="en-US" sz="1100" dirty="0"/>
          </a:p>
        </p:txBody>
      </p:sp>
      <p:sp>
        <p:nvSpPr>
          <p:cNvPr id="33" name="Text 31"/>
          <p:cNvSpPr/>
          <p:nvPr/>
        </p:nvSpPr>
        <p:spPr>
          <a:xfrm>
            <a:off x="3337560" y="4187952"/>
            <a:ext cx="2642616" cy="475488"/>
          </a:xfrm>
          <a:prstGeom prst="rect">
            <a:avLst/>
          </a:prstGeom>
          <a:noFill/>
          <a:ln/>
        </p:spPr>
        <p:txBody>
          <a:bodyPr wrap="square" rtlCol="0" anchor="ctr"/>
          <a:lstStyle/>
          <a:p>
            <a:pPr marL="0" indent="0">
              <a:buNone/>
            </a:pPr>
            <a:r>
              <a:rPr lang="en-US" sz="1050" dirty="0">
                <a:solidFill>
                  <a:srgbClr val="FFFFFF"/>
                </a:solidFill>
                <a:latin typeface="Arial" pitchFamily="34" charset="0"/>
                <a:ea typeface="Arial" pitchFamily="34" charset="-122"/>
                <a:cs typeface="Arial" pitchFamily="34" charset="-120"/>
              </a:rPr>
              <a:t>Windows: ipconfig /all → "Physical Address". Linux: ip link show.</a:t>
            </a:r>
            <a:endParaRPr lang="en-US" sz="1050" dirty="0"/>
          </a:p>
        </p:txBody>
      </p:sp>
      <p:sp>
        <p:nvSpPr>
          <p:cNvPr id="34" name="Shape 32"/>
          <p:cNvSpPr/>
          <p:nvPr/>
        </p:nvSpPr>
        <p:spPr>
          <a:xfrm>
            <a:off x="6208776" y="3858768"/>
            <a:ext cx="2788920" cy="868680"/>
          </a:xfrm>
          <a:prstGeom prst="rect">
            <a:avLst/>
          </a:prstGeom>
          <a:solidFill>
            <a:srgbClr val="3A4550"/>
          </a:solidFill>
          <a:ln w="6350">
            <a:solidFill>
              <a:srgbClr val="B9DEF8"/>
            </a:solidFill>
            <a:prstDash val="solid"/>
          </a:ln>
        </p:spPr>
        <p:txBody>
          <a:bodyPr/>
          <a:lstStyle/>
          <a:p>
            <a:endParaRPr lang="en-US"/>
          </a:p>
        </p:txBody>
      </p:sp>
      <p:sp>
        <p:nvSpPr>
          <p:cNvPr id="35" name="Text 33"/>
          <p:cNvSpPr/>
          <p:nvPr/>
        </p:nvSpPr>
        <p:spPr>
          <a:xfrm>
            <a:off x="6281928" y="3895344"/>
            <a:ext cx="2642616" cy="274320"/>
          </a:xfrm>
          <a:prstGeom prst="rect">
            <a:avLst/>
          </a:prstGeom>
          <a:noFill/>
          <a:ln/>
        </p:spPr>
        <p:txBody>
          <a:bodyPr wrap="square" rtlCol="0" anchor="ctr"/>
          <a:lstStyle/>
          <a:p>
            <a:pPr marL="0" indent="0">
              <a:buNone/>
            </a:pPr>
            <a:r>
              <a:rPr lang="en-US" sz="1100" b="1" dirty="0">
                <a:solidFill>
                  <a:srgbClr val="B9DEF8"/>
                </a:solidFill>
                <a:latin typeface="Arial" pitchFamily="34" charset="0"/>
                <a:ea typeface="Arial" pitchFamily="34" charset="-122"/>
                <a:cs typeface="Arial" pitchFamily="34" charset="-120"/>
              </a:rPr>
              <a:t>📱 MAC aleatoria</a:t>
            </a:r>
            <a:endParaRPr lang="en-US" sz="1100" dirty="0"/>
          </a:p>
        </p:txBody>
      </p:sp>
      <p:sp>
        <p:nvSpPr>
          <p:cNvPr id="36" name="Text 34"/>
          <p:cNvSpPr/>
          <p:nvPr/>
        </p:nvSpPr>
        <p:spPr>
          <a:xfrm>
            <a:off x="6281928" y="4187952"/>
            <a:ext cx="2642616" cy="475488"/>
          </a:xfrm>
          <a:prstGeom prst="rect">
            <a:avLst/>
          </a:prstGeom>
          <a:noFill/>
          <a:ln/>
        </p:spPr>
        <p:txBody>
          <a:bodyPr wrap="square" rtlCol="0" anchor="ctr"/>
          <a:lstStyle/>
          <a:p>
            <a:pPr marL="0" indent="0">
              <a:buNone/>
            </a:pPr>
            <a:r>
              <a:rPr lang="en-US" sz="1050" dirty="0">
                <a:solidFill>
                  <a:srgbClr val="FFFFFF"/>
                </a:solidFill>
                <a:latin typeface="Arial" pitchFamily="34" charset="0"/>
                <a:ea typeface="Arial" pitchFamily="34" charset="-122"/>
                <a:cs typeface="Arial" pitchFamily="34" charset="-120"/>
              </a:rPr>
              <a:t>iOS y Android usan MAC aleatoria en Wi-Fi públicas por privacidad (desde 2019-2020).</a:t>
            </a:r>
            <a:endParaRPr lang="en-US" sz="1050" dirty="0"/>
          </a:p>
        </p:txBody>
      </p:sp>
      <p:sp>
        <p:nvSpPr>
          <p:cNvPr id="37" name="Shape 35"/>
          <p:cNvSpPr/>
          <p:nvPr/>
        </p:nvSpPr>
        <p:spPr>
          <a:xfrm>
            <a:off x="0" y="4846320"/>
            <a:ext cx="9144000" cy="297180"/>
          </a:xfrm>
          <a:prstGeom prst="rect">
            <a:avLst/>
          </a:prstGeom>
          <a:solidFill>
            <a:srgbClr val="2D3030"/>
          </a:solidFill>
          <a:ln w="12700">
            <a:solidFill>
              <a:srgbClr val="2D3030"/>
            </a:solidFill>
            <a:prstDash val="solid"/>
          </a:ln>
        </p:spPr>
        <p:txBody>
          <a:bodyPr/>
          <a:lstStyle/>
          <a:p>
            <a:endParaRPr lang="en-US"/>
          </a:p>
        </p:txBody>
      </p:sp>
      <p:sp>
        <p:nvSpPr>
          <p:cNvPr id="38" name="Text 36"/>
          <p:cNvSpPr/>
          <p:nvPr/>
        </p:nvSpPr>
        <p:spPr>
          <a:xfrm>
            <a:off x="137160" y="4846320"/>
            <a:ext cx="8869680" cy="297180"/>
          </a:xfrm>
          <a:prstGeom prst="rect">
            <a:avLst/>
          </a:prstGeom>
          <a:noFill/>
          <a:ln/>
        </p:spPr>
        <p:txBody>
          <a:bodyPr wrap="square" rtlCol="0" anchor="ctr"/>
          <a:lstStyle/>
          <a:p>
            <a:pPr marL="0" indent="0">
              <a:buNone/>
            </a:pPr>
            <a:r>
              <a:rPr lang="en-US" sz="1000" i="1" dirty="0">
                <a:solidFill>
                  <a:srgbClr val="B9DEF8"/>
                </a:solidFill>
                <a:latin typeface="Arial" pitchFamily="34" charset="0"/>
                <a:ea typeface="Arial" pitchFamily="34" charset="-122"/>
                <a:cs typeface="Arial" pitchFamily="34" charset="-120"/>
              </a:rPr>
              <a:t>🎤 Ejercicio práctico: abrir CMD/Terminal y ejecutar ipconfig /all o ip link show. Identificar el OUI y buscarlo en un lookup de fabricantes.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5AA8D8"/>
          </a:solidFill>
          <a:ln w="12700">
            <a:solidFill>
              <a:srgbClr val="5AA8D8"/>
            </a:solidFill>
            <a:prstDash val="solid"/>
          </a:ln>
        </p:spPr>
        <p:txBody>
          <a:bodyPr/>
          <a:lstStyle/>
          <a:p>
            <a:endParaRPr lang="en-US"/>
          </a:p>
        </p:txBody>
      </p:sp>
      <p:sp>
        <p:nvSpPr>
          <p:cNvPr id="3" name="Shape 1"/>
          <p:cNvSpPr/>
          <p:nvPr/>
        </p:nvSpPr>
        <p:spPr>
          <a:xfrm>
            <a:off x="457200" y="164592"/>
            <a:ext cx="8229600" cy="749808"/>
          </a:xfrm>
          <a:prstGeom prst="rect">
            <a:avLst/>
          </a:prstGeom>
          <a:solidFill>
            <a:srgbClr val="3A7BAA"/>
          </a:solidFill>
          <a:ln w="12700">
            <a:solidFill>
              <a:srgbClr val="3A7BAA"/>
            </a:solidFill>
            <a:prstDash val="solid"/>
          </a:ln>
          <a:effectLst>
            <a:outerShdw blurRad="101600" dist="38100" dir="8100000" algn="bl" rotWithShape="0">
              <a:srgbClr val="000000">
                <a:alpha val="15000"/>
              </a:srgbClr>
            </a:outerShdw>
          </a:effectLst>
        </p:spPr>
        <p:txBody>
          <a:bodyPr/>
          <a:lstStyle/>
          <a:p>
            <a:endParaRPr lang="en-US"/>
          </a:p>
        </p:txBody>
      </p:sp>
      <p:sp>
        <p:nvSpPr>
          <p:cNvPr id="4" name="Text 2"/>
          <p:cNvSpPr/>
          <p:nvPr/>
        </p:nvSpPr>
        <p:spPr>
          <a:xfrm>
            <a:off x="566928" y="164592"/>
            <a:ext cx="8010144" cy="749808"/>
          </a:xfrm>
          <a:prstGeom prst="rect">
            <a:avLst/>
          </a:prstGeom>
          <a:noFill/>
          <a:ln/>
        </p:spPr>
        <p:txBody>
          <a:bodyPr wrap="square" lIns="0" tIns="0" rIns="0" bIns="0" rtlCol="0" anchor="ctr"/>
          <a:lstStyle/>
          <a:p>
            <a:pPr marL="0" indent="0">
              <a:buNone/>
            </a:pPr>
            <a:r>
              <a:rPr lang="en-US" sz="2500" b="1" dirty="0">
                <a:solidFill>
                  <a:srgbClr val="FFFFFF"/>
                </a:solidFill>
                <a:latin typeface="Arial" pitchFamily="34" charset="0"/>
                <a:ea typeface="Arial" pitchFamily="34" charset="-122"/>
                <a:cs typeface="Arial" pitchFamily="34" charset="-120"/>
              </a:rPr>
              <a:t>La Codificación Manchester</a:t>
            </a:r>
            <a:endParaRPr lang="en-US" sz="2500" dirty="0"/>
          </a:p>
        </p:txBody>
      </p:sp>
      <p:sp>
        <p:nvSpPr>
          <p:cNvPr id="5" name="Text 3"/>
          <p:cNvSpPr/>
          <p:nvPr/>
        </p:nvSpPr>
        <p:spPr>
          <a:xfrm>
            <a:off x="566928" y="987552"/>
            <a:ext cx="8010144" cy="347472"/>
          </a:xfrm>
          <a:prstGeom prst="rect">
            <a:avLst/>
          </a:prstGeom>
          <a:noFill/>
          <a:ln/>
        </p:spPr>
        <p:txBody>
          <a:bodyPr wrap="square" rtlCol="0" anchor="ctr"/>
          <a:lstStyle/>
          <a:p>
            <a:pPr marL="0" indent="0">
              <a:buNone/>
            </a:pPr>
            <a:r>
              <a:rPr lang="en-US" sz="1200" i="1" dirty="0">
                <a:solidFill>
                  <a:srgbClr val="B9DEF8"/>
                </a:solidFill>
                <a:latin typeface="Arial" pitchFamily="34" charset="0"/>
                <a:ea typeface="Arial" pitchFamily="34" charset="-122"/>
                <a:cs typeface="Arial" pitchFamily="34" charset="-120"/>
              </a:rPr>
              <a:t>Por qué los bits no son simplemente 5V / 0V</a:t>
            </a:r>
            <a:endParaRPr lang="en-US" sz="1200" dirty="0"/>
          </a:p>
        </p:txBody>
      </p:sp>
      <p:sp>
        <p:nvSpPr>
          <p:cNvPr id="7" name="Shape 5"/>
          <p:cNvSpPr/>
          <p:nvPr/>
        </p:nvSpPr>
        <p:spPr>
          <a:xfrm>
            <a:off x="320040" y="1417320"/>
            <a:ext cx="4114800" cy="411480"/>
          </a:xfrm>
          <a:prstGeom prst="rect">
            <a:avLst/>
          </a:prstGeom>
          <a:solidFill>
            <a:srgbClr val="C62828"/>
          </a:solidFill>
          <a:ln w="12700">
            <a:solidFill>
              <a:srgbClr val="C62828"/>
            </a:solidFill>
            <a:prstDash val="solid"/>
          </a:ln>
        </p:spPr>
        <p:txBody>
          <a:bodyPr/>
          <a:lstStyle/>
          <a:p>
            <a:endParaRPr lang="en-US"/>
          </a:p>
        </p:txBody>
      </p:sp>
      <p:sp>
        <p:nvSpPr>
          <p:cNvPr id="8" name="Text 6"/>
          <p:cNvSpPr/>
          <p:nvPr/>
        </p:nvSpPr>
        <p:spPr>
          <a:xfrm>
            <a:off x="402336" y="1417320"/>
            <a:ext cx="3950208" cy="41148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  El problema — Codificación directa (NRZ)</a:t>
            </a:r>
            <a:endParaRPr lang="en-US" sz="1200" dirty="0"/>
          </a:p>
        </p:txBody>
      </p:sp>
      <p:sp>
        <p:nvSpPr>
          <p:cNvPr id="26" name="Shape 24"/>
          <p:cNvSpPr/>
          <p:nvPr/>
        </p:nvSpPr>
        <p:spPr>
          <a:xfrm>
            <a:off x="2664935" y="2956974"/>
            <a:ext cx="1828800" cy="411480"/>
          </a:xfrm>
          <a:prstGeom prst="rect">
            <a:avLst/>
          </a:prstGeom>
          <a:solidFill>
            <a:srgbClr val="FFCCBC"/>
          </a:solidFill>
          <a:ln w="12700">
            <a:solidFill>
              <a:srgbClr val="C62828"/>
            </a:solidFill>
            <a:prstDash val="solid"/>
          </a:ln>
        </p:spPr>
        <p:txBody>
          <a:bodyPr/>
          <a:lstStyle/>
          <a:p>
            <a:endParaRPr lang="en-US"/>
          </a:p>
        </p:txBody>
      </p:sp>
      <p:sp>
        <p:nvSpPr>
          <p:cNvPr id="27" name="Text 25"/>
          <p:cNvSpPr/>
          <p:nvPr/>
        </p:nvSpPr>
        <p:spPr>
          <a:xfrm>
            <a:off x="2664935" y="2964800"/>
            <a:ext cx="1869989" cy="411480"/>
          </a:xfrm>
          <a:prstGeom prst="rect">
            <a:avLst/>
          </a:prstGeom>
          <a:noFill/>
          <a:ln/>
        </p:spPr>
        <p:txBody>
          <a:bodyPr wrap="square" rtlCol="0" anchor="ctr"/>
          <a:lstStyle/>
          <a:p>
            <a:pPr marL="0" indent="0">
              <a:buNone/>
            </a:pPr>
            <a:r>
              <a:rPr lang="en-US" sz="900" dirty="0">
                <a:solidFill>
                  <a:srgbClr val="C62828"/>
                </a:solidFill>
                <a:latin typeface="Arial" pitchFamily="34" charset="0"/>
                <a:ea typeface="Arial" pitchFamily="34" charset="-122"/>
                <a:cs typeface="Arial" pitchFamily="34" charset="-120"/>
              </a:rPr>
              <a:t>😕 ¿Es inactividad o son ceros?</a:t>
            </a:r>
            <a:endParaRPr lang="en-US" sz="900" dirty="0"/>
          </a:p>
          <a:p>
            <a:pPr marL="0" indent="0">
              <a:buNone/>
            </a:pPr>
            <a:r>
              <a:rPr lang="en-US" sz="900" dirty="0">
                <a:solidFill>
                  <a:srgbClr val="C62828"/>
                </a:solidFill>
                <a:latin typeface="Arial" pitchFamily="34" charset="0"/>
                <a:ea typeface="Arial" pitchFamily="34" charset="-122"/>
                <a:cs typeface="Arial" pitchFamily="34" charset="-120"/>
              </a:rPr>
              <a:t>¡El receptor no puede saber!</a:t>
            </a:r>
            <a:endParaRPr lang="en-US" sz="900" dirty="0"/>
          </a:p>
        </p:txBody>
      </p:sp>
      <p:sp>
        <p:nvSpPr>
          <p:cNvPr id="28" name="Shape 26"/>
          <p:cNvSpPr/>
          <p:nvPr/>
        </p:nvSpPr>
        <p:spPr>
          <a:xfrm>
            <a:off x="4617720" y="1368222"/>
            <a:ext cx="4206240" cy="3706618"/>
          </a:xfrm>
          <a:prstGeom prst="rect">
            <a:avLst/>
          </a:prstGeom>
          <a:solidFill>
            <a:srgbClr val="E8F4FC"/>
          </a:solidFill>
          <a:ln w="12700">
            <a:solidFill>
              <a:srgbClr val="2E7D32"/>
            </a:solidFill>
            <a:prstDash val="solid"/>
          </a:ln>
          <a:effectLst>
            <a:outerShdw blurRad="101600" dist="38100" dir="8100000" algn="bl" rotWithShape="0">
              <a:srgbClr val="000000">
                <a:alpha val="15000"/>
              </a:srgbClr>
            </a:outerShdw>
          </a:effectLst>
        </p:spPr>
        <p:txBody>
          <a:bodyPr/>
          <a:lstStyle/>
          <a:p>
            <a:endParaRPr lang="en-US"/>
          </a:p>
        </p:txBody>
      </p:sp>
      <p:sp>
        <p:nvSpPr>
          <p:cNvPr id="29" name="Shape 27"/>
          <p:cNvSpPr/>
          <p:nvPr/>
        </p:nvSpPr>
        <p:spPr>
          <a:xfrm>
            <a:off x="4617720" y="976593"/>
            <a:ext cx="4206240" cy="411480"/>
          </a:xfrm>
          <a:prstGeom prst="rect">
            <a:avLst/>
          </a:prstGeom>
          <a:solidFill>
            <a:srgbClr val="2E7D32"/>
          </a:solidFill>
          <a:ln w="12700">
            <a:solidFill>
              <a:srgbClr val="2E7D32"/>
            </a:solidFill>
            <a:prstDash val="solid"/>
          </a:ln>
        </p:spPr>
        <p:txBody>
          <a:bodyPr/>
          <a:lstStyle/>
          <a:p>
            <a:endParaRPr lang="en-US"/>
          </a:p>
        </p:txBody>
      </p:sp>
      <p:sp>
        <p:nvSpPr>
          <p:cNvPr id="30" name="Text 28"/>
          <p:cNvSpPr/>
          <p:nvPr/>
        </p:nvSpPr>
        <p:spPr>
          <a:xfrm>
            <a:off x="4700016" y="976593"/>
            <a:ext cx="4041648" cy="41148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  Solución — Codificación Manchester</a:t>
            </a:r>
            <a:endParaRPr lang="en-US" sz="1200" dirty="0"/>
          </a:p>
        </p:txBody>
      </p:sp>
      <p:sp>
        <p:nvSpPr>
          <p:cNvPr id="36" name="Shape 34"/>
          <p:cNvSpPr/>
          <p:nvPr/>
        </p:nvSpPr>
        <p:spPr>
          <a:xfrm>
            <a:off x="5737860" y="1735545"/>
            <a:ext cx="0" cy="0"/>
          </a:xfrm>
          <a:prstGeom prst="line">
            <a:avLst/>
          </a:prstGeom>
          <a:noFill/>
          <a:ln w="31750">
            <a:solidFill>
              <a:srgbClr val="2E7D32"/>
            </a:solidFill>
            <a:prstDash val="solid"/>
          </a:ln>
        </p:spPr>
        <p:txBody>
          <a:bodyPr/>
          <a:lstStyle/>
          <a:p>
            <a:endParaRPr lang="en-US"/>
          </a:p>
        </p:txBody>
      </p:sp>
      <p:sp>
        <p:nvSpPr>
          <p:cNvPr id="44" name="Shape 42"/>
          <p:cNvSpPr/>
          <p:nvPr/>
        </p:nvSpPr>
        <p:spPr>
          <a:xfrm>
            <a:off x="7109460" y="1735545"/>
            <a:ext cx="0" cy="0"/>
          </a:xfrm>
          <a:prstGeom prst="line">
            <a:avLst/>
          </a:prstGeom>
          <a:noFill/>
          <a:ln w="31750">
            <a:solidFill>
              <a:srgbClr val="2E7D32"/>
            </a:solidFill>
            <a:prstDash val="solid"/>
          </a:ln>
        </p:spPr>
        <p:txBody>
          <a:bodyPr/>
          <a:lstStyle/>
          <a:p>
            <a:endParaRPr lang="en-US"/>
          </a:p>
        </p:txBody>
      </p:sp>
      <p:sp>
        <p:nvSpPr>
          <p:cNvPr id="52" name="Text 50"/>
          <p:cNvSpPr/>
          <p:nvPr/>
        </p:nvSpPr>
        <p:spPr>
          <a:xfrm>
            <a:off x="4700016" y="1614858"/>
            <a:ext cx="1920240" cy="347472"/>
          </a:xfrm>
          <a:prstGeom prst="rect">
            <a:avLst/>
          </a:prstGeom>
          <a:noFill/>
          <a:ln/>
        </p:spPr>
        <p:txBody>
          <a:bodyPr wrap="square" rtlCol="0" anchor="ctr"/>
          <a:lstStyle/>
          <a:p>
            <a:pPr marL="0" indent="0">
              <a:buNone/>
            </a:pPr>
            <a:r>
              <a:rPr lang="en-US" sz="1100" b="1" dirty="0">
                <a:solidFill>
                  <a:srgbClr val="3A7BAA"/>
                </a:solidFill>
                <a:latin typeface="Arial" pitchFamily="34" charset="0"/>
                <a:ea typeface="Arial" pitchFamily="34" charset="-122"/>
                <a:cs typeface="Arial" pitchFamily="34" charset="-120"/>
              </a:rPr>
              <a:t>ALTO → BAJO en el centro:</a:t>
            </a:r>
            <a:endParaRPr lang="en-US" sz="1100" dirty="0"/>
          </a:p>
        </p:txBody>
      </p:sp>
      <p:sp>
        <p:nvSpPr>
          <p:cNvPr id="53" name="Text 51"/>
          <p:cNvSpPr/>
          <p:nvPr/>
        </p:nvSpPr>
        <p:spPr>
          <a:xfrm>
            <a:off x="6638544" y="1517904"/>
            <a:ext cx="2103120" cy="347472"/>
          </a:xfrm>
          <a:prstGeom prst="rect">
            <a:avLst/>
          </a:prstGeom>
          <a:noFill/>
          <a:ln/>
        </p:spPr>
        <p:txBody>
          <a:bodyPr wrap="square" rtlCol="0" anchor="ctr"/>
          <a:lstStyle/>
          <a:p>
            <a:pPr marL="0" indent="0">
              <a:buNone/>
            </a:pPr>
            <a:r>
              <a:rPr lang="en-US" sz="1100" dirty="0">
                <a:solidFill>
                  <a:srgbClr val="404040"/>
                </a:solidFill>
                <a:latin typeface="Arial" pitchFamily="34" charset="0"/>
                <a:ea typeface="Arial" pitchFamily="34" charset="-122"/>
                <a:cs typeface="Arial" pitchFamily="34" charset="-120"/>
              </a:rPr>
              <a:t>= 1 lógico  (+0.85V → −0.85V)</a:t>
            </a:r>
            <a:endParaRPr lang="en-US" sz="1100" dirty="0"/>
          </a:p>
        </p:txBody>
      </p:sp>
      <p:sp>
        <p:nvSpPr>
          <p:cNvPr id="54" name="Text 52"/>
          <p:cNvSpPr/>
          <p:nvPr/>
        </p:nvSpPr>
        <p:spPr>
          <a:xfrm>
            <a:off x="4718304" y="2096976"/>
            <a:ext cx="1920240" cy="347472"/>
          </a:xfrm>
          <a:prstGeom prst="rect">
            <a:avLst/>
          </a:prstGeom>
          <a:noFill/>
          <a:ln/>
        </p:spPr>
        <p:txBody>
          <a:bodyPr wrap="square" rtlCol="0" anchor="ctr"/>
          <a:lstStyle/>
          <a:p>
            <a:pPr marL="0" indent="0">
              <a:buNone/>
            </a:pPr>
            <a:r>
              <a:rPr lang="en-US" sz="1100" b="1" dirty="0">
                <a:solidFill>
                  <a:srgbClr val="3A7BAA"/>
                </a:solidFill>
                <a:latin typeface="Arial" pitchFamily="34" charset="0"/>
                <a:ea typeface="Arial" pitchFamily="34" charset="-122"/>
                <a:cs typeface="Arial" pitchFamily="34" charset="-120"/>
              </a:rPr>
              <a:t>BAJO → ALTO en el centro:</a:t>
            </a:r>
            <a:endParaRPr lang="en-US" sz="1100" dirty="0"/>
          </a:p>
        </p:txBody>
      </p:sp>
      <p:sp>
        <p:nvSpPr>
          <p:cNvPr id="55" name="Text 53"/>
          <p:cNvSpPr/>
          <p:nvPr/>
        </p:nvSpPr>
        <p:spPr>
          <a:xfrm>
            <a:off x="6638544" y="2052616"/>
            <a:ext cx="2103120" cy="347472"/>
          </a:xfrm>
          <a:prstGeom prst="rect">
            <a:avLst/>
          </a:prstGeom>
          <a:noFill/>
          <a:ln/>
        </p:spPr>
        <p:txBody>
          <a:bodyPr wrap="square" rtlCol="0" anchor="ctr"/>
          <a:lstStyle/>
          <a:p>
            <a:pPr marL="0" indent="0">
              <a:buNone/>
            </a:pPr>
            <a:r>
              <a:rPr lang="en-US" sz="1100" dirty="0">
                <a:solidFill>
                  <a:srgbClr val="404040"/>
                </a:solidFill>
                <a:latin typeface="Arial" pitchFamily="34" charset="0"/>
                <a:ea typeface="Arial" pitchFamily="34" charset="-122"/>
                <a:cs typeface="Arial" pitchFamily="34" charset="-120"/>
              </a:rPr>
              <a:t>= 0 lógico  (−0.85V → +0.85V)</a:t>
            </a:r>
            <a:endParaRPr lang="en-US" sz="1100" dirty="0"/>
          </a:p>
        </p:txBody>
      </p:sp>
      <p:sp>
        <p:nvSpPr>
          <p:cNvPr id="56" name="Text 54"/>
          <p:cNvSpPr/>
          <p:nvPr/>
        </p:nvSpPr>
        <p:spPr>
          <a:xfrm>
            <a:off x="4718304" y="4158999"/>
            <a:ext cx="1920240" cy="347472"/>
          </a:xfrm>
          <a:prstGeom prst="rect">
            <a:avLst/>
          </a:prstGeom>
          <a:noFill/>
          <a:ln/>
        </p:spPr>
        <p:txBody>
          <a:bodyPr wrap="square" rtlCol="0" anchor="ctr"/>
          <a:lstStyle/>
          <a:p>
            <a:pPr marL="0" indent="0">
              <a:buNone/>
            </a:pPr>
            <a:r>
              <a:rPr lang="en-US" sz="1100" b="1" dirty="0">
                <a:solidFill>
                  <a:srgbClr val="3A7BAA"/>
                </a:solidFill>
                <a:latin typeface="Arial" pitchFamily="34" charset="0"/>
                <a:ea typeface="Arial" pitchFamily="34" charset="-122"/>
                <a:cs typeface="Arial" pitchFamily="34" charset="-120"/>
              </a:rPr>
              <a:t>Siempre hay una transición:</a:t>
            </a:r>
            <a:endParaRPr lang="en-US" sz="1100" dirty="0"/>
          </a:p>
        </p:txBody>
      </p:sp>
      <p:sp>
        <p:nvSpPr>
          <p:cNvPr id="57" name="Text 55"/>
          <p:cNvSpPr/>
          <p:nvPr/>
        </p:nvSpPr>
        <p:spPr>
          <a:xfrm>
            <a:off x="6601968" y="4108699"/>
            <a:ext cx="2103120" cy="347472"/>
          </a:xfrm>
          <a:prstGeom prst="rect">
            <a:avLst/>
          </a:prstGeom>
          <a:noFill/>
          <a:ln/>
        </p:spPr>
        <p:txBody>
          <a:bodyPr wrap="square" rtlCol="0" anchor="ctr"/>
          <a:lstStyle/>
          <a:p>
            <a:pPr marL="0" indent="0">
              <a:buNone/>
            </a:pPr>
            <a:r>
              <a:rPr lang="en-US" sz="1100" dirty="0">
                <a:solidFill>
                  <a:srgbClr val="404040"/>
                </a:solidFill>
                <a:latin typeface="Arial" pitchFamily="34" charset="0"/>
                <a:ea typeface="Arial" pitchFamily="34" charset="-122"/>
                <a:cs typeface="Arial" pitchFamily="34" charset="-120"/>
              </a:rPr>
              <a:t>= sincronización garantizada</a:t>
            </a:r>
            <a:endParaRPr lang="en-US" sz="1100" dirty="0"/>
          </a:p>
        </p:txBody>
      </p:sp>
      <p:sp>
        <p:nvSpPr>
          <p:cNvPr id="58" name="Text 56"/>
          <p:cNvSpPr/>
          <p:nvPr/>
        </p:nvSpPr>
        <p:spPr>
          <a:xfrm>
            <a:off x="4700016" y="3344889"/>
            <a:ext cx="1920240" cy="347472"/>
          </a:xfrm>
          <a:prstGeom prst="rect">
            <a:avLst/>
          </a:prstGeom>
          <a:noFill/>
          <a:ln/>
        </p:spPr>
        <p:txBody>
          <a:bodyPr wrap="square" rtlCol="0" anchor="ctr"/>
          <a:lstStyle/>
          <a:p>
            <a:pPr marL="0" indent="0">
              <a:buNone/>
            </a:pPr>
            <a:r>
              <a:rPr lang="en-US" sz="1100" b="1" dirty="0">
                <a:solidFill>
                  <a:srgbClr val="3A7BAA"/>
                </a:solidFill>
                <a:latin typeface="Arial" pitchFamily="34" charset="0"/>
                <a:ea typeface="Arial" pitchFamily="34" charset="-122"/>
                <a:cs typeface="Arial" pitchFamily="34" charset="-120"/>
              </a:rPr>
              <a:t>Sin componente DC:</a:t>
            </a:r>
            <a:endParaRPr lang="en-US" sz="1100" dirty="0"/>
          </a:p>
        </p:txBody>
      </p:sp>
      <p:sp>
        <p:nvSpPr>
          <p:cNvPr id="59" name="Text 57"/>
          <p:cNvSpPr/>
          <p:nvPr/>
        </p:nvSpPr>
        <p:spPr>
          <a:xfrm>
            <a:off x="6601968" y="3344889"/>
            <a:ext cx="2103120" cy="347472"/>
          </a:xfrm>
          <a:prstGeom prst="rect">
            <a:avLst/>
          </a:prstGeom>
          <a:noFill/>
          <a:ln/>
        </p:spPr>
        <p:txBody>
          <a:bodyPr wrap="square" rtlCol="0" anchor="ctr"/>
          <a:lstStyle/>
          <a:p>
            <a:pPr marL="0" indent="0">
              <a:buNone/>
            </a:pPr>
            <a:r>
              <a:rPr lang="en-US" sz="1100" dirty="0">
                <a:solidFill>
                  <a:srgbClr val="404040"/>
                </a:solidFill>
                <a:latin typeface="Arial" pitchFamily="34" charset="0"/>
                <a:ea typeface="Arial" pitchFamily="34" charset="-122"/>
                <a:cs typeface="Arial" pitchFamily="34" charset="-120"/>
              </a:rPr>
              <a:t>= facilita el acoplamiento</a:t>
            </a:r>
            <a:endParaRPr lang="en-US" sz="1100" dirty="0"/>
          </a:p>
        </p:txBody>
      </p:sp>
      <p:sp>
        <p:nvSpPr>
          <p:cNvPr id="60" name="Text 58"/>
          <p:cNvSpPr/>
          <p:nvPr/>
        </p:nvSpPr>
        <p:spPr>
          <a:xfrm>
            <a:off x="4700016" y="3747225"/>
            <a:ext cx="1920240" cy="347472"/>
          </a:xfrm>
          <a:prstGeom prst="rect">
            <a:avLst/>
          </a:prstGeom>
          <a:noFill/>
          <a:ln/>
        </p:spPr>
        <p:txBody>
          <a:bodyPr wrap="square" rtlCol="0" anchor="ctr"/>
          <a:lstStyle/>
          <a:p>
            <a:pPr marL="0" indent="0">
              <a:buNone/>
            </a:pPr>
            <a:r>
              <a:rPr lang="en-US" sz="1100" b="1" dirty="0">
                <a:solidFill>
                  <a:srgbClr val="3A7BAA"/>
                </a:solidFill>
                <a:latin typeface="Arial" pitchFamily="34" charset="0"/>
                <a:ea typeface="Arial" pitchFamily="34" charset="-122"/>
                <a:cs typeface="Arial" pitchFamily="34" charset="-120"/>
              </a:rPr>
              <a:t>Desventaja:</a:t>
            </a:r>
            <a:endParaRPr lang="en-US" sz="1100" dirty="0"/>
          </a:p>
        </p:txBody>
      </p:sp>
      <p:sp>
        <p:nvSpPr>
          <p:cNvPr id="61" name="Text 59"/>
          <p:cNvSpPr/>
          <p:nvPr/>
        </p:nvSpPr>
        <p:spPr>
          <a:xfrm>
            <a:off x="6601968" y="3747225"/>
            <a:ext cx="2103120" cy="347472"/>
          </a:xfrm>
          <a:prstGeom prst="rect">
            <a:avLst/>
          </a:prstGeom>
          <a:noFill/>
          <a:ln/>
        </p:spPr>
        <p:txBody>
          <a:bodyPr wrap="square" rtlCol="0" anchor="ctr"/>
          <a:lstStyle/>
          <a:p>
            <a:pPr marL="0" indent="0">
              <a:buNone/>
            </a:pPr>
            <a:r>
              <a:rPr lang="en-US" sz="1100" dirty="0">
                <a:solidFill>
                  <a:srgbClr val="404040"/>
                </a:solidFill>
                <a:latin typeface="Arial" pitchFamily="34" charset="0"/>
                <a:ea typeface="Arial" pitchFamily="34" charset="-122"/>
                <a:cs typeface="Arial" pitchFamily="34" charset="-120"/>
              </a:rPr>
              <a:t>= doble de ancho de banda</a:t>
            </a:r>
            <a:endParaRPr lang="en-US" sz="1100" dirty="0"/>
          </a:p>
        </p:txBody>
      </p:sp>
      <p:sp>
        <p:nvSpPr>
          <p:cNvPr id="62" name="Shape 60"/>
          <p:cNvSpPr/>
          <p:nvPr/>
        </p:nvSpPr>
        <p:spPr>
          <a:xfrm>
            <a:off x="0" y="4846320"/>
            <a:ext cx="9144000" cy="297180"/>
          </a:xfrm>
          <a:prstGeom prst="rect">
            <a:avLst/>
          </a:prstGeom>
          <a:solidFill>
            <a:srgbClr val="2D3030"/>
          </a:solidFill>
          <a:ln w="12700">
            <a:solidFill>
              <a:srgbClr val="2D3030"/>
            </a:solidFill>
            <a:prstDash val="solid"/>
          </a:ln>
        </p:spPr>
        <p:txBody>
          <a:bodyPr/>
          <a:lstStyle/>
          <a:p>
            <a:endParaRPr lang="en-US"/>
          </a:p>
        </p:txBody>
      </p:sp>
      <p:sp>
        <p:nvSpPr>
          <p:cNvPr id="63" name="Text 61"/>
          <p:cNvSpPr/>
          <p:nvPr/>
        </p:nvSpPr>
        <p:spPr>
          <a:xfrm>
            <a:off x="137160" y="4846320"/>
            <a:ext cx="8869680" cy="297180"/>
          </a:xfrm>
          <a:prstGeom prst="rect">
            <a:avLst/>
          </a:prstGeom>
          <a:noFill/>
          <a:ln/>
        </p:spPr>
        <p:txBody>
          <a:bodyPr wrap="square" rtlCol="0" anchor="ctr"/>
          <a:lstStyle/>
          <a:p>
            <a:pPr marL="0" indent="0">
              <a:buNone/>
            </a:pPr>
            <a:r>
              <a:rPr lang="en-US" sz="1000" i="1" dirty="0">
                <a:solidFill>
                  <a:srgbClr val="B9DEF8"/>
                </a:solidFill>
                <a:latin typeface="Arial" pitchFamily="34" charset="0"/>
                <a:ea typeface="Arial" pitchFamily="34" charset="-122"/>
                <a:cs typeface="Arial" pitchFamily="34" charset="-120"/>
              </a:rPr>
              <a:t>🎤 Analogía: en lugar de decir silencio=cero, usás una transición diferente para cada bit. Siempre hay 'movimiento', nunca ambigüedad.</a:t>
            </a:r>
            <a:endParaRPr lang="en-US" sz="1000" dirty="0"/>
          </a:p>
        </p:txBody>
      </p:sp>
      <p:pic>
        <p:nvPicPr>
          <p:cNvPr id="65" name="Imagen 64">
            <a:extLst>
              <a:ext uri="{FF2B5EF4-FFF2-40B4-BE49-F238E27FC236}">
                <a16:creationId xmlns:a16="http://schemas.microsoft.com/office/drawing/2014/main" id="{B0364289-7B10-B9C8-0624-479CC35C1ECB}"/>
              </a:ext>
            </a:extLst>
          </p:cNvPr>
          <p:cNvPicPr>
            <a:picLocks noChangeAspect="1"/>
          </p:cNvPicPr>
          <p:nvPr/>
        </p:nvPicPr>
        <p:blipFill>
          <a:blip r:embed="rId3"/>
          <a:stretch>
            <a:fillRect/>
          </a:stretch>
        </p:blipFill>
        <p:spPr>
          <a:xfrm>
            <a:off x="331778" y="1920240"/>
            <a:ext cx="4058990" cy="970983"/>
          </a:xfrm>
          <a:prstGeom prst="rect">
            <a:avLst/>
          </a:prstGeom>
        </p:spPr>
      </p:pic>
      <p:pic>
        <p:nvPicPr>
          <p:cNvPr id="67" name="Imagen 66">
            <a:extLst>
              <a:ext uri="{FF2B5EF4-FFF2-40B4-BE49-F238E27FC236}">
                <a16:creationId xmlns:a16="http://schemas.microsoft.com/office/drawing/2014/main" id="{A8238D9B-ABF0-F380-142D-44820C7B867B}"/>
              </a:ext>
            </a:extLst>
          </p:cNvPr>
          <p:cNvPicPr>
            <a:picLocks noChangeAspect="1"/>
          </p:cNvPicPr>
          <p:nvPr/>
        </p:nvPicPr>
        <p:blipFill>
          <a:blip r:embed="rId4"/>
          <a:stretch>
            <a:fillRect/>
          </a:stretch>
        </p:blipFill>
        <p:spPr>
          <a:xfrm>
            <a:off x="320040" y="3531399"/>
            <a:ext cx="4070728" cy="1133739"/>
          </a:xfrm>
          <a:prstGeom prst="rect">
            <a:avLst/>
          </a:prstGeom>
        </p:spPr>
      </p:pic>
      <p:pic>
        <p:nvPicPr>
          <p:cNvPr id="69" name="Imagen 68">
            <a:extLst>
              <a:ext uri="{FF2B5EF4-FFF2-40B4-BE49-F238E27FC236}">
                <a16:creationId xmlns:a16="http://schemas.microsoft.com/office/drawing/2014/main" id="{A16B108E-B079-2F63-60C2-28D08A36044C}"/>
              </a:ext>
            </a:extLst>
          </p:cNvPr>
          <p:cNvPicPr>
            <a:picLocks noChangeAspect="1"/>
          </p:cNvPicPr>
          <p:nvPr/>
        </p:nvPicPr>
        <p:blipFill>
          <a:blip r:embed="rId5"/>
          <a:stretch>
            <a:fillRect/>
          </a:stretch>
        </p:blipFill>
        <p:spPr>
          <a:xfrm>
            <a:off x="4800100" y="2454952"/>
            <a:ext cx="3886700" cy="88993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D3030"/>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5AA8D8"/>
          </a:solidFill>
          <a:ln w="12700">
            <a:solidFill>
              <a:srgbClr val="5AA8D8"/>
            </a:solidFill>
            <a:prstDash val="solid"/>
          </a:ln>
        </p:spPr>
        <p:txBody>
          <a:bodyPr/>
          <a:lstStyle/>
          <a:p>
            <a:endParaRPr lang="en-US"/>
          </a:p>
        </p:txBody>
      </p:sp>
      <p:sp>
        <p:nvSpPr>
          <p:cNvPr id="3" name="Shape 1"/>
          <p:cNvSpPr/>
          <p:nvPr/>
        </p:nvSpPr>
        <p:spPr>
          <a:xfrm>
            <a:off x="457200" y="164592"/>
            <a:ext cx="8229600" cy="749808"/>
          </a:xfrm>
          <a:prstGeom prst="rect">
            <a:avLst/>
          </a:prstGeom>
          <a:solidFill>
            <a:srgbClr val="3A7BAA"/>
          </a:solidFill>
          <a:ln w="12700">
            <a:solidFill>
              <a:srgbClr val="3A7BAA"/>
            </a:solidFill>
            <a:prstDash val="solid"/>
          </a:ln>
          <a:effectLst>
            <a:outerShdw blurRad="101600" dist="38100" dir="8100000" algn="bl" rotWithShape="0">
              <a:srgbClr val="000000">
                <a:alpha val="15000"/>
              </a:srgbClr>
            </a:outerShdw>
          </a:effectLst>
        </p:spPr>
        <p:txBody>
          <a:bodyPr/>
          <a:lstStyle/>
          <a:p>
            <a:endParaRPr lang="en-US"/>
          </a:p>
        </p:txBody>
      </p:sp>
      <p:sp>
        <p:nvSpPr>
          <p:cNvPr id="4" name="Text 2"/>
          <p:cNvSpPr/>
          <p:nvPr/>
        </p:nvSpPr>
        <p:spPr>
          <a:xfrm>
            <a:off x="566928" y="164592"/>
            <a:ext cx="8010144" cy="749808"/>
          </a:xfrm>
          <a:prstGeom prst="rect">
            <a:avLst/>
          </a:prstGeom>
          <a:noFill/>
          <a:ln/>
        </p:spPr>
        <p:txBody>
          <a:bodyPr wrap="square" lIns="0" tIns="0" rIns="0" bIns="0" rtlCol="0" anchor="ctr"/>
          <a:lstStyle/>
          <a:p>
            <a:pPr marL="0" indent="0">
              <a:buNone/>
            </a:pPr>
            <a:r>
              <a:rPr lang="en-US" sz="2500" b="1" dirty="0">
                <a:solidFill>
                  <a:srgbClr val="FFFFFF"/>
                </a:solidFill>
                <a:latin typeface="Arial" pitchFamily="34" charset="0"/>
                <a:ea typeface="Arial" pitchFamily="34" charset="-122"/>
                <a:cs typeface="Arial" pitchFamily="34" charset="-120"/>
              </a:rPr>
              <a:t>CSMA/CA — La versión Wi-Fi de CSMA/CD</a:t>
            </a:r>
            <a:endParaRPr lang="en-US" sz="2500" dirty="0"/>
          </a:p>
        </p:txBody>
      </p:sp>
      <p:sp>
        <p:nvSpPr>
          <p:cNvPr id="5" name="Text 3"/>
          <p:cNvSpPr/>
          <p:nvPr/>
        </p:nvSpPr>
        <p:spPr>
          <a:xfrm>
            <a:off x="566928" y="987552"/>
            <a:ext cx="8010144" cy="347472"/>
          </a:xfrm>
          <a:prstGeom prst="rect">
            <a:avLst/>
          </a:prstGeom>
          <a:noFill/>
          <a:ln/>
        </p:spPr>
        <p:txBody>
          <a:bodyPr wrap="square" rtlCol="0" anchor="ctr"/>
          <a:lstStyle/>
          <a:p>
            <a:pPr marL="0" indent="0">
              <a:buNone/>
            </a:pPr>
            <a:r>
              <a:rPr lang="en-US" sz="1200" i="1" dirty="0">
                <a:solidFill>
                  <a:srgbClr val="B9DEF8"/>
                </a:solidFill>
                <a:latin typeface="Arial" pitchFamily="34" charset="0"/>
                <a:ea typeface="Arial" pitchFamily="34" charset="-122"/>
                <a:cs typeface="Arial" pitchFamily="34" charset="-120"/>
              </a:rPr>
              <a:t>Collision Avoidance: evitar antes de que ocurra</a:t>
            </a:r>
            <a:endParaRPr lang="en-US" sz="1200" dirty="0"/>
          </a:p>
        </p:txBody>
      </p:sp>
      <p:sp>
        <p:nvSpPr>
          <p:cNvPr id="6" name="Shape 4"/>
          <p:cNvSpPr/>
          <p:nvPr/>
        </p:nvSpPr>
        <p:spPr>
          <a:xfrm>
            <a:off x="320040" y="1417320"/>
            <a:ext cx="2286000" cy="411480"/>
          </a:xfrm>
          <a:prstGeom prst="rect">
            <a:avLst/>
          </a:prstGeom>
          <a:solidFill>
            <a:srgbClr val="3A7BAA"/>
          </a:solidFill>
          <a:ln w="12700">
            <a:solidFill>
              <a:srgbClr val="3A7BAA"/>
            </a:solidFill>
            <a:prstDash val="solid"/>
          </a:ln>
        </p:spPr>
        <p:txBody>
          <a:bodyPr/>
          <a:lstStyle/>
          <a:p>
            <a:endParaRPr lang="en-US"/>
          </a:p>
        </p:txBody>
      </p:sp>
      <p:sp>
        <p:nvSpPr>
          <p:cNvPr id="7" name="Text 5"/>
          <p:cNvSpPr/>
          <p:nvPr/>
        </p:nvSpPr>
        <p:spPr>
          <a:xfrm>
            <a:off x="374904" y="1417320"/>
            <a:ext cx="2194560" cy="41148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Aspecto</a:t>
            </a:r>
            <a:endParaRPr lang="en-US" sz="1200" dirty="0"/>
          </a:p>
        </p:txBody>
      </p:sp>
      <p:sp>
        <p:nvSpPr>
          <p:cNvPr id="8" name="Shape 6"/>
          <p:cNvSpPr/>
          <p:nvPr/>
        </p:nvSpPr>
        <p:spPr>
          <a:xfrm>
            <a:off x="2606040" y="1417320"/>
            <a:ext cx="3154680" cy="411480"/>
          </a:xfrm>
          <a:prstGeom prst="rect">
            <a:avLst/>
          </a:prstGeom>
          <a:solidFill>
            <a:srgbClr val="5AA8D8"/>
          </a:solidFill>
          <a:ln w="12700">
            <a:solidFill>
              <a:srgbClr val="5AA8D8"/>
            </a:solidFill>
            <a:prstDash val="solid"/>
          </a:ln>
        </p:spPr>
        <p:txBody>
          <a:bodyPr/>
          <a:lstStyle/>
          <a:p>
            <a:endParaRPr lang="en-US"/>
          </a:p>
        </p:txBody>
      </p:sp>
      <p:sp>
        <p:nvSpPr>
          <p:cNvPr id="9" name="Text 7"/>
          <p:cNvSpPr/>
          <p:nvPr/>
        </p:nvSpPr>
        <p:spPr>
          <a:xfrm>
            <a:off x="2660904" y="1417320"/>
            <a:ext cx="3063240" cy="41148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CSMA/CD (Ethernet)</a:t>
            </a:r>
            <a:endParaRPr lang="en-US" sz="1200" dirty="0"/>
          </a:p>
        </p:txBody>
      </p:sp>
      <p:sp>
        <p:nvSpPr>
          <p:cNvPr id="10" name="Shape 8"/>
          <p:cNvSpPr/>
          <p:nvPr/>
        </p:nvSpPr>
        <p:spPr>
          <a:xfrm>
            <a:off x="5760720" y="1417320"/>
            <a:ext cx="3154680" cy="411480"/>
          </a:xfrm>
          <a:prstGeom prst="rect">
            <a:avLst/>
          </a:prstGeom>
          <a:solidFill>
            <a:srgbClr val="1565C0"/>
          </a:solidFill>
          <a:ln w="12700">
            <a:solidFill>
              <a:srgbClr val="1565C0"/>
            </a:solidFill>
            <a:prstDash val="solid"/>
          </a:ln>
        </p:spPr>
        <p:txBody>
          <a:bodyPr/>
          <a:lstStyle/>
          <a:p>
            <a:endParaRPr lang="en-US"/>
          </a:p>
        </p:txBody>
      </p:sp>
      <p:sp>
        <p:nvSpPr>
          <p:cNvPr id="11" name="Text 9"/>
          <p:cNvSpPr/>
          <p:nvPr/>
        </p:nvSpPr>
        <p:spPr>
          <a:xfrm>
            <a:off x="5815584" y="1417320"/>
            <a:ext cx="3063240" cy="41148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CSMA/CA (Wi-Fi)</a:t>
            </a:r>
            <a:endParaRPr lang="en-US" sz="1200" dirty="0"/>
          </a:p>
        </p:txBody>
      </p:sp>
      <p:sp>
        <p:nvSpPr>
          <p:cNvPr id="12" name="Shape 10"/>
          <p:cNvSpPr/>
          <p:nvPr/>
        </p:nvSpPr>
        <p:spPr>
          <a:xfrm>
            <a:off x="320040" y="1901952"/>
            <a:ext cx="2286000" cy="484632"/>
          </a:xfrm>
          <a:prstGeom prst="rect">
            <a:avLst/>
          </a:prstGeom>
          <a:solidFill>
            <a:srgbClr val="3A4550"/>
          </a:solidFill>
          <a:ln w="6350">
            <a:solidFill>
              <a:srgbClr val="B9DEF8"/>
            </a:solidFill>
            <a:prstDash val="solid"/>
          </a:ln>
        </p:spPr>
        <p:txBody>
          <a:bodyPr/>
          <a:lstStyle/>
          <a:p>
            <a:endParaRPr lang="en-US"/>
          </a:p>
        </p:txBody>
      </p:sp>
      <p:sp>
        <p:nvSpPr>
          <p:cNvPr id="13" name="Text 11"/>
          <p:cNvSpPr/>
          <p:nvPr/>
        </p:nvSpPr>
        <p:spPr>
          <a:xfrm>
            <a:off x="384048" y="1901952"/>
            <a:ext cx="2176272" cy="484632"/>
          </a:xfrm>
          <a:prstGeom prst="rect">
            <a:avLst/>
          </a:prstGeom>
          <a:noFill/>
          <a:ln/>
        </p:spPr>
        <p:txBody>
          <a:bodyPr wrap="square" rtlCol="0" anchor="ctr"/>
          <a:lstStyle/>
          <a:p>
            <a:pPr marL="0" indent="0">
              <a:buNone/>
            </a:pPr>
            <a:r>
              <a:rPr lang="en-US" sz="1000" b="1" dirty="0">
                <a:solidFill>
                  <a:srgbClr val="B9DEF8"/>
                </a:solidFill>
                <a:latin typeface="Arial" pitchFamily="34" charset="0"/>
                <a:ea typeface="Arial" pitchFamily="34" charset="-122"/>
                <a:cs typeface="Arial" pitchFamily="34" charset="-120"/>
              </a:rPr>
              <a:t>Última letra</a:t>
            </a:r>
            <a:endParaRPr lang="en-US" sz="1000" dirty="0"/>
          </a:p>
        </p:txBody>
      </p:sp>
      <p:sp>
        <p:nvSpPr>
          <p:cNvPr id="14" name="Shape 12"/>
          <p:cNvSpPr/>
          <p:nvPr/>
        </p:nvSpPr>
        <p:spPr>
          <a:xfrm>
            <a:off x="2606040" y="1901952"/>
            <a:ext cx="3154680" cy="484632"/>
          </a:xfrm>
          <a:prstGeom prst="rect">
            <a:avLst/>
          </a:prstGeom>
          <a:solidFill>
            <a:srgbClr val="3A4550"/>
          </a:solidFill>
          <a:ln w="6350">
            <a:solidFill>
              <a:srgbClr val="B9DEF8"/>
            </a:solidFill>
            <a:prstDash val="solid"/>
          </a:ln>
        </p:spPr>
        <p:txBody>
          <a:bodyPr/>
          <a:lstStyle/>
          <a:p>
            <a:endParaRPr lang="en-US"/>
          </a:p>
        </p:txBody>
      </p:sp>
      <p:sp>
        <p:nvSpPr>
          <p:cNvPr id="15" name="Text 13"/>
          <p:cNvSpPr/>
          <p:nvPr/>
        </p:nvSpPr>
        <p:spPr>
          <a:xfrm>
            <a:off x="2670048" y="1901952"/>
            <a:ext cx="3044952" cy="484632"/>
          </a:xfrm>
          <a:prstGeom prst="rect">
            <a:avLst/>
          </a:prstGeom>
          <a:noFill/>
          <a:ln/>
        </p:spPr>
        <p:txBody>
          <a:bodyPr wrap="square" rtlCol="0" anchor="ctr"/>
          <a:lstStyle/>
          <a:p>
            <a:pPr marL="0" indent="0">
              <a:buNone/>
            </a:pPr>
            <a:r>
              <a:rPr lang="en-US" sz="1000" dirty="0">
                <a:solidFill>
                  <a:srgbClr val="FFFFFF"/>
                </a:solidFill>
                <a:latin typeface="Arial" pitchFamily="34" charset="0"/>
                <a:ea typeface="Arial" pitchFamily="34" charset="-122"/>
                <a:cs typeface="Arial" pitchFamily="34" charset="-120"/>
              </a:rPr>
              <a:t>CD — Collision Detection (detecta DESPUÉS)</a:t>
            </a:r>
            <a:endParaRPr lang="en-US" sz="1000" dirty="0"/>
          </a:p>
        </p:txBody>
      </p:sp>
      <p:sp>
        <p:nvSpPr>
          <p:cNvPr id="16" name="Shape 14"/>
          <p:cNvSpPr/>
          <p:nvPr/>
        </p:nvSpPr>
        <p:spPr>
          <a:xfrm>
            <a:off x="5760720" y="1901952"/>
            <a:ext cx="3154680" cy="484632"/>
          </a:xfrm>
          <a:prstGeom prst="rect">
            <a:avLst/>
          </a:prstGeom>
          <a:solidFill>
            <a:srgbClr val="3A4550"/>
          </a:solidFill>
          <a:ln w="6350">
            <a:solidFill>
              <a:srgbClr val="B9DEF8"/>
            </a:solidFill>
            <a:prstDash val="solid"/>
          </a:ln>
        </p:spPr>
        <p:txBody>
          <a:bodyPr/>
          <a:lstStyle/>
          <a:p>
            <a:endParaRPr lang="en-US"/>
          </a:p>
        </p:txBody>
      </p:sp>
      <p:sp>
        <p:nvSpPr>
          <p:cNvPr id="17" name="Text 15"/>
          <p:cNvSpPr/>
          <p:nvPr/>
        </p:nvSpPr>
        <p:spPr>
          <a:xfrm>
            <a:off x="5824728" y="1901952"/>
            <a:ext cx="3044952" cy="484632"/>
          </a:xfrm>
          <a:prstGeom prst="rect">
            <a:avLst/>
          </a:prstGeom>
          <a:noFill/>
          <a:ln/>
        </p:spPr>
        <p:txBody>
          <a:bodyPr wrap="square" rtlCol="0" anchor="ctr"/>
          <a:lstStyle/>
          <a:p>
            <a:pPr marL="0" indent="0">
              <a:buNone/>
            </a:pPr>
            <a:r>
              <a:rPr lang="en-US" sz="1000" dirty="0">
                <a:solidFill>
                  <a:srgbClr val="FFFFFF"/>
                </a:solidFill>
                <a:latin typeface="Arial" pitchFamily="34" charset="0"/>
                <a:ea typeface="Arial" pitchFamily="34" charset="-122"/>
                <a:cs typeface="Arial" pitchFamily="34" charset="-120"/>
              </a:rPr>
              <a:t>CA — Collision Avoidance (evita ANTES)</a:t>
            </a:r>
            <a:endParaRPr lang="en-US" sz="1000" dirty="0"/>
          </a:p>
        </p:txBody>
      </p:sp>
      <p:sp>
        <p:nvSpPr>
          <p:cNvPr id="18" name="Shape 16"/>
          <p:cNvSpPr/>
          <p:nvPr/>
        </p:nvSpPr>
        <p:spPr>
          <a:xfrm>
            <a:off x="320040" y="2404872"/>
            <a:ext cx="2286000" cy="484632"/>
          </a:xfrm>
          <a:prstGeom prst="rect">
            <a:avLst/>
          </a:prstGeom>
          <a:solidFill>
            <a:srgbClr val="323E48"/>
          </a:solidFill>
          <a:ln w="6350">
            <a:solidFill>
              <a:srgbClr val="B9DEF8"/>
            </a:solidFill>
            <a:prstDash val="solid"/>
          </a:ln>
        </p:spPr>
        <p:txBody>
          <a:bodyPr/>
          <a:lstStyle/>
          <a:p>
            <a:endParaRPr lang="en-US"/>
          </a:p>
        </p:txBody>
      </p:sp>
      <p:sp>
        <p:nvSpPr>
          <p:cNvPr id="19" name="Text 17"/>
          <p:cNvSpPr/>
          <p:nvPr/>
        </p:nvSpPr>
        <p:spPr>
          <a:xfrm>
            <a:off x="384048" y="2404872"/>
            <a:ext cx="2176272" cy="484632"/>
          </a:xfrm>
          <a:prstGeom prst="rect">
            <a:avLst/>
          </a:prstGeom>
          <a:noFill/>
          <a:ln/>
        </p:spPr>
        <p:txBody>
          <a:bodyPr wrap="square" rtlCol="0" anchor="ctr"/>
          <a:lstStyle/>
          <a:p>
            <a:pPr marL="0" indent="0">
              <a:buNone/>
            </a:pPr>
            <a:r>
              <a:rPr lang="en-US" sz="1000" b="1" dirty="0">
                <a:solidFill>
                  <a:srgbClr val="B9DEF8"/>
                </a:solidFill>
                <a:latin typeface="Arial" pitchFamily="34" charset="0"/>
                <a:ea typeface="Arial" pitchFamily="34" charset="-122"/>
                <a:cs typeface="Arial" pitchFamily="34" charset="-120"/>
              </a:rPr>
              <a:t>¿Por qué diferente?</a:t>
            </a:r>
            <a:endParaRPr lang="en-US" sz="1000" dirty="0"/>
          </a:p>
        </p:txBody>
      </p:sp>
      <p:sp>
        <p:nvSpPr>
          <p:cNvPr id="20" name="Shape 18"/>
          <p:cNvSpPr/>
          <p:nvPr/>
        </p:nvSpPr>
        <p:spPr>
          <a:xfrm>
            <a:off x="2606040" y="2404872"/>
            <a:ext cx="3154680" cy="484632"/>
          </a:xfrm>
          <a:prstGeom prst="rect">
            <a:avLst/>
          </a:prstGeom>
          <a:solidFill>
            <a:srgbClr val="323E48"/>
          </a:solidFill>
          <a:ln w="6350">
            <a:solidFill>
              <a:srgbClr val="B9DEF8"/>
            </a:solidFill>
            <a:prstDash val="solid"/>
          </a:ln>
        </p:spPr>
        <p:txBody>
          <a:bodyPr/>
          <a:lstStyle/>
          <a:p>
            <a:endParaRPr lang="en-US"/>
          </a:p>
        </p:txBody>
      </p:sp>
      <p:sp>
        <p:nvSpPr>
          <p:cNvPr id="21" name="Text 19"/>
          <p:cNvSpPr/>
          <p:nvPr/>
        </p:nvSpPr>
        <p:spPr>
          <a:xfrm>
            <a:off x="2670048" y="2404872"/>
            <a:ext cx="3044952" cy="484632"/>
          </a:xfrm>
          <a:prstGeom prst="rect">
            <a:avLst/>
          </a:prstGeom>
          <a:noFill/>
          <a:ln/>
        </p:spPr>
        <p:txBody>
          <a:bodyPr wrap="square" rtlCol="0" anchor="ctr"/>
          <a:lstStyle/>
          <a:p>
            <a:pPr marL="0" indent="0">
              <a:buNone/>
            </a:pPr>
            <a:r>
              <a:rPr lang="en-US" sz="1000" dirty="0">
                <a:solidFill>
                  <a:srgbClr val="FFFFFF"/>
                </a:solidFill>
                <a:latin typeface="Arial" pitchFamily="34" charset="0"/>
                <a:ea typeface="Arial" pitchFamily="34" charset="-122"/>
                <a:cs typeface="Arial" pitchFamily="34" charset="-120"/>
              </a:rPr>
              <a:t>En cable: el emisor puede detectar la colisión eléctricamente mientras transmite.</a:t>
            </a:r>
            <a:endParaRPr lang="en-US" sz="1000" dirty="0"/>
          </a:p>
        </p:txBody>
      </p:sp>
      <p:sp>
        <p:nvSpPr>
          <p:cNvPr id="22" name="Shape 20"/>
          <p:cNvSpPr/>
          <p:nvPr/>
        </p:nvSpPr>
        <p:spPr>
          <a:xfrm>
            <a:off x="5760720" y="2404872"/>
            <a:ext cx="3154680" cy="484632"/>
          </a:xfrm>
          <a:prstGeom prst="rect">
            <a:avLst/>
          </a:prstGeom>
          <a:solidFill>
            <a:srgbClr val="323E48"/>
          </a:solidFill>
          <a:ln w="6350">
            <a:solidFill>
              <a:srgbClr val="B9DEF8"/>
            </a:solidFill>
            <a:prstDash val="solid"/>
          </a:ln>
        </p:spPr>
        <p:txBody>
          <a:bodyPr/>
          <a:lstStyle/>
          <a:p>
            <a:endParaRPr lang="en-US"/>
          </a:p>
        </p:txBody>
      </p:sp>
      <p:sp>
        <p:nvSpPr>
          <p:cNvPr id="23" name="Text 21"/>
          <p:cNvSpPr/>
          <p:nvPr/>
        </p:nvSpPr>
        <p:spPr>
          <a:xfrm>
            <a:off x="5824728" y="2404872"/>
            <a:ext cx="3044952" cy="484632"/>
          </a:xfrm>
          <a:prstGeom prst="rect">
            <a:avLst/>
          </a:prstGeom>
          <a:noFill/>
          <a:ln/>
        </p:spPr>
        <p:txBody>
          <a:bodyPr wrap="square" rtlCol="0" anchor="ctr"/>
          <a:lstStyle/>
          <a:p>
            <a:pPr marL="0" indent="0">
              <a:buNone/>
            </a:pPr>
            <a:r>
              <a:rPr lang="en-US" sz="1000" dirty="0">
                <a:solidFill>
                  <a:srgbClr val="FFFFFF"/>
                </a:solidFill>
                <a:latin typeface="Arial" pitchFamily="34" charset="0"/>
                <a:ea typeface="Arial" pitchFamily="34" charset="-122"/>
                <a:cs typeface="Arial" pitchFamily="34" charset="-120"/>
              </a:rPr>
              <a:t>En radio: el emisor no puede escuchar mientras transmite (half-duplex radio, terminal oculto).</a:t>
            </a:r>
            <a:endParaRPr lang="en-US" sz="1000" dirty="0"/>
          </a:p>
        </p:txBody>
      </p:sp>
      <p:sp>
        <p:nvSpPr>
          <p:cNvPr id="24" name="Shape 22"/>
          <p:cNvSpPr/>
          <p:nvPr/>
        </p:nvSpPr>
        <p:spPr>
          <a:xfrm>
            <a:off x="320040" y="2907792"/>
            <a:ext cx="2286000" cy="484632"/>
          </a:xfrm>
          <a:prstGeom prst="rect">
            <a:avLst/>
          </a:prstGeom>
          <a:solidFill>
            <a:srgbClr val="3A4550"/>
          </a:solidFill>
          <a:ln w="6350">
            <a:solidFill>
              <a:srgbClr val="B9DEF8"/>
            </a:solidFill>
            <a:prstDash val="solid"/>
          </a:ln>
        </p:spPr>
        <p:txBody>
          <a:bodyPr/>
          <a:lstStyle/>
          <a:p>
            <a:endParaRPr lang="en-US"/>
          </a:p>
        </p:txBody>
      </p:sp>
      <p:sp>
        <p:nvSpPr>
          <p:cNvPr id="25" name="Text 23"/>
          <p:cNvSpPr/>
          <p:nvPr/>
        </p:nvSpPr>
        <p:spPr>
          <a:xfrm>
            <a:off x="384048" y="2907792"/>
            <a:ext cx="2176272" cy="484632"/>
          </a:xfrm>
          <a:prstGeom prst="rect">
            <a:avLst/>
          </a:prstGeom>
          <a:noFill/>
          <a:ln/>
        </p:spPr>
        <p:txBody>
          <a:bodyPr wrap="square" rtlCol="0" anchor="ctr"/>
          <a:lstStyle/>
          <a:p>
            <a:pPr marL="0" indent="0">
              <a:buNone/>
            </a:pPr>
            <a:r>
              <a:rPr lang="en-US" sz="1000" b="1" dirty="0">
                <a:solidFill>
                  <a:srgbClr val="B9DEF8"/>
                </a:solidFill>
                <a:latin typeface="Arial" pitchFamily="34" charset="0"/>
                <a:ea typeface="Arial" pitchFamily="34" charset="-122"/>
                <a:cs typeface="Arial" pitchFamily="34" charset="-120"/>
              </a:rPr>
              <a:t>Mecanismo extra</a:t>
            </a:r>
            <a:endParaRPr lang="en-US" sz="1000" dirty="0"/>
          </a:p>
        </p:txBody>
      </p:sp>
      <p:sp>
        <p:nvSpPr>
          <p:cNvPr id="26" name="Shape 24"/>
          <p:cNvSpPr/>
          <p:nvPr/>
        </p:nvSpPr>
        <p:spPr>
          <a:xfrm>
            <a:off x="2606040" y="2907792"/>
            <a:ext cx="3154680" cy="484632"/>
          </a:xfrm>
          <a:prstGeom prst="rect">
            <a:avLst/>
          </a:prstGeom>
          <a:solidFill>
            <a:srgbClr val="3A4550"/>
          </a:solidFill>
          <a:ln w="6350">
            <a:solidFill>
              <a:srgbClr val="B9DEF8"/>
            </a:solidFill>
            <a:prstDash val="solid"/>
          </a:ln>
        </p:spPr>
        <p:txBody>
          <a:bodyPr/>
          <a:lstStyle/>
          <a:p>
            <a:endParaRPr lang="en-US"/>
          </a:p>
        </p:txBody>
      </p:sp>
      <p:sp>
        <p:nvSpPr>
          <p:cNvPr id="27" name="Text 25"/>
          <p:cNvSpPr/>
          <p:nvPr/>
        </p:nvSpPr>
        <p:spPr>
          <a:xfrm>
            <a:off x="2670048" y="2907792"/>
            <a:ext cx="3044952" cy="484632"/>
          </a:xfrm>
          <a:prstGeom prst="rect">
            <a:avLst/>
          </a:prstGeom>
          <a:noFill/>
          <a:ln/>
        </p:spPr>
        <p:txBody>
          <a:bodyPr wrap="square" rtlCol="0" anchor="ctr"/>
          <a:lstStyle/>
          <a:p>
            <a:pPr marL="0" indent="0">
              <a:buNone/>
            </a:pPr>
            <a:r>
              <a:rPr lang="en-US" sz="1000" dirty="0">
                <a:solidFill>
                  <a:srgbClr val="FFFFFF"/>
                </a:solidFill>
                <a:latin typeface="Arial" pitchFamily="34" charset="0"/>
                <a:ea typeface="Arial" pitchFamily="34" charset="-122"/>
                <a:cs typeface="Arial" pitchFamily="34" charset="-120"/>
              </a:rPr>
              <a:t>Jam signal + backoff post-colisión</a:t>
            </a:r>
            <a:endParaRPr lang="en-US" sz="1000" dirty="0"/>
          </a:p>
        </p:txBody>
      </p:sp>
      <p:sp>
        <p:nvSpPr>
          <p:cNvPr id="28" name="Shape 26"/>
          <p:cNvSpPr/>
          <p:nvPr/>
        </p:nvSpPr>
        <p:spPr>
          <a:xfrm>
            <a:off x="5760720" y="2907792"/>
            <a:ext cx="3154680" cy="484632"/>
          </a:xfrm>
          <a:prstGeom prst="rect">
            <a:avLst/>
          </a:prstGeom>
          <a:solidFill>
            <a:srgbClr val="3A4550"/>
          </a:solidFill>
          <a:ln w="6350">
            <a:solidFill>
              <a:srgbClr val="B9DEF8"/>
            </a:solidFill>
            <a:prstDash val="solid"/>
          </a:ln>
        </p:spPr>
        <p:txBody>
          <a:bodyPr/>
          <a:lstStyle/>
          <a:p>
            <a:endParaRPr lang="en-US"/>
          </a:p>
        </p:txBody>
      </p:sp>
      <p:sp>
        <p:nvSpPr>
          <p:cNvPr id="29" name="Text 27"/>
          <p:cNvSpPr/>
          <p:nvPr/>
        </p:nvSpPr>
        <p:spPr>
          <a:xfrm>
            <a:off x="5824728" y="2907792"/>
            <a:ext cx="3044952" cy="484632"/>
          </a:xfrm>
          <a:prstGeom prst="rect">
            <a:avLst/>
          </a:prstGeom>
          <a:noFill/>
          <a:ln/>
        </p:spPr>
        <p:txBody>
          <a:bodyPr wrap="square" rtlCol="0" anchor="ctr"/>
          <a:lstStyle/>
          <a:p>
            <a:pPr marL="0" indent="0">
              <a:buNone/>
            </a:pPr>
            <a:r>
              <a:rPr lang="en-US" sz="1000" dirty="0">
                <a:solidFill>
                  <a:srgbClr val="FFFFFF"/>
                </a:solidFill>
                <a:latin typeface="Arial" pitchFamily="34" charset="0"/>
                <a:ea typeface="Arial" pitchFamily="34" charset="-122"/>
                <a:cs typeface="Arial" pitchFamily="34" charset="-120"/>
              </a:rPr>
              <a:t>DIFS + backoff aleatorio ANTES + RTS/CTS opcional + ACK obligatorio</a:t>
            </a:r>
            <a:endParaRPr lang="en-US" sz="1000" dirty="0"/>
          </a:p>
        </p:txBody>
      </p:sp>
      <p:sp>
        <p:nvSpPr>
          <p:cNvPr id="30" name="Shape 28"/>
          <p:cNvSpPr/>
          <p:nvPr/>
        </p:nvSpPr>
        <p:spPr>
          <a:xfrm>
            <a:off x="320040" y="3410712"/>
            <a:ext cx="2286000" cy="484632"/>
          </a:xfrm>
          <a:prstGeom prst="rect">
            <a:avLst/>
          </a:prstGeom>
          <a:solidFill>
            <a:srgbClr val="323E48"/>
          </a:solidFill>
          <a:ln w="6350">
            <a:solidFill>
              <a:srgbClr val="B9DEF8"/>
            </a:solidFill>
            <a:prstDash val="solid"/>
          </a:ln>
        </p:spPr>
        <p:txBody>
          <a:bodyPr/>
          <a:lstStyle/>
          <a:p>
            <a:endParaRPr lang="en-US"/>
          </a:p>
        </p:txBody>
      </p:sp>
      <p:sp>
        <p:nvSpPr>
          <p:cNvPr id="31" name="Text 29"/>
          <p:cNvSpPr/>
          <p:nvPr/>
        </p:nvSpPr>
        <p:spPr>
          <a:xfrm>
            <a:off x="384048" y="3410712"/>
            <a:ext cx="2176272" cy="484632"/>
          </a:xfrm>
          <a:prstGeom prst="rect">
            <a:avLst/>
          </a:prstGeom>
          <a:noFill/>
          <a:ln/>
        </p:spPr>
        <p:txBody>
          <a:bodyPr wrap="square" rtlCol="0" anchor="ctr"/>
          <a:lstStyle/>
          <a:p>
            <a:pPr marL="0" indent="0">
              <a:buNone/>
            </a:pPr>
            <a:r>
              <a:rPr lang="en-US" sz="1000" b="1" dirty="0">
                <a:solidFill>
                  <a:srgbClr val="B9DEF8"/>
                </a:solidFill>
                <a:latin typeface="Arial" pitchFamily="34" charset="0"/>
                <a:ea typeface="Arial" pitchFamily="34" charset="-122"/>
                <a:cs typeface="Arial" pitchFamily="34" charset="-120"/>
              </a:rPr>
              <a:t>Costo de ACK</a:t>
            </a:r>
            <a:endParaRPr lang="en-US" sz="1000" dirty="0"/>
          </a:p>
        </p:txBody>
      </p:sp>
      <p:sp>
        <p:nvSpPr>
          <p:cNvPr id="32" name="Shape 30"/>
          <p:cNvSpPr/>
          <p:nvPr/>
        </p:nvSpPr>
        <p:spPr>
          <a:xfrm>
            <a:off x="2606040" y="3410712"/>
            <a:ext cx="3154680" cy="484632"/>
          </a:xfrm>
          <a:prstGeom prst="rect">
            <a:avLst/>
          </a:prstGeom>
          <a:solidFill>
            <a:srgbClr val="323E48"/>
          </a:solidFill>
          <a:ln w="6350">
            <a:solidFill>
              <a:srgbClr val="B9DEF8"/>
            </a:solidFill>
            <a:prstDash val="solid"/>
          </a:ln>
        </p:spPr>
        <p:txBody>
          <a:bodyPr/>
          <a:lstStyle/>
          <a:p>
            <a:endParaRPr lang="en-US"/>
          </a:p>
        </p:txBody>
      </p:sp>
      <p:sp>
        <p:nvSpPr>
          <p:cNvPr id="33" name="Text 31"/>
          <p:cNvSpPr/>
          <p:nvPr/>
        </p:nvSpPr>
        <p:spPr>
          <a:xfrm>
            <a:off x="2670048" y="3410712"/>
            <a:ext cx="3044952" cy="484632"/>
          </a:xfrm>
          <a:prstGeom prst="rect">
            <a:avLst/>
          </a:prstGeom>
          <a:noFill/>
          <a:ln/>
        </p:spPr>
        <p:txBody>
          <a:bodyPr wrap="square" rtlCol="0" anchor="ctr"/>
          <a:lstStyle/>
          <a:p>
            <a:pPr marL="0" indent="0">
              <a:buNone/>
            </a:pPr>
            <a:r>
              <a:rPr lang="en-US" sz="1000" dirty="0">
                <a:solidFill>
                  <a:srgbClr val="FFFFFF"/>
                </a:solidFill>
                <a:latin typeface="Arial" pitchFamily="34" charset="0"/>
                <a:ea typeface="Arial" pitchFamily="34" charset="-122"/>
                <a:cs typeface="Arial" pitchFamily="34" charset="-120"/>
              </a:rPr>
              <a:t>No hay ACK por trama (TCP lo maneja en capas superiores)</a:t>
            </a:r>
            <a:endParaRPr lang="en-US" sz="1000" dirty="0"/>
          </a:p>
        </p:txBody>
      </p:sp>
      <p:sp>
        <p:nvSpPr>
          <p:cNvPr id="34" name="Shape 32"/>
          <p:cNvSpPr/>
          <p:nvPr/>
        </p:nvSpPr>
        <p:spPr>
          <a:xfrm>
            <a:off x="5760720" y="3410712"/>
            <a:ext cx="3154680" cy="484632"/>
          </a:xfrm>
          <a:prstGeom prst="rect">
            <a:avLst/>
          </a:prstGeom>
          <a:solidFill>
            <a:srgbClr val="323E48"/>
          </a:solidFill>
          <a:ln w="6350">
            <a:solidFill>
              <a:srgbClr val="B9DEF8"/>
            </a:solidFill>
            <a:prstDash val="solid"/>
          </a:ln>
        </p:spPr>
        <p:txBody>
          <a:bodyPr/>
          <a:lstStyle/>
          <a:p>
            <a:endParaRPr lang="en-US"/>
          </a:p>
        </p:txBody>
      </p:sp>
      <p:sp>
        <p:nvSpPr>
          <p:cNvPr id="35" name="Text 33"/>
          <p:cNvSpPr/>
          <p:nvPr/>
        </p:nvSpPr>
        <p:spPr>
          <a:xfrm>
            <a:off x="5824728" y="3410712"/>
            <a:ext cx="3044952" cy="484632"/>
          </a:xfrm>
          <a:prstGeom prst="rect">
            <a:avLst/>
          </a:prstGeom>
          <a:noFill/>
          <a:ln/>
        </p:spPr>
        <p:txBody>
          <a:bodyPr wrap="square" rtlCol="0" anchor="ctr"/>
          <a:lstStyle/>
          <a:p>
            <a:pPr marL="0" indent="0">
              <a:buNone/>
            </a:pPr>
            <a:r>
              <a:rPr lang="en-US" sz="1000" dirty="0">
                <a:solidFill>
                  <a:srgbClr val="FFFFFF"/>
                </a:solidFill>
                <a:latin typeface="Arial" pitchFamily="34" charset="0"/>
                <a:ea typeface="Arial" pitchFamily="34" charset="-122"/>
                <a:cs typeface="Arial" pitchFamily="34" charset="-120"/>
              </a:rPr>
              <a:t>Cada trama requiere un ACK. Mayor overhead, pero confirmación por trama.</a:t>
            </a:r>
            <a:endParaRPr lang="en-US" sz="1000" dirty="0"/>
          </a:p>
        </p:txBody>
      </p:sp>
      <p:sp>
        <p:nvSpPr>
          <p:cNvPr id="36" name="Shape 34"/>
          <p:cNvSpPr/>
          <p:nvPr/>
        </p:nvSpPr>
        <p:spPr>
          <a:xfrm>
            <a:off x="320040" y="3913632"/>
            <a:ext cx="2286000" cy="484632"/>
          </a:xfrm>
          <a:prstGeom prst="rect">
            <a:avLst/>
          </a:prstGeom>
          <a:solidFill>
            <a:srgbClr val="3A4550"/>
          </a:solidFill>
          <a:ln w="6350">
            <a:solidFill>
              <a:srgbClr val="B9DEF8"/>
            </a:solidFill>
            <a:prstDash val="solid"/>
          </a:ln>
        </p:spPr>
        <p:txBody>
          <a:bodyPr/>
          <a:lstStyle/>
          <a:p>
            <a:endParaRPr lang="en-US"/>
          </a:p>
        </p:txBody>
      </p:sp>
      <p:sp>
        <p:nvSpPr>
          <p:cNvPr id="37" name="Text 35"/>
          <p:cNvSpPr/>
          <p:nvPr/>
        </p:nvSpPr>
        <p:spPr>
          <a:xfrm>
            <a:off x="384048" y="3913632"/>
            <a:ext cx="2176272" cy="484632"/>
          </a:xfrm>
          <a:prstGeom prst="rect">
            <a:avLst/>
          </a:prstGeom>
          <a:noFill/>
          <a:ln/>
        </p:spPr>
        <p:txBody>
          <a:bodyPr wrap="square" rtlCol="0" anchor="ctr"/>
          <a:lstStyle/>
          <a:p>
            <a:pPr marL="0" indent="0">
              <a:buNone/>
            </a:pPr>
            <a:r>
              <a:rPr lang="en-US" sz="1000" b="1" dirty="0">
                <a:solidFill>
                  <a:srgbClr val="B9DEF8"/>
                </a:solidFill>
                <a:latin typeface="Arial" pitchFamily="34" charset="0"/>
                <a:ea typeface="Arial" pitchFamily="34" charset="-122"/>
                <a:cs typeface="Arial" pitchFamily="34" charset="-120"/>
              </a:rPr>
              <a:t>Estado actual</a:t>
            </a:r>
            <a:endParaRPr lang="en-US" sz="1000" dirty="0"/>
          </a:p>
        </p:txBody>
      </p:sp>
      <p:sp>
        <p:nvSpPr>
          <p:cNvPr id="38" name="Shape 36"/>
          <p:cNvSpPr/>
          <p:nvPr/>
        </p:nvSpPr>
        <p:spPr>
          <a:xfrm>
            <a:off x="2606040" y="3913632"/>
            <a:ext cx="3154680" cy="484632"/>
          </a:xfrm>
          <a:prstGeom prst="rect">
            <a:avLst/>
          </a:prstGeom>
          <a:solidFill>
            <a:srgbClr val="3A4550"/>
          </a:solidFill>
          <a:ln w="6350">
            <a:solidFill>
              <a:srgbClr val="B9DEF8"/>
            </a:solidFill>
            <a:prstDash val="solid"/>
          </a:ln>
        </p:spPr>
        <p:txBody>
          <a:bodyPr/>
          <a:lstStyle/>
          <a:p>
            <a:endParaRPr lang="en-US"/>
          </a:p>
        </p:txBody>
      </p:sp>
      <p:sp>
        <p:nvSpPr>
          <p:cNvPr id="39" name="Text 37"/>
          <p:cNvSpPr/>
          <p:nvPr/>
        </p:nvSpPr>
        <p:spPr>
          <a:xfrm>
            <a:off x="2670048" y="3913632"/>
            <a:ext cx="3044952" cy="484632"/>
          </a:xfrm>
          <a:prstGeom prst="rect">
            <a:avLst/>
          </a:prstGeom>
          <a:noFill/>
          <a:ln/>
        </p:spPr>
        <p:txBody>
          <a:bodyPr wrap="square" rtlCol="0" anchor="ctr"/>
          <a:lstStyle/>
          <a:p>
            <a:pPr marL="0" indent="0">
              <a:buNone/>
            </a:pPr>
            <a:r>
              <a:rPr lang="en-US" sz="1000" dirty="0">
                <a:solidFill>
                  <a:srgbClr val="FFFFFF"/>
                </a:solidFill>
                <a:latin typeface="Arial" pitchFamily="34" charset="0"/>
                <a:ea typeface="Arial" pitchFamily="34" charset="-122"/>
                <a:cs typeface="Arial" pitchFamily="34" charset="-120"/>
              </a:rPr>
              <a:t>Obsoleto en full-duplex; base de 802.3</a:t>
            </a:r>
            <a:endParaRPr lang="en-US" sz="1000" dirty="0"/>
          </a:p>
        </p:txBody>
      </p:sp>
      <p:sp>
        <p:nvSpPr>
          <p:cNvPr id="40" name="Shape 38"/>
          <p:cNvSpPr/>
          <p:nvPr/>
        </p:nvSpPr>
        <p:spPr>
          <a:xfrm>
            <a:off x="5760720" y="3913632"/>
            <a:ext cx="3154680" cy="484632"/>
          </a:xfrm>
          <a:prstGeom prst="rect">
            <a:avLst/>
          </a:prstGeom>
          <a:solidFill>
            <a:srgbClr val="3A4550"/>
          </a:solidFill>
          <a:ln w="6350">
            <a:solidFill>
              <a:srgbClr val="B9DEF8"/>
            </a:solidFill>
            <a:prstDash val="solid"/>
          </a:ln>
        </p:spPr>
        <p:txBody>
          <a:bodyPr/>
          <a:lstStyle/>
          <a:p>
            <a:endParaRPr lang="en-US"/>
          </a:p>
        </p:txBody>
      </p:sp>
      <p:sp>
        <p:nvSpPr>
          <p:cNvPr id="41" name="Text 39"/>
          <p:cNvSpPr/>
          <p:nvPr/>
        </p:nvSpPr>
        <p:spPr>
          <a:xfrm>
            <a:off x="5824728" y="3913632"/>
            <a:ext cx="3044952" cy="484632"/>
          </a:xfrm>
          <a:prstGeom prst="rect">
            <a:avLst/>
          </a:prstGeom>
          <a:noFill/>
          <a:ln/>
        </p:spPr>
        <p:txBody>
          <a:bodyPr wrap="square" rtlCol="0" anchor="ctr"/>
          <a:lstStyle/>
          <a:p>
            <a:pPr marL="0" indent="0">
              <a:buNone/>
            </a:pPr>
            <a:r>
              <a:rPr lang="en-US" sz="1000" dirty="0">
                <a:solidFill>
                  <a:srgbClr val="FFFFFF"/>
                </a:solidFill>
                <a:latin typeface="Arial" pitchFamily="34" charset="0"/>
                <a:ea typeface="Arial" pitchFamily="34" charset="-122"/>
                <a:cs typeface="Arial" pitchFamily="34" charset="-120"/>
              </a:rPr>
              <a:t>Vigente en todo Wi-Fi: 802.11a/b/g/n/ac/ax/be</a:t>
            </a:r>
            <a:endParaRPr lang="en-US" sz="1000" dirty="0"/>
          </a:p>
        </p:txBody>
      </p:sp>
      <p:sp>
        <p:nvSpPr>
          <p:cNvPr id="42" name="Shape 40"/>
          <p:cNvSpPr/>
          <p:nvPr/>
        </p:nvSpPr>
        <p:spPr>
          <a:xfrm>
            <a:off x="320040" y="4416552"/>
            <a:ext cx="2286000" cy="484632"/>
          </a:xfrm>
          <a:prstGeom prst="rect">
            <a:avLst/>
          </a:prstGeom>
          <a:solidFill>
            <a:srgbClr val="323E48"/>
          </a:solidFill>
          <a:ln w="6350">
            <a:solidFill>
              <a:srgbClr val="B9DEF8"/>
            </a:solidFill>
            <a:prstDash val="solid"/>
          </a:ln>
        </p:spPr>
        <p:txBody>
          <a:bodyPr/>
          <a:lstStyle/>
          <a:p>
            <a:endParaRPr lang="en-US"/>
          </a:p>
        </p:txBody>
      </p:sp>
      <p:sp>
        <p:nvSpPr>
          <p:cNvPr id="43" name="Text 41"/>
          <p:cNvSpPr/>
          <p:nvPr/>
        </p:nvSpPr>
        <p:spPr>
          <a:xfrm>
            <a:off x="384048" y="4416552"/>
            <a:ext cx="2176272" cy="484632"/>
          </a:xfrm>
          <a:prstGeom prst="rect">
            <a:avLst/>
          </a:prstGeom>
          <a:noFill/>
          <a:ln/>
        </p:spPr>
        <p:txBody>
          <a:bodyPr wrap="square" rtlCol="0" anchor="ctr"/>
          <a:lstStyle/>
          <a:p>
            <a:pPr marL="0" indent="0">
              <a:buNone/>
            </a:pPr>
            <a:r>
              <a:rPr lang="en-US" sz="1000" b="1" dirty="0">
                <a:solidFill>
                  <a:srgbClr val="B9DEF8"/>
                </a:solidFill>
                <a:latin typeface="Arial" pitchFamily="34" charset="0"/>
                <a:ea typeface="Arial" pitchFamily="34" charset="-122"/>
                <a:cs typeface="Arial" pitchFamily="34" charset="-120"/>
              </a:rPr>
              <a:t>Mejora moderna</a:t>
            </a:r>
            <a:endParaRPr lang="en-US" sz="1000" dirty="0"/>
          </a:p>
        </p:txBody>
      </p:sp>
      <p:sp>
        <p:nvSpPr>
          <p:cNvPr id="44" name="Shape 42"/>
          <p:cNvSpPr/>
          <p:nvPr/>
        </p:nvSpPr>
        <p:spPr>
          <a:xfrm>
            <a:off x="2606040" y="4416552"/>
            <a:ext cx="3154680" cy="484632"/>
          </a:xfrm>
          <a:prstGeom prst="rect">
            <a:avLst/>
          </a:prstGeom>
          <a:solidFill>
            <a:srgbClr val="323E48"/>
          </a:solidFill>
          <a:ln w="6350">
            <a:solidFill>
              <a:srgbClr val="B9DEF8"/>
            </a:solidFill>
            <a:prstDash val="solid"/>
          </a:ln>
        </p:spPr>
        <p:txBody>
          <a:bodyPr/>
          <a:lstStyle/>
          <a:p>
            <a:endParaRPr lang="en-US"/>
          </a:p>
        </p:txBody>
      </p:sp>
      <p:sp>
        <p:nvSpPr>
          <p:cNvPr id="45" name="Text 43"/>
          <p:cNvSpPr/>
          <p:nvPr/>
        </p:nvSpPr>
        <p:spPr>
          <a:xfrm>
            <a:off x="2670048" y="4416552"/>
            <a:ext cx="3044952" cy="484632"/>
          </a:xfrm>
          <a:prstGeom prst="rect">
            <a:avLst/>
          </a:prstGeom>
          <a:noFill/>
          <a:ln/>
        </p:spPr>
        <p:txBody>
          <a:bodyPr wrap="square" rtlCol="0" anchor="ctr"/>
          <a:lstStyle/>
          <a:p>
            <a:pPr marL="0" indent="0">
              <a:buNone/>
            </a:pPr>
            <a:r>
              <a:rPr lang="en-US" sz="1000" dirty="0">
                <a:solidFill>
                  <a:srgbClr val="FFFFFF"/>
                </a:solidFill>
                <a:latin typeface="Arial" pitchFamily="34" charset="0"/>
                <a:ea typeface="Arial" pitchFamily="34" charset="-122"/>
                <a:cs typeface="Arial" pitchFamily="34" charset="-120"/>
              </a:rPr>
              <a:t>Switches full-duplex eliminan colisiones</a:t>
            </a:r>
            <a:endParaRPr lang="en-US" sz="1000" dirty="0"/>
          </a:p>
        </p:txBody>
      </p:sp>
      <p:sp>
        <p:nvSpPr>
          <p:cNvPr id="46" name="Shape 44"/>
          <p:cNvSpPr/>
          <p:nvPr/>
        </p:nvSpPr>
        <p:spPr>
          <a:xfrm>
            <a:off x="5760720" y="4416552"/>
            <a:ext cx="3154680" cy="484632"/>
          </a:xfrm>
          <a:prstGeom prst="rect">
            <a:avLst/>
          </a:prstGeom>
          <a:solidFill>
            <a:srgbClr val="323E48"/>
          </a:solidFill>
          <a:ln w="6350">
            <a:solidFill>
              <a:srgbClr val="B9DEF8"/>
            </a:solidFill>
            <a:prstDash val="solid"/>
          </a:ln>
        </p:spPr>
        <p:txBody>
          <a:bodyPr/>
          <a:lstStyle/>
          <a:p>
            <a:endParaRPr lang="en-US"/>
          </a:p>
        </p:txBody>
      </p:sp>
      <p:sp>
        <p:nvSpPr>
          <p:cNvPr id="47" name="Text 45"/>
          <p:cNvSpPr/>
          <p:nvPr/>
        </p:nvSpPr>
        <p:spPr>
          <a:xfrm>
            <a:off x="5824728" y="4416552"/>
            <a:ext cx="3044952" cy="484632"/>
          </a:xfrm>
          <a:prstGeom prst="rect">
            <a:avLst/>
          </a:prstGeom>
          <a:noFill/>
          <a:ln/>
        </p:spPr>
        <p:txBody>
          <a:bodyPr wrap="square" rtlCol="0" anchor="ctr"/>
          <a:lstStyle/>
          <a:p>
            <a:pPr marL="0" indent="0">
              <a:buNone/>
            </a:pPr>
            <a:r>
              <a:rPr lang="en-US" sz="1000" dirty="0">
                <a:solidFill>
                  <a:srgbClr val="FFFFFF"/>
                </a:solidFill>
                <a:latin typeface="Arial" pitchFamily="34" charset="0"/>
                <a:ea typeface="Arial" pitchFamily="34" charset="-122"/>
                <a:cs typeface="Arial" pitchFamily="34" charset="-120"/>
              </a:rPr>
              <a:t>Wi-Fi 6 (OFDMA): múltiples usuarios en sub-canales simultáneos</a:t>
            </a:r>
            <a:endParaRPr lang="en-US" sz="1000" dirty="0"/>
          </a:p>
        </p:txBody>
      </p:sp>
      <p:sp>
        <p:nvSpPr>
          <p:cNvPr id="48" name="Shape 46"/>
          <p:cNvSpPr/>
          <p:nvPr/>
        </p:nvSpPr>
        <p:spPr>
          <a:xfrm>
            <a:off x="0" y="4846320"/>
            <a:ext cx="9144000" cy="297180"/>
          </a:xfrm>
          <a:prstGeom prst="rect">
            <a:avLst/>
          </a:prstGeom>
          <a:solidFill>
            <a:srgbClr val="2D3030"/>
          </a:solidFill>
          <a:ln w="12700">
            <a:solidFill>
              <a:srgbClr val="2D3030"/>
            </a:solidFill>
            <a:prstDash val="solid"/>
          </a:ln>
        </p:spPr>
        <p:txBody>
          <a:bodyPr/>
          <a:lstStyle/>
          <a:p>
            <a:endParaRPr lang="en-US"/>
          </a:p>
        </p:txBody>
      </p:sp>
      <p:sp>
        <p:nvSpPr>
          <p:cNvPr id="49" name="Text 47"/>
          <p:cNvSpPr/>
          <p:nvPr/>
        </p:nvSpPr>
        <p:spPr>
          <a:xfrm>
            <a:off x="137160" y="4846320"/>
            <a:ext cx="8869680" cy="297180"/>
          </a:xfrm>
          <a:prstGeom prst="rect">
            <a:avLst/>
          </a:prstGeom>
          <a:noFill/>
          <a:ln/>
        </p:spPr>
        <p:txBody>
          <a:bodyPr wrap="square" rtlCol="0" anchor="ctr"/>
          <a:lstStyle/>
          <a:p>
            <a:pPr marL="0" indent="0">
              <a:buNone/>
            </a:pPr>
            <a:r>
              <a:rPr lang="en-US" sz="1000" i="1" dirty="0">
                <a:solidFill>
                  <a:srgbClr val="B9DEF8"/>
                </a:solidFill>
                <a:latin typeface="Arial" pitchFamily="34" charset="0"/>
                <a:ea typeface="Arial" pitchFamily="34" charset="-122"/>
                <a:cs typeface="Arial" pitchFamily="34" charset="-120"/>
              </a:rPr>
              <a:t>🎤 Preguntar: ¿por qué en Wi-Fi no se puede usar Collision Detection? (Un celular que transmite no puede 'escuchar' al mismo tiempo en radio — es half-duplex)</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5AA8D8"/>
          </a:solidFill>
          <a:ln w="12700">
            <a:solidFill>
              <a:srgbClr val="5AA8D8"/>
            </a:solidFill>
            <a:prstDash val="solid"/>
          </a:ln>
        </p:spPr>
        <p:txBody>
          <a:bodyPr/>
          <a:lstStyle/>
          <a:p>
            <a:endParaRPr lang="en-US"/>
          </a:p>
        </p:txBody>
      </p:sp>
      <p:sp>
        <p:nvSpPr>
          <p:cNvPr id="3" name="Shape 1"/>
          <p:cNvSpPr/>
          <p:nvPr/>
        </p:nvSpPr>
        <p:spPr>
          <a:xfrm>
            <a:off x="0" y="0"/>
            <a:ext cx="9144000" cy="73152"/>
          </a:xfrm>
          <a:prstGeom prst="rect">
            <a:avLst/>
          </a:prstGeom>
          <a:solidFill>
            <a:srgbClr val="5AA8D8"/>
          </a:solidFill>
          <a:ln w="12700">
            <a:solidFill>
              <a:srgbClr val="5AA8D8"/>
            </a:solidFill>
            <a:prstDash val="solid"/>
          </a:ln>
        </p:spPr>
        <p:txBody>
          <a:bodyPr/>
          <a:lstStyle/>
          <a:p>
            <a:endParaRPr lang="en-US"/>
          </a:p>
        </p:txBody>
      </p:sp>
      <p:sp>
        <p:nvSpPr>
          <p:cNvPr id="4" name="Shape 2"/>
          <p:cNvSpPr/>
          <p:nvPr/>
        </p:nvSpPr>
        <p:spPr>
          <a:xfrm>
            <a:off x="274320" y="201168"/>
            <a:ext cx="2011680" cy="502920"/>
          </a:xfrm>
          <a:prstGeom prst="rect">
            <a:avLst/>
          </a:prstGeom>
          <a:solidFill>
            <a:srgbClr val="3A7BAA"/>
          </a:solidFill>
          <a:ln w="12700">
            <a:solidFill>
              <a:srgbClr val="3A7BAA"/>
            </a:solidFill>
            <a:prstDash val="solid"/>
          </a:ln>
          <a:effectLst>
            <a:outerShdw blurRad="101600" dist="38100" dir="8100000" algn="bl" rotWithShape="0">
              <a:srgbClr val="000000">
                <a:alpha val="15000"/>
              </a:srgbClr>
            </a:outerShdw>
          </a:effectLst>
        </p:spPr>
        <p:txBody>
          <a:bodyPr/>
          <a:lstStyle/>
          <a:p>
            <a:endParaRPr lang="en-US"/>
          </a:p>
        </p:txBody>
      </p:sp>
      <p:sp>
        <p:nvSpPr>
          <p:cNvPr id="5" name="Text 3"/>
          <p:cNvSpPr/>
          <p:nvPr/>
        </p:nvSpPr>
        <p:spPr>
          <a:xfrm>
            <a:off x="274320" y="201168"/>
            <a:ext cx="2011680" cy="502920"/>
          </a:xfrm>
          <a:prstGeom prst="rect">
            <a:avLst/>
          </a:prstGeom>
          <a:noFill/>
          <a:ln/>
        </p:spPr>
        <p:txBody>
          <a:bodyPr wrap="square"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VERDADERO / FALSO</a:t>
            </a:r>
            <a:endParaRPr lang="en-US" sz="900" dirty="0"/>
          </a:p>
        </p:txBody>
      </p:sp>
      <p:sp>
        <p:nvSpPr>
          <p:cNvPr id="6" name="Text 4"/>
          <p:cNvSpPr/>
          <p:nvPr/>
        </p:nvSpPr>
        <p:spPr>
          <a:xfrm>
            <a:off x="2377440" y="274320"/>
            <a:ext cx="2743200" cy="347472"/>
          </a:xfrm>
          <a:prstGeom prst="rect">
            <a:avLst/>
          </a:prstGeom>
          <a:noFill/>
          <a:ln/>
        </p:spPr>
        <p:txBody>
          <a:bodyPr wrap="square" rtlCol="0" anchor="ctr"/>
          <a:lstStyle/>
          <a:p>
            <a:pPr marL="0" indent="0">
              <a:buNone/>
            </a:pPr>
            <a:r>
              <a:rPr lang="en-US" sz="1100" i="1" dirty="0">
                <a:solidFill>
                  <a:srgbClr val="808080"/>
                </a:solidFill>
                <a:latin typeface="Arial" pitchFamily="34" charset="0"/>
                <a:ea typeface="Arial" pitchFamily="34" charset="-122"/>
                <a:cs typeface="Arial" pitchFamily="34" charset="-120"/>
              </a:rPr>
              <a:t>Pregunta 1 de 3</a:t>
            </a:r>
            <a:endParaRPr lang="en-US" sz="1100" dirty="0"/>
          </a:p>
        </p:txBody>
      </p:sp>
      <p:sp>
        <p:nvSpPr>
          <p:cNvPr id="7" name="Shape 5"/>
          <p:cNvSpPr/>
          <p:nvPr/>
        </p:nvSpPr>
        <p:spPr>
          <a:xfrm>
            <a:off x="457200" y="914400"/>
            <a:ext cx="8229600" cy="2651760"/>
          </a:xfrm>
          <a:prstGeom prst="rect">
            <a:avLst/>
          </a:prstGeom>
          <a:solidFill>
            <a:srgbClr val="E8F4FC"/>
          </a:solidFill>
          <a:ln w="12700">
            <a:solidFill>
              <a:srgbClr val="5AA8D8"/>
            </a:solidFill>
            <a:prstDash val="solid"/>
          </a:ln>
          <a:effectLst>
            <a:outerShdw blurRad="101600" dist="38100" dir="8100000" algn="bl" rotWithShape="0">
              <a:srgbClr val="000000">
                <a:alpha val="15000"/>
              </a:srgbClr>
            </a:outerShdw>
          </a:effectLst>
        </p:spPr>
        <p:txBody>
          <a:bodyPr/>
          <a:lstStyle/>
          <a:p>
            <a:endParaRPr lang="en-US"/>
          </a:p>
        </p:txBody>
      </p:sp>
      <p:sp>
        <p:nvSpPr>
          <p:cNvPr id="8" name="Shape 6"/>
          <p:cNvSpPr/>
          <p:nvPr/>
        </p:nvSpPr>
        <p:spPr>
          <a:xfrm>
            <a:off x="457200" y="914400"/>
            <a:ext cx="91440" cy="2651760"/>
          </a:xfrm>
          <a:prstGeom prst="rect">
            <a:avLst/>
          </a:prstGeom>
          <a:solidFill>
            <a:srgbClr val="5AA8D8"/>
          </a:solidFill>
          <a:ln w="12700">
            <a:solidFill>
              <a:srgbClr val="5AA8D8"/>
            </a:solidFill>
            <a:prstDash val="solid"/>
          </a:ln>
        </p:spPr>
        <p:txBody>
          <a:bodyPr/>
          <a:lstStyle/>
          <a:p>
            <a:endParaRPr lang="en-US"/>
          </a:p>
        </p:txBody>
      </p:sp>
      <p:sp>
        <p:nvSpPr>
          <p:cNvPr id="9" name="Text 7"/>
          <p:cNvSpPr/>
          <p:nvPr/>
        </p:nvSpPr>
        <p:spPr>
          <a:xfrm>
            <a:off x="685800" y="960120"/>
            <a:ext cx="7818120" cy="2560320"/>
          </a:xfrm>
          <a:prstGeom prst="rect">
            <a:avLst/>
          </a:prstGeom>
          <a:noFill/>
          <a:ln/>
        </p:spPr>
        <p:txBody>
          <a:bodyPr wrap="square" rtlCol="0" anchor="ctr"/>
          <a:lstStyle/>
          <a:p>
            <a:pPr marL="0" indent="0">
              <a:buNone/>
            </a:pPr>
            <a:r>
              <a:rPr lang="en-US" sz="1700" b="1" dirty="0">
                <a:solidFill>
                  <a:srgbClr val="2D3030"/>
                </a:solidFill>
                <a:latin typeface="Arial" pitchFamily="34" charset="0"/>
                <a:ea typeface="Arial" pitchFamily="34" charset="-122"/>
                <a:cs typeface="Arial" pitchFamily="34" charset="-120"/>
              </a:rPr>
              <a:t>En CSMA/CD, si dos hosts detectan el medio libre al mismo tiempo y transmiten, el backoff exponencial garantiza que NO habrá una segunda colisión.</a:t>
            </a:r>
            <a:endParaRPr lang="en-US" sz="1700" dirty="0"/>
          </a:p>
        </p:txBody>
      </p:sp>
      <p:sp>
        <p:nvSpPr>
          <p:cNvPr id="10" name="Shape 8"/>
          <p:cNvSpPr/>
          <p:nvPr/>
        </p:nvSpPr>
        <p:spPr>
          <a:xfrm>
            <a:off x="1371600" y="3749040"/>
            <a:ext cx="2560320" cy="640080"/>
          </a:xfrm>
          <a:prstGeom prst="rect">
            <a:avLst/>
          </a:prstGeom>
          <a:solidFill>
            <a:srgbClr val="FFFFFF"/>
          </a:solidFill>
          <a:ln w="12700">
            <a:solidFill>
              <a:srgbClr val="5AA8D8"/>
            </a:solidFill>
            <a:prstDash val="solid"/>
          </a:ln>
        </p:spPr>
        <p:txBody>
          <a:bodyPr/>
          <a:lstStyle/>
          <a:p>
            <a:endParaRPr lang="en-US"/>
          </a:p>
        </p:txBody>
      </p:sp>
      <p:sp>
        <p:nvSpPr>
          <p:cNvPr id="11" name="Text 9"/>
          <p:cNvSpPr/>
          <p:nvPr/>
        </p:nvSpPr>
        <p:spPr>
          <a:xfrm>
            <a:off x="1371600" y="3749040"/>
            <a:ext cx="2560320" cy="640080"/>
          </a:xfrm>
          <a:prstGeom prst="rect">
            <a:avLst/>
          </a:prstGeom>
          <a:noFill/>
          <a:ln/>
        </p:spPr>
        <p:txBody>
          <a:bodyPr wrap="square" rtlCol="0" anchor="ctr"/>
          <a:lstStyle/>
          <a:p>
            <a:pPr marL="0" indent="0" algn="ctr">
              <a:buNone/>
            </a:pPr>
            <a:r>
              <a:rPr lang="en-US" sz="1600" b="1" dirty="0">
                <a:solidFill>
                  <a:srgbClr val="3A7BAA"/>
                </a:solidFill>
                <a:latin typeface="Arial" pitchFamily="34" charset="0"/>
                <a:ea typeface="Arial" pitchFamily="34" charset="-122"/>
                <a:cs typeface="Arial" pitchFamily="34" charset="-120"/>
              </a:rPr>
              <a:t>✅  VERDADERO</a:t>
            </a:r>
            <a:endParaRPr lang="en-US" sz="1600" dirty="0"/>
          </a:p>
        </p:txBody>
      </p:sp>
      <p:sp>
        <p:nvSpPr>
          <p:cNvPr id="12" name="Shape 10"/>
          <p:cNvSpPr/>
          <p:nvPr/>
        </p:nvSpPr>
        <p:spPr>
          <a:xfrm>
            <a:off x="5212080" y="3749040"/>
            <a:ext cx="2560320" cy="640080"/>
          </a:xfrm>
          <a:prstGeom prst="rect">
            <a:avLst/>
          </a:prstGeom>
          <a:solidFill>
            <a:srgbClr val="FFFFFF"/>
          </a:solidFill>
          <a:ln w="12700">
            <a:solidFill>
              <a:srgbClr val="5AA8D8"/>
            </a:solidFill>
            <a:prstDash val="solid"/>
          </a:ln>
        </p:spPr>
        <p:txBody>
          <a:bodyPr/>
          <a:lstStyle/>
          <a:p>
            <a:endParaRPr lang="en-US"/>
          </a:p>
        </p:txBody>
      </p:sp>
      <p:sp>
        <p:nvSpPr>
          <p:cNvPr id="13" name="Text 11"/>
          <p:cNvSpPr/>
          <p:nvPr/>
        </p:nvSpPr>
        <p:spPr>
          <a:xfrm>
            <a:off x="5212080" y="3749040"/>
            <a:ext cx="2560320" cy="640080"/>
          </a:xfrm>
          <a:prstGeom prst="rect">
            <a:avLst/>
          </a:prstGeom>
          <a:noFill/>
          <a:ln/>
        </p:spPr>
        <p:txBody>
          <a:bodyPr wrap="square" rtlCol="0" anchor="ctr"/>
          <a:lstStyle/>
          <a:p>
            <a:pPr marL="0" indent="0" algn="ctr">
              <a:buNone/>
            </a:pPr>
            <a:r>
              <a:rPr lang="en-US" sz="1600" b="1" dirty="0">
                <a:solidFill>
                  <a:srgbClr val="3A7BAA"/>
                </a:solidFill>
                <a:latin typeface="Arial" pitchFamily="34" charset="0"/>
                <a:ea typeface="Arial" pitchFamily="34" charset="-122"/>
                <a:cs typeface="Arial" pitchFamily="34" charset="-120"/>
              </a:rPr>
              <a:t>❌  FALSO</a:t>
            </a:r>
            <a:endParaRPr lang="en-US" sz="1600" dirty="0"/>
          </a:p>
        </p:txBody>
      </p:sp>
      <p:sp>
        <p:nvSpPr>
          <p:cNvPr id="14" name="Shape 12"/>
          <p:cNvSpPr/>
          <p:nvPr/>
        </p:nvSpPr>
        <p:spPr>
          <a:xfrm>
            <a:off x="0" y="4846320"/>
            <a:ext cx="9144000" cy="297180"/>
          </a:xfrm>
          <a:prstGeom prst="rect">
            <a:avLst/>
          </a:prstGeom>
          <a:solidFill>
            <a:srgbClr val="2D3030"/>
          </a:solidFill>
          <a:ln w="12700">
            <a:solidFill>
              <a:srgbClr val="2D3030"/>
            </a:solidFill>
            <a:prstDash val="solid"/>
          </a:ln>
        </p:spPr>
        <p:txBody>
          <a:bodyPr/>
          <a:lstStyle/>
          <a:p>
            <a:endParaRPr lang="en-US"/>
          </a:p>
        </p:txBody>
      </p:sp>
      <p:sp>
        <p:nvSpPr>
          <p:cNvPr id="15" name="Text 13"/>
          <p:cNvSpPr/>
          <p:nvPr/>
        </p:nvSpPr>
        <p:spPr>
          <a:xfrm>
            <a:off x="137160" y="4846320"/>
            <a:ext cx="8869680" cy="297180"/>
          </a:xfrm>
          <a:prstGeom prst="rect">
            <a:avLst/>
          </a:prstGeom>
          <a:noFill/>
          <a:ln/>
        </p:spPr>
        <p:txBody>
          <a:bodyPr wrap="square" rtlCol="0" anchor="ctr"/>
          <a:lstStyle/>
          <a:p>
            <a:pPr marL="0" indent="0">
              <a:buNone/>
            </a:pPr>
            <a:r>
              <a:rPr lang="en-US" sz="1000" i="1" dirty="0">
                <a:solidFill>
                  <a:srgbClr val="B9DEF8"/>
                </a:solidFill>
                <a:latin typeface="Arial" pitchFamily="34" charset="0"/>
                <a:ea typeface="Arial" pitchFamily="34" charset="-122"/>
                <a:cs typeface="Arial" pitchFamily="34" charset="-120"/>
              </a:rPr>
              <a:t>🎤 Dar un minuto para pensar. Pedir justificación antes de revelar la respuesta.</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D3030"/>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5AA8D8"/>
          </a:solidFill>
          <a:ln w="12700">
            <a:solidFill>
              <a:srgbClr val="5AA8D8"/>
            </a:solidFill>
            <a:prstDash val="solid"/>
          </a:ln>
        </p:spPr>
        <p:txBody>
          <a:bodyPr/>
          <a:lstStyle/>
          <a:p>
            <a:endParaRPr lang="en-US"/>
          </a:p>
        </p:txBody>
      </p:sp>
      <p:sp>
        <p:nvSpPr>
          <p:cNvPr id="3" name="Shape 1"/>
          <p:cNvSpPr/>
          <p:nvPr/>
        </p:nvSpPr>
        <p:spPr>
          <a:xfrm>
            <a:off x="0" y="0"/>
            <a:ext cx="9144000" cy="73152"/>
          </a:xfrm>
          <a:prstGeom prst="rect">
            <a:avLst/>
          </a:prstGeom>
          <a:solidFill>
            <a:srgbClr val="5AA8D8"/>
          </a:solidFill>
          <a:ln w="12700">
            <a:solidFill>
              <a:srgbClr val="5AA8D8"/>
            </a:solidFill>
            <a:prstDash val="solid"/>
          </a:ln>
        </p:spPr>
        <p:txBody>
          <a:bodyPr/>
          <a:lstStyle/>
          <a:p>
            <a:endParaRPr lang="en-US"/>
          </a:p>
        </p:txBody>
      </p:sp>
      <p:sp>
        <p:nvSpPr>
          <p:cNvPr id="4" name="Shape 2"/>
          <p:cNvSpPr/>
          <p:nvPr/>
        </p:nvSpPr>
        <p:spPr>
          <a:xfrm>
            <a:off x="274320" y="201168"/>
            <a:ext cx="2011680" cy="502920"/>
          </a:xfrm>
          <a:prstGeom prst="rect">
            <a:avLst/>
          </a:prstGeom>
          <a:solidFill>
            <a:srgbClr val="3A7BAA"/>
          </a:solidFill>
          <a:ln w="12700">
            <a:solidFill>
              <a:srgbClr val="3A7BAA"/>
            </a:solidFill>
            <a:prstDash val="solid"/>
          </a:ln>
          <a:effectLst>
            <a:outerShdw blurRad="101600" dist="38100" dir="8100000" algn="bl" rotWithShape="0">
              <a:srgbClr val="000000">
                <a:alpha val="15000"/>
              </a:srgbClr>
            </a:outerShdw>
          </a:effectLst>
        </p:spPr>
        <p:txBody>
          <a:bodyPr/>
          <a:lstStyle/>
          <a:p>
            <a:endParaRPr lang="en-US"/>
          </a:p>
        </p:txBody>
      </p:sp>
      <p:sp>
        <p:nvSpPr>
          <p:cNvPr id="5" name="Text 3"/>
          <p:cNvSpPr/>
          <p:nvPr/>
        </p:nvSpPr>
        <p:spPr>
          <a:xfrm>
            <a:off x="274320" y="201168"/>
            <a:ext cx="2011680" cy="50292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RESPUESTA</a:t>
            </a:r>
            <a:endParaRPr lang="en-US" sz="1200" dirty="0"/>
          </a:p>
        </p:txBody>
      </p:sp>
      <p:sp>
        <p:nvSpPr>
          <p:cNvPr id="6" name="Shape 4"/>
          <p:cNvSpPr/>
          <p:nvPr/>
        </p:nvSpPr>
        <p:spPr>
          <a:xfrm>
            <a:off x="2743200" y="164592"/>
            <a:ext cx="3657600" cy="594360"/>
          </a:xfrm>
          <a:prstGeom prst="rect">
            <a:avLst/>
          </a:prstGeom>
          <a:solidFill>
            <a:srgbClr val="C62828"/>
          </a:solidFill>
          <a:ln w="12700">
            <a:solidFill>
              <a:srgbClr val="C62828"/>
            </a:solidFill>
            <a:prstDash val="solid"/>
          </a:ln>
          <a:effectLst>
            <a:outerShdw blurRad="101600" dist="38100" dir="8100000" algn="bl" rotWithShape="0">
              <a:srgbClr val="000000">
                <a:alpha val="15000"/>
              </a:srgbClr>
            </a:outerShdw>
          </a:effectLst>
        </p:spPr>
        <p:txBody>
          <a:bodyPr/>
          <a:lstStyle/>
          <a:p>
            <a:endParaRPr lang="en-US"/>
          </a:p>
        </p:txBody>
      </p:sp>
      <p:sp>
        <p:nvSpPr>
          <p:cNvPr id="7" name="Text 5"/>
          <p:cNvSpPr/>
          <p:nvPr/>
        </p:nvSpPr>
        <p:spPr>
          <a:xfrm>
            <a:off x="2743200" y="164592"/>
            <a:ext cx="3657600" cy="594360"/>
          </a:xfrm>
          <a:prstGeom prst="rect">
            <a:avLst/>
          </a:prstGeom>
          <a:noFill/>
          <a:ln/>
        </p:spPr>
        <p:txBody>
          <a:bodyPr wrap="square" rtlCol="0" anchor="ctr"/>
          <a:lstStyle/>
          <a:p>
            <a:pPr marL="0" indent="0" algn="ctr">
              <a:buNone/>
            </a:pPr>
            <a:r>
              <a:rPr lang="en-US" sz="2000" b="1" dirty="0">
                <a:solidFill>
                  <a:srgbClr val="FFFFFF"/>
                </a:solidFill>
                <a:latin typeface="Arial" pitchFamily="34" charset="0"/>
                <a:ea typeface="Arial" pitchFamily="34" charset="-122"/>
                <a:cs typeface="Arial" pitchFamily="34" charset="-120"/>
              </a:rPr>
              <a:t>❌  FALSO</a:t>
            </a:r>
            <a:endParaRPr lang="en-US" sz="2000" dirty="0"/>
          </a:p>
        </p:txBody>
      </p:sp>
      <p:sp>
        <p:nvSpPr>
          <p:cNvPr id="8" name="Shape 6"/>
          <p:cNvSpPr/>
          <p:nvPr/>
        </p:nvSpPr>
        <p:spPr>
          <a:xfrm>
            <a:off x="365760" y="914400"/>
            <a:ext cx="8412480" cy="777240"/>
          </a:xfrm>
          <a:prstGeom prst="rect">
            <a:avLst/>
          </a:prstGeom>
          <a:solidFill>
            <a:srgbClr val="3A4550"/>
          </a:solidFill>
          <a:ln w="12700">
            <a:solidFill>
              <a:srgbClr val="404040"/>
            </a:solidFill>
            <a:prstDash val="solid"/>
          </a:ln>
        </p:spPr>
        <p:txBody>
          <a:bodyPr/>
          <a:lstStyle/>
          <a:p>
            <a:endParaRPr lang="en-US"/>
          </a:p>
        </p:txBody>
      </p:sp>
      <p:sp>
        <p:nvSpPr>
          <p:cNvPr id="9" name="Text 7"/>
          <p:cNvSpPr/>
          <p:nvPr/>
        </p:nvSpPr>
        <p:spPr>
          <a:xfrm>
            <a:off x="502920" y="914400"/>
            <a:ext cx="8138160" cy="777240"/>
          </a:xfrm>
          <a:prstGeom prst="rect">
            <a:avLst/>
          </a:prstGeom>
          <a:noFill/>
          <a:ln/>
        </p:spPr>
        <p:txBody>
          <a:bodyPr wrap="square" rtlCol="0" anchor="ctr"/>
          <a:lstStyle/>
          <a:p>
            <a:pPr marL="0" indent="0">
              <a:buNone/>
            </a:pPr>
            <a:r>
              <a:rPr lang="en-US" sz="1050" i="1" dirty="0">
                <a:solidFill>
                  <a:srgbClr val="808080"/>
                </a:solidFill>
                <a:latin typeface="Arial" pitchFamily="34" charset="0"/>
                <a:ea typeface="Arial" pitchFamily="34" charset="-122"/>
                <a:cs typeface="Arial" pitchFamily="34" charset="-120"/>
              </a:rPr>
              <a:t>En CSMA/CD, si dos hosts detectan el medio libre al mismo tiempo y transmiten, el backoff exponencial garantiza que NO habrá una segunda colisión.</a:t>
            </a:r>
            <a:endParaRPr lang="en-US" sz="1050" dirty="0"/>
          </a:p>
        </p:txBody>
      </p:sp>
      <p:sp>
        <p:nvSpPr>
          <p:cNvPr id="10" name="Shape 8"/>
          <p:cNvSpPr/>
          <p:nvPr/>
        </p:nvSpPr>
        <p:spPr>
          <a:xfrm>
            <a:off x="365760" y="1828800"/>
            <a:ext cx="8412480" cy="2880360"/>
          </a:xfrm>
          <a:prstGeom prst="rect">
            <a:avLst/>
          </a:prstGeom>
          <a:solidFill>
            <a:srgbClr val="E8F4FC"/>
          </a:solidFill>
          <a:ln w="12700">
            <a:solidFill>
              <a:srgbClr val="5AA8D8"/>
            </a:solidFill>
            <a:prstDash val="solid"/>
          </a:ln>
          <a:effectLst>
            <a:outerShdw blurRad="101600" dist="38100" dir="8100000" algn="bl" rotWithShape="0">
              <a:srgbClr val="000000">
                <a:alpha val="15000"/>
              </a:srgbClr>
            </a:outerShdw>
          </a:effectLst>
        </p:spPr>
        <p:txBody>
          <a:bodyPr/>
          <a:lstStyle/>
          <a:p>
            <a:endParaRPr lang="en-US"/>
          </a:p>
        </p:txBody>
      </p:sp>
      <p:sp>
        <p:nvSpPr>
          <p:cNvPr id="11" name="Shape 9"/>
          <p:cNvSpPr/>
          <p:nvPr/>
        </p:nvSpPr>
        <p:spPr>
          <a:xfrm>
            <a:off x="365760" y="1828800"/>
            <a:ext cx="8412480" cy="384048"/>
          </a:xfrm>
          <a:prstGeom prst="rect">
            <a:avLst/>
          </a:prstGeom>
          <a:solidFill>
            <a:srgbClr val="3A7BAA"/>
          </a:solidFill>
          <a:ln w="12700">
            <a:solidFill>
              <a:srgbClr val="3A7BAA"/>
            </a:solidFill>
            <a:prstDash val="solid"/>
          </a:ln>
        </p:spPr>
        <p:txBody>
          <a:bodyPr/>
          <a:lstStyle/>
          <a:p>
            <a:endParaRPr lang="en-US"/>
          </a:p>
        </p:txBody>
      </p:sp>
      <p:sp>
        <p:nvSpPr>
          <p:cNvPr id="12" name="Text 10"/>
          <p:cNvSpPr/>
          <p:nvPr/>
        </p:nvSpPr>
        <p:spPr>
          <a:xfrm>
            <a:off x="457200" y="1828800"/>
            <a:ext cx="8229600" cy="384048"/>
          </a:xfrm>
          <a:prstGeom prst="rect">
            <a:avLst/>
          </a:prstGeom>
          <a:noFill/>
          <a:ln/>
        </p:spPr>
        <p:txBody>
          <a:bodyPr wrap="square" rtlCol="0" anchor="ctr"/>
          <a:lstStyle/>
          <a:p>
            <a:pPr marL="0" indent="0">
              <a:buNone/>
            </a:pPr>
            <a:r>
              <a:rPr lang="en-US" sz="1300" b="1" dirty="0">
                <a:solidFill>
                  <a:srgbClr val="FFFFFF"/>
                </a:solidFill>
                <a:latin typeface="Arial" pitchFamily="34" charset="0"/>
                <a:ea typeface="Arial" pitchFamily="34" charset="-122"/>
                <a:cs typeface="Arial" pitchFamily="34" charset="-120"/>
              </a:rPr>
              <a:t>Justificación</a:t>
            </a:r>
            <a:endParaRPr lang="en-US" sz="1300" dirty="0"/>
          </a:p>
        </p:txBody>
      </p:sp>
      <p:sp>
        <p:nvSpPr>
          <p:cNvPr id="13" name="Text 11"/>
          <p:cNvSpPr/>
          <p:nvPr/>
        </p:nvSpPr>
        <p:spPr>
          <a:xfrm>
            <a:off x="502920" y="2286000"/>
            <a:ext cx="8229600" cy="2331720"/>
          </a:xfrm>
          <a:prstGeom prst="rect">
            <a:avLst/>
          </a:prstGeom>
          <a:noFill/>
          <a:ln/>
        </p:spPr>
        <p:txBody>
          <a:bodyPr wrap="square" rtlCol="0" anchor="t"/>
          <a:lstStyle/>
          <a:p>
            <a:pPr marL="0" indent="0">
              <a:buNone/>
            </a:pPr>
            <a:r>
              <a:rPr lang="en-US" sz="1250" dirty="0">
                <a:solidFill>
                  <a:srgbClr val="404040"/>
                </a:solidFill>
                <a:latin typeface="Arial" pitchFamily="34" charset="0"/>
                <a:ea typeface="Arial" pitchFamily="34" charset="-122"/>
                <a:cs typeface="Arial" pitchFamily="34" charset="-120"/>
              </a:rPr>
              <a:t>FALSO. El backoff exponencial REDUCE la probabilidad de colisiones repetidas, pero NO las elimina. Si ambos hosts eligen el mismo tiempo de espera aleatorio (aunque la probabilidad es baja), habrá una segunda colisión. Por eso el intervalo crece con cada colisión: si se repite, la ventana se duplica. Después de 16 intentos fallidos, la trama se descarta.</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5AA8D8"/>
          </a:solidFill>
          <a:ln w="12700">
            <a:solidFill>
              <a:srgbClr val="5AA8D8"/>
            </a:solidFill>
            <a:prstDash val="solid"/>
          </a:ln>
        </p:spPr>
        <p:txBody>
          <a:bodyPr/>
          <a:lstStyle/>
          <a:p>
            <a:endParaRPr lang="en-US"/>
          </a:p>
        </p:txBody>
      </p:sp>
      <p:sp>
        <p:nvSpPr>
          <p:cNvPr id="3" name="Shape 1"/>
          <p:cNvSpPr/>
          <p:nvPr/>
        </p:nvSpPr>
        <p:spPr>
          <a:xfrm>
            <a:off x="0" y="0"/>
            <a:ext cx="9144000" cy="73152"/>
          </a:xfrm>
          <a:prstGeom prst="rect">
            <a:avLst/>
          </a:prstGeom>
          <a:solidFill>
            <a:srgbClr val="5AA8D8"/>
          </a:solidFill>
          <a:ln w="12700">
            <a:solidFill>
              <a:srgbClr val="5AA8D8"/>
            </a:solidFill>
            <a:prstDash val="solid"/>
          </a:ln>
        </p:spPr>
        <p:txBody>
          <a:bodyPr/>
          <a:lstStyle/>
          <a:p>
            <a:endParaRPr lang="en-US"/>
          </a:p>
        </p:txBody>
      </p:sp>
      <p:sp>
        <p:nvSpPr>
          <p:cNvPr id="4" name="Shape 2"/>
          <p:cNvSpPr/>
          <p:nvPr/>
        </p:nvSpPr>
        <p:spPr>
          <a:xfrm>
            <a:off x="274320" y="201168"/>
            <a:ext cx="2011680" cy="502920"/>
          </a:xfrm>
          <a:prstGeom prst="rect">
            <a:avLst/>
          </a:prstGeom>
          <a:solidFill>
            <a:srgbClr val="3A7BAA"/>
          </a:solidFill>
          <a:ln w="12700">
            <a:solidFill>
              <a:srgbClr val="3A7BAA"/>
            </a:solidFill>
            <a:prstDash val="solid"/>
          </a:ln>
          <a:effectLst>
            <a:outerShdw blurRad="101600" dist="38100" dir="8100000" algn="bl" rotWithShape="0">
              <a:srgbClr val="000000">
                <a:alpha val="15000"/>
              </a:srgbClr>
            </a:outerShdw>
          </a:effectLst>
        </p:spPr>
        <p:txBody>
          <a:bodyPr/>
          <a:lstStyle/>
          <a:p>
            <a:endParaRPr lang="en-US"/>
          </a:p>
        </p:txBody>
      </p:sp>
      <p:sp>
        <p:nvSpPr>
          <p:cNvPr id="5" name="Text 3"/>
          <p:cNvSpPr/>
          <p:nvPr/>
        </p:nvSpPr>
        <p:spPr>
          <a:xfrm>
            <a:off x="274320" y="201168"/>
            <a:ext cx="2011680" cy="502920"/>
          </a:xfrm>
          <a:prstGeom prst="rect">
            <a:avLst/>
          </a:prstGeom>
          <a:noFill/>
          <a:ln/>
        </p:spPr>
        <p:txBody>
          <a:bodyPr wrap="square"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VERDADERO / FALSO</a:t>
            </a:r>
            <a:endParaRPr lang="en-US" sz="900" dirty="0"/>
          </a:p>
        </p:txBody>
      </p:sp>
      <p:sp>
        <p:nvSpPr>
          <p:cNvPr id="6" name="Text 4"/>
          <p:cNvSpPr/>
          <p:nvPr/>
        </p:nvSpPr>
        <p:spPr>
          <a:xfrm>
            <a:off x="2377440" y="274320"/>
            <a:ext cx="2743200" cy="347472"/>
          </a:xfrm>
          <a:prstGeom prst="rect">
            <a:avLst/>
          </a:prstGeom>
          <a:noFill/>
          <a:ln/>
        </p:spPr>
        <p:txBody>
          <a:bodyPr wrap="square" rtlCol="0" anchor="ctr"/>
          <a:lstStyle/>
          <a:p>
            <a:pPr marL="0" indent="0">
              <a:buNone/>
            </a:pPr>
            <a:r>
              <a:rPr lang="en-US" sz="1100" i="1" dirty="0">
                <a:solidFill>
                  <a:srgbClr val="808080"/>
                </a:solidFill>
                <a:latin typeface="Arial" pitchFamily="34" charset="0"/>
                <a:ea typeface="Arial" pitchFamily="34" charset="-122"/>
                <a:cs typeface="Arial" pitchFamily="34" charset="-120"/>
              </a:rPr>
              <a:t>Pregunta 2 de 3</a:t>
            </a:r>
            <a:endParaRPr lang="en-US" sz="1100" dirty="0"/>
          </a:p>
        </p:txBody>
      </p:sp>
      <p:sp>
        <p:nvSpPr>
          <p:cNvPr id="7" name="Shape 5"/>
          <p:cNvSpPr/>
          <p:nvPr/>
        </p:nvSpPr>
        <p:spPr>
          <a:xfrm>
            <a:off x="457200" y="914400"/>
            <a:ext cx="8229600" cy="2651760"/>
          </a:xfrm>
          <a:prstGeom prst="rect">
            <a:avLst/>
          </a:prstGeom>
          <a:solidFill>
            <a:srgbClr val="E8F4FC"/>
          </a:solidFill>
          <a:ln w="12700">
            <a:solidFill>
              <a:srgbClr val="5AA8D8"/>
            </a:solidFill>
            <a:prstDash val="solid"/>
          </a:ln>
          <a:effectLst>
            <a:outerShdw blurRad="101600" dist="38100" dir="8100000" algn="bl" rotWithShape="0">
              <a:srgbClr val="000000">
                <a:alpha val="15000"/>
              </a:srgbClr>
            </a:outerShdw>
          </a:effectLst>
        </p:spPr>
        <p:txBody>
          <a:bodyPr/>
          <a:lstStyle/>
          <a:p>
            <a:endParaRPr lang="en-US"/>
          </a:p>
        </p:txBody>
      </p:sp>
      <p:sp>
        <p:nvSpPr>
          <p:cNvPr id="8" name="Shape 6"/>
          <p:cNvSpPr/>
          <p:nvPr/>
        </p:nvSpPr>
        <p:spPr>
          <a:xfrm>
            <a:off x="457200" y="914400"/>
            <a:ext cx="91440" cy="2651760"/>
          </a:xfrm>
          <a:prstGeom prst="rect">
            <a:avLst/>
          </a:prstGeom>
          <a:solidFill>
            <a:srgbClr val="5AA8D8"/>
          </a:solidFill>
          <a:ln w="12700">
            <a:solidFill>
              <a:srgbClr val="5AA8D8"/>
            </a:solidFill>
            <a:prstDash val="solid"/>
          </a:ln>
        </p:spPr>
        <p:txBody>
          <a:bodyPr/>
          <a:lstStyle/>
          <a:p>
            <a:endParaRPr lang="en-US"/>
          </a:p>
        </p:txBody>
      </p:sp>
      <p:sp>
        <p:nvSpPr>
          <p:cNvPr id="9" name="Text 7"/>
          <p:cNvSpPr/>
          <p:nvPr/>
        </p:nvSpPr>
        <p:spPr>
          <a:xfrm>
            <a:off x="685800" y="960120"/>
            <a:ext cx="7818120" cy="2560320"/>
          </a:xfrm>
          <a:prstGeom prst="rect">
            <a:avLst/>
          </a:prstGeom>
          <a:noFill/>
          <a:ln/>
        </p:spPr>
        <p:txBody>
          <a:bodyPr wrap="square" rtlCol="0" anchor="ctr"/>
          <a:lstStyle/>
          <a:p>
            <a:pPr marL="0" indent="0">
              <a:buNone/>
            </a:pPr>
            <a:r>
              <a:rPr lang="en-US" sz="1700" b="1" dirty="0">
                <a:solidFill>
                  <a:srgbClr val="2D3030"/>
                </a:solidFill>
                <a:latin typeface="Arial" pitchFamily="34" charset="0"/>
                <a:ea typeface="Arial" pitchFamily="34" charset="-122"/>
                <a:cs typeface="Arial" pitchFamily="34" charset="-120"/>
              </a:rPr>
              <a:t>La dirección MAC está compuesta por 48 bits: los 24 bits más significativos identifican al fabricante (OUI) y los 24 bits restantes son el número de serie asignado por el fabricante.</a:t>
            </a:r>
            <a:endParaRPr lang="en-US" sz="1700" dirty="0"/>
          </a:p>
        </p:txBody>
      </p:sp>
      <p:sp>
        <p:nvSpPr>
          <p:cNvPr id="10" name="Shape 8"/>
          <p:cNvSpPr/>
          <p:nvPr/>
        </p:nvSpPr>
        <p:spPr>
          <a:xfrm>
            <a:off x="1371600" y="3749040"/>
            <a:ext cx="2560320" cy="640080"/>
          </a:xfrm>
          <a:prstGeom prst="rect">
            <a:avLst/>
          </a:prstGeom>
          <a:solidFill>
            <a:srgbClr val="FFFFFF"/>
          </a:solidFill>
          <a:ln w="12700">
            <a:solidFill>
              <a:srgbClr val="5AA8D8"/>
            </a:solidFill>
            <a:prstDash val="solid"/>
          </a:ln>
        </p:spPr>
        <p:txBody>
          <a:bodyPr/>
          <a:lstStyle/>
          <a:p>
            <a:endParaRPr lang="en-US"/>
          </a:p>
        </p:txBody>
      </p:sp>
      <p:sp>
        <p:nvSpPr>
          <p:cNvPr id="11" name="Text 9"/>
          <p:cNvSpPr/>
          <p:nvPr/>
        </p:nvSpPr>
        <p:spPr>
          <a:xfrm>
            <a:off x="1371600" y="3749040"/>
            <a:ext cx="2560320" cy="640080"/>
          </a:xfrm>
          <a:prstGeom prst="rect">
            <a:avLst/>
          </a:prstGeom>
          <a:noFill/>
          <a:ln/>
        </p:spPr>
        <p:txBody>
          <a:bodyPr wrap="square" rtlCol="0" anchor="ctr"/>
          <a:lstStyle/>
          <a:p>
            <a:pPr marL="0" indent="0" algn="ctr">
              <a:buNone/>
            </a:pPr>
            <a:r>
              <a:rPr lang="en-US" sz="1600" b="1" dirty="0">
                <a:solidFill>
                  <a:srgbClr val="3A7BAA"/>
                </a:solidFill>
                <a:latin typeface="Arial" pitchFamily="34" charset="0"/>
                <a:ea typeface="Arial" pitchFamily="34" charset="-122"/>
                <a:cs typeface="Arial" pitchFamily="34" charset="-120"/>
              </a:rPr>
              <a:t>✅  VERDADERO</a:t>
            </a:r>
            <a:endParaRPr lang="en-US" sz="1600" dirty="0"/>
          </a:p>
        </p:txBody>
      </p:sp>
      <p:sp>
        <p:nvSpPr>
          <p:cNvPr id="12" name="Shape 10"/>
          <p:cNvSpPr/>
          <p:nvPr/>
        </p:nvSpPr>
        <p:spPr>
          <a:xfrm>
            <a:off x="5212080" y="3749040"/>
            <a:ext cx="2560320" cy="640080"/>
          </a:xfrm>
          <a:prstGeom prst="rect">
            <a:avLst/>
          </a:prstGeom>
          <a:solidFill>
            <a:srgbClr val="FFFFFF"/>
          </a:solidFill>
          <a:ln w="12700">
            <a:solidFill>
              <a:srgbClr val="5AA8D8"/>
            </a:solidFill>
            <a:prstDash val="solid"/>
          </a:ln>
        </p:spPr>
        <p:txBody>
          <a:bodyPr/>
          <a:lstStyle/>
          <a:p>
            <a:endParaRPr lang="en-US"/>
          </a:p>
        </p:txBody>
      </p:sp>
      <p:sp>
        <p:nvSpPr>
          <p:cNvPr id="13" name="Text 11"/>
          <p:cNvSpPr/>
          <p:nvPr/>
        </p:nvSpPr>
        <p:spPr>
          <a:xfrm>
            <a:off x="5212080" y="3749040"/>
            <a:ext cx="2560320" cy="640080"/>
          </a:xfrm>
          <a:prstGeom prst="rect">
            <a:avLst/>
          </a:prstGeom>
          <a:noFill/>
          <a:ln/>
        </p:spPr>
        <p:txBody>
          <a:bodyPr wrap="square" rtlCol="0" anchor="ctr"/>
          <a:lstStyle/>
          <a:p>
            <a:pPr marL="0" indent="0" algn="ctr">
              <a:buNone/>
            </a:pPr>
            <a:r>
              <a:rPr lang="en-US" sz="1600" b="1" dirty="0">
                <a:solidFill>
                  <a:srgbClr val="3A7BAA"/>
                </a:solidFill>
                <a:latin typeface="Arial" pitchFamily="34" charset="0"/>
                <a:ea typeface="Arial" pitchFamily="34" charset="-122"/>
                <a:cs typeface="Arial" pitchFamily="34" charset="-120"/>
              </a:rPr>
              <a:t>❌  FALSO</a:t>
            </a:r>
            <a:endParaRPr lang="en-US" sz="1600" dirty="0"/>
          </a:p>
        </p:txBody>
      </p:sp>
      <p:sp>
        <p:nvSpPr>
          <p:cNvPr id="14" name="Shape 12"/>
          <p:cNvSpPr/>
          <p:nvPr/>
        </p:nvSpPr>
        <p:spPr>
          <a:xfrm>
            <a:off x="0" y="4846320"/>
            <a:ext cx="9144000" cy="297180"/>
          </a:xfrm>
          <a:prstGeom prst="rect">
            <a:avLst/>
          </a:prstGeom>
          <a:solidFill>
            <a:srgbClr val="2D3030"/>
          </a:solidFill>
          <a:ln w="12700">
            <a:solidFill>
              <a:srgbClr val="2D3030"/>
            </a:solidFill>
            <a:prstDash val="solid"/>
          </a:ln>
        </p:spPr>
        <p:txBody>
          <a:bodyPr/>
          <a:lstStyle/>
          <a:p>
            <a:endParaRPr lang="en-US"/>
          </a:p>
        </p:txBody>
      </p:sp>
      <p:sp>
        <p:nvSpPr>
          <p:cNvPr id="15" name="Text 13"/>
          <p:cNvSpPr/>
          <p:nvPr/>
        </p:nvSpPr>
        <p:spPr>
          <a:xfrm>
            <a:off x="137160" y="4846320"/>
            <a:ext cx="8869680" cy="297180"/>
          </a:xfrm>
          <a:prstGeom prst="rect">
            <a:avLst/>
          </a:prstGeom>
          <a:noFill/>
          <a:ln/>
        </p:spPr>
        <p:txBody>
          <a:bodyPr wrap="square" rtlCol="0" anchor="ctr"/>
          <a:lstStyle/>
          <a:p>
            <a:pPr marL="0" indent="0">
              <a:buNone/>
            </a:pPr>
            <a:r>
              <a:rPr lang="en-US" sz="1000" i="1" dirty="0">
                <a:solidFill>
                  <a:srgbClr val="B9DEF8"/>
                </a:solidFill>
                <a:latin typeface="Arial" pitchFamily="34" charset="0"/>
                <a:ea typeface="Arial" pitchFamily="34" charset="-122"/>
                <a:cs typeface="Arial" pitchFamily="34" charset="-120"/>
              </a:rPr>
              <a:t>🎤 Dar un minuto para pensar. Pedir justificación antes de revelar la respuesta.</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D3030"/>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5AA8D8"/>
          </a:solidFill>
          <a:ln w="12700">
            <a:solidFill>
              <a:srgbClr val="5AA8D8"/>
            </a:solidFill>
            <a:prstDash val="solid"/>
          </a:ln>
        </p:spPr>
        <p:txBody>
          <a:bodyPr/>
          <a:lstStyle/>
          <a:p>
            <a:endParaRPr lang="en-US"/>
          </a:p>
        </p:txBody>
      </p:sp>
      <p:sp>
        <p:nvSpPr>
          <p:cNvPr id="3" name="Shape 1"/>
          <p:cNvSpPr/>
          <p:nvPr/>
        </p:nvSpPr>
        <p:spPr>
          <a:xfrm>
            <a:off x="0" y="0"/>
            <a:ext cx="9144000" cy="73152"/>
          </a:xfrm>
          <a:prstGeom prst="rect">
            <a:avLst/>
          </a:prstGeom>
          <a:solidFill>
            <a:srgbClr val="5AA8D8"/>
          </a:solidFill>
          <a:ln w="12700">
            <a:solidFill>
              <a:srgbClr val="5AA8D8"/>
            </a:solidFill>
            <a:prstDash val="solid"/>
          </a:ln>
        </p:spPr>
        <p:txBody>
          <a:bodyPr/>
          <a:lstStyle/>
          <a:p>
            <a:endParaRPr lang="en-US"/>
          </a:p>
        </p:txBody>
      </p:sp>
      <p:sp>
        <p:nvSpPr>
          <p:cNvPr id="4" name="Shape 2"/>
          <p:cNvSpPr/>
          <p:nvPr/>
        </p:nvSpPr>
        <p:spPr>
          <a:xfrm>
            <a:off x="274320" y="201168"/>
            <a:ext cx="2011680" cy="502920"/>
          </a:xfrm>
          <a:prstGeom prst="rect">
            <a:avLst/>
          </a:prstGeom>
          <a:solidFill>
            <a:srgbClr val="3A7BAA"/>
          </a:solidFill>
          <a:ln w="12700">
            <a:solidFill>
              <a:srgbClr val="3A7BAA"/>
            </a:solidFill>
            <a:prstDash val="solid"/>
          </a:ln>
          <a:effectLst>
            <a:outerShdw blurRad="101600" dist="38100" dir="8100000" algn="bl" rotWithShape="0">
              <a:srgbClr val="000000">
                <a:alpha val="15000"/>
              </a:srgbClr>
            </a:outerShdw>
          </a:effectLst>
        </p:spPr>
        <p:txBody>
          <a:bodyPr/>
          <a:lstStyle/>
          <a:p>
            <a:endParaRPr lang="en-US"/>
          </a:p>
        </p:txBody>
      </p:sp>
      <p:sp>
        <p:nvSpPr>
          <p:cNvPr id="5" name="Text 3"/>
          <p:cNvSpPr/>
          <p:nvPr/>
        </p:nvSpPr>
        <p:spPr>
          <a:xfrm>
            <a:off x="274320" y="201168"/>
            <a:ext cx="2011680" cy="50292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RESPUESTA</a:t>
            </a:r>
            <a:endParaRPr lang="en-US" sz="1200" dirty="0"/>
          </a:p>
        </p:txBody>
      </p:sp>
      <p:sp>
        <p:nvSpPr>
          <p:cNvPr id="6" name="Shape 4"/>
          <p:cNvSpPr/>
          <p:nvPr/>
        </p:nvSpPr>
        <p:spPr>
          <a:xfrm>
            <a:off x="2743200" y="164592"/>
            <a:ext cx="3657600" cy="594360"/>
          </a:xfrm>
          <a:prstGeom prst="rect">
            <a:avLst/>
          </a:prstGeom>
          <a:solidFill>
            <a:srgbClr val="2E7D32"/>
          </a:solidFill>
          <a:ln w="12700">
            <a:solidFill>
              <a:srgbClr val="2E7D32"/>
            </a:solidFill>
            <a:prstDash val="solid"/>
          </a:ln>
          <a:effectLst>
            <a:outerShdw blurRad="101600" dist="38100" dir="8100000" algn="bl" rotWithShape="0">
              <a:srgbClr val="000000">
                <a:alpha val="15000"/>
              </a:srgbClr>
            </a:outerShdw>
          </a:effectLst>
        </p:spPr>
        <p:txBody>
          <a:bodyPr/>
          <a:lstStyle/>
          <a:p>
            <a:endParaRPr lang="en-US"/>
          </a:p>
        </p:txBody>
      </p:sp>
      <p:sp>
        <p:nvSpPr>
          <p:cNvPr id="7" name="Text 5"/>
          <p:cNvSpPr/>
          <p:nvPr/>
        </p:nvSpPr>
        <p:spPr>
          <a:xfrm>
            <a:off x="2743200" y="164592"/>
            <a:ext cx="3657600" cy="594360"/>
          </a:xfrm>
          <a:prstGeom prst="rect">
            <a:avLst/>
          </a:prstGeom>
          <a:noFill/>
          <a:ln/>
        </p:spPr>
        <p:txBody>
          <a:bodyPr wrap="square" rtlCol="0" anchor="ctr"/>
          <a:lstStyle/>
          <a:p>
            <a:pPr marL="0" indent="0" algn="ctr">
              <a:buNone/>
            </a:pPr>
            <a:r>
              <a:rPr lang="en-US" sz="2000" b="1" dirty="0">
                <a:solidFill>
                  <a:srgbClr val="FFFFFF"/>
                </a:solidFill>
                <a:latin typeface="Arial" pitchFamily="34" charset="0"/>
                <a:ea typeface="Arial" pitchFamily="34" charset="-122"/>
                <a:cs typeface="Arial" pitchFamily="34" charset="-120"/>
              </a:rPr>
              <a:t>✅  VERDADERO</a:t>
            </a:r>
            <a:endParaRPr lang="en-US" sz="2000" dirty="0"/>
          </a:p>
        </p:txBody>
      </p:sp>
      <p:sp>
        <p:nvSpPr>
          <p:cNvPr id="8" name="Shape 6"/>
          <p:cNvSpPr/>
          <p:nvPr/>
        </p:nvSpPr>
        <p:spPr>
          <a:xfrm>
            <a:off x="365760" y="914400"/>
            <a:ext cx="8412480" cy="777240"/>
          </a:xfrm>
          <a:prstGeom prst="rect">
            <a:avLst/>
          </a:prstGeom>
          <a:solidFill>
            <a:srgbClr val="3A4550"/>
          </a:solidFill>
          <a:ln w="12700">
            <a:solidFill>
              <a:srgbClr val="404040"/>
            </a:solidFill>
            <a:prstDash val="solid"/>
          </a:ln>
        </p:spPr>
        <p:txBody>
          <a:bodyPr/>
          <a:lstStyle/>
          <a:p>
            <a:endParaRPr lang="en-US"/>
          </a:p>
        </p:txBody>
      </p:sp>
      <p:sp>
        <p:nvSpPr>
          <p:cNvPr id="9" name="Text 7"/>
          <p:cNvSpPr/>
          <p:nvPr/>
        </p:nvSpPr>
        <p:spPr>
          <a:xfrm>
            <a:off x="502920" y="914400"/>
            <a:ext cx="8138160" cy="777240"/>
          </a:xfrm>
          <a:prstGeom prst="rect">
            <a:avLst/>
          </a:prstGeom>
          <a:noFill/>
          <a:ln/>
        </p:spPr>
        <p:txBody>
          <a:bodyPr wrap="square" rtlCol="0" anchor="ctr"/>
          <a:lstStyle/>
          <a:p>
            <a:pPr marL="0" indent="0">
              <a:buNone/>
            </a:pPr>
            <a:r>
              <a:rPr lang="en-US" sz="1050" i="1" dirty="0">
                <a:solidFill>
                  <a:srgbClr val="808080"/>
                </a:solidFill>
                <a:latin typeface="Arial" pitchFamily="34" charset="0"/>
                <a:ea typeface="Arial" pitchFamily="34" charset="-122"/>
                <a:cs typeface="Arial" pitchFamily="34" charset="-120"/>
              </a:rPr>
              <a:t>La dirección MAC está compuesta por 48 bits: los 24 bits más significativos identifican al fabricante (OUI) y los 24 bits restantes son el número de serie asignado por el fabricante.</a:t>
            </a:r>
            <a:endParaRPr lang="en-US" sz="1050" dirty="0"/>
          </a:p>
        </p:txBody>
      </p:sp>
      <p:sp>
        <p:nvSpPr>
          <p:cNvPr id="10" name="Shape 8"/>
          <p:cNvSpPr/>
          <p:nvPr/>
        </p:nvSpPr>
        <p:spPr>
          <a:xfrm>
            <a:off x="365760" y="1828800"/>
            <a:ext cx="8412480" cy="2880360"/>
          </a:xfrm>
          <a:prstGeom prst="rect">
            <a:avLst/>
          </a:prstGeom>
          <a:solidFill>
            <a:srgbClr val="E8F4FC"/>
          </a:solidFill>
          <a:ln w="12700">
            <a:solidFill>
              <a:srgbClr val="5AA8D8"/>
            </a:solidFill>
            <a:prstDash val="solid"/>
          </a:ln>
          <a:effectLst>
            <a:outerShdw blurRad="101600" dist="38100" dir="8100000" algn="bl" rotWithShape="0">
              <a:srgbClr val="000000">
                <a:alpha val="15000"/>
              </a:srgbClr>
            </a:outerShdw>
          </a:effectLst>
        </p:spPr>
        <p:txBody>
          <a:bodyPr/>
          <a:lstStyle/>
          <a:p>
            <a:endParaRPr lang="en-US"/>
          </a:p>
        </p:txBody>
      </p:sp>
      <p:sp>
        <p:nvSpPr>
          <p:cNvPr id="11" name="Shape 9"/>
          <p:cNvSpPr/>
          <p:nvPr/>
        </p:nvSpPr>
        <p:spPr>
          <a:xfrm>
            <a:off x="365760" y="1828800"/>
            <a:ext cx="8412480" cy="384048"/>
          </a:xfrm>
          <a:prstGeom prst="rect">
            <a:avLst/>
          </a:prstGeom>
          <a:solidFill>
            <a:srgbClr val="3A7BAA"/>
          </a:solidFill>
          <a:ln w="12700">
            <a:solidFill>
              <a:srgbClr val="3A7BAA"/>
            </a:solidFill>
            <a:prstDash val="solid"/>
          </a:ln>
        </p:spPr>
        <p:txBody>
          <a:bodyPr/>
          <a:lstStyle/>
          <a:p>
            <a:endParaRPr lang="en-US"/>
          </a:p>
        </p:txBody>
      </p:sp>
      <p:sp>
        <p:nvSpPr>
          <p:cNvPr id="12" name="Text 10"/>
          <p:cNvSpPr/>
          <p:nvPr/>
        </p:nvSpPr>
        <p:spPr>
          <a:xfrm>
            <a:off x="457200" y="1828800"/>
            <a:ext cx="8229600" cy="384048"/>
          </a:xfrm>
          <a:prstGeom prst="rect">
            <a:avLst/>
          </a:prstGeom>
          <a:noFill/>
          <a:ln/>
        </p:spPr>
        <p:txBody>
          <a:bodyPr wrap="square" rtlCol="0" anchor="ctr"/>
          <a:lstStyle/>
          <a:p>
            <a:pPr marL="0" indent="0">
              <a:buNone/>
            </a:pPr>
            <a:r>
              <a:rPr lang="en-US" sz="1300" b="1" dirty="0">
                <a:solidFill>
                  <a:srgbClr val="FFFFFF"/>
                </a:solidFill>
                <a:latin typeface="Arial" pitchFamily="34" charset="0"/>
                <a:ea typeface="Arial" pitchFamily="34" charset="-122"/>
                <a:cs typeface="Arial" pitchFamily="34" charset="-120"/>
              </a:rPr>
              <a:t>Justificación</a:t>
            </a:r>
            <a:endParaRPr lang="en-US" sz="1300" dirty="0"/>
          </a:p>
        </p:txBody>
      </p:sp>
      <p:sp>
        <p:nvSpPr>
          <p:cNvPr id="13" name="Text 11"/>
          <p:cNvSpPr/>
          <p:nvPr/>
        </p:nvSpPr>
        <p:spPr>
          <a:xfrm>
            <a:off x="502920" y="2286000"/>
            <a:ext cx="8229600" cy="2331720"/>
          </a:xfrm>
          <a:prstGeom prst="rect">
            <a:avLst/>
          </a:prstGeom>
          <a:noFill/>
          <a:ln/>
        </p:spPr>
        <p:txBody>
          <a:bodyPr wrap="square" rtlCol="0" anchor="t"/>
          <a:lstStyle/>
          <a:p>
            <a:pPr marL="0" indent="0">
              <a:buNone/>
            </a:pPr>
            <a:r>
              <a:rPr lang="en-US" sz="1250" dirty="0">
                <a:solidFill>
                  <a:srgbClr val="404040"/>
                </a:solidFill>
                <a:latin typeface="Arial" pitchFamily="34" charset="0"/>
                <a:ea typeface="Arial" pitchFamily="34" charset="-122"/>
                <a:cs typeface="Arial" pitchFamily="34" charset="-120"/>
              </a:rPr>
              <a:t>VERDADERO. Esta es la estructura estándar de las direcciones MAC IEEE 802. El OUI (Organizationally Unique Identifier) es asignado por el IEEE a cada fabricante. El fabricante asigna el número de serie dentro de su espacio. Esto garantiza que cada NIC tenga una dirección única globalmente.</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5AA8D8"/>
          </a:solidFill>
          <a:ln w="12700">
            <a:solidFill>
              <a:srgbClr val="5AA8D8"/>
            </a:solidFill>
            <a:prstDash val="solid"/>
          </a:ln>
        </p:spPr>
        <p:txBody>
          <a:bodyPr/>
          <a:lstStyle/>
          <a:p>
            <a:endParaRPr lang="en-US"/>
          </a:p>
        </p:txBody>
      </p:sp>
      <p:sp>
        <p:nvSpPr>
          <p:cNvPr id="3" name="Shape 1"/>
          <p:cNvSpPr/>
          <p:nvPr/>
        </p:nvSpPr>
        <p:spPr>
          <a:xfrm>
            <a:off x="0" y="0"/>
            <a:ext cx="9144000" cy="73152"/>
          </a:xfrm>
          <a:prstGeom prst="rect">
            <a:avLst/>
          </a:prstGeom>
          <a:solidFill>
            <a:srgbClr val="5AA8D8"/>
          </a:solidFill>
          <a:ln w="12700">
            <a:solidFill>
              <a:srgbClr val="5AA8D8"/>
            </a:solidFill>
            <a:prstDash val="solid"/>
          </a:ln>
        </p:spPr>
        <p:txBody>
          <a:bodyPr/>
          <a:lstStyle/>
          <a:p>
            <a:endParaRPr lang="en-US"/>
          </a:p>
        </p:txBody>
      </p:sp>
      <p:sp>
        <p:nvSpPr>
          <p:cNvPr id="4" name="Shape 2"/>
          <p:cNvSpPr/>
          <p:nvPr/>
        </p:nvSpPr>
        <p:spPr>
          <a:xfrm>
            <a:off x="274320" y="201168"/>
            <a:ext cx="2011680" cy="502920"/>
          </a:xfrm>
          <a:prstGeom prst="rect">
            <a:avLst/>
          </a:prstGeom>
          <a:solidFill>
            <a:srgbClr val="3A7BAA"/>
          </a:solidFill>
          <a:ln w="12700">
            <a:solidFill>
              <a:srgbClr val="3A7BAA"/>
            </a:solidFill>
            <a:prstDash val="solid"/>
          </a:ln>
          <a:effectLst>
            <a:outerShdw blurRad="101600" dist="38100" dir="8100000" algn="bl" rotWithShape="0">
              <a:srgbClr val="000000">
                <a:alpha val="15000"/>
              </a:srgbClr>
            </a:outerShdw>
          </a:effectLst>
        </p:spPr>
        <p:txBody>
          <a:bodyPr/>
          <a:lstStyle/>
          <a:p>
            <a:endParaRPr lang="en-US"/>
          </a:p>
        </p:txBody>
      </p:sp>
      <p:sp>
        <p:nvSpPr>
          <p:cNvPr id="5" name="Text 3"/>
          <p:cNvSpPr/>
          <p:nvPr/>
        </p:nvSpPr>
        <p:spPr>
          <a:xfrm>
            <a:off x="274320" y="201168"/>
            <a:ext cx="2011680" cy="502920"/>
          </a:xfrm>
          <a:prstGeom prst="rect">
            <a:avLst/>
          </a:prstGeom>
          <a:noFill/>
          <a:ln/>
        </p:spPr>
        <p:txBody>
          <a:bodyPr wrap="square"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VERDADERO / FALSO</a:t>
            </a:r>
            <a:endParaRPr lang="en-US" sz="900" dirty="0"/>
          </a:p>
        </p:txBody>
      </p:sp>
      <p:sp>
        <p:nvSpPr>
          <p:cNvPr id="6" name="Text 4"/>
          <p:cNvSpPr/>
          <p:nvPr/>
        </p:nvSpPr>
        <p:spPr>
          <a:xfrm>
            <a:off x="2377440" y="274320"/>
            <a:ext cx="2743200" cy="347472"/>
          </a:xfrm>
          <a:prstGeom prst="rect">
            <a:avLst/>
          </a:prstGeom>
          <a:noFill/>
          <a:ln/>
        </p:spPr>
        <p:txBody>
          <a:bodyPr wrap="square" rtlCol="0" anchor="ctr"/>
          <a:lstStyle/>
          <a:p>
            <a:pPr marL="0" indent="0">
              <a:buNone/>
            </a:pPr>
            <a:r>
              <a:rPr lang="en-US" sz="1100" i="1" dirty="0">
                <a:solidFill>
                  <a:srgbClr val="808080"/>
                </a:solidFill>
                <a:latin typeface="Arial" pitchFamily="34" charset="0"/>
                <a:ea typeface="Arial" pitchFamily="34" charset="-122"/>
                <a:cs typeface="Arial" pitchFamily="34" charset="-120"/>
              </a:rPr>
              <a:t>Pregunta 3 de 3</a:t>
            </a:r>
            <a:endParaRPr lang="en-US" sz="1100" dirty="0"/>
          </a:p>
        </p:txBody>
      </p:sp>
      <p:sp>
        <p:nvSpPr>
          <p:cNvPr id="7" name="Shape 5"/>
          <p:cNvSpPr/>
          <p:nvPr/>
        </p:nvSpPr>
        <p:spPr>
          <a:xfrm>
            <a:off x="457200" y="914400"/>
            <a:ext cx="8229600" cy="2651760"/>
          </a:xfrm>
          <a:prstGeom prst="rect">
            <a:avLst/>
          </a:prstGeom>
          <a:solidFill>
            <a:srgbClr val="E8F4FC"/>
          </a:solidFill>
          <a:ln w="12700">
            <a:solidFill>
              <a:srgbClr val="5AA8D8"/>
            </a:solidFill>
            <a:prstDash val="solid"/>
          </a:ln>
          <a:effectLst>
            <a:outerShdw blurRad="101600" dist="38100" dir="8100000" algn="bl" rotWithShape="0">
              <a:srgbClr val="000000">
                <a:alpha val="15000"/>
              </a:srgbClr>
            </a:outerShdw>
          </a:effectLst>
        </p:spPr>
        <p:txBody>
          <a:bodyPr/>
          <a:lstStyle/>
          <a:p>
            <a:endParaRPr lang="en-US"/>
          </a:p>
        </p:txBody>
      </p:sp>
      <p:sp>
        <p:nvSpPr>
          <p:cNvPr id="8" name="Shape 6"/>
          <p:cNvSpPr/>
          <p:nvPr/>
        </p:nvSpPr>
        <p:spPr>
          <a:xfrm>
            <a:off x="457200" y="914400"/>
            <a:ext cx="91440" cy="2651760"/>
          </a:xfrm>
          <a:prstGeom prst="rect">
            <a:avLst/>
          </a:prstGeom>
          <a:solidFill>
            <a:srgbClr val="5AA8D8"/>
          </a:solidFill>
          <a:ln w="12700">
            <a:solidFill>
              <a:srgbClr val="5AA8D8"/>
            </a:solidFill>
            <a:prstDash val="solid"/>
          </a:ln>
        </p:spPr>
        <p:txBody>
          <a:bodyPr/>
          <a:lstStyle/>
          <a:p>
            <a:endParaRPr lang="en-US"/>
          </a:p>
        </p:txBody>
      </p:sp>
      <p:sp>
        <p:nvSpPr>
          <p:cNvPr id="9" name="Text 7"/>
          <p:cNvSpPr/>
          <p:nvPr/>
        </p:nvSpPr>
        <p:spPr>
          <a:xfrm>
            <a:off x="685800" y="960120"/>
            <a:ext cx="7818120" cy="2560320"/>
          </a:xfrm>
          <a:prstGeom prst="rect">
            <a:avLst/>
          </a:prstGeom>
          <a:noFill/>
          <a:ln/>
        </p:spPr>
        <p:txBody>
          <a:bodyPr wrap="square" rtlCol="0" anchor="ctr"/>
          <a:lstStyle/>
          <a:p>
            <a:pPr marL="0" indent="0">
              <a:buNone/>
            </a:pPr>
            <a:r>
              <a:rPr lang="en-US" sz="1700" b="1" dirty="0">
                <a:solidFill>
                  <a:srgbClr val="2D3030"/>
                </a:solidFill>
                <a:latin typeface="Arial" pitchFamily="34" charset="0"/>
                <a:ea typeface="Arial" pitchFamily="34" charset="-122"/>
                <a:cs typeface="Arial" pitchFamily="34" charset="-120"/>
              </a:rPr>
              <a:t>La codificación Manchester utilizada en Ethernet 10 Mbps representa un '1 lógico' como un nivel alto de voltaje sostenido durante todo el período del bit.</a:t>
            </a:r>
            <a:endParaRPr lang="en-US" sz="1700" dirty="0"/>
          </a:p>
        </p:txBody>
      </p:sp>
      <p:sp>
        <p:nvSpPr>
          <p:cNvPr id="10" name="Shape 8"/>
          <p:cNvSpPr/>
          <p:nvPr/>
        </p:nvSpPr>
        <p:spPr>
          <a:xfrm>
            <a:off x="1371600" y="3749040"/>
            <a:ext cx="2560320" cy="640080"/>
          </a:xfrm>
          <a:prstGeom prst="rect">
            <a:avLst/>
          </a:prstGeom>
          <a:solidFill>
            <a:srgbClr val="FFFFFF"/>
          </a:solidFill>
          <a:ln w="12700">
            <a:solidFill>
              <a:srgbClr val="5AA8D8"/>
            </a:solidFill>
            <a:prstDash val="solid"/>
          </a:ln>
        </p:spPr>
        <p:txBody>
          <a:bodyPr/>
          <a:lstStyle/>
          <a:p>
            <a:endParaRPr lang="en-US"/>
          </a:p>
        </p:txBody>
      </p:sp>
      <p:sp>
        <p:nvSpPr>
          <p:cNvPr id="11" name="Text 9"/>
          <p:cNvSpPr/>
          <p:nvPr/>
        </p:nvSpPr>
        <p:spPr>
          <a:xfrm>
            <a:off x="1371600" y="3749040"/>
            <a:ext cx="2560320" cy="640080"/>
          </a:xfrm>
          <a:prstGeom prst="rect">
            <a:avLst/>
          </a:prstGeom>
          <a:noFill/>
          <a:ln/>
        </p:spPr>
        <p:txBody>
          <a:bodyPr wrap="square" rtlCol="0" anchor="ctr"/>
          <a:lstStyle/>
          <a:p>
            <a:pPr marL="0" indent="0" algn="ctr">
              <a:buNone/>
            </a:pPr>
            <a:r>
              <a:rPr lang="en-US" sz="1600" b="1" dirty="0">
                <a:solidFill>
                  <a:srgbClr val="3A7BAA"/>
                </a:solidFill>
                <a:latin typeface="Arial" pitchFamily="34" charset="0"/>
                <a:ea typeface="Arial" pitchFamily="34" charset="-122"/>
                <a:cs typeface="Arial" pitchFamily="34" charset="-120"/>
              </a:rPr>
              <a:t>✅  VERDADERO</a:t>
            </a:r>
            <a:endParaRPr lang="en-US" sz="1600" dirty="0"/>
          </a:p>
        </p:txBody>
      </p:sp>
      <p:sp>
        <p:nvSpPr>
          <p:cNvPr id="12" name="Shape 10"/>
          <p:cNvSpPr/>
          <p:nvPr/>
        </p:nvSpPr>
        <p:spPr>
          <a:xfrm>
            <a:off x="5212080" y="3749040"/>
            <a:ext cx="2560320" cy="640080"/>
          </a:xfrm>
          <a:prstGeom prst="rect">
            <a:avLst/>
          </a:prstGeom>
          <a:solidFill>
            <a:srgbClr val="FFFFFF"/>
          </a:solidFill>
          <a:ln w="12700">
            <a:solidFill>
              <a:srgbClr val="5AA8D8"/>
            </a:solidFill>
            <a:prstDash val="solid"/>
          </a:ln>
        </p:spPr>
        <p:txBody>
          <a:bodyPr/>
          <a:lstStyle/>
          <a:p>
            <a:endParaRPr lang="en-US"/>
          </a:p>
        </p:txBody>
      </p:sp>
      <p:sp>
        <p:nvSpPr>
          <p:cNvPr id="13" name="Text 11"/>
          <p:cNvSpPr/>
          <p:nvPr/>
        </p:nvSpPr>
        <p:spPr>
          <a:xfrm>
            <a:off x="5212080" y="3749040"/>
            <a:ext cx="2560320" cy="640080"/>
          </a:xfrm>
          <a:prstGeom prst="rect">
            <a:avLst/>
          </a:prstGeom>
          <a:noFill/>
          <a:ln/>
        </p:spPr>
        <p:txBody>
          <a:bodyPr wrap="square" rtlCol="0" anchor="ctr"/>
          <a:lstStyle/>
          <a:p>
            <a:pPr marL="0" indent="0" algn="ctr">
              <a:buNone/>
            </a:pPr>
            <a:r>
              <a:rPr lang="en-US" sz="1600" b="1" dirty="0">
                <a:solidFill>
                  <a:srgbClr val="3A7BAA"/>
                </a:solidFill>
                <a:latin typeface="Arial" pitchFamily="34" charset="0"/>
                <a:ea typeface="Arial" pitchFamily="34" charset="-122"/>
                <a:cs typeface="Arial" pitchFamily="34" charset="-120"/>
              </a:rPr>
              <a:t>❌  FALSO</a:t>
            </a:r>
            <a:endParaRPr lang="en-US" sz="1600" dirty="0"/>
          </a:p>
        </p:txBody>
      </p:sp>
      <p:sp>
        <p:nvSpPr>
          <p:cNvPr id="14" name="Shape 12"/>
          <p:cNvSpPr/>
          <p:nvPr/>
        </p:nvSpPr>
        <p:spPr>
          <a:xfrm>
            <a:off x="0" y="4846320"/>
            <a:ext cx="9144000" cy="297180"/>
          </a:xfrm>
          <a:prstGeom prst="rect">
            <a:avLst/>
          </a:prstGeom>
          <a:solidFill>
            <a:srgbClr val="2D3030"/>
          </a:solidFill>
          <a:ln w="12700">
            <a:solidFill>
              <a:srgbClr val="2D3030"/>
            </a:solidFill>
            <a:prstDash val="solid"/>
          </a:ln>
        </p:spPr>
        <p:txBody>
          <a:bodyPr/>
          <a:lstStyle/>
          <a:p>
            <a:endParaRPr lang="en-US"/>
          </a:p>
        </p:txBody>
      </p:sp>
      <p:sp>
        <p:nvSpPr>
          <p:cNvPr id="15" name="Text 13"/>
          <p:cNvSpPr/>
          <p:nvPr/>
        </p:nvSpPr>
        <p:spPr>
          <a:xfrm>
            <a:off x="137160" y="4846320"/>
            <a:ext cx="8869680" cy="297180"/>
          </a:xfrm>
          <a:prstGeom prst="rect">
            <a:avLst/>
          </a:prstGeom>
          <a:noFill/>
          <a:ln/>
        </p:spPr>
        <p:txBody>
          <a:bodyPr wrap="square" rtlCol="0" anchor="ctr"/>
          <a:lstStyle/>
          <a:p>
            <a:pPr marL="0" indent="0">
              <a:buNone/>
            </a:pPr>
            <a:r>
              <a:rPr lang="en-US" sz="1000" i="1" dirty="0">
                <a:solidFill>
                  <a:srgbClr val="B9DEF8"/>
                </a:solidFill>
                <a:latin typeface="Arial" pitchFamily="34" charset="0"/>
                <a:ea typeface="Arial" pitchFamily="34" charset="-122"/>
                <a:cs typeface="Arial" pitchFamily="34" charset="-120"/>
              </a:rPr>
              <a:t>🎤 Dar un minuto para pensar. Pedir justificación antes de revelar la respuesta.</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2D3030"/>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5AA8D8"/>
          </a:solidFill>
          <a:ln w="12700">
            <a:solidFill>
              <a:srgbClr val="5AA8D8"/>
            </a:solidFill>
            <a:prstDash val="solid"/>
          </a:ln>
        </p:spPr>
        <p:txBody>
          <a:bodyPr/>
          <a:lstStyle/>
          <a:p>
            <a:endParaRPr lang="en-US"/>
          </a:p>
        </p:txBody>
      </p:sp>
      <p:sp>
        <p:nvSpPr>
          <p:cNvPr id="3" name="Shape 1"/>
          <p:cNvSpPr/>
          <p:nvPr/>
        </p:nvSpPr>
        <p:spPr>
          <a:xfrm>
            <a:off x="0" y="0"/>
            <a:ext cx="9144000" cy="73152"/>
          </a:xfrm>
          <a:prstGeom prst="rect">
            <a:avLst/>
          </a:prstGeom>
          <a:solidFill>
            <a:srgbClr val="5AA8D8"/>
          </a:solidFill>
          <a:ln w="12700">
            <a:solidFill>
              <a:srgbClr val="5AA8D8"/>
            </a:solidFill>
            <a:prstDash val="solid"/>
          </a:ln>
        </p:spPr>
        <p:txBody>
          <a:bodyPr/>
          <a:lstStyle/>
          <a:p>
            <a:endParaRPr lang="en-US"/>
          </a:p>
        </p:txBody>
      </p:sp>
      <p:sp>
        <p:nvSpPr>
          <p:cNvPr id="4" name="Shape 2"/>
          <p:cNvSpPr/>
          <p:nvPr/>
        </p:nvSpPr>
        <p:spPr>
          <a:xfrm>
            <a:off x="274320" y="201168"/>
            <a:ext cx="2011680" cy="502920"/>
          </a:xfrm>
          <a:prstGeom prst="rect">
            <a:avLst/>
          </a:prstGeom>
          <a:solidFill>
            <a:srgbClr val="3A7BAA"/>
          </a:solidFill>
          <a:ln w="12700">
            <a:solidFill>
              <a:srgbClr val="3A7BAA"/>
            </a:solidFill>
            <a:prstDash val="solid"/>
          </a:ln>
          <a:effectLst>
            <a:outerShdw blurRad="101600" dist="38100" dir="8100000" algn="bl" rotWithShape="0">
              <a:srgbClr val="000000">
                <a:alpha val="15000"/>
              </a:srgbClr>
            </a:outerShdw>
          </a:effectLst>
        </p:spPr>
        <p:txBody>
          <a:bodyPr/>
          <a:lstStyle/>
          <a:p>
            <a:endParaRPr lang="en-US"/>
          </a:p>
        </p:txBody>
      </p:sp>
      <p:sp>
        <p:nvSpPr>
          <p:cNvPr id="5" name="Text 3"/>
          <p:cNvSpPr/>
          <p:nvPr/>
        </p:nvSpPr>
        <p:spPr>
          <a:xfrm>
            <a:off x="274320" y="201168"/>
            <a:ext cx="2011680" cy="50292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RESPUESTA</a:t>
            </a:r>
            <a:endParaRPr lang="en-US" sz="1200" dirty="0"/>
          </a:p>
        </p:txBody>
      </p:sp>
      <p:sp>
        <p:nvSpPr>
          <p:cNvPr id="6" name="Shape 4"/>
          <p:cNvSpPr/>
          <p:nvPr/>
        </p:nvSpPr>
        <p:spPr>
          <a:xfrm>
            <a:off x="2743200" y="164592"/>
            <a:ext cx="3657600" cy="594360"/>
          </a:xfrm>
          <a:prstGeom prst="rect">
            <a:avLst/>
          </a:prstGeom>
          <a:solidFill>
            <a:srgbClr val="C62828"/>
          </a:solidFill>
          <a:ln w="12700">
            <a:solidFill>
              <a:srgbClr val="C62828"/>
            </a:solidFill>
            <a:prstDash val="solid"/>
          </a:ln>
          <a:effectLst>
            <a:outerShdw blurRad="101600" dist="38100" dir="8100000" algn="bl" rotWithShape="0">
              <a:srgbClr val="000000">
                <a:alpha val="15000"/>
              </a:srgbClr>
            </a:outerShdw>
          </a:effectLst>
        </p:spPr>
        <p:txBody>
          <a:bodyPr/>
          <a:lstStyle/>
          <a:p>
            <a:endParaRPr lang="en-US"/>
          </a:p>
        </p:txBody>
      </p:sp>
      <p:sp>
        <p:nvSpPr>
          <p:cNvPr id="7" name="Text 5"/>
          <p:cNvSpPr/>
          <p:nvPr/>
        </p:nvSpPr>
        <p:spPr>
          <a:xfrm>
            <a:off x="2743200" y="164592"/>
            <a:ext cx="3657600" cy="594360"/>
          </a:xfrm>
          <a:prstGeom prst="rect">
            <a:avLst/>
          </a:prstGeom>
          <a:noFill/>
          <a:ln/>
        </p:spPr>
        <p:txBody>
          <a:bodyPr wrap="square" rtlCol="0" anchor="ctr"/>
          <a:lstStyle/>
          <a:p>
            <a:pPr marL="0" indent="0" algn="ctr">
              <a:buNone/>
            </a:pPr>
            <a:r>
              <a:rPr lang="en-US" sz="2000" b="1" dirty="0">
                <a:solidFill>
                  <a:srgbClr val="FFFFFF"/>
                </a:solidFill>
                <a:latin typeface="Arial" pitchFamily="34" charset="0"/>
                <a:ea typeface="Arial" pitchFamily="34" charset="-122"/>
                <a:cs typeface="Arial" pitchFamily="34" charset="-120"/>
              </a:rPr>
              <a:t>❌  FALSO</a:t>
            </a:r>
            <a:endParaRPr lang="en-US" sz="2000" dirty="0"/>
          </a:p>
        </p:txBody>
      </p:sp>
      <p:sp>
        <p:nvSpPr>
          <p:cNvPr id="8" name="Shape 6"/>
          <p:cNvSpPr/>
          <p:nvPr/>
        </p:nvSpPr>
        <p:spPr>
          <a:xfrm>
            <a:off x="365760" y="914400"/>
            <a:ext cx="8412480" cy="777240"/>
          </a:xfrm>
          <a:prstGeom prst="rect">
            <a:avLst/>
          </a:prstGeom>
          <a:solidFill>
            <a:srgbClr val="3A4550"/>
          </a:solidFill>
          <a:ln w="12700">
            <a:solidFill>
              <a:srgbClr val="404040"/>
            </a:solidFill>
            <a:prstDash val="solid"/>
          </a:ln>
        </p:spPr>
        <p:txBody>
          <a:bodyPr/>
          <a:lstStyle/>
          <a:p>
            <a:endParaRPr lang="en-US"/>
          </a:p>
        </p:txBody>
      </p:sp>
      <p:sp>
        <p:nvSpPr>
          <p:cNvPr id="9" name="Text 7"/>
          <p:cNvSpPr/>
          <p:nvPr/>
        </p:nvSpPr>
        <p:spPr>
          <a:xfrm>
            <a:off x="502920" y="914400"/>
            <a:ext cx="8138160" cy="777240"/>
          </a:xfrm>
          <a:prstGeom prst="rect">
            <a:avLst/>
          </a:prstGeom>
          <a:noFill/>
          <a:ln/>
        </p:spPr>
        <p:txBody>
          <a:bodyPr wrap="square" rtlCol="0" anchor="ctr"/>
          <a:lstStyle/>
          <a:p>
            <a:pPr marL="0" indent="0">
              <a:buNone/>
            </a:pPr>
            <a:r>
              <a:rPr lang="en-US" sz="1050" i="1" dirty="0">
                <a:solidFill>
                  <a:srgbClr val="808080"/>
                </a:solidFill>
                <a:latin typeface="Arial" pitchFamily="34" charset="0"/>
                <a:ea typeface="Arial" pitchFamily="34" charset="-122"/>
                <a:cs typeface="Arial" pitchFamily="34" charset="-120"/>
              </a:rPr>
              <a:t>La codificación Manchester utilizada en Ethernet 10 Mbps representa un '1 lógico' como un nivel alto de voltaje sostenido durante todo el período del bit.</a:t>
            </a:r>
            <a:endParaRPr lang="en-US" sz="1050" dirty="0"/>
          </a:p>
        </p:txBody>
      </p:sp>
      <p:sp>
        <p:nvSpPr>
          <p:cNvPr id="10" name="Shape 8"/>
          <p:cNvSpPr/>
          <p:nvPr/>
        </p:nvSpPr>
        <p:spPr>
          <a:xfrm>
            <a:off x="365760" y="1828800"/>
            <a:ext cx="8412480" cy="2880360"/>
          </a:xfrm>
          <a:prstGeom prst="rect">
            <a:avLst/>
          </a:prstGeom>
          <a:solidFill>
            <a:srgbClr val="E8F4FC"/>
          </a:solidFill>
          <a:ln w="12700">
            <a:solidFill>
              <a:srgbClr val="5AA8D8"/>
            </a:solidFill>
            <a:prstDash val="solid"/>
          </a:ln>
          <a:effectLst>
            <a:outerShdw blurRad="101600" dist="38100" dir="8100000" algn="bl" rotWithShape="0">
              <a:srgbClr val="000000">
                <a:alpha val="15000"/>
              </a:srgbClr>
            </a:outerShdw>
          </a:effectLst>
        </p:spPr>
        <p:txBody>
          <a:bodyPr/>
          <a:lstStyle/>
          <a:p>
            <a:endParaRPr lang="en-US"/>
          </a:p>
        </p:txBody>
      </p:sp>
      <p:sp>
        <p:nvSpPr>
          <p:cNvPr id="11" name="Shape 9"/>
          <p:cNvSpPr/>
          <p:nvPr/>
        </p:nvSpPr>
        <p:spPr>
          <a:xfrm>
            <a:off x="365760" y="1828800"/>
            <a:ext cx="8412480" cy="384048"/>
          </a:xfrm>
          <a:prstGeom prst="rect">
            <a:avLst/>
          </a:prstGeom>
          <a:solidFill>
            <a:srgbClr val="3A7BAA"/>
          </a:solidFill>
          <a:ln w="12700">
            <a:solidFill>
              <a:srgbClr val="3A7BAA"/>
            </a:solidFill>
            <a:prstDash val="solid"/>
          </a:ln>
        </p:spPr>
        <p:txBody>
          <a:bodyPr/>
          <a:lstStyle/>
          <a:p>
            <a:endParaRPr lang="en-US"/>
          </a:p>
        </p:txBody>
      </p:sp>
      <p:sp>
        <p:nvSpPr>
          <p:cNvPr id="12" name="Text 10"/>
          <p:cNvSpPr/>
          <p:nvPr/>
        </p:nvSpPr>
        <p:spPr>
          <a:xfrm>
            <a:off x="457200" y="1828800"/>
            <a:ext cx="8229600" cy="384048"/>
          </a:xfrm>
          <a:prstGeom prst="rect">
            <a:avLst/>
          </a:prstGeom>
          <a:noFill/>
          <a:ln/>
        </p:spPr>
        <p:txBody>
          <a:bodyPr wrap="square" rtlCol="0" anchor="ctr"/>
          <a:lstStyle/>
          <a:p>
            <a:pPr marL="0" indent="0">
              <a:buNone/>
            </a:pPr>
            <a:r>
              <a:rPr lang="en-US" sz="1300" b="1" dirty="0">
                <a:solidFill>
                  <a:srgbClr val="FFFFFF"/>
                </a:solidFill>
                <a:latin typeface="Arial" pitchFamily="34" charset="0"/>
                <a:ea typeface="Arial" pitchFamily="34" charset="-122"/>
                <a:cs typeface="Arial" pitchFamily="34" charset="-120"/>
              </a:rPr>
              <a:t>Justificación</a:t>
            </a:r>
            <a:endParaRPr lang="en-US" sz="1300" dirty="0"/>
          </a:p>
        </p:txBody>
      </p:sp>
      <p:sp>
        <p:nvSpPr>
          <p:cNvPr id="13" name="Text 11"/>
          <p:cNvSpPr/>
          <p:nvPr/>
        </p:nvSpPr>
        <p:spPr>
          <a:xfrm>
            <a:off x="502920" y="2286000"/>
            <a:ext cx="8229600" cy="2331720"/>
          </a:xfrm>
          <a:prstGeom prst="rect">
            <a:avLst/>
          </a:prstGeom>
          <a:noFill/>
          <a:ln/>
        </p:spPr>
        <p:txBody>
          <a:bodyPr wrap="square" rtlCol="0" anchor="t"/>
          <a:lstStyle/>
          <a:p>
            <a:pPr marL="0" indent="0">
              <a:buNone/>
            </a:pPr>
            <a:r>
              <a:rPr lang="en-US" sz="1250" dirty="0">
                <a:solidFill>
                  <a:srgbClr val="404040"/>
                </a:solidFill>
                <a:latin typeface="Arial" pitchFamily="34" charset="0"/>
                <a:ea typeface="Arial" pitchFamily="34" charset="-122"/>
                <a:cs typeface="Arial" pitchFamily="34" charset="-120"/>
              </a:rPr>
              <a:t>FALSO. La codificación Manchester NO usa niveles sostenidos. Un '1 lógico' se representa como una TRANSICIÓN de nivel ALTO a nivel BAJO en la MITAD del período del bit. Un '0 lógico' es una transición de BAJO a ALTO en la mitad del período. Esta transición obligatoria es lo que permite la sincronización de reloj y elimina la ambigüedad con los períodos de inactividad.</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2D3030"/>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
          </a:xfrm>
          <a:prstGeom prst="rect">
            <a:avLst/>
          </a:prstGeom>
          <a:solidFill>
            <a:srgbClr val="5AA8D8"/>
          </a:solidFill>
          <a:ln w="12700">
            <a:solidFill>
              <a:srgbClr val="5AA8D8"/>
            </a:solidFill>
            <a:prstDash val="solid"/>
          </a:ln>
        </p:spPr>
        <p:txBody>
          <a:bodyPr/>
          <a:lstStyle/>
          <a:p>
            <a:endParaRPr lang="en-US"/>
          </a:p>
        </p:txBody>
      </p:sp>
      <p:sp>
        <p:nvSpPr>
          <p:cNvPr id="3" name="Shape 1"/>
          <p:cNvSpPr/>
          <p:nvPr/>
        </p:nvSpPr>
        <p:spPr>
          <a:xfrm>
            <a:off x="0" y="5047488"/>
            <a:ext cx="9144000" cy="91440"/>
          </a:xfrm>
          <a:prstGeom prst="rect">
            <a:avLst/>
          </a:prstGeom>
          <a:solidFill>
            <a:srgbClr val="5AA8D8"/>
          </a:solidFill>
          <a:ln w="12700">
            <a:solidFill>
              <a:srgbClr val="5AA8D8"/>
            </a:solidFill>
            <a:prstDash val="solid"/>
          </a:ln>
        </p:spPr>
        <p:txBody>
          <a:bodyPr/>
          <a:lstStyle/>
          <a:p>
            <a:endParaRPr lang="en-US"/>
          </a:p>
        </p:txBody>
      </p:sp>
      <p:sp>
        <p:nvSpPr>
          <p:cNvPr id="4" name="Shape 2"/>
          <p:cNvSpPr/>
          <p:nvPr/>
        </p:nvSpPr>
        <p:spPr>
          <a:xfrm>
            <a:off x="1280160" y="685800"/>
            <a:ext cx="6583680" cy="4206240"/>
          </a:xfrm>
          <a:prstGeom prst="rect">
            <a:avLst/>
          </a:prstGeom>
          <a:solidFill>
            <a:srgbClr val="3A4550"/>
          </a:solidFill>
          <a:ln w="12700">
            <a:solidFill>
              <a:srgbClr val="5AA8D8"/>
            </a:solidFill>
            <a:prstDash val="solid"/>
          </a:ln>
          <a:effectLst>
            <a:outerShdw blurRad="101600" dist="38100" dir="8100000" algn="bl" rotWithShape="0">
              <a:srgbClr val="000000">
                <a:alpha val="15000"/>
              </a:srgbClr>
            </a:outerShdw>
          </a:effectLst>
        </p:spPr>
        <p:txBody>
          <a:bodyPr/>
          <a:lstStyle/>
          <a:p>
            <a:endParaRPr lang="en-US"/>
          </a:p>
        </p:txBody>
      </p:sp>
      <p:sp>
        <p:nvSpPr>
          <p:cNvPr id="5" name="Text 3"/>
          <p:cNvSpPr/>
          <p:nvPr/>
        </p:nvSpPr>
        <p:spPr>
          <a:xfrm>
            <a:off x="1463040" y="822960"/>
            <a:ext cx="6217920" cy="384048"/>
          </a:xfrm>
          <a:prstGeom prst="rect">
            <a:avLst/>
          </a:prstGeom>
          <a:noFill/>
          <a:ln/>
        </p:spPr>
        <p:txBody>
          <a:bodyPr wrap="square" rtlCol="0" anchor="ctr"/>
          <a:lstStyle/>
          <a:p>
            <a:pPr marL="0" indent="0" algn="ctr">
              <a:buNone/>
            </a:pPr>
            <a:r>
              <a:rPr lang="en-US" sz="1800" b="1" dirty="0">
                <a:solidFill>
                  <a:srgbClr val="5AA8D8"/>
                </a:solidFill>
                <a:latin typeface="Arial" pitchFamily="34" charset="0"/>
                <a:ea typeface="Arial" pitchFamily="34" charset="-122"/>
                <a:cs typeface="Arial" pitchFamily="34" charset="-120"/>
              </a:rPr>
              <a:t>Ideas Clave</a:t>
            </a:r>
            <a:endParaRPr lang="en-US" sz="1800" dirty="0"/>
          </a:p>
        </p:txBody>
      </p:sp>
      <p:sp>
        <p:nvSpPr>
          <p:cNvPr id="6" name="Shape 4"/>
          <p:cNvSpPr/>
          <p:nvPr/>
        </p:nvSpPr>
        <p:spPr>
          <a:xfrm>
            <a:off x="1463040" y="1325880"/>
            <a:ext cx="54864" cy="256032"/>
          </a:xfrm>
          <a:prstGeom prst="rect">
            <a:avLst/>
          </a:prstGeom>
          <a:solidFill>
            <a:srgbClr val="5AA8D8"/>
          </a:solidFill>
          <a:ln w="12700">
            <a:solidFill>
              <a:srgbClr val="5AA8D8"/>
            </a:solidFill>
            <a:prstDash val="solid"/>
          </a:ln>
        </p:spPr>
        <p:txBody>
          <a:bodyPr/>
          <a:lstStyle/>
          <a:p>
            <a:endParaRPr lang="en-US"/>
          </a:p>
        </p:txBody>
      </p:sp>
      <p:sp>
        <p:nvSpPr>
          <p:cNvPr id="7" name="Text 5"/>
          <p:cNvSpPr/>
          <p:nvPr/>
        </p:nvSpPr>
        <p:spPr>
          <a:xfrm>
            <a:off x="1600200" y="1298448"/>
            <a:ext cx="6080760" cy="347472"/>
          </a:xfrm>
          <a:prstGeom prst="rect">
            <a:avLst/>
          </a:prstGeom>
          <a:noFill/>
          <a:ln/>
        </p:spPr>
        <p:txBody>
          <a:bodyPr wrap="square" rtlCol="0" anchor="ctr"/>
          <a:lstStyle/>
          <a:p>
            <a:pPr marL="0" indent="0">
              <a:buNone/>
            </a:pPr>
            <a:r>
              <a:rPr lang="en-US" sz="1150" dirty="0">
                <a:solidFill>
                  <a:srgbClr val="FFFFFF"/>
                </a:solidFill>
                <a:latin typeface="Arial" pitchFamily="34" charset="0"/>
                <a:ea typeface="Arial" pitchFamily="34" charset="-122"/>
                <a:cs typeface="Arial" pitchFamily="34" charset="-120"/>
              </a:rPr>
              <a:t>Regla principal: transmitir solo si el medio está libre</a:t>
            </a:r>
            <a:endParaRPr lang="en-US" sz="1150" dirty="0"/>
          </a:p>
        </p:txBody>
      </p:sp>
      <p:sp>
        <p:nvSpPr>
          <p:cNvPr id="8" name="Shape 6"/>
          <p:cNvSpPr/>
          <p:nvPr/>
        </p:nvSpPr>
        <p:spPr>
          <a:xfrm>
            <a:off x="1463040" y="1728216"/>
            <a:ext cx="54864" cy="256032"/>
          </a:xfrm>
          <a:prstGeom prst="rect">
            <a:avLst/>
          </a:prstGeom>
          <a:solidFill>
            <a:srgbClr val="5AA8D8"/>
          </a:solidFill>
          <a:ln w="12700">
            <a:solidFill>
              <a:srgbClr val="5AA8D8"/>
            </a:solidFill>
            <a:prstDash val="solid"/>
          </a:ln>
        </p:spPr>
        <p:txBody>
          <a:bodyPr/>
          <a:lstStyle/>
          <a:p>
            <a:endParaRPr lang="en-US"/>
          </a:p>
        </p:txBody>
      </p:sp>
      <p:sp>
        <p:nvSpPr>
          <p:cNvPr id="9" name="Text 7"/>
          <p:cNvSpPr/>
          <p:nvPr/>
        </p:nvSpPr>
        <p:spPr>
          <a:xfrm>
            <a:off x="1600200" y="1700784"/>
            <a:ext cx="6080760" cy="347472"/>
          </a:xfrm>
          <a:prstGeom prst="rect">
            <a:avLst/>
          </a:prstGeom>
          <a:noFill/>
          <a:ln/>
        </p:spPr>
        <p:txBody>
          <a:bodyPr wrap="square" rtlCol="0" anchor="ctr"/>
          <a:lstStyle/>
          <a:p>
            <a:pPr marL="0" indent="0">
              <a:buNone/>
            </a:pPr>
            <a:r>
              <a:rPr lang="en-US" sz="1150" dirty="0">
                <a:solidFill>
                  <a:srgbClr val="FFFFFF"/>
                </a:solidFill>
                <a:latin typeface="Arial" pitchFamily="34" charset="0"/>
                <a:ea typeface="Arial" pitchFamily="34" charset="-122"/>
                <a:cs typeface="Arial" pitchFamily="34" charset="-120"/>
              </a:rPr>
              <a:t>Colisión: ocurre por el tiempo de propagación, aunque ambos vean el medio libre</a:t>
            </a:r>
            <a:endParaRPr lang="en-US" sz="1150" dirty="0"/>
          </a:p>
        </p:txBody>
      </p:sp>
      <p:sp>
        <p:nvSpPr>
          <p:cNvPr id="10" name="Shape 8"/>
          <p:cNvSpPr/>
          <p:nvPr/>
        </p:nvSpPr>
        <p:spPr>
          <a:xfrm>
            <a:off x="1463040" y="2130552"/>
            <a:ext cx="54864" cy="256032"/>
          </a:xfrm>
          <a:prstGeom prst="rect">
            <a:avLst/>
          </a:prstGeom>
          <a:solidFill>
            <a:srgbClr val="5AA8D8"/>
          </a:solidFill>
          <a:ln w="12700">
            <a:solidFill>
              <a:srgbClr val="5AA8D8"/>
            </a:solidFill>
            <a:prstDash val="solid"/>
          </a:ln>
        </p:spPr>
        <p:txBody>
          <a:bodyPr/>
          <a:lstStyle/>
          <a:p>
            <a:endParaRPr lang="en-US"/>
          </a:p>
        </p:txBody>
      </p:sp>
      <p:sp>
        <p:nvSpPr>
          <p:cNvPr id="11" name="Text 9"/>
          <p:cNvSpPr/>
          <p:nvPr/>
        </p:nvSpPr>
        <p:spPr>
          <a:xfrm>
            <a:off x="1600200" y="2103120"/>
            <a:ext cx="6080760" cy="347472"/>
          </a:xfrm>
          <a:prstGeom prst="rect">
            <a:avLst/>
          </a:prstGeom>
          <a:noFill/>
          <a:ln/>
        </p:spPr>
        <p:txBody>
          <a:bodyPr wrap="square" rtlCol="0" anchor="ctr"/>
          <a:lstStyle/>
          <a:p>
            <a:pPr marL="0" indent="0">
              <a:buNone/>
            </a:pPr>
            <a:r>
              <a:rPr lang="en-US" sz="1150" dirty="0">
                <a:solidFill>
                  <a:srgbClr val="FFFFFF"/>
                </a:solidFill>
                <a:latin typeface="Arial" pitchFamily="34" charset="0"/>
                <a:ea typeface="Arial" pitchFamily="34" charset="-122"/>
                <a:cs typeface="Arial" pitchFamily="34" charset="-120"/>
              </a:rPr>
              <a:t>Backoff exponencial: cada colisión duplica el intervalo; máximo 16 intentos</a:t>
            </a:r>
            <a:endParaRPr lang="en-US" sz="1150" dirty="0"/>
          </a:p>
        </p:txBody>
      </p:sp>
      <p:sp>
        <p:nvSpPr>
          <p:cNvPr id="12" name="Shape 10"/>
          <p:cNvSpPr/>
          <p:nvPr/>
        </p:nvSpPr>
        <p:spPr>
          <a:xfrm>
            <a:off x="1463040" y="2532888"/>
            <a:ext cx="54864" cy="256032"/>
          </a:xfrm>
          <a:prstGeom prst="rect">
            <a:avLst/>
          </a:prstGeom>
          <a:solidFill>
            <a:srgbClr val="5AA8D8"/>
          </a:solidFill>
          <a:ln w="12700">
            <a:solidFill>
              <a:srgbClr val="5AA8D8"/>
            </a:solidFill>
            <a:prstDash val="solid"/>
          </a:ln>
        </p:spPr>
        <p:txBody>
          <a:bodyPr/>
          <a:lstStyle/>
          <a:p>
            <a:endParaRPr lang="en-US"/>
          </a:p>
        </p:txBody>
      </p:sp>
      <p:sp>
        <p:nvSpPr>
          <p:cNvPr id="13" name="Text 11"/>
          <p:cNvSpPr/>
          <p:nvPr/>
        </p:nvSpPr>
        <p:spPr>
          <a:xfrm>
            <a:off x="1600200" y="2505456"/>
            <a:ext cx="6080760" cy="347472"/>
          </a:xfrm>
          <a:prstGeom prst="rect">
            <a:avLst/>
          </a:prstGeom>
          <a:noFill/>
          <a:ln/>
        </p:spPr>
        <p:txBody>
          <a:bodyPr wrap="square" rtlCol="0" anchor="ctr"/>
          <a:lstStyle/>
          <a:p>
            <a:pPr marL="0" indent="0">
              <a:buNone/>
            </a:pPr>
            <a:r>
              <a:rPr lang="en-US" sz="1150" dirty="0">
                <a:solidFill>
                  <a:srgbClr val="FFFFFF"/>
                </a:solidFill>
                <a:latin typeface="Arial" pitchFamily="34" charset="0"/>
                <a:ea typeface="Arial" pitchFamily="34" charset="-122"/>
                <a:cs typeface="Arial" pitchFamily="34" charset="-120"/>
              </a:rPr>
              <a:t>Ethernet = red NO determinística (acceso por contención)</a:t>
            </a:r>
            <a:endParaRPr lang="en-US" sz="1150" dirty="0"/>
          </a:p>
        </p:txBody>
      </p:sp>
      <p:sp>
        <p:nvSpPr>
          <p:cNvPr id="14" name="Shape 12"/>
          <p:cNvSpPr/>
          <p:nvPr/>
        </p:nvSpPr>
        <p:spPr>
          <a:xfrm>
            <a:off x="1463040" y="2935224"/>
            <a:ext cx="54864" cy="256032"/>
          </a:xfrm>
          <a:prstGeom prst="rect">
            <a:avLst/>
          </a:prstGeom>
          <a:solidFill>
            <a:srgbClr val="5AA8D8"/>
          </a:solidFill>
          <a:ln w="12700">
            <a:solidFill>
              <a:srgbClr val="5AA8D8"/>
            </a:solidFill>
            <a:prstDash val="solid"/>
          </a:ln>
        </p:spPr>
        <p:txBody>
          <a:bodyPr/>
          <a:lstStyle/>
          <a:p>
            <a:endParaRPr lang="en-US"/>
          </a:p>
        </p:txBody>
      </p:sp>
      <p:sp>
        <p:nvSpPr>
          <p:cNvPr id="15" name="Text 13"/>
          <p:cNvSpPr/>
          <p:nvPr/>
        </p:nvSpPr>
        <p:spPr>
          <a:xfrm>
            <a:off x="1600200" y="2907792"/>
            <a:ext cx="6080760" cy="347472"/>
          </a:xfrm>
          <a:prstGeom prst="rect">
            <a:avLst/>
          </a:prstGeom>
          <a:noFill/>
          <a:ln/>
        </p:spPr>
        <p:txBody>
          <a:bodyPr wrap="square" rtlCol="0" anchor="ctr"/>
          <a:lstStyle/>
          <a:p>
            <a:pPr marL="0" indent="0">
              <a:buNone/>
            </a:pPr>
            <a:r>
              <a:rPr lang="en-US" sz="1150" dirty="0">
                <a:solidFill>
                  <a:srgbClr val="FFFFFF"/>
                </a:solidFill>
                <a:latin typeface="Arial" pitchFamily="34" charset="0"/>
                <a:ea typeface="Arial" pitchFamily="34" charset="-122"/>
                <a:cs typeface="Arial" pitchFamily="34" charset="-120"/>
              </a:rPr>
              <a:t>Unicast / Broadcast (FF:FF:FF:FF:FF:FF) / Multicast</a:t>
            </a:r>
            <a:endParaRPr lang="en-US" sz="1150" dirty="0"/>
          </a:p>
        </p:txBody>
      </p:sp>
      <p:sp>
        <p:nvSpPr>
          <p:cNvPr id="16" name="Shape 14"/>
          <p:cNvSpPr/>
          <p:nvPr/>
        </p:nvSpPr>
        <p:spPr>
          <a:xfrm>
            <a:off x="1463040" y="3337560"/>
            <a:ext cx="54864" cy="256032"/>
          </a:xfrm>
          <a:prstGeom prst="rect">
            <a:avLst/>
          </a:prstGeom>
          <a:solidFill>
            <a:srgbClr val="5AA8D8"/>
          </a:solidFill>
          <a:ln w="12700">
            <a:solidFill>
              <a:srgbClr val="5AA8D8"/>
            </a:solidFill>
            <a:prstDash val="solid"/>
          </a:ln>
        </p:spPr>
        <p:txBody>
          <a:bodyPr/>
          <a:lstStyle/>
          <a:p>
            <a:endParaRPr lang="en-US"/>
          </a:p>
        </p:txBody>
      </p:sp>
      <p:sp>
        <p:nvSpPr>
          <p:cNvPr id="17" name="Text 15"/>
          <p:cNvSpPr/>
          <p:nvPr/>
        </p:nvSpPr>
        <p:spPr>
          <a:xfrm>
            <a:off x="1600200" y="3310128"/>
            <a:ext cx="6080760" cy="347472"/>
          </a:xfrm>
          <a:prstGeom prst="rect">
            <a:avLst/>
          </a:prstGeom>
          <a:noFill/>
          <a:ln/>
        </p:spPr>
        <p:txBody>
          <a:bodyPr wrap="square" rtlCol="0" anchor="ctr"/>
          <a:lstStyle/>
          <a:p>
            <a:pPr marL="0" indent="0">
              <a:buNone/>
            </a:pPr>
            <a:r>
              <a:rPr lang="en-US" sz="1150" dirty="0">
                <a:solidFill>
                  <a:srgbClr val="FFFFFF"/>
                </a:solidFill>
                <a:latin typeface="Arial" pitchFamily="34" charset="0"/>
                <a:ea typeface="Arial" pitchFamily="34" charset="-122"/>
                <a:cs typeface="Arial" pitchFamily="34" charset="-120"/>
              </a:rPr>
              <a:t>MAC = 48 bits: OUI (fabricante, 24b) + Nº Serie (24b)</a:t>
            </a:r>
            <a:endParaRPr lang="en-US" sz="1150" dirty="0"/>
          </a:p>
        </p:txBody>
      </p:sp>
      <p:sp>
        <p:nvSpPr>
          <p:cNvPr id="18" name="Shape 16"/>
          <p:cNvSpPr/>
          <p:nvPr/>
        </p:nvSpPr>
        <p:spPr>
          <a:xfrm>
            <a:off x="1463040" y="3739896"/>
            <a:ext cx="54864" cy="256032"/>
          </a:xfrm>
          <a:prstGeom prst="rect">
            <a:avLst/>
          </a:prstGeom>
          <a:solidFill>
            <a:srgbClr val="5AA8D8"/>
          </a:solidFill>
          <a:ln w="12700">
            <a:solidFill>
              <a:srgbClr val="5AA8D8"/>
            </a:solidFill>
            <a:prstDash val="solid"/>
          </a:ln>
        </p:spPr>
        <p:txBody>
          <a:bodyPr/>
          <a:lstStyle/>
          <a:p>
            <a:endParaRPr lang="en-US"/>
          </a:p>
        </p:txBody>
      </p:sp>
      <p:sp>
        <p:nvSpPr>
          <p:cNvPr id="19" name="Text 17"/>
          <p:cNvSpPr/>
          <p:nvPr/>
        </p:nvSpPr>
        <p:spPr>
          <a:xfrm>
            <a:off x="1600200" y="3712464"/>
            <a:ext cx="6080760" cy="347472"/>
          </a:xfrm>
          <a:prstGeom prst="rect">
            <a:avLst/>
          </a:prstGeom>
          <a:noFill/>
          <a:ln/>
        </p:spPr>
        <p:txBody>
          <a:bodyPr wrap="square" rtlCol="0" anchor="ctr"/>
          <a:lstStyle/>
          <a:p>
            <a:pPr marL="0" indent="0">
              <a:buNone/>
            </a:pPr>
            <a:r>
              <a:rPr lang="en-US" sz="1150" dirty="0">
                <a:solidFill>
                  <a:srgbClr val="FFFFFF"/>
                </a:solidFill>
                <a:latin typeface="Arial" pitchFamily="34" charset="0"/>
                <a:ea typeface="Arial" pitchFamily="34" charset="-122"/>
                <a:cs typeface="Arial" pitchFamily="34" charset="-120"/>
              </a:rPr>
              <a:t>Manchester: transición a mitad del bit; 1= alto→bajo; 0= bajo→alto</a:t>
            </a:r>
            <a:endParaRPr lang="en-US" sz="1150" dirty="0"/>
          </a:p>
        </p:txBody>
      </p:sp>
      <p:sp>
        <p:nvSpPr>
          <p:cNvPr id="20" name="Shape 18"/>
          <p:cNvSpPr/>
          <p:nvPr/>
        </p:nvSpPr>
        <p:spPr>
          <a:xfrm>
            <a:off x="1463040" y="4142232"/>
            <a:ext cx="54864" cy="256032"/>
          </a:xfrm>
          <a:prstGeom prst="rect">
            <a:avLst/>
          </a:prstGeom>
          <a:solidFill>
            <a:srgbClr val="5AA8D8"/>
          </a:solidFill>
          <a:ln w="12700">
            <a:solidFill>
              <a:srgbClr val="5AA8D8"/>
            </a:solidFill>
            <a:prstDash val="solid"/>
          </a:ln>
        </p:spPr>
        <p:txBody>
          <a:bodyPr/>
          <a:lstStyle/>
          <a:p>
            <a:endParaRPr lang="en-US"/>
          </a:p>
        </p:txBody>
      </p:sp>
      <p:sp>
        <p:nvSpPr>
          <p:cNvPr id="21" name="Text 19"/>
          <p:cNvSpPr/>
          <p:nvPr/>
        </p:nvSpPr>
        <p:spPr>
          <a:xfrm>
            <a:off x="1600200" y="4114800"/>
            <a:ext cx="6080760" cy="347472"/>
          </a:xfrm>
          <a:prstGeom prst="rect">
            <a:avLst/>
          </a:prstGeom>
          <a:noFill/>
          <a:ln/>
        </p:spPr>
        <p:txBody>
          <a:bodyPr wrap="square" rtlCol="0" anchor="ctr"/>
          <a:lstStyle/>
          <a:p>
            <a:pPr marL="0" indent="0">
              <a:buNone/>
            </a:pPr>
            <a:r>
              <a:rPr lang="en-US" sz="1150" dirty="0">
                <a:solidFill>
                  <a:srgbClr val="FFFFFF"/>
                </a:solidFill>
                <a:latin typeface="Arial" pitchFamily="34" charset="0"/>
                <a:ea typeface="Arial" pitchFamily="34" charset="-122"/>
                <a:cs typeface="Arial" pitchFamily="34" charset="-120"/>
              </a:rPr>
              <a:t>CSMA/CA (Wi-Fi): evita colisiones ANTES con DIFS + backoff + ACK</a:t>
            </a:r>
            <a:endParaRPr lang="en-US" sz="1150" dirty="0"/>
          </a:p>
        </p:txBody>
      </p:sp>
      <p:sp>
        <p:nvSpPr>
          <p:cNvPr id="22" name="Text 20"/>
          <p:cNvSpPr/>
          <p:nvPr/>
        </p:nvSpPr>
        <p:spPr>
          <a:xfrm>
            <a:off x="0" y="4709160"/>
            <a:ext cx="9144000" cy="274320"/>
          </a:xfrm>
          <a:prstGeom prst="rect">
            <a:avLst/>
          </a:prstGeom>
          <a:noFill/>
          <a:ln/>
        </p:spPr>
        <p:txBody>
          <a:bodyPr wrap="square" rtlCol="0" anchor="ctr"/>
          <a:lstStyle/>
          <a:p>
            <a:pPr marL="0" indent="0" algn="ctr">
              <a:buNone/>
            </a:pPr>
            <a:r>
              <a:rPr lang="en-US" sz="1000" dirty="0">
                <a:solidFill>
                  <a:srgbClr val="808080"/>
                </a:solidFill>
                <a:latin typeface="Arial" pitchFamily="34" charset="0"/>
                <a:ea typeface="Arial" pitchFamily="34" charset="-122"/>
                <a:cs typeface="Arial" pitchFamily="34" charset="-120"/>
              </a:rPr>
              <a:t>Redes y Comunicaciones  —  SP4 / H4</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2038</Words>
  <Application>Microsoft Office PowerPoint</Application>
  <PresentationFormat>Presentación en pantalla (16:9)</PresentationFormat>
  <Paragraphs>219</Paragraphs>
  <Slides>16</Slides>
  <Notes>16</Notes>
  <HiddenSlides>0</HiddenSlides>
  <MMClips>0</MMClips>
  <ScaleCrop>false</ScaleCrop>
  <HeadingPairs>
    <vt:vector size="6" baseType="variant">
      <vt:variant>
        <vt:lpstr>Fuentes usadas</vt:lpstr>
      </vt:variant>
      <vt:variant>
        <vt:i4>1</vt:i4>
      </vt:variant>
      <vt:variant>
        <vt:lpstr>Tema</vt:lpstr>
      </vt:variant>
      <vt:variant>
        <vt:i4>1</vt:i4>
      </vt:variant>
      <vt:variant>
        <vt:lpstr>Títulos de diapositiva</vt:lpstr>
      </vt:variant>
      <vt:variant>
        <vt:i4>16</vt:i4>
      </vt:variant>
    </vt:vector>
  </HeadingPairs>
  <TitlesOfParts>
    <vt:vector size="18" baseType="lpstr">
      <vt:lpstr>Arial</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SP4/H4: CSMA/CD en Profundidad</dc:title>
  <dc:subject>PptxGenJS Presentation</dc:subject>
  <dc:creator>PptxGenJS</dc:creator>
  <cp:lastModifiedBy>PEREZ ESPAÑON, ANTONIO VICTOR</cp:lastModifiedBy>
  <cp:revision>3</cp:revision>
  <dcterms:created xsi:type="dcterms:W3CDTF">2026-04-06T21:57:08Z</dcterms:created>
  <dcterms:modified xsi:type="dcterms:W3CDTF">2026-04-16T18:59:17Z</dcterms:modified>
</cp:coreProperties>
</file>