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9642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5033772"/>
            <a:ext cx="9144000" cy="109728"/>
          </a:xfrm>
          <a:prstGeom prst="rect">
            <a:avLst/>
          </a:prstGeom>
          <a:solidFill>
            <a:srgbClr val="5AA8D8"/>
          </a:solidFill>
          <a:ln w="12700">
            <a:solidFill>
              <a:srgbClr val="5AA8D8"/>
            </a:solidFill>
            <a:prstDash val="solid"/>
          </a:ln>
        </p:spPr>
        <p:txBody>
          <a:bodyPr/>
          <a:lstStyle/>
          <a:p>
            <a:endParaRPr lang="en-US"/>
          </a:p>
        </p:txBody>
      </p:sp>
      <p:sp>
        <p:nvSpPr>
          <p:cNvPr id="4" name="Shape 2"/>
          <p:cNvSpPr/>
          <p:nvPr/>
        </p:nvSpPr>
        <p:spPr>
          <a:xfrm>
            <a:off x="274320" y="2560320"/>
            <a:ext cx="685800" cy="841248"/>
          </a:xfrm>
          <a:prstGeom prst="rect">
            <a:avLst/>
          </a:prstGeom>
          <a:solidFill>
            <a:srgbClr val="555555"/>
          </a:solidFill>
          <a:ln w="6350">
            <a:solidFill>
              <a:srgbClr val="FFFFFF"/>
            </a:solidFill>
            <a:prstDash val="solid"/>
          </a:ln>
        </p:spPr>
        <p:txBody>
          <a:bodyPr/>
          <a:lstStyle/>
          <a:p>
            <a:endParaRPr lang="en-US"/>
          </a:p>
        </p:txBody>
      </p:sp>
      <p:sp>
        <p:nvSpPr>
          <p:cNvPr id="5" name="Text 3"/>
          <p:cNvSpPr/>
          <p:nvPr/>
        </p:nvSpPr>
        <p:spPr>
          <a:xfrm>
            <a:off x="301752" y="2615184"/>
            <a:ext cx="630936" cy="457200"/>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Preámbulo</a:t>
            </a:r>
            <a:endParaRPr lang="en-US" sz="850" dirty="0"/>
          </a:p>
        </p:txBody>
      </p:sp>
      <p:sp>
        <p:nvSpPr>
          <p:cNvPr id="6" name="Text 4"/>
          <p:cNvSpPr/>
          <p:nvPr/>
        </p:nvSpPr>
        <p:spPr>
          <a:xfrm>
            <a:off x="301752" y="3090672"/>
            <a:ext cx="630936" cy="256032"/>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8B</a:t>
            </a:r>
            <a:endParaRPr lang="en-US" sz="800" dirty="0"/>
          </a:p>
        </p:txBody>
      </p:sp>
      <p:sp>
        <p:nvSpPr>
          <p:cNvPr id="7" name="Shape 5"/>
          <p:cNvSpPr/>
          <p:nvPr/>
        </p:nvSpPr>
        <p:spPr>
          <a:xfrm>
            <a:off x="960120" y="2560320"/>
            <a:ext cx="594360" cy="841248"/>
          </a:xfrm>
          <a:prstGeom prst="rect">
            <a:avLst/>
          </a:prstGeom>
          <a:solidFill>
            <a:srgbClr val="C62828"/>
          </a:solidFill>
          <a:ln w="6350">
            <a:solidFill>
              <a:srgbClr val="FFFFFF"/>
            </a:solidFill>
            <a:prstDash val="solid"/>
          </a:ln>
        </p:spPr>
        <p:txBody>
          <a:bodyPr/>
          <a:lstStyle/>
          <a:p>
            <a:endParaRPr lang="en-US"/>
          </a:p>
        </p:txBody>
      </p:sp>
      <p:sp>
        <p:nvSpPr>
          <p:cNvPr id="8" name="Text 6"/>
          <p:cNvSpPr/>
          <p:nvPr/>
        </p:nvSpPr>
        <p:spPr>
          <a:xfrm>
            <a:off x="987552" y="2615184"/>
            <a:ext cx="539496" cy="457200"/>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MAC</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Dst</a:t>
            </a:r>
            <a:endParaRPr lang="en-US" sz="850" dirty="0"/>
          </a:p>
        </p:txBody>
      </p:sp>
      <p:sp>
        <p:nvSpPr>
          <p:cNvPr id="9" name="Text 7"/>
          <p:cNvSpPr/>
          <p:nvPr/>
        </p:nvSpPr>
        <p:spPr>
          <a:xfrm>
            <a:off x="987552" y="3090672"/>
            <a:ext cx="539496" cy="256032"/>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6B</a:t>
            </a:r>
            <a:endParaRPr lang="en-US" sz="800" dirty="0"/>
          </a:p>
        </p:txBody>
      </p:sp>
      <p:sp>
        <p:nvSpPr>
          <p:cNvPr id="10" name="Shape 8"/>
          <p:cNvSpPr/>
          <p:nvPr/>
        </p:nvSpPr>
        <p:spPr>
          <a:xfrm>
            <a:off x="1554480" y="2560320"/>
            <a:ext cx="594360" cy="841248"/>
          </a:xfrm>
          <a:prstGeom prst="rect">
            <a:avLst/>
          </a:prstGeom>
          <a:solidFill>
            <a:srgbClr val="E65100"/>
          </a:solidFill>
          <a:ln w="6350">
            <a:solidFill>
              <a:srgbClr val="FFFFFF"/>
            </a:solidFill>
            <a:prstDash val="solid"/>
          </a:ln>
        </p:spPr>
        <p:txBody>
          <a:bodyPr/>
          <a:lstStyle/>
          <a:p>
            <a:endParaRPr lang="en-US"/>
          </a:p>
        </p:txBody>
      </p:sp>
      <p:sp>
        <p:nvSpPr>
          <p:cNvPr id="11" name="Text 9"/>
          <p:cNvSpPr/>
          <p:nvPr/>
        </p:nvSpPr>
        <p:spPr>
          <a:xfrm>
            <a:off x="1581912" y="2615184"/>
            <a:ext cx="539496" cy="457200"/>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MAC</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Src</a:t>
            </a:r>
            <a:endParaRPr lang="en-US" sz="850" dirty="0"/>
          </a:p>
        </p:txBody>
      </p:sp>
      <p:sp>
        <p:nvSpPr>
          <p:cNvPr id="12" name="Text 10"/>
          <p:cNvSpPr/>
          <p:nvPr/>
        </p:nvSpPr>
        <p:spPr>
          <a:xfrm>
            <a:off x="1581912" y="3090672"/>
            <a:ext cx="539496" cy="256032"/>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6B</a:t>
            </a:r>
            <a:endParaRPr lang="en-US" sz="800" dirty="0"/>
          </a:p>
        </p:txBody>
      </p:sp>
      <p:sp>
        <p:nvSpPr>
          <p:cNvPr id="13" name="Shape 11"/>
          <p:cNvSpPr/>
          <p:nvPr/>
        </p:nvSpPr>
        <p:spPr>
          <a:xfrm>
            <a:off x="2148840" y="2560320"/>
            <a:ext cx="457200" cy="841248"/>
          </a:xfrm>
          <a:prstGeom prst="rect">
            <a:avLst/>
          </a:prstGeom>
          <a:solidFill>
            <a:srgbClr val="00695C"/>
          </a:solidFill>
          <a:ln w="6350">
            <a:solidFill>
              <a:srgbClr val="FFFFFF"/>
            </a:solidFill>
            <a:prstDash val="solid"/>
          </a:ln>
        </p:spPr>
        <p:txBody>
          <a:bodyPr/>
          <a:lstStyle/>
          <a:p>
            <a:endParaRPr lang="en-US"/>
          </a:p>
        </p:txBody>
      </p:sp>
      <p:sp>
        <p:nvSpPr>
          <p:cNvPr id="14" name="Text 12"/>
          <p:cNvSpPr/>
          <p:nvPr/>
        </p:nvSpPr>
        <p:spPr>
          <a:xfrm>
            <a:off x="2176272" y="2615184"/>
            <a:ext cx="402336" cy="457200"/>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Type</a:t>
            </a:r>
            <a:endParaRPr lang="en-US" sz="850" dirty="0"/>
          </a:p>
        </p:txBody>
      </p:sp>
      <p:sp>
        <p:nvSpPr>
          <p:cNvPr id="15" name="Text 13"/>
          <p:cNvSpPr/>
          <p:nvPr/>
        </p:nvSpPr>
        <p:spPr>
          <a:xfrm>
            <a:off x="2176272" y="3090672"/>
            <a:ext cx="402336" cy="256032"/>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2B</a:t>
            </a:r>
            <a:endParaRPr lang="en-US" sz="800" dirty="0"/>
          </a:p>
        </p:txBody>
      </p:sp>
      <p:sp>
        <p:nvSpPr>
          <p:cNvPr id="16" name="Shape 14"/>
          <p:cNvSpPr/>
          <p:nvPr/>
        </p:nvSpPr>
        <p:spPr>
          <a:xfrm>
            <a:off x="2606040" y="2560320"/>
            <a:ext cx="1188720" cy="841248"/>
          </a:xfrm>
          <a:prstGeom prst="rect">
            <a:avLst/>
          </a:prstGeom>
          <a:solidFill>
            <a:srgbClr val="3A7BAA"/>
          </a:solidFill>
          <a:ln w="6350">
            <a:solidFill>
              <a:srgbClr val="FFFFFF"/>
            </a:solidFill>
            <a:prstDash val="solid"/>
          </a:ln>
        </p:spPr>
        <p:txBody>
          <a:bodyPr/>
          <a:lstStyle/>
          <a:p>
            <a:endParaRPr lang="en-US"/>
          </a:p>
        </p:txBody>
      </p:sp>
      <p:sp>
        <p:nvSpPr>
          <p:cNvPr id="17" name="Text 15"/>
          <p:cNvSpPr/>
          <p:nvPr/>
        </p:nvSpPr>
        <p:spPr>
          <a:xfrm>
            <a:off x="2633472" y="2615184"/>
            <a:ext cx="1133856" cy="457200"/>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Datos</a:t>
            </a:r>
            <a:endParaRPr lang="en-US" sz="850" dirty="0"/>
          </a:p>
        </p:txBody>
      </p:sp>
      <p:sp>
        <p:nvSpPr>
          <p:cNvPr id="18" name="Text 16"/>
          <p:cNvSpPr/>
          <p:nvPr/>
        </p:nvSpPr>
        <p:spPr>
          <a:xfrm>
            <a:off x="2633472" y="3090672"/>
            <a:ext cx="1133856" cy="256032"/>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46-1500B</a:t>
            </a:r>
            <a:endParaRPr lang="en-US" sz="800" dirty="0"/>
          </a:p>
        </p:txBody>
      </p:sp>
      <p:sp>
        <p:nvSpPr>
          <p:cNvPr id="19" name="Shape 17"/>
          <p:cNvSpPr/>
          <p:nvPr/>
        </p:nvSpPr>
        <p:spPr>
          <a:xfrm>
            <a:off x="3794760" y="2560320"/>
            <a:ext cx="457200" cy="841248"/>
          </a:xfrm>
          <a:prstGeom prst="rect">
            <a:avLst/>
          </a:prstGeom>
          <a:solidFill>
            <a:srgbClr val="6A1B9A"/>
          </a:solidFill>
          <a:ln w="6350">
            <a:solidFill>
              <a:srgbClr val="FFFFFF"/>
            </a:solidFill>
            <a:prstDash val="solid"/>
          </a:ln>
        </p:spPr>
        <p:txBody>
          <a:bodyPr/>
          <a:lstStyle/>
          <a:p>
            <a:endParaRPr lang="en-US"/>
          </a:p>
        </p:txBody>
      </p:sp>
      <p:sp>
        <p:nvSpPr>
          <p:cNvPr id="20" name="Text 18"/>
          <p:cNvSpPr/>
          <p:nvPr/>
        </p:nvSpPr>
        <p:spPr>
          <a:xfrm>
            <a:off x="3822192" y="2615184"/>
            <a:ext cx="402336" cy="457200"/>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FCS</a:t>
            </a:r>
            <a:endParaRPr lang="en-US" sz="850" dirty="0"/>
          </a:p>
        </p:txBody>
      </p:sp>
      <p:sp>
        <p:nvSpPr>
          <p:cNvPr id="21" name="Text 19"/>
          <p:cNvSpPr/>
          <p:nvPr/>
        </p:nvSpPr>
        <p:spPr>
          <a:xfrm>
            <a:off x="3822192" y="3090672"/>
            <a:ext cx="402336" cy="256032"/>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4B</a:t>
            </a:r>
            <a:endParaRPr lang="en-US" sz="800" dirty="0"/>
          </a:p>
        </p:txBody>
      </p:sp>
      <p:sp>
        <p:nvSpPr>
          <p:cNvPr id="22" name="Text 20"/>
          <p:cNvSpPr/>
          <p:nvPr/>
        </p:nvSpPr>
        <p:spPr>
          <a:xfrm>
            <a:off x="274320" y="2331720"/>
            <a:ext cx="3977640" cy="219456"/>
          </a:xfrm>
          <a:prstGeom prst="rect">
            <a:avLst/>
          </a:prstGeom>
          <a:noFill/>
          <a:ln/>
        </p:spPr>
        <p:txBody>
          <a:bodyPr wrap="square" rtlCol="0" anchor="ctr"/>
          <a:lstStyle/>
          <a:p>
            <a:pPr marL="0" indent="0">
              <a:buNone/>
            </a:pPr>
            <a:r>
              <a:rPr lang="en-US" sz="1000" b="1" dirty="0">
                <a:solidFill>
                  <a:srgbClr val="B9DEF8"/>
                </a:solidFill>
                <a:latin typeface="Arial" pitchFamily="34" charset="0"/>
                <a:ea typeface="Arial" pitchFamily="34" charset="-122"/>
                <a:cs typeface="Arial" pitchFamily="34" charset="-120"/>
              </a:rPr>
              <a:t>Trama Ethernet II</a:t>
            </a:r>
            <a:endParaRPr lang="en-US" sz="1000" dirty="0"/>
          </a:p>
        </p:txBody>
      </p:sp>
      <p:sp>
        <p:nvSpPr>
          <p:cNvPr id="23" name="Shape 21"/>
          <p:cNvSpPr/>
          <p:nvPr/>
        </p:nvSpPr>
        <p:spPr>
          <a:xfrm>
            <a:off x="274320" y="3429000"/>
            <a:ext cx="3977640" cy="0"/>
          </a:xfrm>
          <a:prstGeom prst="line">
            <a:avLst/>
          </a:prstGeom>
          <a:noFill/>
          <a:ln w="12700">
            <a:solidFill>
              <a:srgbClr val="B9DEF8"/>
            </a:solidFill>
            <a:prstDash val="dash"/>
          </a:ln>
        </p:spPr>
        <p:txBody>
          <a:bodyPr/>
          <a:lstStyle/>
          <a:p>
            <a:endParaRPr lang="en-US"/>
          </a:p>
        </p:txBody>
      </p:sp>
      <p:sp>
        <p:nvSpPr>
          <p:cNvPr id="24" name="Text 22"/>
          <p:cNvSpPr/>
          <p:nvPr/>
        </p:nvSpPr>
        <p:spPr>
          <a:xfrm>
            <a:off x="274320" y="3493008"/>
            <a:ext cx="3977640" cy="256032"/>
          </a:xfrm>
          <a:prstGeom prst="rect">
            <a:avLst/>
          </a:prstGeom>
          <a:noFill/>
          <a:ln/>
        </p:spPr>
        <p:txBody>
          <a:bodyPr wrap="square" rtlCol="0" anchor="ctr"/>
          <a:lstStyle/>
          <a:p>
            <a:pPr marL="0" indent="0">
              <a:buNone/>
            </a:pPr>
            <a:r>
              <a:rPr lang="en-US" sz="900" dirty="0">
                <a:solidFill>
                  <a:srgbClr val="808080"/>
                </a:solidFill>
                <a:latin typeface="Arial" pitchFamily="34" charset="0"/>
                <a:ea typeface="Arial" pitchFamily="34" charset="-122"/>
                <a:cs typeface="Arial" pitchFamily="34" charset="-120"/>
              </a:rPr>
              <a:t>Total: 64 – 1518 bytes (sin preámbulo)</a:t>
            </a:r>
            <a:endParaRPr lang="en-US" sz="900" dirty="0"/>
          </a:p>
        </p:txBody>
      </p:sp>
      <p:sp>
        <p:nvSpPr>
          <p:cNvPr id="25" name="Shape 23"/>
          <p:cNvSpPr/>
          <p:nvPr/>
        </p:nvSpPr>
        <p:spPr>
          <a:xfrm>
            <a:off x="4526280" y="1188720"/>
            <a:ext cx="4297680" cy="2834640"/>
          </a:xfrm>
          <a:prstGeom prst="rect">
            <a:avLst/>
          </a:prstGeom>
          <a:solidFill>
            <a:srgbClr val="3A7BAA">
              <a:alpha val="90000"/>
            </a:srgbClr>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26" name="Text 24"/>
          <p:cNvSpPr/>
          <p:nvPr/>
        </p:nvSpPr>
        <p:spPr>
          <a:xfrm>
            <a:off x="4617720" y="1325880"/>
            <a:ext cx="4114800" cy="347472"/>
          </a:xfrm>
          <a:prstGeom prst="rect">
            <a:avLst/>
          </a:prstGeom>
          <a:noFill/>
          <a:ln/>
        </p:spPr>
        <p:txBody>
          <a:bodyPr wrap="square" rtlCol="0" anchor="ctr"/>
          <a:lstStyle/>
          <a:p>
            <a:pPr marL="0" indent="0" algn="ctr">
              <a:buNone/>
            </a:pPr>
            <a:r>
              <a:rPr lang="en-US" sz="1200" b="1" dirty="0">
                <a:solidFill>
                  <a:srgbClr val="B9DEF8"/>
                </a:solidFill>
                <a:latin typeface="Arial" pitchFamily="34" charset="0"/>
                <a:ea typeface="Arial" pitchFamily="34" charset="-122"/>
                <a:cs typeface="Arial" pitchFamily="34" charset="-120"/>
              </a:rPr>
              <a:t>SP4 / H5</a:t>
            </a:r>
            <a:endParaRPr lang="en-US" sz="1200" dirty="0"/>
          </a:p>
        </p:txBody>
      </p:sp>
      <p:sp>
        <p:nvSpPr>
          <p:cNvPr id="27" name="Text 25"/>
          <p:cNvSpPr/>
          <p:nvPr/>
        </p:nvSpPr>
        <p:spPr>
          <a:xfrm>
            <a:off x="4617720" y="1719072"/>
            <a:ext cx="4114800" cy="100584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Tramas Ethernet</a:t>
            </a:r>
            <a:endParaRPr lang="en-US" sz="2200" dirty="0"/>
          </a:p>
          <a:p>
            <a:pPr marL="0" indent="0" algn="ctr">
              <a:buNone/>
            </a:pPr>
            <a:r>
              <a:rPr lang="en-US" sz="2200" b="1" dirty="0">
                <a:solidFill>
                  <a:srgbClr val="FFFFFF"/>
                </a:solidFill>
                <a:latin typeface="Arial" pitchFamily="34" charset="0"/>
                <a:ea typeface="Arial" pitchFamily="34" charset="-122"/>
                <a:cs typeface="Arial" pitchFamily="34" charset="-120"/>
              </a:rPr>
              <a:t>e IEEE 802.3</a:t>
            </a:r>
            <a:endParaRPr lang="en-US" sz="2200" dirty="0"/>
          </a:p>
        </p:txBody>
      </p:sp>
      <p:sp>
        <p:nvSpPr>
          <p:cNvPr id="28" name="Text 26"/>
          <p:cNvSpPr/>
          <p:nvPr/>
        </p:nvSpPr>
        <p:spPr>
          <a:xfrm>
            <a:off x="4617720" y="2788920"/>
            <a:ext cx="4114800" cy="347472"/>
          </a:xfrm>
          <a:prstGeom prst="rect">
            <a:avLst/>
          </a:prstGeom>
          <a:noFill/>
          <a:ln/>
        </p:spPr>
        <p:txBody>
          <a:bodyPr wrap="square" rtlCol="0" anchor="ctr"/>
          <a:lstStyle/>
          <a:p>
            <a:pPr marL="0" indent="0" algn="ctr">
              <a:buNone/>
            </a:pPr>
            <a:r>
              <a:rPr lang="en-US" sz="1200" b="1" dirty="0">
                <a:solidFill>
                  <a:srgbClr val="5AA8D8"/>
                </a:solidFill>
                <a:latin typeface="Arial" pitchFamily="34" charset="0"/>
                <a:ea typeface="Arial" pitchFamily="34" charset="-122"/>
                <a:cs typeface="Arial" pitchFamily="34" charset="-120"/>
              </a:rPr>
              <a:t>Estructura · Campos · Diferencias</a:t>
            </a:r>
            <a:endParaRPr lang="en-US" sz="1200" dirty="0"/>
          </a:p>
        </p:txBody>
      </p:sp>
      <p:sp>
        <p:nvSpPr>
          <p:cNvPr id="29" name="Text 27"/>
          <p:cNvSpPr/>
          <p:nvPr/>
        </p:nvSpPr>
        <p:spPr>
          <a:xfrm>
            <a:off x="4617720" y="3200400"/>
            <a:ext cx="4114800" cy="292608"/>
          </a:xfrm>
          <a:prstGeom prst="rect">
            <a:avLst/>
          </a:prstGeom>
          <a:noFill/>
          <a:ln/>
        </p:spPr>
        <p:txBody>
          <a:bodyPr wrap="square" rtlCol="0" anchor="ctr"/>
          <a:lstStyle/>
          <a:p>
            <a:pPr marL="0" indent="0" algn="ctr">
              <a:buNone/>
            </a:pPr>
            <a:r>
              <a:rPr lang="en-US" sz="1100" dirty="0">
                <a:solidFill>
                  <a:srgbClr val="808080"/>
                </a:solidFill>
                <a:latin typeface="Arial" pitchFamily="34" charset="0"/>
                <a:ea typeface="Arial" pitchFamily="34" charset="-122"/>
                <a:cs typeface="Arial" pitchFamily="34" charset="-120"/>
              </a:rPr>
              <a:t>Redes y Comunicaciones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164592"/>
            <a:ext cx="8229600" cy="749808"/>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4" name="Text 2"/>
          <p:cNvSpPr/>
          <p:nvPr/>
        </p:nvSpPr>
        <p:spPr>
          <a:xfrm>
            <a:off x="566928" y="164592"/>
            <a:ext cx="8010144" cy="749808"/>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El Encapsulamiento — La Trama como 'Sobre'</a:t>
            </a:r>
            <a:endParaRPr lang="en-US" sz="2500" dirty="0"/>
          </a:p>
        </p:txBody>
      </p:sp>
      <p:sp>
        <p:nvSpPr>
          <p:cNvPr id="5" name="Text 3"/>
          <p:cNvSpPr/>
          <p:nvPr/>
        </p:nvSpPr>
        <p:spPr>
          <a:xfrm>
            <a:off x="566928" y="987552"/>
            <a:ext cx="8010144" cy="347472"/>
          </a:xfrm>
          <a:prstGeom prst="rect">
            <a:avLst/>
          </a:prstGeom>
          <a:noFill/>
          <a:ln/>
        </p:spPr>
        <p:txBody>
          <a:bodyPr wrap="square" rtlCol="0" anchor="ctr"/>
          <a:lstStyle/>
          <a:p>
            <a:pPr marL="0" indent="0">
              <a:buNone/>
            </a:pPr>
            <a:r>
              <a:rPr lang="en-US" sz="1200" i="1" dirty="0">
                <a:solidFill>
                  <a:srgbClr val="B9DEF8"/>
                </a:solidFill>
                <a:latin typeface="Arial" pitchFamily="34" charset="0"/>
                <a:ea typeface="Arial" pitchFamily="34" charset="-122"/>
                <a:cs typeface="Arial" pitchFamily="34" charset="-120"/>
              </a:rPr>
              <a:t>Cada capa agrega su propia cabecera al bajar por la pila de protocolos</a:t>
            </a:r>
            <a:endParaRPr lang="en-US" sz="1200" dirty="0"/>
          </a:p>
        </p:txBody>
      </p:sp>
      <p:sp>
        <p:nvSpPr>
          <p:cNvPr id="6" name="Shape 4"/>
          <p:cNvSpPr/>
          <p:nvPr/>
        </p:nvSpPr>
        <p:spPr>
          <a:xfrm>
            <a:off x="320040" y="1417320"/>
            <a:ext cx="4389120" cy="594360"/>
          </a:xfrm>
          <a:prstGeom prst="rect">
            <a:avLst/>
          </a:prstGeom>
          <a:solidFill>
            <a:srgbClr val="607D8B"/>
          </a:solidFill>
          <a:ln w="6350">
            <a:solidFill>
              <a:srgbClr val="FFFFFF"/>
            </a:solidFill>
            <a:prstDash val="solid"/>
          </a:ln>
          <a:effectLst>
            <a:outerShdw blurRad="101600" dist="38100" dir="8100000" algn="bl" rotWithShape="0">
              <a:srgbClr val="000000">
                <a:alpha val="15000"/>
              </a:srgbClr>
            </a:outerShdw>
          </a:effectLst>
        </p:spPr>
        <p:txBody>
          <a:bodyPr/>
          <a:lstStyle/>
          <a:p>
            <a:endParaRPr lang="en-US"/>
          </a:p>
        </p:txBody>
      </p:sp>
      <p:sp>
        <p:nvSpPr>
          <p:cNvPr id="7" name="Text 5"/>
          <p:cNvSpPr/>
          <p:nvPr/>
        </p:nvSpPr>
        <p:spPr>
          <a:xfrm>
            <a:off x="384048" y="1417320"/>
            <a:ext cx="1417320" cy="59436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Aplicación</a:t>
            </a:r>
            <a:endParaRPr lang="en-US" sz="1200" dirty="0"/>
          </a:p>
        </p:txBody>
      </p:sp>
      <p:sp>
        <p:nvSpPr>
          <p:cNvPr id="8" name="Text 6"/>
          <p:cNvSpPr/>
          <p:nvPr/>
        </p:nvSpPr>
        <p:spPr>
          <a:xfrm>
            <a:off x="1828800" y="1417320"/>
            <a:ext cx="2834640" cy="594360"/>
          </a:xfrm>
          <a:prstGeom prst="rect">
            <a:avLst/>
          </a:prstGeom>
          <a:noFill/>
          <a:ln/>
        </p:spPr>
        <p:txBody>
          <a:bodyPr wrap="square" rtlCol="0" anchor="ctr"/>
          <a:lstStyle/>
          <a:p>
            <a:pPr marL="0" indent="0">
              <a:buNone/>
            </a:pPr>
            <a:r>
              <a:rPr lang="en-US" sz="1100" dirty="0">
                <a:solidFill>
                  <a:srgbClr val="B9DEF8"/>
                </a:solidFill>
                <a:latin typeface="Arial" pitchFamily="34" charset="0"/>
                <a:ea typeface="Arial" pitchFamily="34" charset="-122"/>
                <a:cs typeface="Arial" pitchFamily="34" charset="-120"/>
              </a:rPr>
              <a:t>HTTP, FTP, DNS... → Datos</a:t>
            </a:r>
            <a:endParaRPr lang="en-US" sz="1100" dirty="0"/>
          </a:p>
        </p:txBody>
      </p:sp>
      <p:sp>
        <p:nvSpPr>
          <p:cNvPr id="9" name="Text 7"/>
          <p:cNvSpPr/>
          <p:nvPr/>
        </p:nvSpPr>
        <p:spPr>
          <a:xfrm>
            <a:off x="1463040" y="2011680"/>
            <a:ext cx="365760" cy="64008"/>
          </a:xfrm>
          <a:prstGeom prst="rect">
            <a:avLst/>
          </a:prstGeom>
          <a:noFill/>
          <a:ln/>
        </p:spPr>
        <p:txBody>
          <a:bodyPr wrap="square" rtlCol="0" anchor="ctr"/>
          <a:lstStyle/>
          <a:p>
            <a:pPr marL="0" indent="0" algn="ctr">
              <a:buNone/>
            </a:pPr>
            <a:r>
              <a:rPr lang="en-US" sz="1200" dirty="0">
                <a:solidFill>
                  <a:srgbClr val="5AA8D8"/>
                </a:solidFill>
                <a:latin typeface="Arial" pitchFamily="34" charset="0"/>
                <a:ea typeface="Arial" pitchFamily="34" charset="-122"/>
                <a:cs typeface="Arial" pitchFamily="34" charset="-120"/>
              </a:rPr>
              <a:t>↓</a:t>
            </a:r>
            <a:endParaRPr lang="en-US" sz="1200" dirty="0"/>
          </a:p>
        </p:txBody>
      </p:sp>
      <p:sp>
        <p:nvSpPr>
          <p:cNvPr id="10" name="Shape 8"/>
          <p:cNvSpPr/>
          <p:nvPr/>
        </p:nvSpPr>
        <p:spPr>
          <a:xfrm>
            <a:off x="320040" y="2075688"/>
            <a:ext cx="4389120" cy="594360"/>
          </a:xfrm>
          <a:prstGeom prst="rect">
            <a:avLst/>
          </a:prstGeom>
          <a:solidFill>
            <a:srgbClr val="455A64"/>
          </a:solidFill>
          <a:ln w="6350">
            <a:solidFill>
              <a:srgbClr val="FFFFFF"/>
            </a:solidFill>
            <a:prstDash val="solid"/>
          </a:ln>
          <a:effectLst>
            <a:outerShdw blurRad="101600" dist="38100" dir="8100000" algn="bl" rotWithShape="0">
              <a:srgbClr val="000000">
                <a:alpha val="15000"/>
              </a:srgbClr>
            </a:outerShdw>
          </a:effectLst>
        </p:spPr>
        <p:txBody>
          <a:bodyPr/>
          <a:lstStyle/>
          <a:p>
            <a:endParaRPr lang="en-US"/>
          </a:p>
        </p:txBody>
      </p:sp>
      <p:sp>
        <p:nvSpPr>
          <p:cNvPr id="11" name="Text 9"/>
          <p:cNvSpPr/>
          <p:nvPr/>
        </p:nvSpPr>
        <p:spPr>
          <a:xfrm>
            <a:off x="384048" y="2075688"/>
            <a:ext cx="1417320" cy="59436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Transporte</a:t>
            </a:r>
            <a:endParaRPr lang="en-US" sz="1200" dirty="0"/>
          </a:p>
        </p:txBody>
      </p:sp>
      <p:sp>
        <p:nvSpPr>
          <p:cNvPr id="12" name="Text 10"/>
          <p:cNvSpPr/>
          <p:nvPr/>
        </p:nvSpPr>
        <p:spPr>
          <a:xfrm>
            <a:off x="1828800" y="2075688"/>
            <a:ext cx="2834640" cy="594360"/>
          </a:xfrm>
          <a:prstGeom prst="rect">
            <a:avLst/>
          </a:prstGeom>
          <a:noFill/>
          <a:ln/>
        </p:spPr>
        <p:txBody>
          <a:bodyPr wrap="square" rtlCol="0" anchor="ctr"/>
          <a:lstStyle/>
          <a:p>
            <a:pPr marL="0" indent="0">
              <a:buNone/>
            </a:pPr>
            <a:r>
              <a:rPr lang="en-US" sz="1100" dirty="0">
                <a:solidFill>
                  <a:srgbClr val="B9DEF8"/>
                </a:solidFill>
                <a:latin typeface="Arial" pitchFamily="34" charset="0"/>
                <a:ea typeface="Arial" pitchFamily="34" charset="-122"/>
                <a:cs typeface="Arial" pitchFamily="34" charset="-120"/>
              </a:rPr>
              <a:t>TCP/UDP → Segmento (+ puerto src/dst)</a:t>
            </a:r>
            <a:endParaRPr lang="en-US" sz="1100" dirty="0"/>
          </a:p>
        </p:txBody>
      </p:sp>
      <p:sp>
        <p:nvSpPr>
          <p:cNvPr id="13" name="Text 11"/>
          <p:cNvSpPr/>
          <p:nvPr/>
        </p:nvSpPr>
        <p:spPr>
          <a:xfrm>
            <a:off x="1463040" y="2670048"/>
            <a:ext cx="365760" cy="64008"/>
          </a:xfrm>
          <a:prstGeom prst="rect">
            <a:avLst/>
          </a:prstGeom>
          <a:noFill/>
          <a:ln/>
        </p:spPr>
        <p:txBody>
          <a:bodyPr wrap="square" rtlCol="0" anchor="ctr"/>
          <a:lstStyle/>
          <a:p>
            <a:pPr marL="0" indent="0" algn="ctr">
              <a:buNone/>
            </a:pPr>
            <a:r>
              <a:rPr lang="en-US" sz="1200" dirty="0">
                <a:solidFill>
                  <a:srgbClr val="5AA8D8"/>
                </a:solidFill>
                <a:latin typeface="Arial" pitchFamily="34" charset="0"/>
                <a:ea typeface="Arial" pitchFamily="34" charset="-122"/>
                <a:cs typeface="Arial" pitchFamily="34" charset="-120"/>
              </a:rPr>
              <a:t>↓</a:t>
            </a:r>
            <a:endParaRPr lang="en-US" sz="1200" dirty="0"/>
          </a:p>
        </p:txBody>
      </p:sp>
      <p:sp>
        <p:nvSpPr>
          <p:cNvPr id="14" name="Shape 12"/>
          <p:cNvSpPr/>
          <p:nvPr/>
        </p:nvSpPr>
        <p:spPr>
          <a:xfrm>
            <a:off x="320040" y="2734056"/>
            <a:ext cx="4389120" cy="594360"/>
          </a:xfrm>
          <a:prstGeom prst="rect">
            <a:avLst/>
          </a:prstGeom>
          <a:solidFill>
            <a:srgbClr val="3A7BAA"/>
          </a:solidFill>
          <a:ln w="6350">
            <a:solidFill>
              <a:srgbClr val="FFFFFF"/>
            </a:solidFill>
            <a:prstDash val="solid"/>
          </a:ln>
          <a:effectLst>
            <a:outerShdw blurRad="101600" dist="38100" dir="8100000" algn="bl" rotWithShape="0">
              <a:srgbClr val="000000">
                <a:alpha val="15000"/>
              </a:srgbClr>
            </a:outerShdw>
          </a:effectLst>
        </p:spPr>
        <p:txBody>
          <a:bodyPr/>
          <a:lstStyle/>
          <a:p>
            <a:endParaRPr lang="en-US"/>
          </a:p>
        </p:txBody>
      </p:sp>
      <p:sp>
        <p:nvSpPr>
          <p:cNvPr id="15" name="Text 13"/>
          <p:cNvSpPr/>
          <p:nvPr/>
        </p:nvSpPr>
        <p:spPr>
          <a:xfrm>
            <a:off x="384048" y="2734056"/>
            <a:ext cx="1417320" cy="59436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Red</a:t>
            </a:r>
            <a:endParaRPr lang="en-US" sz="1200" dirty="0"/>
          </a:p>
        </p:txBody>
      </p:sp>
      <p:sp>
        <p:nvSpPr>
          <p:cNvPr id="16" name="Text 14"/>
          <p:cNvSpPr/>
          <p:nvPr/>
        </p:nvSpPr>
        <p:spPr>
          <a:xfrm>
            <a:off x="1828800" y="2734056"/>
            <a:ext cx="2834640" cy="594360"/>
          </a:xfrm>
          <a:prstGeom prst="rect">
            <a:avLst/>
          </a:prstGeom>
          <a:noFill/>
          <a:ln/>
        </p:spPr>
        <p:txBody>
          <a:bodyPr wrap="square" rtlCol="0" anchor="ctr"/>
          <a:lstStyle/>
          <a:p>
            <a:pPr marL="0" indent="0">
              <a:buNone/>
            </a:pPr>
            <a:r>
              <a:rPr lang="en-US" sz="1100" dirty="0">
                <a:solidFill>
                  <a:srgbClr val="B9DEF8"/>
                </a:solidFill>
                <a:latin typeface="Arial" pitchFamily="34" charset="0"/>
                <a:ea typeface="Arial" pitchFamily="34" charset="-122"/>
                <a:cs typeface="Arial" pitchFamily="34" charset="-120"/>
              </a:rPr>
              <a:t>IP → Paquete (+ IP src/dst)</a:t>
            </a:r>
            <a:endParaRPr lang="en-US" sz="1100" dirty="0"/>
          </a:p>
        </p:txBody>
      </p:sp>
      <p:sp>
        <p:nvSpPr>
          <p:cNvPr id="17" name="Text 15"/>
          <p:cNvSpPr/>
          <p:nvPr/>
        </p:nvSpPr>
        <p:spPr>
          <a:xfrm>
            <a:off x="1463040" y="3328416"/>
            <a:ext cx="365760" cy="64008"/>
          </a:xfrm>
          <a:prstGeom prst="rect">
            <a:avLst/>
          </a:prstGeom>
          <a:noFill/>
          <a:ln/>
        </p:spPr>
        <p:txBody>
          <a:bodyPr wrap="square" rtlCol="0" anchor="ctr"/>
          <a:lstStyle/>
          <a:p>
            <a:pPr marL="0" indent="0" algn="ctr">
              <a:buNone/>
            </a:pPr>
            <a:r>
              <a:rPr lang="en-US" sz="1200" dirty="0">
                <a:solidFill>
                  <a:srgbClr val="5AA8D8"/>
                </a:solidFill>
                <a:latin typeface="Arial" pitchFamily="34" charset="0"/>
                <a:ea typeface="Arial" pitchFamily="34" charset="-122"/>
                <a:cs typeface="Arial" pitchFamily="34" charset="-120"/>
              </a:rPr>
              <a:t>↓</a:t>
            </a:r>
            <a:endParaRPr lang="en-US" sz="1200" dirty="0"/>
          </a:p>
        </p:txBody>
      </p:sp>
      <p:sp>
        <p:nvSpPr>
          <p:cNvPr id="18" name="Shape 16"/>
          <p:cNvSpPr/>
          <p:nvPr/>
        </p:nvSpPr>
        <p:spPr>
          <a:xfrm>
            <a:off x="320040" y="3392424"/>
            <a:ext cx="4389120" cy="594360"/>
          </a:xfrm>
          <a:prstGeom prst="rect">
            <a:avLst/>
          </a:prstGeom>
          <a:solidFill>
            <a:srgbClr val="5AA8D8"/>
          </a:solidFill>
          <a:ln w="6350">
            <a:solidFill>
              <a:srgbClr val="FFFFFF"/>
            </a:solidFill>
            <a:prstDash val="solid"/>
          </a:ln>
          <a:effectLst>
            <a:outerShdw blurRad="101600" dist="38100" dir="8100000" algn="bl" rotWithShape="0">
              <a:srgbClr val="000000">
                <a:alpha val="15000"/>
              </a:srgbClr>
            </a:outerShdw>
          </a:effectLst>
        </p:spPr>
        <p:txBody>
          <a:bodyPr/>
          <a:lstStyle/>
          <a:p>
            <a:endParaRPr lang="en-US"/>
          </a:p>
        </p:txBody>
      </p:sp>
      <p:sp>
        <p:nvSpPr>
          <p:cNvPr id="19" name="Text 17"/>
          <p:cNvSpPr/>
          <p:nvPr/>
        </p:nvSpPr>
        <p:spPr>
          <a:xfrm>
            <a:off x="384048" y="3392424"/>
            <a:ext cx="1417320" cy="59436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Enlace (MAC)</a:t>
            </a:r>
            <a:endParaRPr lang="en-US" sz="1200" dirty="0"/>
          </a:p>
        </p:txBody>
      </p:sp>
      <p:sp>
        <p:nvSpPr>
          <p:cNvPr id="20" name="Text 18"/>
          <p:cNvSpPr/>
          <p:nvPr/>
        </p:nvSpPr>
        <p:spPr>
          <a:xfrm>
            <a:off x="1828800" y="3392424"/>
            <a:ext cx="2834640" cy="594360"/>
          </a:xfrm>
          <a:prstGeom prst="rect">
            <a:avLst/>
          </a:prstGeom>
          <a:noFill/>
          <a:ln/>
        </p:spPr>
        <p:txBody>
          <a:bodyPr wrap="square" rtlCol="0" anchor="ctr"/>
          <a:lstStyle/>
          <a:p>
            <a:pPr marL="0" indent="0">
              <a:buNone/>
            </a:pPr>
            <a:r>
              <a:rPr lang="en-US" sz="1100" dirty="0">
                <a:solidFill>
                  <a:srgbClr val="B9DEF8"/>
                </a:solidFill>
                <a:latin typeface="Arial" pitchFamily="34" charset="0"/>
                <a:ea typeface="Arial" pitchFamily="34" charset="-122"/>
                <a:cs typeface="Arial" pitchFamily="34" charset="-120"/>
              </a:rPr>
              <a:t>Ethernet → TRAMA (+ MAC src/dst + FCS)</a:t>
            </a:r>
            <a:endParaRPr lang="en-US" sz="1100" dirty="0"/>
          </a:p>
        </p:txBody>
      </p:sp>
      <p:sp>
        <p:nvSpPr>
          <p:cNvPr id="21" name="Text 19"/>
          <p:cNvSpPr/>
          <p:nvPr/>
        </p:nvSpPr>
        <p:spPr>
          <a:xfrm>
            <a:off x="1463040" y="3986784"/>
            <a:ext cx="365760" cy="64008"/>
          </a:xfrm>
          <a:prstGeom prst="rect">
            <a:avLst/>
          </a:prstGeom>
          <a:noFill/>
          <a:ln/>
        </p:spPr>
        <p:txBody>
          <a:bodyPr wrap="square" rtlCol="0" anchor="ctr"/>
          <a:lstStyle/>
          <a:p>
            <a:pPr marL="0" indent="0" algn="ctr">
              <a:buNone/>
            </a:pPr>
            <a:r>
              <a:rPr lang="en-US" sz="1200" dirty="0">
                <a:solidFill>
                  <a:srgbClr val="5AA8D8"/>
                </a:solidFill>
                <a:latin typeface="Arial" pitchFamily="34" charset="0"/>
                <a:ea typeface="Arial" pitchFamily="34" charset="-122"/>
                <a:cs typeface="Arial" pitchFamily="34" charset="-120"/>
              </a:rPr>
              <a:t>↓</a:t>
            </a:r>
            <a:endParaRPr lang="en-US" sz="1200" dirty="0"/>
          </a:p>
        </p:txBody>
      </p:sp>
      <p:sp>
        <p:nvSpPr>
          <p:cNvPr id="22" name="Shape 20"/>
          <p:cNvSpPr/>
          <p:nvPr/>
        </p:nvSpPr>
        <p:spPr>
          <a:xfrm>
            <a:off x="320040" y="4050792"/>
            <a:ext cx="4389120" cy="594360"/>
          </a:xfrm>
          <a:prstGeom prst="rect">
            <a:avLst/>
          </a:prstGeom>
          <a:solidFill>
            <a:srgbClr val="00695C"/>
          </a:solidFill>
          <a:ln w="6350">
            <a:solidFill>
              <a:srgbClr val="FFFFFF"/>
            </a:solidFill>
            <a:prstDash val="solid"/>
          </a:ln>
          <a:effectLst>
            <a:outerShdw blurRad="101600" dist="38100" dir="8100000" algn="bl" rotWithShape="0">
              <a:srgbClr val="000000">
                <a:alpha val="15000"/>
              </a:srgbClr>
            </a:outerShdw>
          </a:effectLst>
        </p:spPr>
        <p:txBody>
          <a:bodyPr/>
          <a:lstStyle/>
          <a:p>
            <a:endParaRPr lang="en-US"/>
          </a:p>
        </p:txBody>
      </p:sp>
      <p:sp>
        <p:nvSpPr>
          <p:cNvPr id="23" name="Text 21"/>
          <p:cNvSpPr/>
          <p:nvPr/>
        </p:nvSpPr>
        <p:spPr>
          <a:xfrm>
            <a:off x="384048" y="4050792"/>
            <a:ext cx="1417320" cy="59436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Física</a:t>
            </a:r>
            <a:endParaRPr lang="en-US" sz="1200" dirty="0"/>
          </a:p>
        </p:txBody>
      </p:sp>
      <p:sp>
        <p:nvSpPr>
          <p:cNvPr id="24" name="Text 22"/>
          <p:cNvSpPr/>
          <p:nvPr/>
        </p:nvSpPr>
        <p:spPr>
          <a:xfrm>
            <a:off x="1828800" y="4050792"/>
            <a:ext cx="2834640" cy="594360"/>
          </a:xfrm>
          <a:prstGeom prst="rect">
            <a:avLst/>
          </a:prstGeom>
          <a:noFill/>
          <a:ln/>
        </p:spPr>
        <p:txBody>
          <a:bodyPr wrap="square" rtlCol="0" anchor="ctr"/>
          <a:lstStyle/>
          <a:p>
            <a:pPr marL="0" indent="0">
              <a:buNone/>
            </a:pPr>
            <a:r>
              <a:rPr lang="en-US" sz="1100" dirty="0">
                <a:solidFill>
                  <a:srgbClr val="B9DEF8"/>
                </a:solidFill>
                <a:latin typeface="Arial" pitchFamily="34" charset="0"/>
                <a:ea typeface="Arial" pitchFamily="34" charset="-122"/>
                <a:cs typeface="Arial" pitchFamily="34" charset="-120"/>
              </a:rPr>
              <a:t>Bits → señal eléctrica/óptica/radio</a:t>
            </a:r>
            <a:endParaRPr lang="en-US" sz="1100" dirty="0"/>
          </a:p>
        </p:txBody>
      </p:sp>
      <p:sp>
        <p:nvSpPr>
          <p:cNvPr id="25" name="Shape 23"/>
          <p:cNvSpPr/>
          <p:nvPr/>
        </p:nvSpPr>
        <p:spPr>
          <a:xfrm>
            <a:off x="5029200" y="1417320"/>
            <a:ext cx="3794760" cy="333756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26" name="Shape 24"/>
          <p:cNvSpPr/>
          <p:nvPr/>
        </p:nvSpPr>
        <p:spPr>
          <a:xfrm>
            <a:off x="5029200" y="1417320"/>
            <a:ext cx="3794760" cy="384048"/>
          </a:xfrm>
          <a:prstGeom prst="rect">
            <a:avLst/>
          </a:prstGeom>
          <a:solidFill>
            <a:srgbClr val="3A7BAA"/>
          </a:solidFill>
          <a:ln w="12700">
            <a:solidFill>
              <a:srgbClr val="3A7BAA"/>
            </a:solidFill>
            <a:prstDash val="solid"/>
          </a:ln>
        </p:spPr>
        <p:txBody>
          <a:bodyPr/>
          <a:lstStyle/>
          <a:p>
            <a:endParaRPr lang="en-US"/>
          </a:p>
        </p:txBody>
      </p:sp>
      <p:sp>
        <p:nvSpPr>
          <p:cNvPr id="27" name="Text 25"/>
          <p:cNvSpPr/>
          <p:nvPr/>
        </p:nvSpPr>
        <p:spPr>
          <a:xfrm>
            <a:off x="5102352" y="1417320"/>
            <a:ext cx="3648456" cy="384048"/>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La TRAMA — unidad de Capa 2</a:t>
            </a:r>
            <a:endParaRPr lang="en-US" sz="1200" dirty="0"/>
          </a:p>
        </p:txBody>
      </p:sp>
      <p:sp>
        <p:nvSpPr>
          <p:cNvPr id="28" name="Shape 26"/>
          <p:cNvSpPr/>
          <p:nvPr/>
        </p:nvSpPr>
        <p:spPr>
          <a:xfrm>
            <a:off x="5138928" y="1920240"/>
            <a:ext cx="118872" cy="118872"/>
          </a:xfrm>
          <a:prstGeom prst="ellipse">
            <a:avLst/>
          </a:prstGeom>
          <a:solidFill>
            <a:srgbClr val="5AA8D8"/>
          </a:solidFill>
          <a:ln w="12700">
            <a:solidFill>
              <a:srgbClr val="5AA8D8"/>
            </a:solidFill>
            <a:prstDash val="solid"/>
          </a:ln>
        </p:spPr>
        <p:txBody>
          <a:bodyPr/>
          <a:lstStyle/>
          <a:p>
            <a:endParaRPr lang="en-US"/>
          </a:p>
        </p:txBody>
      </p:sp>
      <p:sp>
        <p:nvSpPr>
          <p:cNvPr id="29" name="Text 27"/>
          <p:cNvSpPr/>
          <p:nvPr/>
        </p:nvSpPr>
        <p:spPr>
          <a:xfrm>
            <a:off x="5321808" y="1892808"/>
            <a:ext cx="3401568" cy="347472"/>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Es el 'sobre' que viaja por el cable.</a:t>
            </a:r>
            <a:endParaRPr lang="en-US" sz="1100" dirty="0"/>
          </a:p>
        </p:txBody>
      </p:sp>
      <p:sp>
        <p:nvSpPr>
          <p:cNvPr id="30" name="Shape 28"/>
          <p:cNvSpPr/>
          <p:nvPr/>
        </p:nvSpPr>
        <p:spPr>
          <a:xfrm>
            <a:off x="5138928" y="2322576"/>
            <a:ext cx="118872" cy="118872"/>
          </a:xfrm>
          <a:prstGeom prst="ellipse">
            <a:avLst/>
          </a:prstGeom>
          <a:solidFill>
            <a:srgbClr val="5AA8D8"/>
          </a:solidFill>
          <a:ln w="12700">
            <a:solidFill>
              <a:srgbClr val="5AA8D8"/>
            </a:solidFill>
            <a:prstDash val="solid"/>
          </a:ln>
        </p:spPr>
        <p:txBody>
          <a:bodyPr/>
          <a:lstStyle/>
          <a:p>
            <a:endParaRPr lang="en-US"/>
          </a:p>
        </p:txBody>
      </p:sp>
      <p:sp>
        <p:nvSpPr>
          <p:cNvPr id="31" name="Text 29"/>
          <p:cNvSpPr/>
          <p:nvPr/>
        </p:nvSpPr>
        <p:spPr>
          <a:xfrm>
            <a:off x="5321808" y="2295144"/>
            <a:ext cx="3401568" cy="347472"/>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Contiene el paquete IP como payload.</a:t>
            </a:r>
            <a:endParaRPr lang="en-US" sz="1100" dirty="0"/>
          </a:p>
        </p:txBody>
      </p:sp>
      <p:sp>
        <p:nvSpPr>
          <p:cNvPr id="32" name="Shape 30"/>
          <p:cNvSpPr/>
          <p:nvPr/>
        </p:nvSpPr>
        <p:spPr>
          <a:xfrm>
            <a:off x="5138928" y="2724912"/>
            <a:ext cx="118872" cy="118872"/>
          </a:xfrm>
          <a:prstGeom prst="ellipse">
            <a:avLst/>
          </a:prstGeom>
          <a:solidFill>
            <a:srgbClr val="5AA8D8"/>
          </a:solidFill>
          <a:ln w="12700">
            <a:solidFill>
              <a:srgbClr val="5AA8D8"/>
            </a:solidFill>
            <a:prstDash val="solid"/>
          </a:ln>
        </p:spPr>
        <p:txBody>
          <a:bodyPr/>
          <a:lstStyle/>
          <a:p>
            <a:endParaRPr lang="en-US"/>
          </a:p>
        </p:txBody>
      </p:sp>
      <p:sp>
        <p:nvSpPr>
          <p:cNvPr id="33" name="Text 31"/>
          <p:cNvSpPr/>
          <p:nvPr/>
        </p:nvSpPr>
        <p:spPr>
          <a:xfrm>
            <a:off x="5321808" y="2697480"/>
            <a:ext cx="3401568" cy="347472"/>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Agrega MAC origen y destino.</a:t>
            </a:r>
            <a:endParaRPr lang="en-US" sz="1100" dirty="0"/>
          </a:p>
        </p:txBody>
      </p:sp>
      <p:sp>
        <p:nvSpPr>
          <p:cNvPr id="34" name="Shape 32"/>
          <p:cNvSpPr/>
          <p:nvPr/>
        </p:nvSpPr>
        <p:spPr>
          <a:xfrm>
            <a:off x="5138928" y="3127248"/>
            <a:ext cx="118872" cy="118872"/>
          </a:xfrm>
          <a:prstGeom prst="ellipse">
            <a:avLst/>
          </a:prstGeom>
          <a:solidFill>
            <a:srgbClr val="5AA8D8"/>
          </a:solidFill>
          <a:ln w="12700">
            <a:solidFill>
              <a:srgbClr val="5AA8D8"/>
            </a:solidFill>
            <a:prstDash val="solid"/>
          </a:ln>
        </p:spPr>
        <p:txBody>
          <a:bodyPr/>
          <a:lstStyle/>
          <a:p>
            <a:endParaRPr lang="en-US"/>
          </a:p>
        </p:txBody>
      </p:sp>
      <p:sp>
        <p:nvSpPr>
          <p:cNvPr id="35" name="Text 33"/>
          <p:cNvSpPr/>
          <p:nvPr/>
        </p:nvSpPr>
        <p:spPr>
          <a:xfrm>
            <a:off x="5321808" y="3099816"/>
            <a:ext cx="3401568" cy="347472"/>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Agrega mecanismos de sincronización (Preámbulo/SOF).</a:t>
            </a:r>
            <a:endParaRPr lang="en-US" sz="1100" dirty="0"/>
          </a:p>
        </p:txBody>
      </p:sp>
      <p:sp>
        <p:nvSpPr>
          <p:cNvPr id="36" name="Shape 34"/>
          <p:cNvSpPr/>
          <p:nvPr/>
        </p:nvSpPr>
        <p:spPr>
          <a:xfrm>
            <a:off x="5138928" y="3529584"/>
            <a:ext cx="118872" cy="118872"/>
          </a:xfrm>
          <a:prstGeom prst="ellipse">
            <a:avLst/>
          </a:prstGeom>
          <a:solidFill>
            <a:srgbClr val="5AA8D8"/>
          </a:solidFill>
          <a:ln w="12700">
            <a:solidFill>
              <a:srgbClr val="5AA8D8"/>
            </a:solidFill>
            <a:prstDash val="solid"/>
          </a:ln>
        </p:spPr>
        <p:txBody>
          <a:bodyPr/>
          <a:lstStyle/>
          <a:p>
            <a:endParaRPr lang="en-US"/>
          </a:p>
        </p:txBody>
      </p:sp>
      <p:sp>
        <p:nvSpPr>
          <p:cNvPr id="37" name="Text 35"/>
          <p:cNvSpPr/>
          <p:nvPr/>
        </p:nvSpPr>
        <p:spPr>
          <a:xfrm>
            <a:off x="5321808" y="3502152"/>
            <a:ext cx="3401568" cy="347472"/>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Agrega detección de errores (FCS/CRC).</a:t>
            </a:r>
            <a:endParaRPr lang="en-US" sz="1100" dirty="0"/>
          </a:p>
        </p:txBody>
      </p:sp>
      <p:sp>
        <p:nvSpPr>
          <p:cNvPr id="38" name="Shape 36"/>
          <p:cNvSpPr/>
          <p:nvPr/>
        </p:nvSpPr>
        <p:spPr>
          <a:xfrm>
            <a:off x="5138928" y="3931920"/>
            <a:ext cx="118872" cy="118872"/>
          </a:xfrm>
          <a:prstGeom prst="ellipse">
            <a:avLst/>
          </a:prstGeom>
          <a:solidFill>
            <a:srgbClr val="5AA8D8"/>
          </a:solidFill>
          <a:ln w="12700">
            <a:solidFill>
              <a:srgbClr val="5AA8D8"/>
            </a:solidFill>
            <a:prstDash val="solid"/>
          </a:ln>
        </p:spPr>
        <p:txBody>
          <a:bodyPr/>
          <a:lstStyle/>
          <a:p>
            <a:endParaRPr lang="en-US"/>
          </a:p>
        </p:txBody>
      </p:sp>
      <p:sp>
        <p:nvSpPr>
          <p:cNvPr id="39" name="Text 37"/>
          <p:cNvSpPr/>
          <p:nvPr/>
        </p:nvSpPr>
        <p:spPr>
          <a:xfrm>
            <a:off x="5321808" y="3904488"/>
            <a:ext cx="3401568" cy="347472"/>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Tiene un tamaño mínimo (64B) y máximo (1518B).</a:t>
            </a:r>
            <a:endParaRPr lang="en-US" sz="1100" dirty="0"/>
          </a:p>
        </p:txBody>
      </p:sp>
      <p:sp>
        <p:nvSpPr>
          <p:cNvPr id="40" name="Shape 38"/>
          <p:cNvSpPr/>
          <p:nvPr/>
        </p:nvSpPr>
        <p:spPr>
          <a:xfrm>
            <a:off x="5138928" y="4334256"/>
            <a:ext cx="118872" cy="118872"/>
          </a:xfrm>
          <a:prstGeom prst="ellipse">
            <a:avLst/>
          </a:prstGeom>
          <a:solidFill>
            <a:srgbClr val="5AA8D8"/>
          </a:solidFill>
          <a:ln w="12700">
            <a:solidFill>
              <a:srgbClr val="5AA8D8"/>
            </a:solidFill>
            <a:prstDash val="solid"/>
          </a:ln>
        </p:spPr>
        <p:txBody>
          <a:bodyPr/>
          <a:lstStyle/>
          <a:p>
            <a:endParaRPr lang="en-US"/>
          </a:p>
        </p:txBody>
      </p:sp>
      <p:sp>
        <p:nvSpPr>
          <p:cNvPr id="41" name="Text 39"/>
          <p:cNvSpPr/>
          <p:nvPr/>
        </p:nvSpPr>
        <p:spPr>
          <a:xfrm>
            <a:off x="5321808" y="4306824"/>
            <a:ext cx="3401568" cy="347472"/>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Al llegar al destino, la capa 2 'desencapsula' y entrega el paquete IP a la capa 3.</a:t>
            </a:r>
            <a:endParaRPr lang="en-US" sz="1100" dirty="0"/>
          </a:p>
        </p:txBody>
      </p:sp>
      <p:sp>
        <p:nvSpPr>
          <p:cNvPr id="42" name="Shape 40"/>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43" name="Text 41"/>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Analogía: la trama es el sobre de la carta. El sobre tiene dirección, remitente y sello. El contenido (la carta) es el paquete IP.</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164592"/>
            <a:ext cx="8229600" cy="749808"/>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4" name="Text 2"/>
          <p:cNvSpPr/>
          <p:nvPr/>
        </p:nvSpPr>
        <p:spPr>
          <a:xfrm>
            <a:off x="566928" y="164592"/>
            <a:ext cx="8010144" cy="749808"/>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La Trama Ethernet II — Estructura Campo a Campo</a:t>
            </a:r>
            <a:endParaRPr lang="en-US" sz="2500" dirty="0"/>
          </a:p>
        </p:txBody>
      </p:sp>
      <p:sp>
        <p:nvSpPr>
          <p:cNvPr id="5" name="Text 3"/>
          <p:cNvSpPr/>
          <p:nvPr/>
        </p:nvSpPr>
        <p:spPr>
          <a:xfrm>
            <a:off x="566928" y="987552"/>
            <a:ext cx="8010144" cy="347472"/>
          </a:xfrm>
          <a:prstGeom prst="rect">
            <a:avLst/>
          </a:prstGeom>
          <a:noFill/>
          <a:ln/>
        </p:spPr>
        <p:txBody>
          <a:bodyPr wrap="square" rtlCol="0" anchor="ctr"/>
          <a:lstStyle/>
          <a:p>
            <a:pPr marL="0" indent="0">
              <a:buNone/>
            </a:pPr>
            <a:r>
              <a:rPr lang="en-US" sz="1200" i="1" dirty="0">
                <a:solidFill>
                  <a:srgbClr val="B9DEF8"/>
                </a:solidFill>
                <a:latin typeface="Arial" pitchFamily="34" charset="0"/>
                <a:ea typeface="Arial" pitchFamily="34" charset="-122"/>
                <a:cs typeface="Arial" pitchFamily="34" charset="-120"/>
              </a:rPr>
              <a:t>El formato que usan todos los paquetes IP en redes LAN actuales</a:t>
            </a:r>
            <a:endParaRPr lang="en-US" sz="1200" dirty="0"/>
          </a:p>
        </p:txBody>
      </p:sp>
      <p:sp>
        <p:nvSpPr>
          <p:cNvPr id="6" name="Shape 4"/>
          <p:cNvSpPr/>
          <p:nvPr/>
        </p:nvSpPr>
        <p:spPr>
          <a:xfrm>
            <a:off x="320040" y="1417320"/>
            <a:ext cx="914400" cy="658368"/>
          </a:xfrm>
          <a:prstGeom prst="rect">
            <a:avLst/>
          </a:prstGeom>
          <a:solidFill>
            <a:srgbClr val="556677"/>
          </a:solidFill>
          <a:ln w="6350">
            <a:solidFill>
              <a:srgbClr val="FFFFFF"/>
            </a:solidFill>
            <a:prstDash val="solid"/>
          </a:ln>
        </p:spPr>
        <p:txBody>
          <a:bodyPr/>
          <a:lstStyle/>
          <a:p>
            <a:endParaRPr lang="en-US"/>
          </a:p>
        </p:txBody>
      </p:sp>
      <p:sp>
        <p:nvSpPr>
          <p:cNvPr id="7" name="Text 5"/>
          <p:cNvSpPr/>
          <p:nvPr/>
        </p:nvSpPr>
        <p:spPr>
          <a:xfrm>
            <a:off x="347472" y="1453896"/>
            <a:ext cx="859536"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Preámbulo</a:t>
            </a:r>
            <a:endParaRPr lang="en-US" sz="900" dirty="0"/>
          </a:p>
        </p:txBody>
      </p:sp>
      <p:sp>
        <p:nvSpPr>
          <p:cNvPr id="8" name="Text 6"/>
          <p:cNvSpPr/>
          <p:nvPr/>
        </p:nvSpPr>
        <p:spPr>
          <a:xfrm>
            <a:off x="347472" y="1819656"/>
            <a:ext cx="859536" cy="219456"/>
          </a:xfrm>
          <a:prstGeom prst="rect">
            <a:avLst/>
          </a:prstGeom>
          <a:noFill/>
          <a:ln/>
        </p:spPr>
        <p:txBody>
          <a:bodyPr wrap="square" rtlCol="0" anchor="ctr"/>
          <a:lstStyle/>
          <a:p>
            <a:pPr marL="0" indent="0" algn="ctr">
              <a:buNone/>
            </a:pPr>
            <a:r>
              <a:rPr lang="en-US" sz="850" dirty="0">
                <a:solidFill>
                  <a:srgbClr val="B9DEF8"/>
                </a:solidFill>
                <a:latin typeface="Arial" pitchFamily="34" charset="0"/>
                <a:ea typeface="Arial" pitchFamily="34" charset="-122"/>
                <a:cs typeface="Arial" pitchFamily="34" charset="-120"/>
              </a:rPr>
              <a:t>8 bytes</a:t>
            </a:r>
            <a:endParaRPr lang="en-US" sz="850" dirty="0"/>
          </a:p>
        </p:txBody>
      </p:sp>
      <p:sp>
        <p:nvSpPr>
          <p:cNvPr id="9" name="Shape 7"/>
          <p:cNvSpPr/>
          <p:nvPr/>
        </p:nvSpPr>
        <p:spPr>
          <a:xfrm>
            <a:off x="777240" y="2075688"/>
            <a:ext cx="9144" cy="256032"/>
          </a:xfrm>
          <a:prstGeom prst="line">
            <a:avLst/>
          </a:prstGeom>
          <a:noFill/>
          <a:ln w="19050">
            <a:solidFill>
              <a:srgbClr val="556677"/>
            </a:solidFill>
            <a:prstDash val="dash"/>
          </a:ln>
        </p:spPr>
        <p:txBody>
          <a:bodyPr/>
          <a:lstStyle/>
          <a:p>
            <a:endParaRPr lang="en-US"/>
          </a:p>
        </p:txBody>
      </p:sp>
      <p:sp>
        <p:nvSpPr>
          <p:cNvPr id="10" name="Shape 8"/>
          <p:cNvSpPr/>
          <p:nvPr/>
        </p:nvSpPr>
        <p:spPr>
          <a:xfrm>
            <a:off x="320040" y="2377440"/>
            <a:ext cx="914400" cy="2816352"/>
          </a:xfrm>
          <a:prstGeom prst="rect">
            <a:avLst/>
          </a:prstGeom>
          <a:solidFill>
            <a:srgbClr val="3A4550"/>
          </a:solidFill>
          <a:ln w="10160">
            <a:solidFill>
              <a:srgbClr val="556677"/>
            </a:solidFill>
            <a:prstDash val="solid"/>
          </a:ln>
        </p:spPr>
        <p:txBody>
          <a:bodyPr/>
          <a:lstStyle/>
          <a:p>
            <a:endParaRPr lang="en-US"/>
          </a:p>
        </p:txBody>
      </p:sp>
      <p:sp>
        <p:nvSpPr>
          <p:cNvPr id="11" name="Text 9"/>
          <p:cNvSpPr/>
          <p:nvPr/>
        </p:nvSpPr>
        <p:spPr>
          <a:xfrm>
            <a:off x="365760" y="2441448"/>
            <a:ext cx="822960" cy="2688336"/>
          </a:xfrm>
          <a:prstGeom prst="rect">
            <a:avLst/>
          </a:prstGeom>
          <a:noFill/>
          <a:ln/>
        </p:spPr>
        <p:txBody>
          <a:bodyPr wrap="square" rtlCol="0" anchor="t"/>
          <a:lstStyle/>
          <a:p>
            <a:pPr marL="0" indent="0">
              <a:buNone/>
            </a:pPr>
            <a:r>
              <a:rPr lang="en-US" sz="1000" dirty="0">
                <a:solidFill>
                  <a:srgbClr val="B9DEF8"/>
                </a:solidFill>
                <a:latin typeface="Arial" pitchFamily="34" charset="0"/>
                <a:ea typeface="Arial" pitchFamily="34" charset="-122"/>
                <a:cs typeface="Arial" pitchFamily="34" charset="-120"/>
              </a:rPr>
              <a:t>Sincronización. Secuencia 1010...1011. Genera onda 10 MHz.</a:t>
            </a:r>
            <a:endParaRPr lang="en-US" sz="1000" dirty="0"/>
          </a:p>
        </p:txBody>
      </p:sp>
      <p:sp>
        <p:nvSpPr>
          <p:cNvPr id="12" name="Shape 10"/>
          <p:cNvSpPr/>
          <p:nvPr/>
        </p:nvSpPr>
        <p:spPr>
          <a:xfrm>
            <a:off x="1234440" y="1417320"/>
            <a:ext cx="1234440" cy="658368"/>
          </a:xfrm>
          <a:prstGeom prst="rect">
            <a:avLst/>
          </a:prstGeom>
          <a:solidFill>
            <a:srgbClr val="C62828"/>
          </a:solidFill>
          <a:ln w="6350">
            <a:solidFill>
              <a:srgbClr val="FFFFFF"/>
            </a:solidFill>
            <a:prstDash val="solid"/>
          </a:ln>
        </p:spPr>
        <p:txBody>
          <a:bodyPr/>
          <a:lstStyle/>
          <a:p>
            <a:endParaRPr lang="en-US"/>
          </a:p>
        </p:txBody>
      </p:sp>
      <p:sp>
        <p:nvSpPr>
          <p:cNvPr id="13" name="Text 11"/>
          <p:cNvSpPr/>
          <p:nvPr/>
        </p:nvSpPr>
        <p:spPr>
          <a:xfrm>
            <a:off x="1261872" y="1453896"/>
            <a:ext cx="1179576"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MAC Destino</a:t>
            </a:r>
            <a:endParaRPr lang="en-US" sz="900" dirty="0"/>
          </a:p>
        </p:txBody>
      </p:sp>
      <p:sp>
        <p:nvSpPr>
          <p:cNvPr id="14" name="Text 12"/>
          <p:cNvSpPr/>
          <p:nvPr/>
        </p:nvSpPr>
        <p:spPr>
          <a:xfrm>
            <a:off x="1261872" y="1819656"/>
            <a:ext cx="1179576" cy="219456"/>
          </a:xfrm>
          <a:prstGeom prst="rect">
            <a:avLst/>
          </a:prstGeom>
          <a:noFill/>
          <a:ln/>
        </p:spPr>
        <p:txBody>
          <a:bodyPr wrap="square" rtlCol="0" anchor="ctr"/>
          <a:lstStyle/>
          <a:p>
            <a:pPr marL="0" indent="0" algn="ctr">
              <a:buNone/>
            </a:pPr>
            <a:r>
              <a:rPr lang="en-US" sz="850" dirty="0">
                <a:solidFill>
                  <a:srgbClr val="B9DEF8"/>
                </a:solidFill>
                <a:latin typeface="Arial" pitchFamily="34" charset="0"/>
                <a:ea typeface="Arial" pitchFamily="34" charset="-122"/>
                <a:cs typeface="Arial" pitchFamily="34" charset="-120"/>
              </a:rPr>
              <a:t>6 bytes</a:t>
            </a:r>
            <a:endParaRPr lang="en-US" sz="850" dirty="0"/>
          </a:p>
        </p:txBody>
      </p:sp>
      <p:sp>
        <p:nvSpPr>
          <p:cNvPr id="15" name="Shape 13"/>
          <p:cNvSpPr/>
          <p:nvPr/>
        </p:nvSpPr>
        <p:spPr>
          <a:xfrm>
            <a:off x="1851660" y="2075688"/>
            <a:ext cx="9144" cy="256032"/>
          </a:xfrm>
          <a:prstGeom prst="line">
            <a:avLst/>
          </a:prstGeom>
          <a:noFill/>
          <a:ln w="19050">
            <a:solidFill>
              <a:srgbClr val="C62828"/>
            </a:solidFill>
            <a:prstDash val="dash"/>
          </a:ln>
        </p:spPr>
        <p:txBody>
          <a:bodyPr/>
          <a:lstStyle/>
          <a:p>
            <a:endParaRPr lang="en-US"/>
          </a:p>
        </p:txBody>
      </p:sp>
      <p:sp>
        <p:nvSpPr>
          <p:cNvPr id="16" name="Shape 14"/>
          <p:cNvSpPr/>
          <p:nvPr/>
        </p:nvSpPr>
        <p:spPr>
          <a:xfrm>
            <a:off x="1234440" y="2377440"/>
            <a:ext cx="1234440" cy="2816352"/>
          </a:xfrm>
          <a:prstGeom prst="rect">
            <a:avLst/>
          </a:prstGeom>
          <a:solidFill>
            <a:srgbClr val="3A4550"/>
          </a:solidFill>
          <a:ln w="10160">
            <a:solidFill>
              <a:srgbClr val="C62828"/>
            </a:solidFill>
            <a:prstDash val="solid"/>
          </a:ln>
        </p:spPr>
        <p:txBody>
          <a:bodyPr/>
          <a:lstStyle/>
          <a:p>
            <a:endParaRPr lang="en-US"/>
          </a:p>
        </p:txBody>
      </p:sp>
      <p:sp>
        <p:nvSpPr>
          <p:cNvPr id="17" name="Text 15"/>
          <p:cNvSpPr/>
          <p:nvPr/>
        </p:nvSpPr>
        <p:spPr>
          <a:xfrm>
            <a:off x="1280160" y="2441448"/>
            <a:ext cx="1143000" cy="2688336"/>
          </a:xfrm>
          <a:prstGeom prst="rect">
            <a:avLst/>
          </a:prstGeom>
          <a:noFill/>
          <a:ln/>
        </p:spPr>
        <p:txBody>
          <a:bodyPr wrap="square" rtlCol="0" anchor="t"/>
          <a:lstStyle/>
          <a:p>
            <a:pPr marL="0" indent="0">
              <a:buNone/>
            </a:pPr>
            <a:r>
              <a:rPr lang="en-US" sz="1000" dirty="0">
                <a:solidFill>
                  <a:srgbClr val="B9DEF8"/>
                </a:solidFill>
                <a:latin typeface="Arial" pitchFamily="34" charset="0"/>
                <a:ea typeface="Arial" pitchFamily="34" charset="-122"/>
                <a:cs typeface="Arial" pitchFamily="34" charset="-120"/>
              </a:rPr>
              <a:t>Dirección MAC del receptor. Unicast / Broadcast / Multicast.</a:t>
            </a:r>
            <a:endParaRPr lang="en-US" sz="1000" dirty="0"/>
          </a:p>
        </p:txBody>
      </p:sp>
      <p:sp>
        <p:nvSpPr>
          <p:cNvPr id="18" name="Shape 16"/>
          <p:cNvSpPr/>
          <p:nvPr/>
        </p:nvSpPr>
        <p:spPr>
          <a:xfrm>
            <a:off x="2468880" y="1417320"/>
            <a:ext cx="1234440" cy="658368"/>
          </a:xfrm>
          <a:prstGeom prst="rect">
            <a:avLst/>
          </a:prstGeom>
          <a:solidFill>
            <a:srgbClr val="E65100"/>
          </a:solidFill>
          <a:ln w="6350">
            <a:solidFill>
              <a:srgbClr val="FFFFFF"/>
            </a:solidFill>
            <a:prstDash val="solid"/>
          </a:ln>
        </p:spPr>
        <p:txBody>
          <a:bodyPr/>
          <a:lstStyle/>
          <a:p>
            <a:endParaRPr lang="en-US"/>
          </a:p>
        </p:txBody>
      </p:sp>
      <p:sp>
        <p:nvSpPr>
          <p:cNvPr id="19" name="Text 17"/>
          <p:cNvSpPr/>
          <p:nvPr/>
        </p:nvSpPr>
        <p:spPr>
          <a:xfrm>
            <a:off x="2496312" y="1453896"/>
            <a:ext cx="1179576"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MAC Origen</a:t>
            </a:r>
            <a:endParaRPr lang="en-US" sz="900" dirty="0"/>
          </a:p>
        </p:txBody>
      </p:sp>
      <p:sp>
        <p:nvSpPr>
          <p:cNvPr id="20" name="Text 18"/>
          <p:cNvSpPr/>
          <p:nvPr/>
        </p:nvSpPr>
        <p:spPr>
          <a:xfrm>
            <a:off x="2496312" y="1819656"/>
            <a:ext cx="1179576" cy="219456"/>
          </a:xfrm>
          <a:prstGeom prst="rect">
            <a:avLst/>
          </a:prstGeom>
          <a:noFill/>
          <a:ln/>
        </p:spPr>
        <p:txBody>
          <a:bodyPr wrap="square" rtlCol="0" anchor="ctr"/>
          <a:lstStyle/>
          <a:p>
            <a:pPr marL="0" indent="0" algn="ctr">
              <a:buNone/>
            </a:pPr>
            <a:r>
              <a:rPr lang="en-US" sz="850" dirty="0">
                <a:solidFill>
                  <a:srgbClr val="B9DEF8"/>
                </a:solidFill>
                <a:latin typeface="Arial" pitchFamily="34" charset="0"/>
                <a:ea typeface="Arial" pitchFamily="34" charset="-122"/>
                <a:cs typeface="Arial" pitchFamily="34" charset="-120"/>
              </a:rPr>
              <a:t>6 bytes</a:t>
            </a:r>
            <a:endParaRPr lang="en-US" sz="850" dirty="0"/>
          </a:p>
        </p:txBody>
      </p:sp>
      <p:sp>
        <p:nvSpPr>
          <p:cNvPr id="21" name="Shape 19"/>
          <p:cNvSpPr/>
          <p:nvPr/>
        </p:nvSpPr>
        <p:spPr>
          <a:xfrm>
            <a:off x="3086100" y="2075688"/>
            <a:ext cx="9144" cy="256032"/>
          </a:xfrm>
          <a:prstGeom prst="line">
            <a:avLst/>
          </a:prstGeom>
          <a:noFill/>
          <a:ln w="19050">
            <a:solidFill>
              <a:srgbClr val="E65100"/>
            </a:solidFill>
            <a:prstDash val="dash"/>
          </a:ln>
        </p:spPr>
        <p:txBody>
          <a:bodyPr/>
          <a:lstStyle/>
          <a:p>
            <a:endParaRPr lang="en-US"/>
          </a:p>
        </p:txBody>
      </p:sp>
      <p:sp>
        <p:nvSpPr>
          <p:cNvPr id="22" name="Shape 20"/>
          <p:cNvSpPr/>
          <p:nvPr/>
        </p:nvSpPr>
        <p:spPr>
          <a:xfrm>
            <a:off x="2468880" y="2377440"/>
            <a:ext cx="1234440" cy="2816352"/>
          </a:xfrm>
          <a:prstGeom prst="rect">
            <a:avLst/>
          </a:prstGeom>
          <a:solidFill>
            <a:srgbClr val="3A4550"/>
          </a:solidFill>
          <a:ln w="10160">
            <a:solidFill>
              <a:srgbClr val="E65100"/>
            </a:solidFill>
            <a:prstDash val="solid"/>
          </a:ln>
        </p:spPr>
        <p:txBody>
          <a:bodyPr/>
          <a:lstStyle/>
          <a:p>
            <a:endParaRPr lang="en-US"/>
          </a:p>
        </p:txBody>
      </p:sp>
      <p:sp>
        <p:nvSpPr>
          <p:cNvPr id="23" name="Text 21"/>
          <p:cNvSpPr/>
          <p:nvPr/>
        </p:nvSpPr>
        <p:spPr>
          <a:xfrm>
            <a:off x="2514600" y="2441448"/>
            <a:ext cx="1143000" cy="2688336"/>
          </a:xfrm>
          <a:prstGeom prst="rect">
            <a:avLst/>
          </a:prstGeom>
          <a:noFill/>
          <a:ln/>
        </p:spPr>
        <p:txBody>
          <a:bodyPr wrap="square" rtlCol="0" anchor="t"/>
          <a:lstStyle/>
          <a:p>
            <a:pPr marL="0" indent="0">
              <a:buNone/>
            </a:pPr>
            <a:r>
              <a:rPr lang="en-US" sz="1000" dirty="0">
                <a:solidFill>
                  <a:srgbClr val="B9DEF8"/>
                </a:solidFill>
                <a:latin typeface="Arial" pitchFamily="34" charset="0"/>
                <a:ea typeface="Arial" pitchFamily="34" charset="-122"/>
                <a:cs typeface="Arial" pitchFamily="34" charset="-120"/>
              </a:rPr>
              <a:t>Dirección MAC del emisor. Siempre Unicast.</a:t>
            </a:r>
            <a:endParaRPr lang="en-US" sz="1000" dirty="0"/>
          </a:p>
        </p:txBody>
      </p:sp>
      <p:sp>
        <p:nvSpPr>
          <p:cNvPr id="24" name="Shape 22"/>
          <p:cNvSpPr/>
          <p:nvPr/>
        </p:nvSpPr>
        <p:spPr>
          <a:xfrm>
            <a:off x="3703320" y="1417320"/>
            <a:ext cx="731520" cy="658368"/>
          </a:xfrm>
          <a:prstGeom prst="rect">
            <a:avLst/>
          </a:prstGeom>
          <a:solidFill>
            <a:srgbClr val="00695C"/>
          </a:solidFill>
          <a:ln w="6350">
            <a:solidFill>
              <a:srgbClr val="FFFFFF"/>
            </a:solidFill>
            <a:prstDash val="solid"/>
          </a:ln>
        </p:spPr>
        <p:txBody>
          <a:bodyPr/>
          <a:lstStyle/>
          <a:p>
            <a:endParaRPr lang="en-US"/>
          </a:p>
        </p:txBody>
      </p:sp>
      <p:sp>
        <p:nvSpPr>
          <p:cNvPr id="25" name="Text 23"/>
          <p:cNvSpPr/>
          <p:nvPr/>
        </p:nvSpPr>
        <p:spPr>
          <a:xfrm>
            <a:off x="3730752" y="1453896"/>
            <a:ext cx="676656"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Type</a:t>
            </a:r>
            <a:endParaRPr lang="en-US" sz="900" dirty="0"/>
          </a:p>
        </p:txBody>
      </p:sp>
      <p:sp>
        <p:nvSpPr>
          <p:cNvPr id="26" name="Text 24"/>
          <p:cNvSpPr/>
          <p:nvPr/>
        </p:nvSpPr>
        <p:spPr>
          <a:xfrm>
            <a:off x="3730752" y="1819656"/>
            <a:ext cx="676656" cy="219456"/>
          </a:xfrm>
          <a:prstGeom prst="rect">
            <a:avLst/>
          </a:prstGeom>
          <a:noFill/>
          <a:ln/>
        </p:spPr>
        <p:txBody>
          <a:bodyPr wrap="square" rtlCol="0" anchor="ctr"/>
          <a:lstStyle/>
          <a:p>
            <a:pPr marL="0" indent="0" algn="ctr">
              <a:buNone/>
            </a:pPr>
            <a:r>
              <a:rPr lang="en-US" sz="850" dirty="0">
                <a:solidFill>
                  <a:srgbClr val="B9DEF8"/>
                </a:solidFill>
                <a:latin typeface="Arial" pitchFamily="34" charset="0"/>
                <a:ea typeface="Arial" pitchFamily="34" charset="-122"/>
                <a:cs typeface="Arial" pitchFamily="34" charset="-120"/>
              </a:rPr>
              <a:t>2 bytes</a:t>
            </a:r>
            <a:endParaRPr lang="en-US" sz="850" dirty="0"/>
          </a:p>
        </p:txBody>
      </p:sp>
      <p:sp>
        <p:nvSpPr>
          <p:cNvPr id="27" name="Shape 25"/>
          <p:cNvSpPr/>
          <p:nvPr/>
        </p:nvSpPr>
        <p:spPr>
          <a:xfrm>
            <a:off x="4069080" y="2075688"/>
            <a:ext cx="9144" cy="256032"/>
          </a:xfrm>
          <a:prstGeom prst="line">
            <a:avLst/>
          </a:prstGeom>
          <a:noFill/>
          <a:ln w="19050">
            <a:solidFill>
              <a:srgbClr val="00695C"/>
            </a:solidFill>
            <a:prstDash val="dash"/>
          </a:ln>
        </p:spPr>
        <p:txBody>
          <a:bodyPr/>
          <a:lstStyle/>
          <a:p>
            <a:endParaRPr lang="en-US"/>
          </a:p>
        </p:txBody>
      </p:sp>
      <p:sp>
        <p:nvSpPr>
          <p:cNvPr id="28" name="Shape 26"/>
          <p:cNvSpPr/>
          <p:nvPr/>
        </p:nvSpPr>
        <p:spPr>
          <a:xfrm>
            <a:off x="3703320" y="2377440"/>
            <a:ext cx="731520" cy="2816352"/>
          </a:xfrm>
          <a:prstGeom prst="rect">
            <a:avLst/>
          </a:prstGeom>
          <a:solidFill>
            <a:srgbClr val="3A4550"/>
          </a:solidFill>
          <a:ln w="10160">
            <a:solidFill>
              <a:srgbClr val="00695C"/>
            </a:solidFill>
            <a:prstDash val="solid"/>
          </a:ln>
        </p:spPr>
        <p:txBody>
          <a:bodyPr/>
          <a:lstStyle/>
          <a:p>
            <a:endParaRPr lang="en-US"/>
          </a:p>
        </p:txBody>
      </p:sp>
      <p:sp>
        <p:nvSpPr>
          <p:cNvPr id="29" name="Text 27"/>
          <p:cNvSpPr/>
          <p:nvPr/>
        </p:nvSpPr>
        <p:spPr>
          <a:xfrm>
            <a:off x="3749040" y="2441448"/>
            <a:ext cx="640080" cy="2688336"/>
          </a:xfrm>
          <a:prstGeom prst="rect">
            <a:avLst/>
          </a:prstGeom>
          <a:noFill/>
          <a:ln/>
        </p:spPr>
        <p:txBody>
          <a:bodyPr wrap="square" rtlCol="0" anchor="t"/>
          <a:lstStyle/>
          <a:p>
            <a:pPr marL="0" indent="0">
              <a:buNone/>
            </a:pPr>
            <a:r>
              <a:rPr lang="en-US" sz="1000" dirty="0">
                <a:solidFill>
                  <a:srgbClr val="B9DEF8"/>
                </a:solidFill>
                <a:latin typeface="Arial" pitchFamily="34" charset="0"/>
                <a:ea typeface="Arial" pitchFamily="34" charset="-122"/>
                <a:cs typeface="Arial" pitchFamily="34" charset="-120"/>
              </a:rPr>
              <a:t>Protocolo encapsulado: 0x0800=IPv4, 0x0806=ARP, 0x86DD=IPv6...</a:t>
            </a:r>
            <a:endParaRPr lang="en-US" sz="1000" dirty="0"/>
          </a:p>
        </p:txBody>
      </p:sp>
      <p:sp>
        <p:nvSpPr>
          <p:cNvPr id="30" name="Shape 28"/>
          <p:cNvSpPr/>
          <p:nvPr/>
        </p:nvSpPr>
        <p:spPr>
          <a:xfrm>
            <a:off x="4434840" y="1417320"/>
            <a:ext cx="2377440" cy="658368"/>
          </a:xfrm>
          <a:prstGeom prst="rect">
            <a:avLst/>
          </a:prstGeom>
          <a:solidFill>
            <a:srgbClr val="3A7BAA"/>
          </a:solidFill>
          <a:ln w="6350">
            <a:solidFill>
              <a:srgbClr val="FFFFFF"/>
            </a:solidFill>
            <a:prstDash val="solid"/>
          </a:ln>
        </p:spPr>
        <p:txBody>
          <a:bodyPr/>
          <a:lstStyle/>
          <a:p>
            <a:endParaRPr lang="en-US"/>
          </a:p>
        </p:txBody>
      </p:sp>
      <p:sp>
        <p:nvSpPr>
          <p:cNvPr id="31" name="Text 29"/>
          <p:cNvSpPr/>
          <p:nvPr/>
        </p:nvSpPr>
        <p:spPr>
          <a:xfrm>
            <a:off x="4462272" y="1453896"/>
            <a:ext cx="2322576"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Datos</a:t>
            </a:r>
            <a:endParaRPr lang="en-US" sz="900" dirty="0"/>
          </a:p>
        </p:txBody>
      </p:sp>
      <p:sp>
        <p:nvSpPr>
          <p:cNvPr id="32" name="Text 30"/>
          <p:cNvSpPr/>
          <p:nvPr/>
        </p:nvSpPr>
        <p:spPr>
          <a:xfrm>
            <a:off x="4462272" y="1819656"/>
            <a:ext cx="2322576" cy="219456"/>
          </a:xfrm>
          <a:prstGeom prst="rect">
            <a:avLst/>
          </a:prstGeom>
          <a:noFill/>
          <a:ln/>
        </p:spPr>
        <p:txBody>
          <a:bodyPr wrap="square" rtlCol="0" anchor="ctr"/>
          <a:lstStyle/>
          <a:p>
            <a:pPr marL="0" indent="0" algn="ctr">
              <a:buNone/>
            </a:pPr>
            <a:r>
              <a:rPr lang="en-US" sz="850" dirty="0">
                <a:solidFill>
                  <a:srgbClr val="B9DEF8"/>
                </a:solidFill>
                <a:latin typeface="Arial" pitchFamily="34" charset="0"/>
                <a:ea typeface="Arial" pitchFamily="34" charset="-122"/>
                <a:cs typeface="Arial" pitchFamily="34" charset="-120"/>
              </a:rPr>
              <a:t>46–1500 B</a:t>
            </a:r>
            <a:endParaRPr lang="en-US" sz="850" dirty="0"/>
          </a:p>
        </p:txBody>
      </p:sp>
      <p:sp>
        <p:nvSpPr>
          <p:cNvPr id="33" name="Shape 31"/>
          <p:cNvSpPr/>
          <p:nvPr/>
        </p:nvSpPr>
        <p:spPr>
          <a:xfrm>
            <a:off x="5623560" y="2075688"/>
            <a:ext cx="9144" cy="256032"/>
          </a:xfrm>
          <a:prstGeom prst="line">
            <a:avLst/>
          </a:prstGeom>
          <a:noFill/>
          <a:ln w="19050">
            <a:solidFill>
              <a:srgbClr val="3A7BAA"/>
            </a:solidFill>
            <a:prstDash val="dash"/>
          </a:ln>
        </p:spPr>
        <p:txBody>
          <a:bodyPr/>
          <a:lstStyle/>
          <a:p>
            <a:endParaRPr lang="en-US"/>
          </a:p>
        </p:txBody>
      </p:sp>
      <p:sp>
        <p:nvSpPr>
          <p:cNvPr id="34" name="Shape 32"/>
          <p:cNvSpPr/>
          <p:nvPr/>
        </p:nvSpPr>
        <p:spPr>
          <a:xfrm>
            <a:off x="4434840" y="2377440"/>
            <a:ext cx="2377440" cy="2816352"/>
          </a:xfrm>
          <a:prstGeom prst="rect">
            <a:avLst/>
          </a:prstGeom>
          <a:solidFill>
            <a:srgbClr val="3A4550"/>
          </a:solidFill>
          <a:ln w="10160">
            <a:solidFill>
              <a:srgbClr val="3A7BAA"/>
            </a:solidFill>
            <a:prstDash val="solid"/>
          </a:ln>
        </p:spPr>
        <p:txBody>
          <a:bodyPr/>
          <a:lstStyle/>
          <a:p>
            <a:endParaRPr lang="en-US"/>
          </a:p>
        </p:txBody>
      </p:sp>
      <p:sp>
        <p:nvSpPr>
          <p:cNvPr id="35" name="Text 33"/>
          <p:cNvSpPr/>
          <p:nvPr/>
        </p:nvSpPr>
        <p:spPr>
          <a:xfrm>
            <a:off x="4480560" y="2441448"/>
            <a:ext cx="2286000" cy="2688336"/>
          </a:xfrm>
          <a:prstGeom prst="rect">
            <a:avLst/>
          </a:prstGeom>
          <a:noFill/>
          <a:ln/>
        </p:spPr>
        <p:txBody>
          <a:bodyPr wrap="square" rtlCol="0" anchor="t"/>
          <a:lstStyle/>
          <a:p>
            <a:pPr marL="0" indent="0">
              <a:buNone/>
            </a:pPr>
            <a:r>
              <a:rPr lang="en-US" sz="1000" dirty="0">
                <a:solidFill>
                  <a:srgbClr val="B9DEF8"/>
                </a:solidFill>
                <a:latin typeface="Arial" pitchFamily="34" charset="0"/>
                <a:ea typeface="Arial" pitchFamily="34" charset="-122"/>
                <a:cs typeface="Arial" pitchFamily="34" charset="-120"/>
              </a:rPr>
              <a:t>Paquete IP (o ARP, etc.). Mínimo 46B. Si hay menos → se agrega PAD.</a:t>
            </a:r>
            <a:endParaRPr lang="en-US" sz="1000" dirty="0"/>
          </a:p>
        </p:txBody>
      </p:sp>
      <p:sp>
        <p:nvSpPr>
          <p:cNvPr id="36" name="Shape 34"/>
          <p:cNvSpPr/>
          <p:nvPr/>
        </p:nvSpPr>
        <p:spPr>
          <a:xfrm>
            <a:off x="6812280" y="1417320"/>
            <a:ext cx="731520" cy="658368"/>
          </a:xfrm>
          <a:prstGeom prst="rect">
            <a:avLst/>
          </a:prstGeom>
          <a:solidFill>
            <a:srgbClr val="6A1B9A"/>
          </a:solidFill>
          <a:ln w="6350">
            <a:solidFill>
              <a:srgbClr val="FFFFFF"/>
            </a:solidFill>
            <a:prstDash val="solid"/>
          </a:ln>
        </p:spPr>
        <p:txBody>
          <a:bodyPr/>
          <a:lstStyle/>
          <a:p>
            <a:endParaRPr lang="en-US"/>
          </a:p>
        </p:txBody>
      </p:sp>
      <p:sp>
        <p:nvSpPr>
          <p:cNvPr id="37" name="Text 35"/>
          <p:cNvSpPr/>
          <p:nvPr/>
        </p:nvSpPr>
        <p:spPr>
          <a:xfrm>
            <a:off x="6839712" y="1453896"/>
            <a:ext cx="676656"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FCS</a:t>
            </a:r>
            <a:endParaRPr lang="en-US" sz="900" dirty="0"/>
          </a:p>
        </p:txBody>
      </p:sp>
      <p:sp>
        <p:nvSpPr>
          <p:cNvPr id="38" name="Text 36"/>
          <p:cNvSpPr/>
          <p:nvPr/>
        </p:nvSpPr>
        <p:spPr>
          <a:xfrm>
            <a:off x="6839712" y="1819656"/>
            <a:ext cx="676656" cy="219456"/>
          </a:xfrm>
          <a:prstGeom prst="rect">
            <a:avLst/>
          </a:prstGeom>
          <a:noFill/>
          <a:ln/>
        </p:spPr>
        <p:txBody>
          <a:bodyPr wrap="square" rtlCol="0" anchor="ctr"/>
          <a:lstStyle/>
          <a:p>
            <a:pPr marL="0" indent="0" algn="ctr">
              <a:buNone/>
            </a:pPr>
            <a:r>
              <a:rPr lang="en-US" sz="850" dirty="0">
                <a:solidFill>
                  <a:srgbClr val="B9DEF8"/>
                </a:solidFill>
                <a:latin typeface="Arial" pitchFamily="34" charset="0"/>
                <a:ea typeface="Arial" pitchFamily="34" charset="-122"/>
                <a:cs typeface="Arial" pitchFamily="34" charset="-120"/>
              </a:rPr>
              <a:t>4 bytes</a:t>
            </a:r>
            <a:endParaRPr lang="en-US" sz="850" dirty="0"/>
          </a:p>
        </p:txBody>
      </p:sp>
      <p:sp>
        <p:nvSpPr>
          <p:cNvPr id="39" name="Shape 37"/>
          <p:cNvSpPr/>
          <p:nvPr/>
        </p:nvSpPr>
        <p:spPr>
          <a:xfrm>
            <a:off x="7178040" y="2075688"/>
            <a:ext cx="9144" cy="256032"/>
          </a:xfrm>
          <a:prstGeom prst="line">
            <a:avLst/>
          </a:prstGeom>
          <a:noFill/>
          <a:ln w="19050">
            <a:solidFill>
              <a:srgbClr val="6A1B9A"/>
            </a:solidFill>
            <a:prstDash val="dash"/>
          </a:ln>
        </p:spPr>
        <p:txBody>
          <a:bodyPr/>
          <a:lstStyle/>
          <a:p>
            <a:endParaRPr lang="en-US"/>
          </a:p>
        </p:txBody>
      </p:sp>
      <p:sp>
        <p:nvSpPr>
          <p:cNvPr id="40" name="Shape 38"/>
          <p:cNvSpPr/>
          <p:nvPr/>
        </p:nvSpPr>
        <p:spPr>
          <a:xfrm>
            <a:off x="6812280" y="2377440"/>
            <a:ext cx="731520" cy="2816352"/>
          </a:xfrm>
          <a:prstGeom prst="rect">
            <a:avLst/>
          </a:prstGeom>
          <a:solidFill>
            <a:srgbClr val="3A4550"/>
          </a:solidFill>
          <a:ln w="10160">
            <a:solidFill>
              <a:srgbClr val="6A1B9A"/>
            </a:solidFill>
            <a:prstDash val="solid"/>
          </a:ln>
        </p:spPr>
        <p:txBody>
          <a:bodyPr/>
          <a:lstStyle/>
          <a:p>
            <a:endParaRPr lang="en-US"/>
          </a:p>
        </p:txBody>
      </p:sp>
      <p:sp>
        <p:nvSpPr>
          <p:cNvPr id="41" name="Text 39"/>
          <p:cNvSpPr/>
          <p:nvPr/>
        </p:nvSpPr>
        <p:spPr>
          <a:xfrm>
            <a:off x="6858000" y="2441448"/>
            <a:ext cx="640080" cy="2688336"/>
          </a:xfrm>
          <a:prstGeom prst="rect">
            <a:avLst/>
          </a:prstGeom>
          <a:noFill/>
          <a:ln/>
        </p:spPr>
        <p:txBody>
          <a:bodyPr wrap="square" rtlCol="0" anchor="t"/>
          <a:lstStyle/>
          <a:p>
            <a:pPr marL="0" indent="0">
              <a:buNone/>
            </a:pPr>
            <a:r>
              <a:rPr lang="en-US" sz="1000" dirty="0">
                <a:solidFill>
                  <a:srgbClr val="B9DEF8"/>
                </a:solidFill>
                <a:latin typeface="Arial" pitchFamily="34" charset="0"/>
                <a:ea typeface="Arial" pitchFamily="34" charset="-122"/>
                <a:cs typeface="Arial" pitchFamily="34" charset="-120"/>
              </a:rPr>
              <a:t>CRC-32 para detección de errores. Si falla → trama descartada.</a:t>
            </a:r>
            <a:endParaRPr lang="en-US" sz="1000" dirty="0"/>
          </a:p>
        </p:txBody>
      </p:sp>
      <p:sp>
        <p:nvSpPr>
          <p:cNvPr id="42" name="Shape 40"/>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43" name="Text 41"/>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El campo Type es lo que hace a Ethernet 'multi-protocolo'. El mismo cable puede transportar IPv4, IPv6, ARP y más, sin cambiar nada del hardware.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164592"/>
            <a:ext cx="8229600" cy="749808"/>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4" name="Text 2"/>
          <p:cNvSpPr/>
          <p:nvPr/>
        </p:nvSpPr>
        <p:spPr>
          <a:xfrm>
            <a:off x="566928" y="164592"/>
            <a:ext cx="8010144" cy="749808"/>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Tamaños de Trama — Mínimo, Máximo y PAD</a:t>
            </a:r>
            <a:endParaRPr lang="en-US" sz="2500" dirty="0"/>
          </a:p>
        </p:txBody>
      </p:sp>
      <p:sp>
        <p:nvSpPr>
          <p:cNvPr id="5" name="Text 3"/>
          <p:cNvSpPr/>
          <p:nvPr/>
        </p:nvSpPr>
        <p:spPr>
          <a:xfrm>
            <a:off x="566928" y="987552"/>
            <a:ext cx="8010144" cy="347472"/>
          </a:xfrm>
          <a:prstGeom prst="rect">
            <a:avLst/>
          </a:prstGeom>
          <a:noFill/>
          <a:ln/>
        </p:spPr>
        <p:txBody>
          <a:bodyPr wrap="square" rtlCol="0" anchor="ctr"/>
          <a:lstStyle/>
          <a:p>
            <a:pPr marL="0" indent="0">
              <a:buNone/>
            </a:pPr>
            <a:r>
              <a:rPr lang="en-US" sz="1200" i="1" dirty="0">
                <a:solidFill>
                  <a:srgbClr val="B9DEF8"/>
                </a:solidFill>
                <a:latin typeface="Arial" pitchFamily="34" charset="0"/>
                <a:ea typeface="Arial" pitchFamily="34" charset="-122"/>
                <a:cs typeface="Arial" pitchFamily="34" charset="-120"/>
              </a:rPr>
              <a:t>Por qué una trama no puede ser de cualquier tamaño</a:t>
            </a:r>
            <a:endParaRPr lang="en-US" sz="1200" dirty="0"/>
          </a:p>
        </p:txBody>
      </p:sp>
      <p:sp>
        <p:nvSpPr>
          <p:cNvPr id="6" name="Shape 4"/>
          <p:cNvSpPr/>
          <p:nvPr/>
        </p:nvSpPr>
        <p:spPr>
          <a:xfrm>
            <a:off x="320040" y="1417320"/>
            <a:ext cx="4114800" cy="333756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7" name="Shape 5"/>
          <p:cNvSpPr/>
          <p:nvPr/>
        </p:nvSpPr>
        <p:spPr>
          <a:xfrm>
            <a:off x="320040" y="1417320"/>
            <a:ext cx="4114800" cy="411480"/>
          </a:xfrm>
          <a:prstGeom prst="rect">
            <a:avLst/>
          </a:prstGeom>
          <a:solidFill>
            <a:srgbClr val="C62828"/>
          </a:solidFill>
          <a:ln w="12700">
            <a:solidFill>
              <a:srgbClr val="C62828"/>
            </a:solidFill>
            <a:prstDash val="solid"/>
          </a:ln>
        </p:spPr>
        <p:txBody>
          <a:bodyPr/>
          <a:lstStyle/>
          <a:p>
            <a:endParaRPr lang="en-US"/>
          </a:p>
        </p:txBody>
      </p:sp>
      <p:sp>
        <p:nvSpPr>
          <p:cNvPr id="8" name="Text 6"/>
          <p:cNvSpPr/>
          <p:nvPr/>
        </p:nvSpPr>
        <p:spPr>
          <a:xfrm>
            <a:off x="402336" y="1417320"/>
            <a:ext cx="3950208"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  Trama MÍNIMA — 64 bytes</a:t>
            </a:r>
            <a:endParaRPr lang="en-US" sz="1300" dirty="0"/>
          </a:p>
        </p:txBody>
      </p:sp>
      <p:sp>
        <p:nvSpPr>
          <p:cNvPr id="9" name="Shape 7"/>
          <p:cNvSpPr/>
          <p:nvPr/>
        </p:nvSpPr>
        <p:spPr>
          <a:xfrm>
            <a:off x="411480" y="1938528"/>
            <a:ext cx="1828800" cy="502920"/>
          </a:xfrm>
          <a:prstGeom prst="rect">
            <a:avLst/>
          </a:prstGeom>
          <a:solidFill>
            <a:srgbClr val="3A7BAA"/>
          </a:solidFill>
          <a:ln w="6350">
            <a:solidFill>
              <a:srgbClr val="FFFFFF"/>
            </a:solidFill>
            <a:prstDash val="solid"/>
          </a:ln>
        </p:spPr>
        <p:txBody>
          <a:bodyPr/>
          <a:lstStyle/>
          <a:p>
            <a:endParaRPr lang="en-US"/>
          </a:p>
        </p:txBody>
      </p:sp>
      <p:sp>
        <p:nvSpPr>
          <p:cNvPr id="10" name="Text 8"/>
          <p:cNvSpPr/>
          <p:nvPr/>
        </p:nvSpPr>
        <p:spPr>
          <a:xfrm>
            <a:off x="438912" y="1975104"/>
            <a:ext cx="1773936" cy="25603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MAC+MAC+Type</a:t>
            </a:r>
            <a:endParaRPr lang="en-US" sz="900" dirty="0"/>
          </a:p>
        </p:txBody>
      </p:sp>
      <p:sp>
        <p:nvSpPr>
          <p:cNvPr id="11" name="Text 9"/>
          <p:cNvSpPr/>
          <p:nvPr/>
        </p:nvSpPr>
        <p:spPr>
          <a:xfrm>
            <a:off x="438912" y="2231136"/>
            <a:ext cx="1773936" cy="182880"/>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14B</a:t>
            </a:r>
            <a:endParaRPr lang="en-US" sz="800" dirty="0"/>
          </a:p>
        </p:txBody>
      </p:sp>
      <p:sp>
        <p:nvSpPr>
          <p:cNvPr id="12" name="Shape 10"/>
          <p:cNvSpPr/>
          <p:nvPr/>
        </p:nvSpPr>
        <p:spPr>
          <a:xfrm>
            <a:off x="2240280" y="1938528"/>
            <a:ext cx="1463040" cy="502920"/>
          </a:xfrm>
          <a:prstGeom prst="rect">
            <a:avLst/>
          </a:prstGeom>
          <a:solidFill>
            <a:srgbClr val="5AA8D8"/>
          </a:solidFill>
          <a:ln w="6350">
            <a:solidFill>
              <a:srgbClr val="FFFFFF"/>
            </a:solidFill>
            <a:prstDash val="solid"/>
          </a:ln>
        </p:spPr>
        <p:txBody>
          <a:bodyPr/>
          <a:lstStyle/>
          <a:p>
            <a:endParaRPr lang="en-US"/>
          </a:p>
        </p:txBody>
      </p:sp>
      <p:sp>
        <p:nvSpPr>
          <p:cNvPr id="13" name="Text 11"/>
          <p:cNvSpPr/>
          <p:nvPr/>
        </p:nvSpPr>
        <p:spPr>
          <a:xfrm>
            <a:off x="2267712" y="1975104"/>
            <a:ext cx="1408176" cy="25603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PAD/Datos (≥46B)</a:t>
            </a:r>
            <a:endParaRPr lang="en-US" sz="900" dirty="0"/>
          </a:p>
        </p:txBody>
      </p:sp>
      <p:sp>
        <p:nvSpPr>
          <p:cNvPr id="14" name="Text 12"/>
          <p:cNvSpPr/>
          <p:nvPr/>
        </p:nvSpPr>
        <p:spPr>
          <a:xfrm>
            <a:off x="2267712" y="2231136"/>
            <a:ext cx="1408176" cy="182880"/>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46B</a:t>
            </a:r>
            <a:endParaRPr lang="en-US" sz="800" dirty="0"/>
          </a:p>
        </p:txBody>
      </p:sp>
      <p:sp>
        <p:nvSpPr>
          <p:cNvPr id="15" name="Shape 13"/>
          <p:cNvSpPr/>
          <p:nvPr/>
        </p:nvSpPr>
        <p:spPr>
          <a:xfrm>
            <a:off x="3703320" y="1938528"/>
            <a:ext cx="594360" cy="502920"/>
          </a:xfrm>
          <a:prstGeom prst="rect">
            <a:avLst/>
          </a:prstGeom>
          <a:solidFill>
            <a:srgbClr val="6A1B9A"/>
          </a:solidFill>
          <a:ln w="6350">
            <a:solidFill>
              <a:srgbClr val="FFFFFF"/>
            </a:solidFill>
            <a:prstDash val="solid"/>
          </a:ln>
        </p:spPr>
        <p:txBody>
          <a:bodyPr/>
          <a:lstStyle/>
          <a:p>
            <a:endParaRPr lang="en-US"/>
          </a:p>
        </p:txBody>
      </p:sp>
      <p:sp>
        <p:nvSpPr>
          <p:cNvPr id="16" name="Text 14"/>
          <p:cNvSpPr/>
          <p:nvPr/>
        </p:nvSpPr>
        <p:spPr>
          <a:xfrm>
            <a:off x="3730752" y="1975104"/>
            <a:ext cx="539496" cy="25603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FCS</a:t>
            </a:r>
            <a:endParaRPr lang="en-US" sz="900" dirty="0"/>
          </a:p>
        </p:txBody>
      </p:sp>
      <p:sp>
        <p:nvSpPr>
          <p:cNvPr id="17" name="Text 15"/>
          <p:cNvSpPr/>
          <p:nvPr/>
        </p:nvSpPr>
        <p:spPr>
          <a:xfrm>
            <a:off x="3730752" y="2231136"/>
            <a:ext cx="539496" cy="182880"/>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4B</a:t>
            </a:r>
            <a:endParaRPr lang="en-US" sz="800" dirty="0"/>
          </a:p>
        </p:txBody>
      </p:sp>
      <p:sp>
        <p:nvSpPr>
          <p:cNvPr id="18" name="Text 16"/>
          <p:cNvSpPr/>
          <p:nvPr/>
        </p:nvSpPr>
        <p:spPr>
          <a:xfrm>
            <a:off x="402336" y="2487168"/>
            <a:ext cx="3950208" cy="274320"/>
          </a:xfrm>
          <a:prstGeom prst="rect">
            <a:avLst/>
          </a:prstGeom>
          <a:noFill/>
          <a:ln/>
        </p:spPr>
        <p:txBody>
          <a:bodyPr wrap="square" rtlCol="0" anchor="ctr"/>
          <a:lstStyle/>
          <a:p>
            <a:pPr marL="0" indent="0">
              <a:buNone/>
            </a:pPr>
            <a:r>
              <a:rPr lang="en-US" sz="1000" b="1" dirty="0">
                <a:solidFill>
                  <a:srgbClr val="C62828"/>
                </a:solidFill>
                <a:latin typeface="Arial" pitchFamily="34" charset="0"/>
                <a:ea typeface="Arial" pitchFamily="34" charset="-122"/>
                <a:cs typeface="Arial" pitchFamily="34" charset="-120"/>
              </a:rPr>
              <a:t>= 64 bytes totales (sin preámbulo)</a:t>
            </a:r>
            <a:endParaRPr lang="en-US" sz="1000" dirty="0"/>
          </a:p>
        </p:txBody>
      </p:sp>
      <p:sp>
        <p:nvSpPr>
          <p:cNvPr id="19" name="Shape 17"/>
          <p:cNvSpPr/>
          <p:nvPr/>
        </p:nvSpPr>
        <p:spPr>
          <a:xfrm>
            <a:off x="438912" y="2852928"/>
            <a:ext cx="109728" cy="109728"/>
          </a:xfrm>
          <a:prstGeom prst="ellipse">
            <a:avLst/>
          </a:prstGeom>
          <a:solidFill>
            <a:srgbClr val="C62828"/>
          </a:solidFill>
          <a:ln w="12700">
            <a:solidFill>
              <a:srgbClr val="C62828"/>
            </a:solidFill>
            <a:prstDash val="solid"/>
          </a:ln>
        </p:spPr>
        <p:txBody>
          <a:bodyPr/>
          <a:lstStyle/>
          <a:p>
            <a:endParaRPr lang="en-US"/>
          </a:p>
        </p:txBody>
      </p:sp>
      <p:sp>
        <p:nvSpPr>
          <p:cNvPr id="20" name="Text 18"/>
          <p:cNvSpPr/>
          <p:nvPr/>
        </p:nvSpPr>
        <p:spPr>
          <a:xfrm>
            <a:off x="603504" y="2825496"/>
            <a:ext cx="3749040" cy="329184"/>
          </a:xfrm>
          <a:prstGeom prst="rect">
            <a:avLst/>
          </a:prstGeom>
          <a:noFill/>
          <a:ln/>
        </p:spPr>
        <p:txBody>
          <a:bodyPr wrap="square" rtlCol="0" anchor="ctr"/>
          <a:lstStyle/>
          <a:p>
            <a:pPr marL="0" indent="0">
              <a:buNone/>
            </a:pPr>
            <a:r>
              <a:rPr lang="en-US" sz="1050" dirty="0">
                <a:solidFill>
                  <a:srgbClr val="404040"/>
                </a:solidFill>
                <a:latin typeface="Arial" pitchFamily="34" charset="0"/>
                <a:ea typeface="Arial" pitchFamily="34" charset="-122"/>
                <a:cs typeface="Arial" pitchFamily="34" charset="-120"/>
              </a:rPr>
              <a:t>Para que CSMA/CD funcione, el emisor debe seguir transmitiendo mientras su señal llega al extremo más lejano Y regresa.</a:t>
            </a:r>
            <a:endParaRPr lang="en-US" sz="1050" dirty="0"/>
          </a:p>
        </p:txBody>
      </p:sp>
      <p:sp>
        <p:nvSpPr>
          <p:cNvPr id="21" name="Shape 19"/>
          <p:cNvSpPr/>
          <p:nvPr/>
        </p:nvSpPr>
        <p:spPr>
          <a:xfrm>
            <a:off x="438912" y="3227832"/>
            <a:ext cx="109728" cy="109728"/>
          </a:xfrm>
          <a:prstGeom prst="ellipse">
            <a:avLst/>
          </a:prstGeom>
          <a:solidFill>
            <a:srgbClr val="C62828"/>
          </a:solidFill>
          <a:ln w="12700">
            <a:solidFill>
              <a:srgbClr val="C62828"/>
            </a:solidFill>
            <a:prstDash val="solid"/>
          </a:ln>
        </p:spPr>
        <p:txBody>
          <a:bodyPr/>
          <a:lstStyle/>
          <a:p>
            <a:endParaRPr lang="en-US"/>
          </a:p>
        </p:txBody>
      </p:sp>
      <p:sp>
        <p:nvSpPr>
          <p:cNvPr id="22" name="Text 20"/>
          <p:cNvSpPr/>
          <p:nvPr/>
        </p:nvSpPr>
        <p:spPr>
          <a:xfrm>
            <a:off x="603504" y="3200400"/>
            <a:ext cx="3749040" cy="329184"/>
          </a:xfrm>
          <a:prstGeom prst="rect">
            <a:avLst/>
          </a:prstGeom>
          <a:noFill/>
          <a:ln/>
        </p:spPr>
        <p:txBody>
          <a:bodyPr wrap="square" rtlCol="0" anchor="ctr"/>
          <a:lstStyle/>
          <a:p>
            <a:pPr marL="0" indent="0">
              <a:buNone/>
            </a:pPr>
            <a:r>
              <a:rPr lang="en-US" sz="1050" dirty="0">
                <a:solidFill>
                  <a:srgbClr val="404040"/>
                </a:solidFill>
                <a:latin typeface="Arial" pitchFamily="34" charset="0"/>
                <a:ea typeface="Arial" pitchFamily="34" charset="-122"/>
                <a:cs typeface="Arial" pitchFamily="34" charset="-120"/>
              </a:rPr>
              <a:t>En Ethernet 10 Mbps: tiempo de round-trip = 512 bit-times = 51,2 µs.</a:t>
            </a:r>
            <a:endParaRPr lang="en-US" sz="1050" dirty="0"/>
          </a:p>
        </p:txBody>
      </p:sp>
      <p:sp>
        <p:nvSpPr>
          <p:cNvPr id="23" name="Shape 21"/>
          <p:cNvSpPr/>
          <p:nvPr/>
        </p:nvSpPr>
        <p:spPr>
          <a:xfrm>
            <a:off x="438912" y="3602736"/>
            <a:ext cx="109728" cy="109728"/>
          </a:xfrm>
          <a:prstGeom prst="ellipse">
            <a:avLst/>
          </a:prstGeom>
          <a:solidFill>
            <a:srgbClr val="C62828"/>
          </a:solidFill>
          <a:ln w="12700">
            <a:solidFill>
              <a:srgbClr val="C62828"/>
            </a:solidFill>
            <a:prstDash val="solid"/>
          </a:ln>
        </p:spPr>
        <p:txBody>
          <a:bodyPr/>
          <a:lstStyle/>
          <a:p>
            <a:endParaRPr lang="en-US"/>
          </a:p>
        </p:txBody>
      </p:sp>
      <p:sp>
        <p:nvSpPr>
          <p:cNvPr id="24" name="Text 22"/>
          <p:cNvSpPr/>
          <p:nvPr/>
        </p:nvSpPr>
        <p:spPr>
          <a:xfrm>
            <a:off x="603504" y="3575304"/>
            <a:ext cx="3749040" cy="329184"/>
          </a:xfrm>
          <a:prstGeom prst="rect">
            <a:avLst/>
          </a:prstGeom>
          <a:noFill/>
          <a:ln/>
        </p:spPr>
        <p:txBody>
          <a:bodyPr wrap="square" rtlCol="0" anchor="ctr"/>
          <a:lstStyle/>
          <a:p>
            <a:pPr marL="0" indent="0">
              <a:buNone/>
            </a:pPr>
            <a:r>
              <a:rPr lang="en-US" sz="1050" dirty="0">
                <a:solidFill>
                  <a:srgbClr val="404040"/>
                </a:solidFill>
                <a:latin typeface="Arial" pitchFamily="34" charset="0"/>
                <a:ea typeface="Arial" pitchFamily="34" charset="-122"/>
                <a:cs typeface="Arial" pitchFamily="34" charset="-120"/>
              </a:rPr>
              <a:t>512 bits = 64 bytes = tamaño mínimo de trama.</a:t>
            </a:r>
            <a:endParaRPr lang="en-US" sz="1050" dirty="0"/>
          </a:p>
        </p:txBody>
      </p:sp>
      <p:sp>
        <p:nvSpPr>
          <p:cNvPr id="25" name="Shape 23"/>
          <p:cNvSpPr/>
          <p:nvPr/>
        </p:nvSpPr>
        <p:spPr>
          <a:xfrm>
            <a:off x="438912" y="3977640"/>
            <a:ext cx="109728" cy="109728"/>
          </a:xfrm>
          <a:prstGeom prst="ellipse">
            <a:avLst/>
          </a:prstGeom>
          <a:solidFill>
            <a:srgbClr val="C62828"/>
          </a:solidFill>
          <a:ln w="12700">
            <a:solidFill>
              <a:srgbClr val="C62828"/>
            </a:solidFill>
            <a:prstDash val="solid"/>
          </a:ln>
        </p:spPr>
        <p:txBody>
          <a:bodyPr/>
          <a:lstStyle/>
          <a:p>
            <a:endParaRPr lang="en-US"/>
          </a:p>
        </p:txBody>
      </p:sp>
      <p:sp>
        <p:nvSpPr>
          <p:cNvPr id="26" name="Text 24"/>
          <p:cNvSpPr/>
          <p:nvPr/>
        </p:nvSpPr>
        <p:spPr>
          <a:xfrm>
            <a:off x="603504" y="3950208"/>
            <a:ext cx="3749040" cy="329184"/>
          </a:xfrm>
          <a:prstGeom prst="rect">
            <a:avLst/>
          </a:prstGeom>
          <a:noFill/>
          <a:ln/>
        </p:spPr>
        <p:txBody>
          <a:bodyPr wrap="square" rtlCol="0" anchor="ctr"/>
          <a:lstStyle/>
          <a:p>
            <a:pPr marL="0" indent="0">
              <a:buNone/>
            </a:pPr>
            <a:r>
              <a:rPr lang="en-US" sz="1050" dirty="0">
                <a:solidFill>
                  <a:srgbClr val="404040"/>
                </a:solidFill>
                <a:latin typeface="Arial" pitchFamily="34" charset="0"/>
                <a:ea typeface="Arial" pitchFamily="34" charset="-122"/>
                <a:cs typeface="Arial" pitchFamily="34" charset="-120"/>
              </a:rPr>
              <a:t>Si los datos &lt; 46 bytes: se añade PAD (relleno de ceros). El receptor lo descarta.</a:t>
            </a:r>
            <a:endParaRPr lang="en-US" sz="1050" dirty="0"/>
          </a:p>
        </p:txBody>
      </p:sp>
      <p:sp>
        <p:nvSpPr>
          <p:cNvPr id="29" name="Shape 27"/>
          <p:cNvSpPr/>
          <p:nvPr/>
        </p:nvSpPr>
        <p:spPr>
          <a:xfrm>
            <a:off x="4617720" y="1417320"/>
            <a:ext cx="4206240" cy="333756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30" name="Shape 28"/>
          <p:cNvSpPr/>
          <p:nvPr/>
        </p:nvSpPr>
        <p:spPr>
          <a:xfrm>
            <a:off x="4617720" y="1417320"/>
            <a:ext cx="4206240" cy="411480"/>
          </a:xfrm>
          <a:prstGeom prst="rect">
            <a:avLst/>
          </a:prstGeom>
          <a:solidFill>
            <a:srgbClr val="3A7BAA"/>
          </a:solidFill>
          <a:ln w="12700">
            <a:solidFill>
              <a:srgbClr val="3A7BAA"/>
            </a:solidFill>
            <a:prstDash val="solid"/>
          </a:ln>
        </p:spPr>
        <p:txBody>
          <a:bodyPr/>
          <a:lstStyle/>
          <a:p>
            <a:endParaRPr lang="en-US"/>
          </a:p>
        </p:txBody>
      </p:sp>
      <p:sp>
        <p:nvSpPr>
          <p:cNvPr id="31" name="Text 29"/>
          <p:cNvSpPr/>
          <p:nvPr/>
        </p:nvSpPr>
        <p:spPr>
          <a:xfrm>
            <a:off x="4700016" y="1417320"/>
            <a:ext cx="4041648"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  Trama MÁXIMA — MTU</a:t>
            </a:r>
            <a:endParaRPr lang="en-US" sz="1300" dirty="0"/>
          </a:p>
        </p:txBody>
      </p:sp>
      <p:sp>
        <p:nvSpPr>
          <p:cNvPr id="32" name="Shape 30"/>
          <p:cNvSpPr/>
          <p:nvPr/>
        </p:nvSpPr>
        <p:spPr>
          <a:xfrm>
            <a:off x="4709160" y="1938528"/>
            <a:ext cx="1188720" cy="502920"/>
          </a:xfrm>
          <a:prstGeom prst="rect">
            <a:avLst/>
          </a:prstGeom>
          <a:solidFill>
            <a:srgbClr val="3A7BAA"/>
          </a:solidFill>
          <a:ln w="6350">
            <a:solidFill>
              <a:srgbClr val="FFFFFF"/>
            </a:solidFill>
            <a:prstDash val="solid"/>
          </a:ln>
        </p:spPr>
        <p:txBody>
          <a:bodyPr/>
          <a:lstStyle/>
          <a:p>
            <a:endParaRPr lang="en-US"/>
          </a:p>
        </p:txBody>
      </p:sp>
      <p:sp>
        <p:nvSpPr>
          <p:cNvPr id="33" name="Text 31"/>
          <p:cNvSpPr/>
          <p:nvPr/>
        </p:nvSpPr>
        <p:spPr>
          <a:xfrm>
            <a:off x="4736592" y="1975104"/>
            <a:ext cx="1133856" cy="25603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Cabecera</a:t>
            </a:r>
            <a:endParaRPr lang="en-US" sz="900" dirty="0"/>
          </a:p>
        </p:txBody>
      </p:sp>
      <p:sp>
        <p:nvSpPr>
          <p:cNvPr id="34" name="Text 32"/>
          <p:cNvSpPr/>
          <p:nvPr/>
        </p:nvSpPr>
        <p:spPr>
          <a:xfrm>
            <a:off x="4736592" y="2231136"/>
            <a:ext cx="1133856" cy="182880"/>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18B</a:t>
            </a:r>
            <a:endParaRPr lang="en-US" sz="800" dirty="0"/>
          </a:p>
        </p:txBody>
      </p:sp>
      <p:sp>
        <p:nvSpPr>
          <p:cNvPr id="35" name="Shape 33"/>
          <p:cNvSpPr/>
          <p:nvPr/>
        </p:nvSpPr>
        <p:spPr>
          <a:xfrm>
            <a:off x="5897880" y="1938528"/>
            <a:ext cx="2286000" cy="502920"/>
          </a:xfrm>
          <a:prstGeom prst="rect">
            <a:avLst/>
          </a:prstGeom>
          <a:solidFill>
            <a:srgbClr val="5AA8D8"/>
          </a:solidFill>
          <a:ln w="6350">
            <a:solidFill>
              <a:srgbClr val="FFFFFF"/>
            </a:solidFill>
            <a:prstDash val="solid"/>
          </a:ln>
        </p:spPr>
        <p:txBody>
          <a:bodyPr/>
          <a:lstStyle/>
          <a:p>
            <a:endParaRPr lang="en-US"/>
          </a:p>
        </p:txBody>
      </p:sp>
      <p:sp>
        <p:nvSpPr>
          <p:cNvPr id="36" name="Text 34"/>
          <p:cNvSpPr/>
          <p:nvPr/>
        </p:nvSpPr>
        <p:spPr>
          <a:xfrm>
            <a:off x="5925312" y="1975104"/>
            <a:ext cx="2231136" cy="25603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Datos (≤1500B)</a:t>
            </a:r>
            <a:endParaRPr lang="en-US" sz="900" dirty="0"/>
          </a:p>
        </p:txBody>
      </p:sp>
      <p:sp>
        <p:nvSpPr>
          <p:cNvPr id="37" name="Text 35"/>
          <p:cNvSpPr/>
          <p:nvPr/>
        </p:nvSpPr>
        <p:spPr>
          <a:xfrm>
            <a:off x="5925312" y="2231136"/>
            <a:ext cx="2231136" cy="182880"/>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1500B</a:t>
            </a:r>
            <a:endParaRPr lang="en-US" sz="800" dirty="0"/>
          </a:p>
        </p:txBody>
      </p:sp>
      <p:sp>
        <p:nvSpPr>
          <p:cNvPr id="38" name="Shape 36"/>
          <p:cNvSpPr/>
          <p:nvPr/>
        </p:nvSpPr>
        <p:spPr>
          <a:xfrm>
            <a:off x="8183880" y="1938528"/>
            <a:ext cx="594360" cy="502920"/>
          </a:xfrm>
          <a:prstGeom prst="rect">
            <a:avLst/>
          </a:prstGeom>
          <a:solidFill>
            <a:srgbClr val="6A1B9A"/>
          </a:solidFill>
          <a:ln w="6350">
            <a:solidFill>
              <a:srgbClr val="FFFFFF"/>
            </a:solidFill>
            <a:prstDash val="solid"/>
          </a:ln>
        </p:spPr>
        <p:txBody>
          <a:bodyPr/>
          <a:lstStyle/>
          <a:p>
            <a:endParaRPr lang="en-US"/>
          </a:p>
        </p:txBody>
      </p:sp>
      <p:sp>
        <p:nvSpPr>
          <p:cNvPr id="39" name="Text 37"/>
          <p:cNvSpPr/>
          <p:nvPr/>
        </p:nvSpPr>
        <p:spPr>
          <a:xfrm>
            <a:off x="8211312" y="1975104"/>
            <a:ext cx="539496" cy="25603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FCS</a:t>
            </a:r>
            <a:endParaRPr lang="en-US" sz="900" dirty="0"/>
          </a:p>
        </p:txBody>
      </p:sp>
      <p:sp>
        <p:nvSpPr>
          <p:cNvPr id="40" name="Text 38"/>
          <p:cNvSpPr/>
          <p:nvPr/>
        </p:nvSpPr>
        <p:spPr>
          <a:xfrm>
            <a:off x="8211312" y="2231136"/>
            <a:ext cx="539496" cy="182880"/>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4B</a:t>
            </a:r>
            <a:endParaRPr lang="en-US" sz="800" dirty="0"/>
          </a:p>
        </p:txBody>
      </p:sp>
      <p:sp>
        <p:nvSpPr>
          <p:cNvPr id="41" name="Text 39"/>
          <p:cNvSpPr/>
          <p:nvPr/>
        </p:nvSpPr>
        <p:spPr>
          <a:xfrm>
            <a:off x="4700016" y="2487168"/>
            <a:ext cx="3950208" cy="274320"/>
          </a:xfrm>
          <a:prstGeom prst="rect">
            <a:avLst/>
          </a:prstGeom>
          <a:noFill/>
          <a:ln/>
        </p:spPr>
        <p:txBody>
          <a:bodyPr wrap="square" rtlCol="0" anchor="ctr"/>
          <a:lstStyle/>
          <a:p>
            <a:pPr marL="0" indent="0">
              <a:buNone/>
            </a:pPr>
            <a:r>
              <a:rPr lang="en-US" sz="1000" b="1" dirty="0">
                <a:solidFill>
                  <a:srgbClr val="3A7BAA"/>
                </a:solidFill>
                <a:latin typeface="Arial" pitchFamily="34" charset="0"/>
                <a:ea typeface="Arial" pitchFamily="34" charset="-122"/>
                <a:cs typeface="Arial" pitchFamily="34" charset="-120"/>
              </a:rPr>
              <a:t>= 1518 bytes máx (sin preámbulo)</a:t>
            </a:r>
            <a:endParaRPr lang="en-US" sz="1000" dirty="0"/>
          </a:p>
        </p:txBody>
      </p:sp>
      <p:sp>
        <p:nvSpPr>
          <p:cNvPr id="42" name="Shape 40"/>
          <p:cNvSpPr/>
          <p:nvPr/>
        </p:nvSpPr>
        <p:spPr>
          <a:xfrm>
            <a:off x="4736592" y="2852928"/>
            <a:ext cx="109728" cy="109728"/>
          </a:xfrm>
          <a:prstGeom prst="ellipse">
            <a:avLst/>
          </a:prstGeom>
          <a:solidFill>
            <a:srgbClr val="3A7BAA"/>
          </a:solidFill>
          <a:ln w="12700">
            <a:solidFill>
              <a:srgbClr val="3A7BAA"/>
            </a:solidFill>
            <a:prstDash val="solid"/>
          </a:ln>
        </p:spPr>
        <p:txBody>
          <a:bodyPr/>
          <a:lstStyle/>
          <a:p>
            <a:endParaRPr lang="en-US"/>
          </a:p>
        </p:txBody>
      </p:sp>
      <p:sp>
        <p:nvSpPr>
          <p:cNvPr id="43" name="Text 41"/>
          <p:cNvSpPr/>
          <p:nvPr/>
        </p:nvSpPr>
        <p:spPr>
          <a:xfrm>
            <a:off x="4901184" y="2825496"/>
            <a:ext cx="3840480" cy="329184"/>
          </a:xfrm>
          <a:prstGeom prst="rect">
            <a:avLst/>
          </a:prstGeom>
          <a:noFill/>
          <a:ln/>
        </p:spPr>
        <p:txBody>
          <a:bodyPr wrap="square" rtlCol="0" anchor="ctr"/>
          <a:lstStyle/>
          <a:p>
            <a:pPr marL="0" indent="0">
              <a:buNone/>
            </a:pPr>
            <a:r>
              <a:rPr lang="en-US" sz="1050" dirty="0">
                <a:solidFill>
                  <a:srgbClr val="404040"/>
                </a:solidFill>
                <a:latin typeface="Arial" pitchFamily="34" charset="0"/>
                <a:ea typeface="Arial" pitchFamily="34" charset="-122"/>
                <a:cs typeface="Arial" pitchFamily="34" charset="-120"/>
              </a:rPr>
              <a:t>MTU estándar Ethernet = 1500 bytes de datos.</a:t>
            </a:r>
            <a:endParaRPr lang="en-US" sz="1050" dirty="0"/>
          </a:p>
        </p:txBody>
      </p:sp>
      <p:sp>
        <p:nvSpPr>
          <p:cNvPr id="44" name="Shape 42"/>
          <p:cNvSpPr/>
          <p:nvPr/>
        </p:nvSpPr>
        <p:spPr>
          <a:xfrm>
            <a:off x="4736592" y="3227832"/>
            <a:ext cx="109728" cy="109728"/>
          </a:xfrm>
          <a:prstGeom prst="ellipse">
            <a:avLst/>
          </a:prstGeom>
          <a:solidFill>
            <a:srgbClr val="3A7BAA"/>
          </a:solidFill>
          <a:ln w="12700">
            <a:solidFill>
              <a:srgbClr val="3A7BAA"/>
            </a:solidFill>
            <a:prstDash val="solid"/>
          </a:ln>
        </p:spPr>
        <p:txBody>
          <a:bodyPr/>
          <a:lstStyle/>
          <a:p>
            <a:endParaRPr lang="en-US"/>
          </a:p>
        </p:txBody>
      </p:sp>
      <p:sp>
        <p:nvSpPr>
          <p:cNvPr id="45" name="Text 43"/>
          <p:cNvSpPr/>
          <p:nvPr/>
        </p:nvSpPr>
        <p:spPr>
          <a:xfrm>
            <a:off x="4901184" y="3200400"/>
            <a:ext cx="3840480" cy="329184"/>
          </a:xfrm>
          <a:prstGeom prst="rect">
            <a:avLst/>
          </a:prstGeom>
          <a:noFill/>
          <a:ln/>
        </p:spPr>
        <p:txBody>
          <a:bodyPr wrap="square" rtlCol="0" anchor="ctr"/>
          <a:lstStyle/>
          <a:p>
            <a:pPr marL="0" indent="0">
              <a:buNone/>
            </a:pPr>
            <a:r>
              <a:rPr lang="en-US" sz="1050" dirty="0">
                <a:solidFill>
                  <a:srgbClr val="404040"/>
                </a:solidFill>
                <a:latin typeface="Arial" pitchFamily="34" charset="0"/>
                <a:ea typeface="Arial" pitchFamily="34" charset="-122"/>
                <a:cs typeface="Arial" pitchFamily="34" charset="-120"/>
              </a:rPr>
              <a:t>Si el paquete IP &gt; 1500 bytes → fragmentación IP.</a:t>
            </a:r>
            <a:endParaRPr lang="en-US" sz="1050" dirty="0"/>
          </a:p>
        </p:txBody>
      </p:sp>
      <p:sp>
        <p:nvSpPr>
          <p:cNvPr id="46" name="Shape 44"/>
          <p:cNvSpPr/>
          <p:nvPr/>
        </p:nvSpPr>
        <p:spPr>
          <a:xfrm>
            <a:off x="4736592" y="3602736"/>
            <a:ext cx="109728" cy="109728"/>
          </a:xfrm>
          <a:prstGeom prst="ellipse">
            <a:avLst/>
          </a:prstGeom>
          <a:solidFill>
            <a:srgbClr val="3A7BAA"/>
          </a:solidFill>
          <a:ln w="12700">
            <a:solidFill>
              <a:srgbClr val="3A7BAA"/>
            </a:solidFill>
            <a:prstDash val="solid"/>
          </a:ln>
        </p:spPr>
        <p:txBody>
          <a:bodyPr/>
          <a:lstStyle/>
          <a:p>
            <a:endParaRPr lang="en-US"/>
          </a:p>
        </p:txBody>
      </p:sp>
      <p:sp>
        <p:nvSpPr>
          <p:cNvPr id="47" name="Text 45"/>
          <p:cNvSpPr/>
          <p:nvPr/>
        </p:nvSpPr>
        <p:spPr>
          <a:xfrm>
            <a:off x="4901184" y="3575304"/>
            <a:ext cx="3840480" cy="329184"/>
          </a:xfrm>
          <a:prstGeom prst="rect">
            <a:avLst/>
          </a:prstGeom>
          <a:noFill/>
          <a:ln/>
        </p:spPr>
        <p:txBody>
          <a:bodyPr wrap="square" rtlCol="0" anchor="ctr"/>
          <a:lstStyle/>
          <a:p>
            <a:pPr marL="0" indent="0">
              <a:buNone/>
            </a:pPr>
            <a:r>
              <a:rPr lang="en-US" sz="1050" dirty="0">
                <a:solidFill>
                  <a:srgbClr val="404040"/>
                </a:solidFill>
                <a:latin typeface="Arial" pitchFamily="34" charset="0"/>
                <a:ea typeface="Arial" pitchFamily="34" charset="-122"/>
                <a:cs typeface="Arial" pitchFamily="34" charset="-120"/>
              </a:rPr>
              <a:t>Fragmentación = overhead + latencia.</a:t>
            </a:r>
            <a:endParaRPr lang="en-US" sz="1050" dirty="0"/>
          </a:p>
        </p:txBody>
      </p:sp>
      <p:sp>
        <p:nvSpPr>
          <p:cNvPr id="48" name="Shape 46"/>
          <p:cNvSpPr/>
          <p:nvPr/>
        </p:nvSpPr>
        <p:spPr>
          <a:xfrm>
            <a:off x="4736592" y="3977640"/>
            <a:ext cx="109728" cy="109728"/>
          </a:xfrm>
          <a:prstGeom prst="ellipse">
            <a:avLst/>
          </a:prstGeom>
          <a:solidFill>
            <a:srgbClr val="3A7BAA"/>
          </a:solidFill>
          <a:ln w="12700">
            <a:solidFill>
              <a:srgbClr val="3A7BAA"/>
            </a:solidFill>
            <a:prstDash val="solid"/>
          </a:ln>
        </p:spPr>
        <p:txBody>
          <a:bodyPr/>
          <a:lstStyle/>
          <a:p>
            <a:endParaRPr lang="en-US"/>
          </a:p>
        </p:txBody>
      </p:sp>
      <p:sp>
        <p:nvSpPr>
          <p:cNvPr id="49" name="Text 47"/>
          <p:cNvSpPr/>
          <p:nvPr/>
        </p:nvSpPr>
        <p:spPr>
          <a:xfrm>
            <a:off x="4901184" y="3950208"/>
            <a:ext cx="3840480" cy="329184"/>
          </a:xfrm>
          <a:prstGeom prst="rect">
            <a:avLst/>
          </a:prstGeom>
          <a:noFill/>
          <a:ln/>
        </p:spPr>
        <p:txBody>
          <a:bodyPr wrap="square" rtlCol="0" anchor="ctr"/>
          <a:lstStyle/>
          <a:p>
            <a:pPr marL="0" indent="0">
              <a:buNone/>
            </a:pPr>
            <a:r>
              <a:rPr lang="en-US" sz="1050" dirty="0">
                <a:solidFill>
                  <a:srgbClr val="404040"/>
                </a:solidFill>
                <a:latin typeface="Arial" pitchFamily="34" charset="0"/>
                <a:ea typeface="Arial" pitchFamily="34" charset="-122"/>
                <a:cs typeface="Arial" pitchFamily="34" charset="-120"/>
              </a:rPr>
              <a:t>Jumbo Frames: MTU hasta 9000 bytes. Usados en centros de datos (10 GbE+). </a:t>
            </a:r>
            <a:endParaRPr lang="en-US" sz="1050" dirty="0"/>
          </a:p>
        </p:txBody>
      </p:sp>
      <p:sp>
        <p:nvSpPr>
          <p:cNvPr id="52" name="Shape 50"/>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53" name="Text 51"/>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Ejercicio: si una trama tiene solo 30 bytes de datos IP, ¿cuántos bytes de PAD se agregan? (46-30 = 16 bytes de PAD)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164592"/>
            <a:ext cx="8229600" cy="749808"/>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4" name="Text 2"/>
          <p:cNvSpPr/>
          <p:nvPr/>
        </p:nvSpPr>
        <p:spPr>
          <a:xfrm>
            <a:off x="566928" y="164592"/>
            <a:ext cx="8010144" cy="749808"/>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La Trama IEEE 802.3 — Estructura Campo a Campo</a:t>
            </a:r>
            <a:endParaRPr lang="en-US" sz="2500" dirty="0"/>
          </a:p>
        </p:txBody>
      </p:sp>
      <p:sp>
        <p:nvSpPr>
          <p:cNvPr id="5" name="Text 3"/>
          <p:cNvSpPr/>
          <p:nvPr/>
        </p:nvSpPr>
        <p:spPr>
          <a:xfrm>
            <a:off x="566928" y="987552"/>
            <a:ext cx="8010144" cy="347472"/>
          </a:xfrm>
          <a:prstGeom prst="rect">
            <a:avLst/>
          </a:prstGeom>
          <a:noFill/>
          <a:ln/>
        </p:spPr>
        <p:txBody>
          <a:bodyPr wrap="square" rtlCol="0" anchor="ctr"/>
          <a:lstStyle/>
          <a:p>
            <a:pPr marL="0" indent="0">
              <a:buNone/>
            </a:pPr>
            <a:r>
              <a:rPr lang="en-US" sz="1200" i="1" dirty="0">
                <a:solidFill>
                  <a:srgbClr val="B9DEF8"/>
                </a:solidFill>
                <a:latin typeface="Arial" pitchFamily="34" charset="0"/>
                <a:ea typeface="Arial" pitchFamily="34" charset="-122"/>
                <a:cs typeface="Arial" pitchFamily="34" charset="-120"/>
              </a:rPr>
              <a:t>El estándar formal del comité IEEE para redes LAN</a:t>
            </a:r>
            <a:endParaRPr lang="en-US" sz="1200" dirty="0"/>
          </a:p>
        </p:txBody>
      </p:sp>
      <p:sp>
        <p:nvSpPr>
          <p:cNvPr id="6" name="Shape 4"/>
          <p:cNvSpPr/>
          <p:nvPr/>
        </p:nvSpPr>
        <p:spPr>
          <a:xfrm>
            <a:off x="320040" y="1417320"/>
            <a:ext cx="868680" cy="658368"/>
          </a:xfrm>
          <a:prstGeom prst="rect">
            <a:avLst/>
          </a:prstGeom>
          <a:solidFill>
            <a:srgbClr val="556677"/>
          </a:solidFill>
          <a:ln w="6350">
            <a:solidFill>
              <a:srgbClr val="FFFFFF"/>
            </a:solidFill>
            <a:prstDash val="solid"/>
          </a:ln>
        </p:spPr>
        <p:txBody>
          <a:bodyPr/>
          <a:lstStyle/>
          <a:p>
            <a:endParaRPr lang="en-US"/>
          </a:p>
        </p:txBody>
      </p:sp>
      <p:sp>
        <p:nvSpPr>
          <p:cNvPr id="7" name="Text 5"/>
          <p:cNvSpPr/>
          <p:nvPr/>
        </p:nvSpPr>
        <p:spPr>
          <a:xfrm>
            <a:off x="347472" y="1435608"/>
            <a:ext cx="813816"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Preámbulo</a:t>
            </a:r>
            <a:endParaRPr lang="en-US" sz="900" dirty="0"/>
          </a:p>
        </p:txBody>
      </p:sp>
      <p:sp>
        <p:nvSpPr>
          <p:cNvPr id="8" name="Text 6"/>
          <p:cNvSpPr/>
          <p:nvPr/>
        </p:nvSpPr>
        <p:spPr>
          <a:xfrm>
            <a:off x="347472" y="1801368"/>
            <a:ext cx="813816" cy="237744"/>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7 bytes</a:t>
            </a:r>
            <a:endParaRPr lang="en-US" sz="800" dirty="0"/>
          </a:p>
        </p:txBody>
      </p:sp>
      <p:sp>
        <p:nvSpPr>
          <p:cNvPr id="9" name="Shape 7"/>
          <p:cNvSpPr/>
          <p:nvPr/>
        </p:nvSpPr>
        <p:spPr>
          <a:xfrm>
            <a:off x="754380" y="2075688"/>
            <a:ext cx="9144" cy="228600"/>
          </a:xfrm>
          <a:prstGeom prst="line">
            <a:avLst/>
          </a:prstGeom>
          <a:noFill/>
          <a:ln w="19050">
            <a:solidFill>
              <a:srgbClr val="556677"/>
            </a:solidFill>
            <a:prstDash val="dash"/>
          </a:ln>
        </p:spPr>
        <p:txBody>
          <a:bodyPr/>
          <a:lstStyle/>
          <a:p>
            <a:endParaRPr lang="en-US"/>
          </a:p>
        </p:txBody>
      </p:sp>
      <p:sp>
        <p:nvSpPr>
          <p:cNvPr id="10" name="Shape 8"/>
          <p:cNvSpPr/>
          <p:nvPr/>
        </p:nvSpPr>
        <p:spPr>
          <a:xfrm>
            <a:off x="320040" y="2331720"/>
            <a:ext cx="868680" cy="2423160"/>
          </a:xfrm>
          <a:prstGeom prst="rect">
            <a:avLst/>
          </a:prstGeom>
          <a:solidFill>
            <a:srgbClr val="E8F4FC"/>
          </a:solidFill>
          <a:ln w="10160">
            <a:solidFill>
              <a:srgbClr val="556677"/>
            </a:solidFill>
            <a:prstDash val="solid"/>
          </a:ln>
        </p:spPr>
        <p:txBody>
          <a:bodyPr/>
          <a:lstStyle/>
          <a:p>
            <a:endParaRPr lang="en-US"/>
          </a:p>
        </p:txBody>
      </p:sp>
      <p:sp>
        <p:nvSpPr>
          <p:cNvPr id="11" name="Text 9"/>
          <p:cNvSpPr/>
          <p:nvPr/>
        </p:nvSpPr>
        <p:spPr>
          <a:xfrm>
            <a:off x="365760" y="2395728"/>
            <a:ext cx="777240" cy="2286000"/>
          </a:xfrm>
          <a:prstGeom prst="rect">
            <a:avLst/>
          </a:prstGeom>
          <a:noFill/>
          <a:ln/>
        </p:spPr>
        <p:txBody>
          <a:bodyPr wrap="square" rtlCol="0" anchor="t"/>
          <a:lstStyle/>
          <a:p>
            <a:pPr marL="0" indent="0">
              <a:buNone/>
            </a:pPr>
            <a:r>
              <a:rPr lang="en-US" sz="1000" dirty="0">
                <a:solidFill>
                  <a:srgbClr val="404040"/>
                </a:solidFill>
                <a:latin typeface="Arial" pitchFamily="34" charset="0"/>
                <a:ea typeface="Arial" pitchFamily="34" charset="-122"/>
                <a:cs typeface="Arial" pitchFamily="34" charset="-120"/>
              </a:rPr>
              <a:t>Sincronización. 7 bytes terminando en 10101010...</a:t>
            </a:r>
            <a:endParaRPr lang="en-US" sz="1000" dirty="0"/>
          </a:p>
        </p:txBody>
      </p:sp>
      <p:sp>
        <p:nvSpPr>
          <p:cNvPr id="12" name="Shape 10"/>
          <p:cNvSpPr/>
          <p:nvPr/>
        </p:nvSpPr>
        <p:spPr>
          <a:xfrm>
            <a:off x="1188720" y="1417320"/>
            <a:ext cx="640080" cy="658368"/>
          </a:xfrm>
          <a:prstGeom prst="rect">
            <a:avLst/>
          </a:prstGeom>
          <a:solidFill>
            <a:srgbClr val="C62828"/>
          </a:solidFill>
          <a:ln w="6350">
            <a:solidFill>
              <a:srgbClr val="FFFFFF"/>
            </a:solidFill>
            <a:prstDash val="solid"/>
          </a:ln>
        </p:spPr>
        <p:txBody>
          <a:bodyPr/>
          <a:lstStyle/>
          <a:p>
            <a:endParaRPr lang="en-US"/>
          </a:p>
        </p:txBody>
      </p:sp>
      <p:sp>
        <p:nvSpPr>
          <p:cNvPr id="13" name="Text 11"/>
          <p:cNvSpPr/>
          <p:nvPr/>
        </p:nvSpPr>
        <p:spPr>
          <a:xfrm>
            <a:off x="1216152" y="1435608"/>
            <a:ext cx="585216"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SOF</a:t>
            </a:r>
            <a:endParaRPr lang="en-US" sz="900" dirty="0"/>
          </a:p>
        </p:txBody>
      </p:sp>
      <p:sp>
        <p:nvSpPr>
          <p:cNvPr id="14" name="Text 12"/>
          <p:cNvSpPr/>
          <p:nvPr/>
        </p:nvSpPr>
        <p:spPr>
          <a:xfrm>
            <a:off x="1216152" y="1801368"/>
            <a:ext cx="585216" cy="237744"/>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1 byte</a:t>
            </a:r>
            <a:endParaRPr lang="en-US" sz="800" dirty="0"/>
          </a:p>
        </p:txBody>
      </p:sp>
      <p:sp>
        <p:nvSpPr>
          <p:cNvPr id="15" name="Shape 13"/>
          <p:cNvSpPr/>
          <p:nvPr/>
        </p:nvSpPr>
        <p:spPr>
          <a:xfrm>
            <a:off x="1508760" y="2075688"/>
            <a:ext cx="9144" cy="228600"/>
          </a:xfrm>
          <a:prstGeom prst="line">
            <a:avLst/>
          </a:prstGeom>
          <a:noFill/>
          <a:ln w="19050">
            <a:solidFill>
              <a:srgbClr val="C62828"/>
            </a:solidFill>
            <a:prstDash val="dash"/>
          </a:ln>
        </p:spPr>
        <p:txBody>
          <a:bodyPr/>
          <a:lstStyle/>
          <a:p>
            <a:endParaRPr lang="en-US"/>
          </a:p>
        </p:txBody>
      </p:sp>
      <p:sp>
        <p:nvSpPr>
          <p:cNvPr id="16" name="Shape 14"/>
          <p:cNvSpPr/>
          <p:nvPr/>
        </p:nvSpPr>
        <p:spPr>
          <a:xfrm>
            <a:off x="1188720" y="2331720"/>
            <a:ext cx="640080" cy="2423160"/>
          </a:xfrm>
          <a:prstGeom prst="rect">
            <a:avLst/>
          </a:prstGeom>
          <a:solidFill>
            <a:srgbClr val="E8F4FC"/>
          </a:solidFill>
          <a:ln w="10160">
            <a:solidFill>
              <a:srgbClr val="C62828"/>
            </a:solidFill>
            <a:prstDash val="solid"/>
          </a:ln>
        </p:spPr>
        <p:txBody>
          <a:bodyPr/>
          <a:lstStyle/>
          <a:p>
            <a:endParaRPr lang="en-US"/>
          </a:p>
        </p:txBody>
      </p:sp>
      <p:sp>
        <p:nvSpPr>
          <p:cNvPr id="17" name="Text 15"/>
          <p:cNvSpPr/>
          <p:nvPr/>
        </p:nvSpPr>
        <p:spPr>
          <a:xfrm>
            <a:off x="1234440" y="2395728"/>
            <a:ext cx="548640" cy="2286000"/>
          </a:xfrm>
          <a:prstGeom prst="rect">
            <a:avLst/>
          </a:prstGeom>
          <a:noFill/>
          <a:ln/>
        </p:spPr>
        <p:txBody>
          <a:bodyPr wrap="square" rtlCol="0" anchor="t"/>
          <a:lstStyle/>
          <a:p>
            <a:pPr marL="0" indent="0">
              <a:buNone/>
            </a:pPr>
            <a:r>
              <a:rPr lang="en-US" sz="1000" dirty="0">
                <a:solidFill>
                  <a:srgbClr val="404040"/>
                </a:solidFill>
                <a:latin typeface="Arial" pitchFamily="34" charset="0"/>
                <a:ea typeface="Arial" pitchFamily="34" charset="-122"/>
                <a:cs typeface="Arial" pitchFamily="34" charset="-120"/>
              </a:rPr>
              <a:t>Start Of Frame.</a:t>
            </a:r>
            <a:endParaRPr lang="en-US" sz="1000" dirty="0"/>
          </a:p>
        </p:txBody>
      </p:sp>
      <p:sp>
        <p:nvSpPr>
          <p:cNvPr id="18" name="Shape 16"/>
          <p:cNvSpPr/>
          <p:nvPr/>
        </p:nvSpPr>
        <p:spPr>
          <a:xfrm>
            <a:off x="1828800" y="1417320"/>
            <a:ext cx="914400" cy="658368"/>
          </a:xfrm>
          <a:prstGeom prst="rect">
            <a:avLst/>
          </a:prstGeom>
          <a:solidFill>
            <a:srgbClr val="E65100"/>
          </a:solidFill>
          <a:ln w="6350">
            <a:solidFill>
              <a:srgbClr val="FFFFFF"/>
            </a:solidFill>
            <a:prstDash val="solid"/>
          </a:ln>
        </p:spPr>
        <p:txBody>
          <a:bodyPr/>
          <a:lstStyle/>
          <a:p>
            <a:endParaRPr lang="en-US"/>
          </a:p>
        </p:txBody>
      </p:sp>
      <p:sp>
        <p:nvSpPr>
          <p:cNvPr id="19" name="Text 17"/>
          <p:cNvSpPr/>
          <p:nvPr/>
        </p:nvSpPr>
        <p:spPr>
          <a:xfrm>
            <a:off x="1856232" y="1435608"/>
            <a:ext cx="859536"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MAC Dst</a:t>
            </a:r>
            <a:endParaRPr lang="en-US" sz="900" dirty="0"/>
          </a:p>
        </p:txBody>
      </p:sp>
      <p:sp>
        <p:nvSpPr>
          <p:cNvPr id="20" name="Text 18"/>
          <p:cNvSpPr/>
          <p:nvPr/>
        </p:nvSpPr>
        <p:spPr>
          <a:xfrm>
            <a:off x="1856232" y="1801368"/>
            <a:ext cx="859536" cy="237744"/>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6 bytes</a:t>
            </a:r>
            <a:endParaRPr lang="en-US" sz="800" dirty="0"/>
          </a:p>
        </p:txBody>
      </p:sp>
      <p:sp>
        <p:nvSpPr>
          <p:cNvPr id="21" name="Shape 19"/>
          <p:cNvSpPr/>
          <p:nvPr/>
        </p:nvSpPr>
        <p:spPr>
          <a:xfrm>
            <a:off x="2286000" y="2075688"/>
            <a:ext cx="9144" cy="228600"/>
          </a:xfrm>
          <a:prstGeom prst="line">
            <a:avLst/>
          </a:prstGeom>
          <a:noFill/>
          <a:ln w="19050">
            <a:solidFill>
              <a:srgbClr val="E65100"/>
            </a:solidFill>
            <a:prstDash val="dash"/>
          </a:ln>
        </p:spPr>
        <p:txBody>
          <a:bodyPr/>
          <a:lstStyle/>
          <a:p>
            <a:endParaRPr lang="en-US"/>
          </a:p>
        </p:txBody>
      </p:sp>
      <p:sp>
        <p:nvSpPr>
          <p:cNvPr id="22" name="Shape 20"/>
          <p:cNvSpPr/>
          <p:nvPr/>
        </p:nvSpPr>
        <p:spPr>
          <a:xfrm>
            <a:off x="1828800" y="2331720"/>
            <a:ext cx="914400" cy="2423160"/>
          </a:xfrm>
          <a:prstGeom prst="rect">
            <a:avLst/>
          </a:prstGeom>
          <a:solidFill>
            <a:srgbClr val="E8F4FC"/>
          </a:solidFill>
          <a:ln w="10160">
            <a:solidFill>
              <a:srgbClr val="E65100"/>
            </a:solidFill>
            <a:prstDash val="solid"/>
          </a:ln>
        </p:spPr>
        <p:txBody>
          <a:bodyPr/>
          <a:lstStyle/>
          <a:p>
            <a:endParaRPr lang="en-US"/>
          </a:p>
        </p:txBody>
      </p:sp>
      <p:sp>
        <p:nvSpPr>
          <p:cNvPr id="23" name="Text 21"/>
          <p:cNvSpPr/>
          <p:nvPr/>
        </p:nvSpPr>
        <p:spPr>
          <a:xfrm>
            <a:off x="1874520" y="2395728"/>
            <a:ext cx="822960" cy="2286000"/>
          </a:xfrm>
          <a:prstGeom prst="rect">
            <a:avLst/>
          </a:prstGeom>
          <a:noFill/>
          <a:ln/>
        </p:spPr>
        <p:txBody>
          <a:bodyPr wrap="square" rtlCol="0" anchor="t"/>
          <a:lstStyle/>
          <a:p>
            <a:pPr marL="0" indent="0">
              <a:buNone/>
            </a:pPr>
            <a:r>
              <a:rPr lang="en-US" sz="1000" dirty="0">
                <a:solidFill>
                  <a:srgbClr val="404040"/>
                </a:solidFill>
                <a:latin typeface="Arial" pitchFamily="34" charset="0"/>
                <a:ea typeface="Arial" pitchFamily="34" charset="-122"/>
                <a:cs typeface="Arial" pitchFamily="34" charset="-120"/>
              </a:rPr>
              <a:t>Dirección MAC destino.</a:t>
            </a:r>
            <a:endParaRPr lang="en-US" sz="1000" dirty="0"/>
          </a:p>
        </p:txBody>
      </p:sp>
      <p:sp>
        <p:nvSpPr>
          <p:cNvPr id="24" name="Shape 22"/>
          <p:cNvSpPr/>
          <p:nvPr/>
        </p:nvSpPr>
        <p:spPr>
          <a:xfrm>
            <a:off x="2743200" y="1417320"/>
            <a:ext cx="914400" cy="658368"/>
          </a:xfrm>
          <a:prstGeom prst="rect">
            <a:avLst/>
          </a:prstGeom>
          <a:solidFill>
            <a:srgbClr val="00695C"/>
          </a:solidFill>
          <a:ln w="6350">
            <a:solidFill>
              <a:srgbClr val="FFFFFF"/>
            </a:solidFill>
            <a:prstDash val="solid"/>
          </a:ln>
        </p:spPr>
        <p:txBody>
          <a:bodyPr/>
          <a:lstStyle/>
          <a:p>
            <a:endParaRPr lang="en-US"/>
          </a:p>
        </p:txBody>
      </p:sp>
      <p:sp>
        <p:nvSpPr>
          <p:cNvPr id="25" name="Text 23"/>
          <p:cNvSpPr/>
          <p:nvPr/>
        </p:nvSpPr>
        <p:spPr>
          <a:xfrm>
            <a:off x="2770632" y="1435608"/>
            <a:ext cx="859536"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MAC Src</a:t>
            </a:r>
            <a:endParaRPr lang="en-US" sz="900" dirty="0"/>
          </a:p>
        </p:txBody>
      </p:sp>
      <p:sp>
        <p:nvSpPr>
          <p:cNvPr id="26" name="Text 24"/>
          <p:cNvSpPr/>
          <p:nvPr/>
        </p:nvSpPr>
        <p:spPr>
          <a:xfrm>
            <a:off x="2770632" y="1801368"/>
            <a:ext cx="859536" cy="237744"/>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6 bytes</a:t>
            </a:r>
            <a:endParaRPr lang="en-US" sz="800" dirty="0"/>
          </a:p>
        </p:txBody>
      </p:sp>
      <p:sp>
        <p:nvSpPr>
          <p:cNvPr id="27" name="Shape 25"/>
          <p:cNvSpPr/>
          <p:nvPr/>
        </p:nvSpPr>
        <p:spPr>
          <a:xfrm>
            <a:off x="3200400" y="2075688"/>
            <a:ext cx="9144" cy="228600"/>
          </a:xfrm>
          <a:prstGeom prst="line">
            <a:avLst/>
          </a:prstGeom>
          <a:noFill/>
          <a:ln w="19050">
            <a:solidFill>
              <a:srgbClr val="00695C"/>
            </a:solidFill>
            <a:prstDash val="dash"/>
          </a:ln>
        </p:spPr>
        <p:txBody>
          <a:bodyPr/>
          <a:lstStyle/>
          <a:p>
            <a:endParaRPr lang="en-US"/>
          </a:p>
        </p:txBody>
      </p:sp>
      <p:sp>
        <p:nvSpPr>
          <p:cNvPr id="28" name="Shape 26"/>
          <p:cNvSpPr/>
          <p:nvPr/>
        </p:nvSpPr>
        <p:spPr>
          <a:xfrm>
            <a:off x="2743200" y="2331720"/>
            <a:ext cx="914400" cy="2423160"/>
          </a:xfrm>
          <a:prstGeom prst="rect">
            <a:avLst/>
          </a:prstGeom>
          <a:solidFill>
            <a:srgbClr val="E8F4FC"/>
          </a:solidFill>
          <a:ln w="10160">
            <a:solidFill>
              <a:srgbClr val="00695C"/>
            </a:solidFill>
            <a:prstDash val="solid"/>
          </a:ln>
        </p:spPr>
        <p:txBody>
          <a:bodyPr/>
          <a:lstStyle/>
          <a:p>
            <a:endParaRPr lang="en-US"/>
          </a:p>
        </p:txBody>
      </p:sp>
      <p:sp>
        <p:nvSpPr>
          <p:cNvPr id="29" name="Text 27"/>
          <p:cNvSpPr/>
          <p:nvPr/>
        </p:nvSpPr>
        <p:spPr>
          <a:xfrm>
            <a:off x="2788920" y="2395728"/>
            <a:ext cx="822960" cy="2286000"/>
          </a:xfrm>
          <a:prstGeom prst="rect">
            <a:avLst/>
          </a:prstGeom>
          <a:noFill/>
          <a:ln/>
        </p:spPr>
        <p:txBody>
          <a:bodyPr wrap="square" rtlCol="0" anchor="t"/>
          <a:lstStyle/>
          <a:p>
            <a:pPr marL="0" indent="0">
              <a:buNone/>
            </a:pPr>
            <a:r>
              <a:rPr lang="en-US" sz="1000" dirty="0">
                <a:solidFill>
                  <a:srgbClr val="404040"/>
                </a:solidFill>
                <a:latin typeface="Arial" pitchFamily="34" charset="0"/>
                <a:ea typeface="Arial" pitchFamily="34" charset="-122"/>
                <a:cs typeface="Arial" pitchFamily="34" charset="-120"/>
              </a:rPr>
              <a:t>Dirección MAC origen.</a:t>
            </a:r>
            <a:endParaRPr lang="en-US" sz="1000" dirty="0"/>
          </a:p>
        </p:txBody>
      </p:sp>
      <p:sp>
        <p:nvSpPr>
          <p:cNvPr id="30" name="Shape 28"/>
          <p:cNvSpPr/>
          <p:nvPr/>
        </p:nvSpPr>
        <p:spPr>
          <a:xfrm>
            <a:off x="3657600" y="1417320"/>
            <a:ext cx="640080" cy="658368"/>
          </a:xfrm>
          <a:prstGeom prst="rect">
            <a:avLst/>
          </a:prstGeom>
          <a:solidFill>
            <a:srgbClr val="6A1B9A"/>
          </a:solidFill>
          <a:ln w="6350">
            <a:solidFill>
              <a:srgbClr val="FFFFFF"/>
            </a:solidFill>
            <a:prstDash val="solid"/>
          </a:ln>
        </p:spPr>
        <p:txBody>
          <a:bodyPr/>
          <a:lstStyle/>
          <a:p>
            <a:endParaRPr lang="en-US"/>
          </a:p>
        </p:txBody>
      </p:sp>
      <p:sp>
        <p:nvSpPr>
          <p:cNvPr id="31" name="Text 29"/>
          <p:cNvSpPr/>
          <p:nvPr/>
        </p:nvSpPr>
        <p:spPr>
          <a:xfrm>
            <a:off x="3685032" y="1435608"/>
            <a:ext cx="585216"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Length</a:t>
            </a:r>
            <a:endParaRPr lang="en-US" sz="900" dirty="0"/>
          </a:p>
        </p:txBody>
      </p:sp>
      <p:sp>
        <p:nvSpPr>
          <p:cNvPr id="32" name="Text 30"/>
          <p:cNvSpPr/>
          <p:nvPr/>
        </p:nvSpPr>
        <p:spPr>
          <a:xfrm>
            <a:off x="3685032" y="1801368"/>
            <a:ext cx="585216" cy="237744"/>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2 bytes</a:t>
            </a:r>
            <a:endParaRPr lang="en-US" sz="800" dirty="0"/>
          </a:p>
        </p:txBody>
      </p:sp>
      <p:sp>
        <p:nvSpPr>
          <p:cNvPr id="33" name="Shape 31"/>
          <p:cNvSpPr/>
          <p:nvPr/>
        </p:nvSpPr>
        <p:spPr>
          <a:xfrm>
            <a:off x="3977640" y="2075688"/>
            <a:ext cx="9144" cy="228600"/>
          </a:xfrm>
          <a:prstGeom prst="line">
            <a:avLst/>
          </a:prstGeom>
          <a:noFill/>
          <a:ln w="19050">
            <a:solidFill>
              <a:srgbClr val="6A1B9A"/>
            </a:solidFill>
            <a:prstDash val="dash"/>
          </a:ln>
        </p:spPr>
        <p:txBody>
          <a:bodyPr/>
          <a:lstStyle/>
          <a:p>
            <a:endParaRPr lang="en-US"/>
          </a:p>
        </p:txBody>
      </p:sp>
      <p:sp>
        <p:nvSpPr>
          <p:cNvPr id="34" name="Shape 32"/>
          <p:cNvSpPr/>
          <p:nvPr/>
        </p:nvSpPr>
        <p:spPr>
          <a:xfrm>
            <a:off x="3657600" y="2331720"/>
            <a:ext cx="640080" cy="2423160"/>
          </a:xfrm>
          <a:prstGeom prst="rect">
            <a:avLst/>
          </a:prstGeom>
          <a:solidFill>
            <a:srgbClr val="E8F4FC"/>
          </a:solidFill>
          <a:ln w="10160">
            <a:solidFill>
              <a:srgbClr val="6A1B9A"/>
            </a:solidFill>
            <a:prstDash val="solid"/>
          </a:ln>
        </p:spPr>
        <p:txBody>
          <a:bodyPr/>
          <a:lstStyle/>
          <a:p>
            <a:endParaRPr lang="en-US"/>
          </a:p>
        </p:txBody>
      </p:sp>
      <p:sp>
        <p:nvSpPr>
          <p:cNvPr id="35" name="Text 33"/>
          <p:cNvSpPr/>
          <p:nvPr/>
        </p:nvSpPr>
        <p:spPr>
          <a:xfrm>
            <a:off x="3703320" y="2395728"/>
            <a:ext cx="548640" cy="2286000"/>
          </a:xfrm>
          <a:prstGeom prst="rect">
            <a:avLst/>
          </a:prstGeom>
          <a:noFill/>
          <a:ln/>
        </p:spPr>
        <p:txBody>
          <a:bodyPr wrap="square" rtlCol="0" anchor="t"/>
          <a:lstStyle/>
          <a:p>
            <a:pPr marL="0" indent="0">
              <a:buNone/>
            </a:pPr>
            <a:r>
              <a:rPr lang="en-US" sz="1000" dirty="0">
                <a:solidFill>
                  <a:srgbClr val="404040"/>
                </a:solidFill>
                <a:latin typeface="Arial" pitchFamily="34" charset="0"/>
                <a:ea typeface="Arial" pitchFamily="34" charset="-122"/>
                <a:cs typeface="Arial" pitchFamily="34" charset="-120"/>
              </a:rPr>
              <a:t>LONGITUD del campo datos (NO el tipo de protocolo).</a:t>
            </a:r>
            <a:endParaRPr lang="en-US" sz="1000" dirty="0"/>
          </a:p>
        </p:txBody>
      </p:sp>
      <p:sp>
        <p:nvSpPr>
          <p:cNvPr id="36" name="Shape 34"/>
          <p:cNvSpPr/>
          <p:nvPr/>
        </p:nvSpPr>
        <p:spPr>
          <a:xfrm>
            <a:off x="4297680" y="1417320"/>
            <a:ext cx="2377440" cy="658368"/>
          </a:xfrm>
          <a:prstGeom prst="rect">
            <a:avLst/>
          </a:prstGeom>
          <a:solidFill>
            <a:srgbClr val="3A7BAA"/>
          </a:solidFill>
          <a:ln w="6350">
            <a:solidFill>
              <a:srgbClr val="FFFFFF"/>
            </a:solidFill>
            <a:prstDash val="solid"/>
          </a:ln>
        </p:spPr>
        <p:txBody>
          <a:bodyPr/>
          <a:lstStyle/>
          <a:p>
            <a:endParaRPr lang="en-US"/>
          </a:p>
        </p:txBody>
      </p:sp>
      <p:sp>
        <p:nvSpPr>
          <p:cNvPr id="37" name="Text 35"/>
          <p:cNvSpPr/>
          <p:nvPr/>
        </p:nvSpPr>
        <p:spPr>
          <a:xfrm>
            <a:off x="4325112" y="1435608"/>
            <a:ext cx="2322576"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Datos LLC</a:t>
            </a:r>
            <a:endParaRPr lang="en-US" sz="900" dirty="0"/>
          </a:p>
        </p:txBody>
      </p:sp>
      <p:sp>
        <p:nvSpPr>
          <p:cNvPr id="38" name="Text 36"/>
          <p:cNvSpPr/>
          <p:nvPr/>
        </p:nvSpPr>
        <p:spPr>
          <a:xfrm>
            <a:off x="4325112" y="1801368"/>
            <a:ext cx="2322576" cy="237744"/>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46–1500B</a:t>
            </a:r>
            <a:endParaRPr lang="en-US" sz="800" dirty="0"/>
          </a:p>
        </p:txBody>
      </p:sp>
      <p:sp>
        <p:nvSpPr>
          <p:cNvPr id="39" name="Shape 37"/>
          <p:cNvSpPr/>
          <p:nvPr/>
        </p:nvSpPr>
        <p:spPr>
          <a:xfrm>
            <a:off x="5486400" y="2075688"/>
            <a:ext cx="9144" cy="228600"/>
          </a:xfrm>
          <a:prstGeom prst="line">
            <a:avLst/>
          </a:prstGeom>
          <a:noFill/>
          <a:ln w="19050">
            <a:solidFill>
              <a:srgbClr val="3A7BAA"/>
            </a:solidFill>
            <a:prstDash val="dash"/>
          </a:ln>
        </p:spPr>
        <p:txBody>
          <a:bodyPr/>
          <a:lstStyle/>
          <a:p>
            <a:endParaRPr lang="en-US"/>
          </a:p>
        </p:txBody>
      </p:sp>
      <p:sp>
        <p:nvSpPr>
          <p:cNvPr id="40" name="Shape 38"/>
          <p:cNvSpPr/>
          <p:nvPr/>
        </p:nvSpPr>
        <p:spPr>
          <a:xfrm>
            <a:off x="4297680" y="2331720"/>
            <a:ext cx="2377440" cy="2423160"/>
          </a:xfrm>
          <a:prstGeom prst="rect">
            <a:avLst/>
          </a:prstGeom>
          <a:solidFill>
            <a:srgbClr val="E8F4FC"/>
          </a:solidFill>
          <a:ln w="10160">
            <a:solidFill>
              <a:srgbClr val="3A7BAA"/>
            </a:solidFill>
            <a:prstDash val="solid"/>
          </a:ln>
        </p:spPr>
        <p:txBody>
          <a:bodyPr/>
          <a:lstStyle/>
          <a:p>
            <a:endParaRPr lang="en-US"/>
          </a:p>
        </p:txBody>
      </p:sp>
      <p:sp>
        <p:nvSpPr>
          <p:cNvPr id="41" name="Text 39"/>
          <p:cNvSpPr/>
          <p:nvPr/>
        </p:nvSpPr>
        <p:spPr>
          <a:xfrm>
            <a:off x="4343400" y="2395728"/>
            <a:ext cx="2286000" cy="2286000"/>
          </a:xfrm>
          <a:prstGeom prst="rect">
            <a:avLst/>
          </a:prstGeom>
          <a:noFill/>
          <a:ln/>
        </p:spPr>
        <p:txBody>
          <a:bodyPr wrap="square" rtlCol="0" anchor="t"/>
          <a:lstStyle/>
          <a:p>
            <a:pPr marL="0" indent="0">
              <a:buNone/>
            </a:pPr>
            <a:r>
              <a:rPr lang="en-US" sz="1000" dirty="0">
                <a:solidFill>
                  <a:srgbClr val="404040"/>
                </a:solidFill>
                <a:latin typeface="Arial" pitchFamily="34" charset="0"/>
                <a:ea typeface="Arial" pitchFamily="34" charset="-122"/>
                <a:cs typeface="Arial" pitchFamily="34" charset="-120"/>
              </a:rPr>
              <a:t>Trama LLC: DSAP + SSAP + Control + datos reales.</a:t>
            </a:r>
            <a:endParaRPr lang="en-US" sz="1000" dirty="0"/>
          </a:p>
        </p:txBody>
      </p:sp>
      <p:sp>
        <p:nvSpPr>
          <p:cNvPr id="42" name="Shape 40"/>
          <p:cNvSpPr/>
          <p:nvPr/>
        </p:nvSpPr>
        <p:spPr>
          <a:xfrm>
            <a:off x="6675120" y="1417320"/>
            <a:ext cx="640080" cy="658368"/>
          </a:xfrm>
          <a:prstGeom prst="rect">
            <a:avLst/>
          </a:prstGeom>
          <a:solidFill>
            <a:srgbClr val="2E7D32"/>
          </a:solidFill>
          <a:ln w="6350">
            <a:solidFill>
              <a:srgbClr val="FFFFFF"/>
            </a:solidFill>
            <a:prstDash val="solid"/>
          </a:ln>
        </p:spPr>
        <p:txBody>
          <a:bodyPr/>
          <a:lstStyle/>
          <a:p>
            <a:endParaRPr lang="en-US"/>
          </a:p>
        </p:txBody>
      </p:sp>
      <p:sp>
        <p:nvSpPr>
          <p:cNvPr id="43" name="Text 41"/>
          <p:cNvSpPr/>
          <p:nvPr/>
        </p:nvSpPr>
        <p:spPr>
          <a:xfrm>
            <a:off x="6702552" y="1435608"/>
            <a:ext cx="585216" cy="34747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FCS</a:t>
            </a:r>
            <a:endParaRPr lang="en-US" sz="900" dirty="0"/>
          </a:p>
        </p:txBody>
      </p:sp>
      <p:sp>
        <p:nvSpPr>
          <p:cNvPr id="44" name="Text 42"/>
          <p:cNvSpPr/>
          <p:nvPr/>
        </p:nvSpPr>
        <p:spPr>
          <a:xfrm>
            <a:off x="6702552" y="1801368"/>
            <a:ext cx="585216" cy="237744"/>
          </a:xfrm>
          <a:prstGeom prst="rect">
            <a:avLst/>
          </a:prstGeom>
          <a:noFill/>
          <a:ln/>
        </p:spPr>
        <p:txBody>
          <a:bodyPr wrap="square" rtlCol="0" anchor="ctr"/>
          <a:lstStyle/>
          <a:p>
            <a:pPr marL="0" indent="0" algn="ctr">
              <a:buNone/>
            </a:pPr>
            <a:r>
              <a:rPr lang="en-US" sz="800" dirty="0">
                <a:solidFill>
                  <a:srgbClr val="B9DEF8"/>
                </a:solidFill>
                <a:latin typeface="Arial" pitchFamily="34" charset="0"/>
                <a:ea typeface="Arial" pitchFamily="34" charset="-122"/>
                <a:cs typeface="Arial" pitchFamily="34" charset="-120"/>
              </a:rPr>
              <a:t>4 bytes</a:t>
            </a:r>
            <a:endParaRPr lang="en-US" sz="800" dirty="0"/>
          </a:p>
        </p:txBody>
      </p:sp>
      <p:sp>
        <p:nvSpPr>
          <p:cNvPr id="45" name="Shape 43"/>
          <p:cNvSpPr/>
          <p:nvPr/>
        </p:nvSpPr>
        <p:spPr>
          <a:xfrm>
            <a:off x="6995160" y="2075688"/>
            <a:ext cx="9144" cy="228600"/>
          </a:xfrm>
          <a:prstGeom prst="line">
            <a:avLst/>
          </a:prstGeom>
          <a:noFill/>
          <a:ln w="19050">
            <a:solidFill>
              <a:srgbClr val="2E7D32"/>
            </a:solidFill>
            <a:prstDash val="dash"/>
          </a:ln>
        </p:spPr>
        <p:txBody>
          <a:bodyPr/>
          <a:lstStyle/>
          <a:p>
            <a:endParaRPr lang="en-US"/>
          </a:p>
        </p:txBody>
      </p:sp>
      <p:sp>
        <p:nvSpPr>
          <p:cNvPr id="46" name="Shape 44"/>
          <p:cNvSpPr/>
          <p:nvPr/>
        </p:nvSpPr>
        <p:spPr>
          <a:xfrm>
            <a:off x="6675120" y="2331720"/>
            <a:ext cx="640080" cy="2423160"/>
          </a:xfrm>
          <a:prstGeom prst="rect">
            <a:avLst/>
          </a:prstGeom>
          <a:solidFill>
            <a:srgbClr val="E8F4FC"/>
          </a:solidFill>
          <a:ln w="10160">
            <a:solidFill>
              <a:srgbClr val="2E7D32"/>
            </a:solidFill>
            <a:prstDash val="solid"/>
          </a:ln>
        </p:spPr>
        <p:txBody>
          <a:bodyPr/>
          <a:lstStyle/>
          <a:p>
            <a:endParaRPr lang="en-US"/>
          </a:p>
        </p:txBody>
      </p:sp>
      <p:sp>
        <p:nvSpPr>
          <p:cNvPr id="47" name="Text 45"/>
          <p:cNvSpPr/>
          <p:nvPr/>
        </p:nvSpPr>
        <p:spPr>
          <a:xfrm>
            <a:off x="6720840" y="2395728"/>
            <a:ext cx="548640" cy="2286000"/>
          </a:xfrm>
          <a:prstGeom prst="rect">
            <a:avLst/>
          </a:prstGeom>
          <a:noFill/>
          <a:ln/>
        </p:spPr>
        <p:txBody>
          <a:bodyPr wrap="square" rtlCol="0" anchor="t"/>
          <a:lstStyle/>
          <a:p>
            <a:pPr marL="0" indent="0">
              <a:buNone/>
            </a:pPr>
            <a:r>
              <a:rPr lang="en-US" sz="1000" dirty="0">
                <a:solidFill>
                  <a:srgbClr val="404040"/>
                </a:solidFill>
                <a:latin typeface="Arial" pitchFamily="34" charset="0"/>
                <a:ea typeface="Arial" pitchFamily="34" charset="-122"/>
                <a:cs typeface="Arial" pitchFamily="34" charset="-120"/>
              </a:rPr>
              <a:t>CRC-32 detección errores.</a:t>
            </a:r>
            <a:endParaRPr lang="en-US" sz="1000" dirty="0"/>
          </a:p>
        </p:txBody>
      </p:sp>
      <p:sp>
        <p:nvSpPr>
          <p:cNvPr id="48" name="Shape 46"/>
          <p:cNvSpPr/>
          <p:nvPr/>
        </p:nvSpPr>
        <p:spPr>
          <a:xfrm>
            <a:off x="320040" y="4828032"/>
            <a:ext cx="8503920" cy="310896"/>
          </a:xfrm>
          <a:prstGeom prst="rect">
            <a:avLst/>
          </a:prstGeom>
          <a:solidFill>
            <a:srgbClr val="3A7BAA"/>
          </a:solidFill>
          <a:ln w="12700">
            <a:solidFill>
              <a:srgbClr val="3A7BAA"/>
            </a:solidFill>
            <a:prstDash val="solid"/>
          </a:ln>
        </p:spPr>
        <p:txBody>
          <a:bodyPr/>
          <a:lstStyle/>
          <a:p>
            <a:endParaRPr lang="en-US"/>
          </a:p>
        </p:txBody>
      </p:sp>
      <p:sp>
        <p:nvSpPr>
          <p:cNvPr id="49" name="Text 47"/>
          <p:cNvSpPr/>
          <p:nvPr/>
        </p:nvSpPr>
        <p:spPr>
          <a:xfrm>
            <a:off x="402336" y="4828032"/>
            <a:ext cx="8339328" cy="310896"/>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Trama LLC (dentro del campo Datos): [ DSAP 1B | SSAP 1B | Control 1-2B | Datos del paquete IP ]</a:t>
            </a:r>
            <a:endParaRPr lang="en-US" sz="1100" dirty="0"/>
          </a:p>
        </p:txBody>
      </p:sp>
      <p:sp>
        <p:nvSpPr>
          <p:cNvPr id="50" name="Shape 48"/>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51" name="Text 49"/>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El SOF es el 'ya, empezamos' de la trama 802.3. Sin él, la NIC no sabría cuándo termina el preámbulo y cuándo empiezan las MACs.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164592"/>
            <a:ext cx="8229600" cy="749808"/>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4" name="Text 2"/>
          <p:cNvSpPr/>
          <p:nvPr/>
        </p:nvSpPr>
        <p:spPr>
          <a:xfrm>
            <a:off x="566928" y="164592"/>
            <a:ext cx="8010144" cy="749808"/>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Ethernet II vs IEEE 802.3 — Comparativa</a:t>
            </a:r>
            <a:endParaRPr lang="en-US" sz="2500" dirty="0"/>
          </a:p>
        </p:txBody>
      </p:sp>
      <p:sp>
        <p:nvSpPr>
          <p:cNvPr id="5" name="Text 3"/>
          <p:cNvSpPr/>
          <p:nvPr/>
        </p:nvSpPr>
        <p:spPr>
          <a:xfrm>
            <a:off x="566928" y="987552"/>
            <a:ext cx="8010144" cy="347472"/>
          </a:xfrm>
          <a:prstGeom prst="rect">
            <a:avLst/>
          </a:prstGeom>
          <a:noFill/>
          <a:ln/>
        </p:spPr>
        <p:txBody>
          <a:bodyPr wrap="square" rtlCol="0" anchor="ctr"/>
          <a:lstStyle/>
          <a:p>
            <a:pPr marL="0" indent="0">
              <a:buNone/>
            </a:pPr>
            <a:r>
              <a:rPr lang="en-US" sz="1200" i="1" dirty="0">
                <a:solidFill>
                  <a:srgbClr val="B9DEF8"/>
                </a:solidFill>
                <a:latin typeface="Arial" pitchFamily="34" charset="0"/>
                <a:ea typeface="Arial" pitchFamily="34" charset="-122"/>
                <a:cs typeface="Arial" pitchFamily="34" charset="-120"/>
              </a:rPr>
              <a:t>Dos estándares, mismo propósito, dos diferencias clave</a:t>
            </a:r>
            <a:endParaRPr lang="en-US" sz="1200" dirty="0"/>
          </a:p>
        </p:txBody>
      </p:sp>
      <p:sp>
        <p:nvSpPr>
          <p:cNvPr id="6" name="Shape 4"/>
          <p:cNvSpPr/>
          <p:nvPr/>
        </p:nvSpPr>
        <p:spPr>
          <a:xfrm>
            <a:off x="320040" y="1417320"/>
            <a:ext cx="2377440" cy="411480"/>
          </a:xfrm>
          <a:prstGeom prst="rect">
            <a:avLst/>
          </a:prstGeom>
          <a:solidFill>
            <a:srgbClr val="3A7BAA"/>
          </a:solidFill>
          <a:ln w="12700">
            <a:solidFill>
              <a:srgbClr val="3A7BAA"/>
            </a:solidFill>
            <a:prstDash val="solid"/>
          </a:ln>
        </p:spPr>
        <p:txBody>
          <a:bodyPr/>
          <a:lstStyle/>
          <a:p>
            <a:endParaRPr lang="en-US"/>
          </a:p>
        </p:txBody>
      </p:sp>
      <p:sp>
        <p:nvSpPr>
          <p:cNvPr id="7" name="Text 5"/>
          <p:cNvSpPr/>
          <p:nvPr/>
        </p:nvSpPr>
        <p:spPr>
          <a:xfrm>
            <a:off x="374904" y="1417320"/>
            <a:ext cx="2286000"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Característica</a:t>
            </a:r>
            <a:endParaRPr lang="en-US" sz="1300" dirty="0"/>
          </a:p>
        </p:txBody>
      </p:sp>
      <p:sp>
        <p:nvSpPr>
          <p:cNvPr id="8" name="Shape 6"/>
          <p:cNvSpPr/>
          <p:nvPr/>
        </p:nvSpPr>
        <p:spPr>
          <a:xfrm>
            <a:off x="2697480" y="1417320"/>
            <a:ext cx="3063240" cy="411480"/>
          </a:xfrm>
          <a:prstGeom prst="rect">
            <a:avLst/>
          </a:prstGeom>
          <a:solidFill>
            <a:srgbClr val="5AA8D8"/>
          </a:solidFill>
          <a:ln w="12700">
            <a:solidFill>
              <a:srgbClr val="5AA8D8"/>
            </a:solidFill>
            <a:prstDash val="solid"/>
          </a:ln>
        </p:spPr>
        <p:txBody>
          <a:bodyPr/>
          <a:lstStyle/>
          <a:p>
            <a:endParaRPr lang="en-US"/>
          </a:p>
        </p:txBody>
      </p:sp>
      <p:sp>
        <p:nvSpPr>
          <p:cNvPr id="9" name="Text 7"/>
          <p:cNvSpPr/>
          <p:nvPr/>
        </p:nvSpPr>
        <p:spPr>
          <a:xfrm>
            <a:off x="2752344" y="1417320"/>
            <a:ext cx="2971800"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Ethernet II (DIX)</a:t>
            </a:r>
            <a:endParaRPr lang="en-US" sz="1300" dirty="0"/>
          </a:p>
        </p:txBody>
      </p:sp>
      <p:sp>
        <p:nvSpPr>
          <p:cNvPr id="10" name="Shape 8"/>
          <p:cNvSpPr/>
          <p:nvPr/>
        </p:nvSpPr>
        <p:spPr>
          <a:xfrm>
            <a:off x="5760720" y="1417320"/>
            <a:ext cx="3063240" cy="411480"/>
          </a:xfrm>
          <a:prstGeom prst="rect">
            <a:avLst/>
          </a:prstGeom>
          <a:solidFill>
            <a:srgbClr val="00695C"/>
          </a:solidFill>
          <a:ln w="12700">
            <a:solidFill>
              <a:srgbClr val="00695C"/>
            </a:solidFill>
            <a:prstDash val="solid"/>
          </a:ln>
        </p:spPr>
        <p:txBody>
          <a:bodyPr/>
          <a:lstStyle/>
          <a:p>
            <a:endParaRPr lang="en-US"/>
          </a:p>
        </p:txBody>
      </p:sp>
      <p:sp>
        <p:nvSpPr>
          <p:cNvPr id="11" name="Text 9"/>
          <p:cNvSpPr/>
          <p:nvPr/>
        </p:nvSpPr>
        <p:spPr>
          <a:xfrm>
            <a:off x="5815584" y="1417320"/>
            <a:ext cx="2971800"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IEEE 802.3</a:t>
            </a:r>
            <a:endParaRPr lang="en-US" sz="1300" dirty="0"/>
          </a:p>
        </p:txBody>
      </p:sp>
      <p:sp>
        <p:nvSpPr>
          <p:cNvPr id="12" name="Shape 10"/>
          <p:cNvSpPr/>
          <p:nvPr/>
        </p:nvSpPr>
        <p:spPr>
          <a:xfrm>
            <a:off x="320040" y="1901952"/>
            <a:ext cx="2377440" cy="420624"/>
          </a:xfrm>
          <a:prstGeom prst="rect">
            <a:avLst/>
          </a:prstGeom>
          <a:solidFill>
            <a:srgbClr val="3A4550"/>
          </a:solidFill>
          <a:ln w="6350">
            <a:solidFill>
              <a:srgbClr val="B9DEF8"/>
            </a:solidFill>
            <a:prstDash val="solid"/>
          </a:ln>
        </p:spPr>
        <p:txBody>
          <a:bodyPr/>
          <a:lstStyle/>
          <a:p>
            <a:endParaRPr lang="en-US"/>
          </a:p>
        </p:txBody>
      </p:sp>
      <p:sp>
        <p:nvSpPr>
          <p:cNvPr id="13" name="Text 11"/>
          <p:cNvSpPr/>
          <p:nvPr/>
        </p:nvSpPr>
        <p:spPr>
          <a:xfrm>
            <a:off x="384048" y="1901952"/>
            <a:ext cx="2267712" cy="420624"/>
          </a:xfrm>
          <a:prstGeom prst="rect">
            <a:avLst/>
          </a:prstGeom>
          <a:noFill/>
          <a:ln/>
        </p:spPr>
        <p:txBody>
          <a:bodyPr wrap="square" rtlCol="0" anchor="ctr"/>
          <a:lstStyle/>
          <a:p>
            <a:pPr marL="0" indent="0">
              <a:buNone/>
            </a:pPr>
            <a:r>
              <a:rPr lang="en-US" sz="1050" b="1" dirty="0">
                <a:solidFill>
                  <a:srgbClr val="B9DEF8"/>
                </a:solidFill>
                <a:latin typeface="Arial" pitchFamily="34" charset="0"/>
                <a:ea typeface="Arial" pitchFamily="34" charset="-122"/>
                <a:cs typeface="Arial" pitchFamily="34" charset="-120"/>
              </a:rPr>
              <a:t>Preámbulo</a:t>
            </a:r>
            <a:endParaRPr lang="en-US" sz="1050" dirty="0"/>
          </a:p>
        </p:txBody>
      </p:sp>
      <p:sp>
        <p:nvSpPr>
          <p:cNvPr id="14" name="Shape 12"/>
          <p:cNvSpPr/>
          <p:nvPr/>
        </p:nvSpPr>
        <p:spPr>
          <a:xfrm>
            <a:off x="2697480" y="1901952"/>
            <a:ext cx="3063240" cy="420624"/>
          </a:xfrm>
          <a:prstGeom prst="rect">
            <a:avLst/>
          </a:prstGeom>
          <a:solidFill>
            <a:srgbClr val="3A4550"/>
          </a:solidFill>
          <a:ln w="6350">
            <a:solidFill>
              <a:srgbClr val="B9DEF8"/>
            </a:solidFill>
            <a:prstDash val="solid"/>
          </a:ln>
        </p:spPr>
        <p:txBody>
          <a:bodyPr/>
          <a:lstStyle/>
          <a:p>
            <a:endParaRPr lang="en-US"/>
          </a:p>
        </p:txBody>
      </p:sp>
      <p:sp>
        <p:nvSpPr>
          <p:cNvPr id="15" name="Text 13"/>
          <p:cNvSpPr/>
          <p:nvPr/>
        </p:nvSpPr>
        <p:spPr>
          <a:xfrm>
            <a:off x="2761488" y="1901952"/>
            <a:ext cx="2953512" cy="420624"/>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8 bytes (termina en 10101011)</a:t>
            </a:r>
            <a:endParaRPr lang="en-US" sz="1050" dirty="0"/>
          </a:p>
        </p:txBody>
      </p:sp>
      <p:sp>
        <p:nvSpPr>
          <p:cNvPr id="16" name="Shape 14"/>
          <p:cNvSpPr/>
          <p:nvPr/>
        </p:nvSpPr>
        <p:spPr>
          <a:xfrm>
            <a:off x="5760720" y="1901952"/>
            <a:ext cx="3063240" cy="420624"/>
          </a:xfrm>
          <a:prstGeom prst="rect">
            <a:avLst/>
          </a:prstGeom>
          <a:solidFill>
            <a:srgbClr val="3A4550"/>
          </a:solidFill>
          <a:ln w="6350">
            <a:solidFill>
              <a:srgbClr val="B9DEF8"/>
            </a:solidFill>
            <a:prstDash val="solid"/>
          </a:ln>
        </p:spPr>
        <p:txBody>
          <a:bodyPr/>
          <a:lstStyle/>
          <a:p>
            <a:endParaRPr lang="en-US"/>
          </a:p>
        </p:txBody>
      </p:sp>
      <p:sp>
        <p:nvSpPr>
          <p:cNvPr id="17" name="Text 15"/>
          <p:cNvSpPr/>
          <p:nvPr/>
        </p:nvSpPr>
        <p:spPr>
          <a:xfrm>
            <a:off x="5824728" y="1901952"/>
            <a:ext cx="2953512" cy="420624"/>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7 bytes (termina en 10101010...)</a:t>
            </a:r>
            <a:endParaRPr lang="en-US" sz="1050" dirty="0"/>
          </a:p>
        </p:txBody>
      </p:sp>
      <p:sp>
        <p:nvSpPr>
          <p:cNvPr id="18" name="Shape 16"/>
          <p:cNvSpPr/>
          <p:nvPr/>
        </p:nvSpPr>
        <p:spPr>
          <a:xfrm>
            <a:off x="320040" y="2350008"/>
            <a:ext cx="2377440" cy="420624"/>
          </a:xfrm>
          <a:prstGeom prst="rect">
            <a:avLst/>
          </a:prstGeom>
          <a:solidFill>
            <a:srgbClr val="323E48"/>
          </a:solidFill>
          <a:ln w="6350">
            <a:solidFill>
              <a:srgbClr val="B9DEF8"/>
            </a:solidFill>
            <a:prstDash val="solid"/>
          </a:ln>
        </p:spPr>
        <p:txBody>
          <a:bodyPr/>
          <a:lstStyle/>
          <a:p>
            <a:endParaRPr lang="en-US"/>
          </a:p>
        </p:txBody>
      </p:sp>
      <p:sp>
        <p:nvSpPr>
          <p:cNvPr id="19" name="Text 17"/>
          <p:cNvSpPr/>
          <p:nvPr/>
        </p:nvSpPr>
        <p:spPr>
          <a:xfrm>
            <a:off x="384048" y="2350008"/>
            <a:ext cx="2267712" cy="420624"/>
          </a:xfrm>
          <a:prstGeom prst="rect">
            <a:avLst/>
          </a:prstGeom>
          <a:noFill/>
          <a:ln/>
        </p:spPr>
        <p:txBody>
          <a:bodyPr wrap="square" rtlCol="0" anchor="ctr"/>
          <a:lstStyle/>
          <a:p>
            <a:pPr marL="0" indent="0">
              <a:buNone/>
            </a:pPr>
            <a:r>
              <a:rPr lang="en-US" sz="1050" b="1" dirty="0">
                <a:solidFill>
                  <a:srgbClr val="B9DEF8"/>
                </a:solidFill>
                <a:latin typeface="Arial" pitchFamily="34" charset="0"/>
                <a:ea typeface="Arial" pitchFamily="34" charset="-122"/>
                <a:cs typeface="Arial" pitchFamily="34" charset="-120"/>
              </a:rPr>
              <a:t>SOF</a:t>
            </a:r>
            <a:endParaRPr lang="en-US" sz="1050" dirty="0"/>
          </a:p>
        </p:txBody>
      </p:sp>
      <p:sp>
        <p:nvSpPr>
          <p:cNvPr id="20" name="Shape 18"/>
          <p:cNvSpPr/>
          <p:nvPr/>
        </p:nvSpPr>
        <p:spPr>
          <a:xfrm>
            <a:off x="2697480" y="2350008"/>
            <a:ext cx="3063240" cy="420624"/>
          </a:xfrm>
          <a:prstGeom prst="rect">
            <a:avLst/>
          </a:prstGeom>
          <a:solidFill>
            <a:srgbClr val="323E48"/>
          </a:solidFill>
          <a:ln w="6350">
            <a:solidFill>
              <a:srgbClr val="B9DEF8"/>
            </a:solidFill>
            <a:prstDash val="solid"/>
          </a:ln>
        </p:spPr>
        <p:txBody>
          <a:bodyPr/>
          <a:lstStyle/>
          <a:p>
            <a:endParaRPr lang="en-US"/>
          </a:p>
        </p:txBody>
      </p:sp>
      <p:sp>
        <p:nvSpPr>
          <p:cNvPr id="21" name="Text 19"/>
          <p:cNvSpPr/>
          <p:nvPr/>
        </p:nvSpPr>
        <p:spPr>
          <a:xfrm>
            <a:off x="2761488" y="2350008"/>
            <a:ext cx="2953512" cy="420624"/>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No existe (está en el preámbulo)</a:t>
            </a:r>
            <a:endParaRPr lang="en-US" sz="1050" dirty="0"/>
          </a:p>
        </p:txBody>
      </p:sp>
      <p:sp>
        <p:nvSpPr>
          <p:cNvPr id="22" name="Shape 20"/>
          <p:cNvSpPr/>
          <p:nvPr/>
        </p:nvSpPr>
        <p:spPr>
          <a:xfrm>
            <a:off x="5760720" y="2350008"/>
            <a:ext cx="3063240" cy="420624"/>
          </a:xfrm>
          <a:prstGeom prst="rect">
            <a:avLst/>
          </a:prstGeom>
          <a:solidFill>
            <a:srgbClr val="323E48"/>
          </a:solidFill>
          <a:ln w="6350">
            <a:solidFill>
              <a:srgbClr val="B9DEF8"/>
            </a:solidFill>
            <a:prstDash val="solid"/>
          </a:ln>
        </p:spPr>
        <p:txBody>
          <a:bodyPr/>
          <a:lstStyle/>
          <a:p>
            <a:endParaRPr lang="en-US"/>
          </a:p>
        </p:txBody>
      </p:sp>
      <p:sp>
        <p:nvSpPr>
          <p:cNvPr id="23" name="Text 21"/>
          <p:cNvSpPr/>
          <p:nvPr/>
        </p:nvSpPr>
        <p:spPr>
          <a:xfrm>
            <a:off x="5824728" y="2350008"/>
            <a:ext cx="2953512" cy="420624"/>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1 byte explícito: 10101011</a:t>
            </a:r>
            <a:endParaRPr lang="en-US" sz="1050" dirty="0"/>
          </a:p>
        </p:txBody>
      </p:sp>
      <p:sp>
        <p:nvSpPr>
          <p:cNvPr id="24" name="Shape 22"/>
          <p:cNvSpPr/>
          <p:nvPr/>
        </p:nvSpPr>
        <p:spPr>
          <a:xfrm>
            <a:off x="320040" y="2798064"/>
            <a:ext cx="2377440" cy="420624"/>
          </a:xfrm>
          <a:prstGeom prst="rect">
            <a:avLst/>
          </a:prstGeom>
          <a:solidFill>
            <a:srgbClr val="3A4550"/>
          </a:solidFill>
          <a:ln w="6350">
            <a:solidFill>
              <a:srgbClr val="B9DEF8"/>
            </a:solidFill>
            <a:prstDash val="solid"/>
          </a:ln>
        </p:spPr>
        <p:txBody>
          <a:bodyPr/>
          <a:lstStyle/>
          <a:p>
            <a:endParaRPr lang="en-US"/>
          </a:p>
        </p:txBody>
      </p:sp>
      <p:sp>
        <p:nvSpPr>
          <p:cNvPr id="25" name="Text 23"/>
          <p:cNvSpPr/>
          <p:nvPr/>
        </p:nvSpPr>
        <p:spPr>
          <a:xfrm>
            <a:off x="384048" y="2798064"/>
            <a:ext cx="2267712" cy="420624"/>
          </a:xfrm>
          <a:prstGeom prst="rect">
            <a:avLst/>
          </a:prstGeom>
          <a:noFill/>
          <a:ln/>
        </p:spPr>
        <p:txBody>
          <a:bodyPr wrap="square" rtlCol="0" anchor="ctr"/>
          <a:lstStyle/>
          <a:p>
            <a:pPr marL="0" indent="0">
              <a:buNone/>
            </a:pPr>
            <a:r>
              <a:rPr lang="en-US" sz="1050" b="1" dirty="0">
                <a:solidFill>
                  <a:srgbClr val="B9DEF8"/>
                </a:solidFill>
                <a:latin typeface="Arial" pitchFamily="34" charset="0"/>
                <a:ea typeface="Arial" pitchFamily="34" charset="-122"/>
                <a:cs typeface="Arial" pitchFamily="34" charset="-120"/>
              </a:rPr>
              <a:t>Bytes 13-14</a:t>
            </a:r>
            <a:endParaRPr lang="en-US" sz="1050" dirty="0"/>
          </a:p>
        </p:txBody>
      </p:sp>
      <p:sp>
        <p:nvSpPr>
          <p:cNvPr id="26" name="Shape 24"/>
          <p:cNvSpPr/>
          <p:nvPr/>
        </p:nvSpPr>
        <p:spPr>
          <a:xfrm>
            <a:off x="2697480" y="2798064"/>
            <a:ext cx="3063240" cy="420624"/>
          </a:xfrm>
          <a:prstGeom prst="rect">
            <a:avLst/>
          </a:prstGeom>
          <a:solidFill>
            <a:srgbClr val="3A4550"/>
          </a:solidFill>
          <a:ln w="6350">
            <a:solidFill>
              <a:srgbClr val="B9DEF8"/>
            </a:solidFill>
            <a:prstDash val="solid"/>
          </a:ln>
        </p:spPr>
        <p:txBody>
          <a:bodyPr/>
          <a:lstStyle/>
          <a:p>
            <a:endParaRPr lang="en-US"/>
          </a:p>
        </p:txBody>
      </p:sp>
      <p:sp>
        <p:nvSpPr>
          <p:cNvPr id="27" name="Text 25"/>
          <p:cNvSpPr/>
          <p:nvPr/>
        </p:nvSpPr>
        <p:spPr>
          <a:xfrm>
            <a:off x="2761488" y="2798064"/>
            <a:ext cx="2953512" cy="420624"/>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Type: identifica protocolo Capa 3</a:t>
            </a:r>
            <a:endParaRPr lang="en-US" sz="1050" dirty="0"/>
          </a:p>
          <a:p>
            <a:pPr marL="0" indent="0">
              <a:buNone/>
            </a:pPr>
            <a:r>
              <a:rPr lang="en-US" sz="1050" dirty="0">
                <a:solidFill>
                  <a:srgbClr val="FFFFFF"/>
                </a:solidFill>
                <a:latin typeface="Arial" pitchFamily="34" charset="0"/>
                <a:ea typeface="Arial" pitchFamily="34" charset="-122"/>
                <a:cs typeface="Arial" pitchFamily="34" charset="-120"/>
              </a:rPr>
              <a:t>(0x0800=IPv4, 0x0806=ARP...)</a:t>
            </a:r>
            <a:endParaRPr lang="en-US" sz="1050" dirty="0"/>
          </a:p>
        </p:txBody>
      </p:sp>
      <p:sp>
        <p:nvSpPr>
          <p:cNvPr id="28" name="Shape 26"/>
          <p:cNvSpPr/>
          <p:nvPr/>
        </p:nvSpPr>
        <p:spPr>
          <a:xfrm>
            <a:off x="5760720" y="2798064"/>
            <a:ext cx="3063240" cy="420624"/>
          </a:xfrm>
          <a:prstGeom prst="rect">
            <a:avLst/>
          </a:prstGeom>
          <a:solidFill>
            <a:srgbClr val="3A4550"/>
          </a:solidFill>
          <a:ln w="6350">
            <a:solidFill>
              <a:srgbClr val="B9DEF8"/>
            </a:solidFill>
            <a:prstDash val="solid"/>
          </a:ln>
        </p:spPr>
        <p:txBody>
          <a:bodyPr/>
          <a:lstStyle/>
          <a:p>
            <a:endParaRPr lang="en-US"/>
          </a:p>
        </p:txBody>
      </p:sp>
      <p:sp>
        <p:nvSpPr>
          <p:cNvPr id="29" name="Text 27"/>
          <p:cNvSpPr/>
          <p:nvPr/>
        </p:nvSpPr>
        <p:spPr>
          <a:xfrm>
            <a:off x="5824728" y="2798064"/>
            <a:ext cx="2953512" cy="420624"/>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Length: longitud del campo datos</a:t>
            </a:r>
            <a:endParaRPr lang="en-US" sz="1050" dirty="0"/>
          </a:p>
          <a:p>
            <a:pPr marL="0" indent="0">
              <a:buNone/>
            </a:pPr>
            <a:r>
              <a:rPr lang="en-US" sz="1050" dirty="0">
                <a:solidFill>
                  <a:srgbClr val="FFFFFF"/>
                </a:solidFill>
                <a:latin typeface="Arial" pitchFamily="34" charset="0"/>
                <a:ea typeface="Arial" pitchFamily="34" charset="-122"/>
                <a:cs typeface="Arial" pitchFamily="34" charset="-120"/>
              </a:rPr>
              <a:t>(valor ≤ 1500)</a:t>
            </a:r>
            <a:endParaRPr lang="en-US" sz="1050" dirty="0"/>
          </a:p>
        </p:txBody>
      </p:sp>
      <p:sp>
        <p:nvSpPr>
          <p:cNvPr id="30" name="Shape 28"/>
          <p:cNvSpPr/>
          <p:nvPr/>
        </p:nvSpPr>
        <p:spPr>
          <a:xfrm>
            <a:off x="320040" y="3246120"/>
            <a:ext cx="2377440" cy="420624"/>
          </a:xfrm>
          <a:prstGeom prst="rect">
            <a:avLst/>
          </a:prstGeom>
          <a:solidFill>
            <a:srgbClr val="323E48"/>
          </a:solidFill>
          <a:ln w="6350">
            <a:solidFill>
              <a:srgbClr val="B9DEF8"/>
            </a:solidFill>
            <a:prstDash val="solid"/>
          </a:ln>
        </p:spPr>
        <p:txBody>
          <a:bodyPr/>
          <a:lstStyle/>
          <a:p>
            <a:endParaRPr lang="en-US"/>
          </a:p>
        </p:txBody>
      </p:sp>
      <p:sp>
        <p:nvSpPr>
          <p:cNvPr id="31" name="Text 29"/>
          <p:cNvSpPr/>
          <p:nvPr/>
        </p:nvSpPr>
        <p:spPr>
          <a:xfrm>
            <a:off x="384048" y="3246120"/>
            <a:ext cx="2267712" cy="420624"/>
          </a:xfrm>
          <a:prstGeom prst="rect">
            <a:avLst/>
          </a:prstGeom>
          <a:noFill/>
          <a:ln/>
        </p:spPr>
        <p:txBody>
          <a:bodyPr wrap="square" rtlCol="0" anchor="ctr"/>
          <a:lstStyle/>
          <a:p>
            <a:pPr marL="0" indent="0">
              <a:buNone/>
            </a:pPr>
            <a:r>
              <a:rPr lang="en-US" sz="1050" b="1" dirty="0">
                <a:solidFill>
                  <a:srgbClr val="B9DEF8"/>
                </a:solidFill>
                <a:latin typeface="Arial" pitchFamily="34" charset="0"/>
                <a:ea typeface="Arial" pitchFamily="34" charset="-122"/>
                <a:cs typeface="Arial" pitchFamily="34" charset="-120"/>
              </a:rPr>
              <a:t>¿Cómo identificar?</a:t>
            </a:r>
            <a:endParaRPr lang="en-US" sz="1050" dirty="0"/>
          </a:p>
        </p:txBody>
      </p:sp>
      <p:sp>
        <p:nvSpPr>
          <p:cNvPr id="32" name="Shape 30"/>
          <p:cNvSpPr/>
          <p:nvPr/>
        </p:nvSpPr>
        <p:spPr>
          <a:xfrm>
            <a:off x="2697480" y="3246120"/>
            <a:ext cx="3063240" cy="420624"/>
          </a:xfrm>
          <a:prstGeom prst="rect">
            <a:avLst/>
          </a:prstGeom>
          <a:solidFill>
            <a:srgbClr val="323E48"/>
          </a:solidFill>
          <a:ln w="6350">
            <a:solidFill>
              <a:srgbClr val="B9DEF8"/>
            </a:solidFill>
            <a:prstDash val="solid"/>
          </a:ln>
        </p:spPr>
        <p:txBody>
          <a:bodyPr/>
          <a:lstStyle/>
          <a:p>
            <a:endParaRPr lang="en-US"/>
          </a:p>
        </p:txBody>
      </p:sp>
      <p:sp>
        <p:nvSpPr>
          <p:cNvPr id="33" name="Text 31"/>
          <p:cNvSpPr/>
          <p:nvPr/>
        </p:nvSpPr>
        <p:spPr>
          <a:xfrm>
            <a:off x="2761488" y="3246120"/>
            <a:ext cx="2953512" cy="420624"/>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Si valor bytes 13-14 ≥ 0x0600 (1536)</a:t>
            </a:r>
            <a:endParaRPr lang="en-US" sz="1050" dirty="0"/>
          </a:p>
        </p:txBody>
      </p:sp>
      <p:sp>
        <p:nvSpPr>
          <p:cNvPr id="34" name="Shape 32"/>
          <p:cNvSpPr/>
          <p:nvPr/>
        </p:nvSpPr>
        <p:spPr>
          <a:xfrm>
            <a:off x="5760720" y="3246120"/>
            <a:ext cx="3063240" cy="420624"/>
          </a:xfrm>
          <a:prstGeom prst="rect">
            <a:avLst/>
          </a:prstGeom>
          <a:solidFill>
            <a:srgbClr val="323E48"/>
          </a:solidFill>
          <a:ln w="6350">
            <a:solidFill>
              <a:srgbClr val="B9DEF8"/>
            </a:solidFill>
            <a:prstDash val="solid"/>
          </a:ln>
        </p:spPr>
        <p:txBody>
          <a:bodyPr/>
          <a:lstStyle/>
          <a:p>
            <a:endParaRPr lang="en-US"/>
          </a:p>
        </p:txBody>
      </p:sp>
      <p:sp>
        <p:nvSpPr>
          <p:cNvPr id="35" name="Text 33"/>
          <p:cNvSpPr/>
          <p:nvPr/>
        </p:nvSpPr>
        <p:spPr>
          <a:xfrm>
            <a:off x="5824728" y="3246120"/>
            <a:ext cx="2953512" cy="420624"/>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Si valor bytes 13-14 ≤ 1500</a:t>
            </a:r>
            <a:endParaRPr lang="en-US" sz="1050" dirty="0"/>
          </a:p>
        </p:txBody>
      </p:sp>
      <p:sp>
        <p:nvSpPr>
          <p:cNvPr id="42" name="Shape 40"/>
          <p:cNvSpPr/>
          <p:nvPr/>
        </p:nvSpPr>
        <p:spPr>
          <a:xfrm>
            <a:off x="320040" y="3680954"/>
            <a:ext cx="2377440" cy="420624"/>
          </a:xfrm>
          <a:prstGeom prst="rect">
            <a:avLst/>
          </a:prstGeom>
          <a:solidFill>
            <a:srgbClr val="323E48"/>
          </a:solidFill>
          <a:ln w="6350">
            <a:solidFill>
              <a:srgbClr val="B9DEF8"/>
            </a:solidFill>
            <a:prstDash val="solid"/>
          </a:ln>
        </p:spPr>
        <p:txBody>
          <a:bodyPr/>
          <a:lstStyle/>
          <a:p>
            <a:endParaRPr lang="en-US"/>
          </a:p>
        </p:txBody>
      </p:sp>
      <p:sp>
        <p:nvSpPr>
          <p:cNvPr id="43" name="Text 41"/>
          <p:cNvSpPr/>
          <p:nvPr/>
        </p:nvSpPr>
        <p:spPr>
          <a:xfrm>
            <a:off x="384048" y="3680954"/>
            <a:ext cx="2267712" cy="420624"/>
          </a:xfrm>
          <a:prstGeom prst="rect">
            <a:avLst/>
          </a:prstGeom>
          <a:noFill/>
          <a:ln/>
        </p:spPr>
        <p:txBody>
          <a:bodyPr wrap="square" rtlCol="0" anchor="ctr"/>
          <a:lstStyle/>
          <a:p>
            <a:pPr marL="0" indent="0">
              <a:buNone/>
            </a:pPr>
            <a:r>
              <a:rPr lang="en-US" sz="1050" b="1" dirty="0">
                <a:solidFill>
                  <a:srgbClr val="B9DEF8"/>
                </a:solidFill>
                <a:latin typeface="Arial" pitchFamily="34" charset="0"/>
                <a:ea typeface="Arial" pitchFamily="34" charset="-122"/>
                <a:cs typeface="Arial" pitchFamily="34" charset="-120"/>
              </a:rPr>
              <a:t>Uso real</a:t>
            </a:r>
            <a:endParaRPr lang="en-US" sz="1050" dirty="0"/>
          </a:p>
        </p:txBody>
      </p:sp>
      <p:sp>
        <p:nvSpPr>
          <p:cNvPr id="44" name="Shape 42"/>
          <p:cNvSpPr/>
          <p:nvPr/>
        </p:nvSpPr>
        <p:spPr>
          <a:xfrm>
            <a:off x="2697480" y="3680954"/>
            <a:ext cx="3063240" cy="420624"/>
          </a:xfrm>
          <a:prstGeom prst="rect">
            <a:avLst/>
          </a:prstGeom>
          <a:solidFill>
            <a:srgbClr val="323E48"/>
          </a:solidFill>
          <a:ln w="6350">
            <a:solidFill>
              <a:srgbClr val="B9DEF8"/>
            </a:solidFill>
            <a:prstDash val="solid"/>
          </a:ln>
        </p:spPr>
        <p:txBody>
          <a:bodyPr/>
          <a:lstStyle/>
          <a:p>
            <a:endParaRPr lang="en-US"/>
          </a:p>
        </p:txBody>
      </p:sp>
      <p:sp>
        <p:nvSpPr>
          <p:cNvPr id="45" name="Text 43"/>
          <p:cNvSpPr/>
          <p:nvPr/>
        </p:nvSpPr>
        <p:spPr>
          <a:xfrm>
            <a:off x="2761488" y="3680954"/>
            <a:ext cx="2953512" cy="420624"/>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Dominante: todo el tráfico IP/ARP/IPv6</a:t>
            </a:r>
            <a:endParaRPr lang="en-US" sz="1050" dirty="0"/>
          </a:p>
        </p:txBody>
      </p:sp>
      <p:sp>
        <p:nvSpPr>
          <p:cNvPr id="46" name="Shape 44"/>
          <p:cNvSpPr/>
          <p:nvPr/>
        </p:nvSpPr>
        <p:spPr>
          <a:xfrm>
            <a:off x="5760720" y="3680954"/>
            <a:ext cx="3063240" cy="420624"/>
          </a:xfrm>
          <a:prstGeom prst="rect">
            <a:avLst/>
          </a:prstGeom>
          <a:solidFill>
            <a:srgbClr val="323E48"/>
          </a:solidFill>
          <a:ln w="6350">
            <a:solidFill>
              <a:srgbClr val="B9DEF8"/>
            </a:solidFill>
            <a:prstDash val="solid"/>
          </a:ln>
        </p:spPr>
        <p:txBody>
          <a:bodyPr/>
          <a:lstStyle/>
          <a:p>
            <a:endParaRPr lang="en-US"/>
          </a:p>
        </p:txBody>
      </p:sp>
      <p:sp>
        <p:nvSpPr>
          <p:cNvPr id="47" name="Text 45"/>
          <p:cNvSpPr/>
          <p:nvPr/>
        </p:nvSpPr>
        <p:spPr>
          <a:xfrm>
            <a:off x="5824728" y="3680954"/>
            <a:ext cx="2953512" cy="420624"/>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Protocolos de red: STP, CDP, VTP</a:t>
            </a:r>
            <a:endParaRPr lang="en-US" sz="1050" dirty="0"/>
          </a:p>
        </p:txBody>
      </p:sp>
      <p:sp>
        <p:nvSpPr>
          <p:cNvPr id="48" name="Shape 46"/>
          <p:cNvSpPr/>
          <p:nvPr/>
        </p:nvSpPr>
        <p:spPr>
          <a:xfrm>
            <a:off x="320040" y="4129010"/>
            <a:ext cx="2377440" cy="420624"/>
          </a:xfrm>
          <a:prstGeom prst="rect">
            <a:avLst/>
          </a:prstGeom>
          <a:solidFill>
            <a:srgbClr val="3A4550"/>
          </a:solidFill>
          <a:ln w="6350">
            <a:solidFill>
              <a:srgbClr val="B9DEF8"/>
            </a:solidFill>
            <a:prstDash val="solid"/>
          </a:ln>
        </p:spPr>
        <p:txBody>
          <a:bodyPr/>
          <a:lstStyle/>
          <a:p>
            <a:endParaRPr lang="en-US"/>
          </a:p>
        </p:txBody>
      </p:sp>
      <p:sp>
        <p:nvSpPr>
          <p:cNvPr id="49" name="Text 47"/>
          <p:cNvSpPr/>
          <p:nvPr/>
        </p:nvSpPr>
        <p:spPr>
          <a:xfrm>
            <a:off x="384048" y="4129010"/>
            <a:ext cx="2267712" cy="420624"/>
          </a:xfrm>
          <a:prstGeom prst="rect">
            <a:avLst/>
          </a:prstGeom>
          <a:noFill/>
          <a:ln/>
        </p:spPr>
        <p:txBody>
          <a:bodyPr wrap="square" rtlCol="0" anchor="ctr"/>
          <a:lstStyle/>
          <a:p>
            <a:pPr marL="0" indent="0">
              <a:buNone/>
            </a:pPr>
            <a:r>
              <a:rPr lang="en-US" sz="1050" b="1" dirty="0">
                <a:solidFill>
                  <a:srgbClr val="B9DEF8"/>
                </a:solidFill>
                <a:latin typeface="Arial" pitchFamily="34" charset="0"/>
                <a:ea typeface="Arial" pitchFamily="34" charset="-122"/>
                <a:cs typeface="Arial" pitchFamily="34" charset="-120"/>
              </a:rPr>
              <a:t>¿Son incompatibles?</a:t>
            </a:r>
            <a:endParaRPr lang="en-US" sz="1050" dirty="0"/>
          </a:p>
        </p:txBody>
      </p:sp>
      <p:sp>
        <p:nvSpPr>
          <p:cNvPr id="50" name="Shape 48"/>
          <p:cNvSpPr/>
          <p:nvPr/>
        </p:nvSpPr>
        <p:spPr>
          <a:xfrm>
            <a:off x="2697480" y="4129010"/>
            <a:ext cx="3063240" cy="420624"/>
          </a:xfrm>
          <a:prstGeom prst="rect">
            <a:avLst/>
          </a:prstGeom>
          <a:solidFill>
            <a:srgbClr val="3A4550"/>
          </a:solidFill>
          <a:ln w="6350">
            <a:solidFill>
              <a:srgbClr val="B9DEF8"/>
            </a:solidFill>
            <a:prstDash val="solid"/>
          </a:ln>
        </p:spPr>
        <p:txBody>
          <a:bodyPr/>
          <a:lstStyle/>
          <a:p>
            <a:endParaRPr lang="en-US"/>
          </a:p>
        </p:txBody>
      </p:sp>
      <p:sp>
        <p:nvSpPr>
          <p:cNvPr id="51" name="Text 49"/>
          <p:cNvSpPr/>
          <p:nvPr/>
        </p:nvSpPr>
        <p:spPr>
          <a:xfrm>
            <a:off x="2761488" y="4129010"/>
            <a:ext cx="2953512" cy="420624"/>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Los </a:t>
            </a:r>
            <a:r>
              <a:rPr lang="en-US" sz="1050" dirty="0" err="1">
                <a:solidFill>
                  <a:srgbClr val="FFFFFF"/>
                </a:solidFill>
                <a:latin typeface="Arial" pitchFamily="34" charset="0"/>
                <a:ea typeface="Arial" pitchFamily="34" charset="-122"/>
                <a:cs typeface="Arial" pitchFamily="34" charset="-120"/>
              </a:rPr>
              <a:t>equipos</a:t>
            </a:r>
            <a:r>
              <a:rPr lang="en-US" sz="1050" dirty="0">
                <a:solidFill>
                  <a:srgbClr val="FFFFFF"/>
                </a:solidFill>
                <a:latin typeface="Arial" pitchFamily="34" charset="0"/>
                <a:ea typeface="Arial" pitchFamily="34" charset="-122"/>
                <a:cs typeface="Arial" pitchFamily="34" charset="-120"/>
              </a:rPr>
              <a:t> </a:t>
            </a:r>
            <a:r>
              <a:rPr lang="en-US" sz="1050" dirty="0" err="1">
                <a:solidFill>
                  <a:srgbClr val="FFFFFF"/>
                </a:solidFill>
                <a:latin typeface="Arial" pitchFamily="34" charset="0"/>
                <a:ea typeface="Arial" pitchFamily="34" charset="-122"/>
                <a:cs typeface="Arial" pitchFamily="34" charset="-120"/>
              </a:rPr>
              <a:t>manejan</a:t>
            </a:r>
            <a:r>
              <a:rPr lang="en-US" sz="1050" dirty="0">
                <a:solidFill>
                  <a:srgbClr val="FFFFFF"/>
                </a:solidFill>
                <a:latin typeface="Arial" pitchFamily="34" charset="0"/>
                <a:ea typeface="Arial" pitchFamily="34" charset="-122"/>
                <a:cs typeface="Arial" pitchFamily="34" charset="-120"/>
              </a:rPr>
              <a:t> ambos automáticamente.</a:t>
            </a:r>
            <a:endParaRPr lang="en-US" sz="1050" dirty="0"/>
          </a:p>
        </p:txBody>
      </p:sp>
      <p:sp>
        <p:nvSpPr>
          <p:cNvPr id="52" name="Shape 50"/>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53" name="Text 51"/>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Truco para el examen: bytes 13-14 ≥ 1536 = Ethernet II. Bytes 13-14 ≤ 1500 = IEEE 802.3. Es el único dato para diferenciarlos.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164592"/>
            <a:ext cx="8229600" cy="749808"/>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4" name="Text 2"/>
          <p:cNvSpPr/>
          <p:nvPr/>
        </p:nvSpPr>
        <p:spPr>
          <a:xfrm>
            <a:off x="566928" y="164592"/>
            <a:ext cx="8010144" cy="749808"/>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FCS y el Campo Type — Detalles Clave</a:t>
            </a:r>
            <a:endParaRPr lang="en-US" sz="2500" dirty="0"/>
          </a:p>
        </p:txBody>
      </p:sp>
      <p:sp>
        <p:nvSpPr>
          <p:cNvPr id="5" name="Text 3"/>
          <p:cNvSpPr/>
          <p:nvPr/>
        </p:nvSpPr>
        <p:spPr>
          <a:xfrm>
            <a:off x="566928" y="987552"/>
            <a:ext cx="8010144" cy="347472"/>
          </a:xfrm>
          <a:prstGeom prst="rect">
            <a:avLst/>
          </a:prstGeom>
          <a:noFill/>
          <a:ln/>
        </p:spPr>
        <p:txBody>
          <a:bodyPr wrap="square" rtlCol="0" anchor="ctr"/>
          <a:lstStyle/>
          <a:p>
            <a:pPr marL="0" indent="0">
              <a:buNone/>
            </a:pPr>
            <a:r>
              <a:rPr lang="en-US" sz="1200" i="1" dirty="0">
                <a:solidFill>
                  <a:srgbClr val="B9DEF8"/>
                </a:solidFill>
                <a:latin typeface="Arial" pitchFamily="34" charset="0"/>
                <a:ea typeface="Arial" pitchFamily="34" charset="-122"/>
                <a:cs typeface="Arial" pitchFamily="34" charset="-120"/>
              </a:rPr>
              <a:t>Detección de errores y multi-protocolo: las dos grandes fortalezas de Ethernet</a:t>
            </a:r>
            <a:endParaRPr lang="en-US" sz="1200" dirty="0"/>
          </a:p>
        </p:txBody>
      </p:sp>
      <p:sp>
        <p:nvSpPr>
          <p:cNvPr id="6" name="Shape 4"/>
          <p:cNvSpPr/>
          <p:nvPr/>
        </p:nvSpPr>
        <p:spPr>
          <a:xfrm>
            <a:off x="283464" y="1438057"/>
            <a:ext cx="4114800" cy="3337560"/>
          </a:xfrm>
          <a:prstGeom prst="rect">
            <a:avLst/>
          </a:prstGeom>
          <a:solidFill>
            <a:srgbClr val="E8F4FC"/>
          </a:solidFill>
          <a:ln w="12700">
            <a:solidFill>
              <a:srgbClr val="6A1B9A"/>
            </a:solidFill>
            <a:prstDash val="solid"/>
          </a:ln>
          <a:effectLst>
            <a:outerShdw blurRad="101600" dist="38100" dir="8100000" algn="bl" rotWithShape="0">
              <a:srgbClr val="000000">
                <a:alpha val="15000"/>
              </a:srgbClr>
            </a:outerShdw>
          </a:effectLst>
        </p:spPr>
        <p:txBody>
          <a:bodyPr/>
          <a:lstStyle/>
          <a:p>
            <a:endParaRPr lang="en-US"/>
          </a:p>
        </p:txBody>
      </p:sp>
      <p:sp>
        <p:nvSpPr>
          <p:cNvPr id="7" name="Shape 5"/>
          <p:cNvSpPr/>
          <p:nvPr/>
        </p:nvSpPr>
        <p:spPr>
          <a:xfrm>
            <a:off x="295548" y="1417320"/>
            <a:ext cx="4114800" cy="411480"/>
          </a:xfrm>
          <a:prstGeom prst="rect">
            <a:avLst/>
          </a:prstGeom>
          <a:solidFill>
            <a:srgbClr val="6A1B9A"/>
          </a:solidFill>
          <a:ln w="12700">
            <a:solidFill>
              <a:srgbClr val="6A1B9A"/>
            </a:solidFill>
            <a:prstDash val="solid"/>
          </a:ln>
        </p:spPr>
        <p:txBody>
          <a:bodyPr/>
          <a:lstStyle/>
          <a:p>
            <a:endParaRPr lang="en-US"/>
          </a:p>
        </p:txBody>
      </p:sp>
      <p:sp>
        <p:nvSpPr>
          <p:cNvPr id="8" name="Text 6"/>
          <p:cNvSpPr/>
          <p:nvPr/>
        </p:nvSpPr>
        <p:spPr>
          <a:xfrm>
            <a:off x="402336" y="1417320"/>
            <a:ext cx="3950208"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  FCS — Frame Check Sequence</a:t>
            </a:r>
            <a:endParaRPr lang="en-US" sz="1300" dirty="0"/>
          </a:p>
        </p:txBody>
      </p:sp>
      <p:sp>
        <p:nvSpPr>
          <p:cNvPr id="9" name="Shape 7"/>
          <p:cNvSpPr/>
          <p:nvPr/>
        </p:nvSpPr>
        <p:spPr>
          <a:xfrm>
            <a:off x="438912" y="1938528"/>
            <a:ext cx="109728" cy="109728"/>
          </a:xfrm>
          <a:prstGeom prst="ellipse">
            <a:avLst/>
          </a:prstGeom>
          <a:solidFill>
            <a:srgbClr val="6A1B9A"/>
          </a:solidFill>
          <a:ln w="12700">
            <a:solidFill>
              <a:srgbClr val="6A1B9A"/>
            </a:solidFill>
            <a:prstDash val="solid"/>
          </a:ln>
        </p:spPr>
        <p:txBody>
          <a:bodyPr/>
          <a:lstStyle/>
          <a:p>
            <a:endParaRPr lang="en-US"/>
          </a:p>
        </p:txBody>
      </p:sp>
      <p:sp>
        <p:nvSpPr>
          <p:cNvPr id="10" name="Text 8"/>
          <p:cNvSpPr/>
          <p:nvPr/>
        </p:nvSpPr>
        <p:spPr>
          <a:xfrm>
            <a:off x="603504" y="1911096"/>
            <a:ext cx="3749040" cy="420624"/>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4 bytes = CRC-32 (Cyclic Redundancy Check de 32 bits).</a:t>
            </a:r>
            <a:endParaRPr lang="en-US" sz="1100" dirty="0"/>
          </a:p>
        </p:txBody>
      </p:sp>
      <p:sp>
        <p:nvSpPr>
          <p:cNvPr id="11" name="Shape 9"/>
          <p:cNvSpPr/>
          <p:nvPr/>
        </p:nvSpPr>
        <p:spPr>
          <a:xfrm>
            <a:off x="438912" y="2414016"/>
            <a:ext cx="109728" cy="109728"/>
          </a:xfrm>
          <a:prstGeom prst="ellipse">
            <a:avLst/>
          </a:prstGeom>
          <a:solidFill>
            <a:srgbClr val="6A1B9A"/>
          </a:solidFill>
          <a:ln w="12700">
            <a:solidFill>
              <a:srgbClr val="6A1B9A"/>
            </a:solidFill>
            <a:prstDash val="solid"/>
          </a:ln>
        </p:spPr>
        <p:txBody>
          <a:bodyPr/>
          <a:lstStyle/>
          <a:p>
            <a:endParaRPr lang="en-US"/>
          </a:p>
        </p:txBody>
      </p:sp>
      <p:sp>
        <p:nvSpPr>
          <p:cNvPr id="12" name="Text 10"/>
          <p:cNvSpPr/>
          <p:nvPr/>
        </p:nvSpPr>
        <p:spPr>
          <a:xfrm>
            <a:off x="603504" y="2386584"/>
            <a:ext cx="3749040" cy="420624"/>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El emisor calcula el CRC sobre toda la trama (excepto preámbulo) y lo coloca al final.</a:t>
            </a:r>
            <a:endParaRPr lang="en-US" sz="1100" dirty="0"/>
          </a:p>
        </p:txBody>
      </p:sp>
      <p:sp>
        <p:nvSpPr>
          <p:cNvPr id="13" name="Shape 11"/>
          <p:cNvSpPr/>
          <p:nvPr/>
        </p:nvSpPr>
        <p:spPr>
          <a:xfrm>
            <a:off x="438912" y="2889504"/>
            <a:ext cx="109728" cy="109728"/>
          </a:xfrm>
          <a:prstGeom prst="ellipse">
            <a:avLst/>
          </a:prstGeom>
          <a:solidFill>
            <a:srgbClr val="6A1B9A"/>
          </a:solidFill>
          <a:ln w="12700">
            <a:solidFill>
              <a:srgbClr val="6A1B9A"/>
            </a:solidFill>
            <a:prstDash val="solid"/>
          </a:ln>
        </p:spPr>
        <p:txBody>
          <a:bodyPr/>
          <a:lstStyle/>
          <a:p>
            <a:endParaRPr lang="en-US"/>
          </a:p>
        </p:txBody>
      </p:sp>
      <p:sp>
        <p:nvSpPr>
          <p:cNvPr id="14" name="Text 12"/>
          <p:cNvSpPr/>
          <p:nvPr/>
        </p:nvSpPr>
        <p:spPr>
          <a:xfrm>
            <a:off x="603504" y="2862072"/>
            <a:ext cx="3749040" cy="420624"/>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El receptor recalcula el CRC y lo compara con el FCS recibido.</a:t>
            </a:r>
            <a:endParaRPr lang="en-US" sz="1100" dirty="0"/>
          </a:p>
        </p:txBody>
      </p:sp>
      <p:sp>
        <p:nvSpPr>
          <p:cNvPr id="15" name="Shape 13"/>
          <p:cNvSpPr/>
          <p:nvPr/>
        </p:nvSpPr>
        <p:spPr>
          <a:xfrm>
            <a:off x="438912" y="3364992"/>
            <a:ext cx="109728" cy="109728"/>
          </a:xfrm>
          <a:prstGeom prst="ellipse">
            <a:avLst/>
          </a:prstGeom>
          <a:solidFill>
            <a:srgbClr val="6A1B9A"/>
          </a:solidFill>
          <a:ln w="12700">
            <a:solidFill>
              <a:srgbClr val="6A1B9A"/>
            </a:solidFill>
            <a:prstDash val="solid"/>
          </a:ln>
        </p:spPr>
        <p:txBody>
          <a:bodyPr/>
          <a:lstStyle/>
          <a:p>
            <a:endParaRPr lang="en-US"/>
          </a:p>
        </p:txBody>
      </p:sp>
      <p:sp>
        <p:nvSpPr>
          <p:cNvPr id="16" name="Text 14"/>
          <p:cNvSpPr/>
          <p:nvPr/>
        </p:nvSpPr>
        <p:spPr>
          <a:xfrm>
            <a:off x="603504" y="3337560"/>
            <a:ext cx="3749040" cy="420624"/>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Si NO coinciden → trama DESCARTADA silenciosamente.</a:t>
            </a:r>
            <a:endParaRPr lang="en-US" sz="1100" dirty="0"/>
          </a:p>
        </p:txBody>
      </p:sp>
      <p:sp>
        <p:nvSpPr>
          <p:cNvPr id="17" name="Shape 15"/>
          <p:cNvSpPr/>
          <p:nvPr/>
        </p:nvSpPr>
        <p:spPr>
          <a:xfrm>
            <a:off x="438912" y="3840480"/>
            <a:ext cx="109728" cy="109728"/>
          </a:xfrm>
          <a:prstGeom prst="ellipse">
            <a:avLst/>
          </a:prstGeom>
          <a:solidFill>
            <a:srgbClr val="6A1B9A"/>
          </a:solidFill>
          <a:ln w="12700">
            <a:solidFill>
              <a:srgbClr val="6A1B9A"/>
            </a:solidFill>
            <a:prstDash val="solid"/>
          </a:ln>
        </p:spPr>
        <p:txBody>
          <a:bodyPr/>
          <a:lstStyle/>
          <a:p>
            <a:endParaRPr lang="en-US"/>
          </a:p>
        </p:txBody>
      </p:sp>
      <p:sp>
        <p:nvSpPr>
          <p:cNvPr id="18" name="Text 16"/>
          <p:cNvSpPr/>
          <p:nvPr/>
        </p:nvSpPr>
        <p:spPr>
          <a:xfrm>
            <a:off x="603504" y="3813048"/>
            <a:ext cx="3749040" cy="420624"/>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Ethernet NO pide retransmisión: eso lo hace TCP en capa 4.</a:t>
            </a:r>
            <a:endParaRPr lang="en-US" sz="1100" dirty="0"/>
          </a:p>
        </p:txBody>
      </p:sp>
      <p:sp>
        <p:nvSpPr>
          <p:cNvPr id="19" name="Shape 17"/>
          <p:cNvSpPr/>
          <p:nvPr/>
        </p:nvSpPr>
        <p:spPr>
          <a:xfrm>
            <a:off x="438912" y="4315968"/>
            <a:ext cx="109728" cy="109728"/>
          </a:xfrm>
          <a:prstGeom prst="ellipse">
            <a:avLst/>
          </a:prstGeom>
          <a:solidFill>
            <a:srgbClr val="6A1B9A"/>
          </a:solidFill>
          <a:ln w="12700">
            <a:solidFill>
              <a:srgbClr val="6A1B9A"/>
            </a:solidFill>
            <a:prstDash val="solid"/>
          </a:ln>
        </p:spPr>
        <p:txBody>
          <a:bodyPr/>
          <a:lstStyle/>
          <a:p>
            <a:endParaRPr lang="en-US"/>
          </a:p>
        </p:txBody>
      </p:sp>
      <p:sp>
        <p:nvSpPr>
          <p:cNvPr id="20" name="Text 18"/>
          <p:cNvSpPr/>
          <p:nvPr/>
        </p:nvSpPr>
        <p:spPr>
          <a:xfrm>
            <a:off x="603504" y="4288536"/>
            <a:ext cx="3749040" cy="420624"/>
          </a:xfrm>
          <a:prstGeom prst="rect">
            <a:avLst/>
          </a:prstGeom>
          <a:noFill/>
          <a:ln/>
        </p:spPr>
        <p:txBody>
          <a:bodyPr wrap="square" rtlCol="0" anchor="ctr"/>
          <a:lstStyle/>
          <a:p>
            <a:pPr marL="0" indent="0">
              <a:buNone/>
            </a:pPr>
            <a:r>
              <a:rPr lang="en-US" sz="1100" dirty="0">
                <a:solidFill>
                  <a:srgbClr val="404040"/>
                </a:solidFill>
                <a:latin typeface="Arial" pitchFamily="34" charset="0"/>
                <a:ea typeface="Arial" pitchFamily="34" charset="-122"/>
                <a:cs typeface="Arial" pitchFamily="34" charset="-120"/>
              </a:rPr>
              <a:t>Detecta prácticamente el 100% de </a:t>
            </a:r>
            <a:r>
              <a:rPr lang="en-US" sz="1100" dirty="0" err="1">
                <a:solidFill>
                  <a:srgbClr val="404040"/>
                </a:solidFill>
                <a:latin typeface="Arial" pitchFamily="34" charset="0"/>
                <a:ea typeface="Arial" pitchFamily="34" charset="-122"/>
                <a:cs typeface="Arial" pitchFamily="34" charset="-120"/>
              </a:rPr>
              <a:t>errores</a:t>
            </a:r>
            <a:endParaRPr lang="en-US" sz="1100" dirty="0"/>
          </a:p>
        </p:txBody>
      </p:sp>
      <p:sp>
        <p:nvSpPr>
          <p:cNvPr id="21" name="Shape 19"/>
          <p:cNvSpPr/>
          <p:nvPr/>
        </p:nvSpPr>
        <p:spPr>
          <a:xfrm>
            <a:off x="4617720" y="1417320"/>
            <a:ext cx="4206240" cy="3337560"/>
          </a:xfrm>
          <a:prstGeom prst="rect">
            <a:avLst/>
          </a:prstGeom>
          <a:solidFill>
            <a:srgbClr val="E8F4FC"/>
          </a:solidFill>
          <a:ln w="12700">
            <a:solidFill>
              <a:srgbClr val="00695C"/>
            </a:solidFill>
            <a:prstDash val="solid"/>
          </a:ln>
          <a:effectLst>
            <a:outerShdw blurRad="101600" dist="38100" dir="8100000" algn="bl" rotWithShape="0">
              <a:srgbClr val="000000">
                <a:alpha val="15000"/>
              </a:srgbClr>
            </a:outerShdw>
          </a:effectLst>
        </p:spPr>
        <p:txBody>
          <a:bodyPr/>
          <a:lstStyle/>
          <a:p>
            <a:endParaRPr lang="en-US"/>
          </a:p>
        </p:txBody>
      </p:sp>
      <p:sp>
        <p:nvSpPr>
          <p:cNvPr id="22" name="Shape 20"/>
          <p:cNvSpPr/>
          <p:nvPr/>
        </p:nvSpPr>
        <p:spPr>
          <a:xfrm>
            <a:off x="4617720" y="1417320"/>
            <a:ext cx="4206240" cy="411480"/>
          </a:xfrm>
          <a:prstGeom prst="rect">
            <a:avLst/>
          </a:prstGeom>
          <a:solidFill>
            <a:srgbClr val="00695C"/>
          </a:solidFill>
          <a:ln w="12700">
            <a:solidFill>
              <a:srgbClr val="00695C"/>
            </a:solidFill>
            <a:prstDash val="solid"/>
          </a:ln>
        </p:spPr>
        <p:txBody>
          <a:bodyPr/>
          <a:lstStyle/>
          <a:p>
            <a:endParaRPr lang="en-US"/>
          </a:p>
        </p:txBody>
      </p:sp>
      <p:sp>
        <p:nvSpPr>
          <p:cNvPr id="23" name="Text 21"/>
          <p:cNvSpPr/>
          <p:nvPr/>
        </p:nvSpPr>
        <p:spPr>
          <a:xfrm>
            <a:off x="4700016" y="1417320"/>
            <a:ext cx="4041648"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  Type — La versatilidad de Ethernet</a:t>
            </a:r>
            <a:endParaRPr lang="en-US" sz="1300" dirty="0"/>
          </a:p>
        </p:txBody>
      </p:sp>
      <p:sp>
        <p:nvSpPr>
          <p:cNvPr id="24" name="Shape 22"/>
          <p:cNvSpPr/>
          <p:nvPr/>
        </p:nvSpPr>
        <p:spPr>
          <a:xfrm>
            <a:off x="4709160" y="1938528"/>
            <a:ext cx="1280160" cy="420624"/>
          </a:xfrm>
          <a:prstGeom prst="rect">
            <a:avLst/>
          </a:prstGeom>
          <a:solidFill>
            <a:srgbClr val="00695C"/>
          </a:solidFill>
          <a:ln w="12700">
            <a:solidFill>
              <a:srgbClr val="00695C"/>
            </a:solidFill>
            <a:prstDash val="solid"/>
          </a:ln>
        </p:spPr>
        <p:txBody>
          <a:bodyPr/>
          <a:lstStyle/>
          <a:p>
            <a:endParaRPr lang="en-US"/>
          </a:p>
        </p:txBody>
      </p:sp>
      <p:sp>
        <p:nvSpPr>
          <p:cNvPr id="25" name="Text 23"/>
          <p:cNvSpPr/>
          <p:nvPr/>
        </p:nvSpPr>
        <p:spPr>
          <a:xfrm>
            <a:off x="4736592" y="1938528"/>
            <a:ext cx="1225296" cy="420624"/>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0x0800</a:t>
            </a:r>
            <a:endParaRPr lang="en-US" sz="1200" dirty="0"/>
          </a:p>
        </p:txBody>
      </p:sp>
      <p:sp>
        <p:nvSpPr>
          <p:cNvPr id="26" name="Shape 24"/>
          <p:cNvSpPr/>
          <p:nvPr/>
        </p:nvSpPr>
        <p:spPr>
          <a:xfrm>
            <a:off x="5998464" y="1938528"/>
            <a:ext cx="2743200" cy="420624"/>
          </a:xfrm>
          <a:prstGeom prst="rect">
            <a:avLst/>
          </a:prstGeom>
          <a:solidFill>
            <a:srgbClr val="E8F4FC"/>
          </a:solidFill>
          <a:ln w="6350">
            <a:solidFill>
              <a:srgbClr val="00695C"/>
            </a:solidFill>
            <a:prstDash val="solid"/>
          </a:ln>
        </p:spPr>
        <p:txBody>
          <a:bodyPr/>
          <a:lstStyle/>
          <a:p>
            <a:endParaRPr lang="en-US"/>
          </a:p>
        </p:txBody>
      </p:sp>
      <p:sp>
        <p:nvSpPr>
          <p:cNvPr id="27" name="Text 25"/>
          <p:cNvSpPr/>
          <p:nvPr/>
        </p:nvSpPr>
        <p:spPr>
          <a:xfrm>
            <a:off x="6035040" y="1938528"/>
            <a:ext cx="2670048" cy="420624"/>
          </a:xfrm>
          <a:prstGeom prst="rect">
            <a:avLst/>
          </a:prstGeom>
          <a:noFill/>
          <a:ln/>
        </p:spPr>
        <p:txBody>
          <a:bodyPr wrap="square" rtlCol="0" anchor="ctr"/>
          <a:lstStyle/>
          <a:p>
            <a:pPr marL="0" indent="0">
              <a:buNone/>
            </a:pPr>
            <a:r>
              <a:rPr lang="en-US" sz="1200" dirty="0">
                <a:solidFill>
                  <a:srgbClr val="404040"/>
                </a:solidFill>
                <a:latin typeface="Arial" pitchFamily="34" charset="0"/>
                <a:ea typeface="Arial" pitchFamily="34" charset="-122"/>
                <a:cs typeface="Arial" pitchFamily="34" charset="-120"/>
              </a:rPr>
              <a:t>IPv4</a:t>
            </a:r>
            <a:endParaRPr lang="en-US" sz="1200" dirty="0"/>
          </a:p>
        </p:txBody>
      </p:sp>
      <p:sp>
        <p:nvSpPr>
          <p:cNvPr id="28" name="Shape 26"/>
          <p:cNvSpPr/>
          <p:nvPr/>
        </p:nvSpPr>
        <p:spPr>
          <a:xfrm>
            <a:off x="4709160" y="2414016"/>
            <a:ext cx="1280160" cy="420624"/>
          </a:xfrm>
          <a:prstGeom prst="rect">
            <a:avLst/>
          </a:prstGeom>
          <a:solidFill>
            <a:srgbClr val="00695C"/>
          </a:solidFill>
          <a:ln w="12700">
            <a:solidFill>
              <a:srgbClr val="00695C"/>
            </a:solidFill>
            <a:prstDash val="solid"/>
          </a:ln>
        </p:spPr>
        <p:txBody>
          <a:bodyPr/>
          <a:lstStyle/>
          <a:p>
            <a:endParaRPr lang="en-US"/>
          </a:p>
        </p:txBody>
      </p:sp>
      <p:sp>
        <p:nvSpPr>
          <p:cNvPr id="29" name="Text 27"/>
          <p:cNvSpPr/>
          <p:nvPr/>
        </p:nvSpPr>
        <p:spPr>
          <a:xfrm>
            <a:off x="4736592" y="2414016"/>
            <a:ext cx="1225296" cy="420624"/>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0x0806</a:t>
            </a:r>
            <a:endParaRPr lang="en-US" sz="1200" dirty="0"/>
          </a:p>
        </p:txBody>
      </p:sp>
      <p:sp>
        <p:nvSpPr>
          <p:cNvPr id="30" name="Shape 28"/>
          <p:cNvSpPr/>
          <p:nvPr/>
        </p:nvSpPr>
        <p:spPr>
          <a:xfrm>
            <a:off x="5998464" y="2414016"/>
            <a:ext cx="2743200" cy="420624"/>
          </a:xfrm>
          <a:prstGeom prst="rect">
            <a:avLst/>
          </a:prstGeom>
          <a:solidFill>
            <a:srgbClr val="E8F4FC"/>
          </a:solidFill>
          <a:ln w="6350">
            <a:solidFill>
              <a:srgbClr val="00695C"/>
            </a:solidFill>
            <a:prstDash val="solid"/>
          </a:ln>
        </p:spPr>
        <p:txBody>
          <a:bodyPr/>
          <a:lstStyle/>
          <a:p>
            <a:endParaRPr lang="en-US"/>
          </a:p>
        </p:txBody>
      </p:sp>
      <p:sp>
        <p:nvSpPr>
          <p:cNvPr id="31" name="Text 29"/>
          <p:cNvSpPr/>
          <p:nvPr/>
        </p:nvSpPr>
        <p:spPr>
          <a:xfrm>
            <a:off x="6035040" y="2414016"/>
            <a:ext cx="2670048" cy="420624"/>
          </a:xfrm>
          <a:prstGeom prst="rect">
            <a:avLst/>
          </a:prstGeom>
          <a:noFill/>
          <a:ln/>
        </p:spPr>
        <p:txBody>
          <a:bodyPr wrap="square" rtlCol="0" anchor="ctr"/>
          <a:lstStyle/>
          <a:p>
            <a:pPr marL="0" indent="0">
              <a:buNone/>
            </a:pPr>
            <a:r>
              <a:rPr lang="en-US" sz="1200" dirty="0">
                <a:solidFill>
                  <a:srgbClr val="404040"/>
                </a:solidFill>
                <a:latin typeface="Arial" pitchFamily="34" charset="0"/>
                <a:ea typeface="Arial" pitchFamily="34" charset="-122"/>
                <a:cs typeface="Arial" pitchFamily="34" charset="-120"/>
              </a:rPr>
              <a:t>ARP</a:t>
            </a:r>
            <a:endParaRPr lang="en-US" sz="1200" dirty="0"/>
          </a:p>
        </p:txBody>
      </p:sp>
      <p:sp>
        <p:nvSpPr>
          <p:cNvPr id="32" name="Shape 30"/>
          <p:cNvSpPr/>
          <p:nvPr/>
        </p:nvSpPr>
        <p:spPr>
          <a:xfrm>
            <a:off x="4709160" y="2889504"/>
            <a:ext cx="1280160" cy="420624"/>
          </a:xfrm>
          <a:prstGeom prst="rect">
            <a:avLst/>
          </a:prstGeom>
          <a:solidFill>
            <a:srgbClr val="00695C"/>
          </a:solidFill>
          <a:ln w="12700">
            <a:solidFill>
              <a:srgbClr val="00695C"/>
            </a:solidFill>
            <a:prstDash val="solid"/>
          </a:ln>
        </p:spPr>
        <p:txBody>
          <a:bodyPr/>
          <a:lstStyle/>
          <a:p>
            <a:endParaRPr lang="en-US"/>
          </a:p>
        </p:txBody>
      </p:sp>
      <p:sp>
        <p:nvSpPr>
          <p:cNvPr id="33" name="Text 31"/>
          <p:cNvSpPr/>
          <p:nvPr/>
        </p:nvSpPr>
        <p:spPr>
          <a:xfrm>
            <a:off x="4736592" y="2889504"/>
            <a:ext cx="1225296" cy="420624"/>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0x86DD</a:t>
            </a:r>
            <a:endParaRPr lang="en-US" sz="1200" dirty="0"/>
          </a:p>
        </p:txBody>
      </p:sp>
      <p:sp>
        <p:nvSpPr>
          <p:cNvPr id="34" name="Shape 32"/>
          <p:cNvSpPr/>
          <p:nvPr/>
        </p:nvSpPr>
        <p:spPr>
          <a:xfrm>
            <a:off x="5998464" y="2889504"/>
            <a:ext cx="2743200" cy="420624"/>
          </a:xfrm>
          <a:prstGeom prst="rect">
            <a:avLst/>
          </a:prstGeom>
          <a:solidFill>
            <a:srgbClr val="E8F4FC"/>
          </a:solidFill>
          <a:ln w="6350">
            <a:solidFill>
              <a:srgbClr val="00695C"/>
            </a:solidFill>
            <a:prstDash val="solid"/>
          </a:ln>
        </p:spPr>
        <p:txBody>
          <a:bodyPr/>
          <a:lstStyle/>
          <a:p>
            <a:endParaRPr lang="en-US"/>
          </a:p>
        </p:txBody>
      </p:sp>
      <p:sp>
        <p:nvSpPr>
          <p:cNvPr id="35" name="Text 33"/>
          <p:cNvSpPr/>
          <p:nvPr/>
        </p:nvSpPr>
        <p:spPr>
          <a:xfrm>
            <a:off x="6035040" y="2889504"/>
            <a:ext cx="2670048" cy="420624"/>
          </a:xfrm>
          <a:prstGeom prst="rect">
            <a:avLst/>
          </a:prstGeom>
          <a:noFill/>
          <a:ln/>
        </p:spPr>
        <p:txBody>
          <a:bodyPr wrap="square" rtlCol="0" anchor="ctr"/>
          <a:lstStyle/>
          <a:p>
            <a:pPr marL="0" indent="0">
              <a:buNone/>
            </a:pPr>
            <a:r>
              <a:rPr lang="en-US" sz="1200" dirty="0">
                <a:solidFill>
                  <a:srgbClr val="404040"/>
                </a:solidFill>
                <a:latin typeface="Arial" pitchFamily="34" charset="0"/>
                <a:ea typeface="Arial" pitchFamily="34" charset="-122"/>
                <a:cs typeface="Arial" pitchFamily="34" charset="-120"/>
              </a:rPr>
              <a:t>IPv6</a:t>
            </a:r>
            <a:endParaRPr lang="en-US" sz="1200" dirty="0"/>
          </a:p>
        </p:txBody>
      </p:sp>
      <p:sp>
        <p:nvSpPr>
          <p:cNvPr id="36" name="Shape 34"/>
          <p:cNvSpPr/>
          <p:nvPr/>
        </p:nvSpPr>
        <p:spPr>
          <a:xfrm>
            <a:off x="4709160" y="3364992"/>
            <a:ext cx="1280160" cy="420624"/>
          </a:xfrm>
          <a:prstGeom prst="rect">
            <a:avLst/>
          </a:prstGeom>
          <a:solidFill>
            <a:srgbClr val="00695C"/>
          </a:solidFill>
          <a:ln w="12700">
            <a:solidFill>
              <a:srgbClr val="00695C"/>
            </a:solidFill>
            <a:prstDash val="solid"/>
          </a:ln>
        </p:spPr>
        <p:txBody>
          <a:bodyPr/>
          <a:lstStyle/>
          <a:p>
            <a:endParaRPr lang="en-US"/>
          </a:p>
        </p:txBody>
      </p:sp>
      <p:sp>
        <p:nvSpPr>
          <p:cNvPr id="37" name="Text 35"/>
          <p:cNvSpPr/>
          <p:nvPr/>
        </p:nvSpPr>
        <p:spPr>
          <a:xfrm>
            <a:off x="4736592" y="3364992"/>
            <a:ext cx="1225296" cy="420624"/>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0x8100</a:t>
            </a:r>
            <a:endParaRPr lang="en-US" sz="1200" dirty="0"/>
          </a:p>
        </p:txBody>
      </p:sp>
      <p:sp>
        <p:nvSpPr>
          <p:cNvPr id="38" name="Shape 36"/>
          <p:cNvSpPr/>
          <p:nvPr/>
        </p:nvSpPr>
        <p:spPr>
          <a:xfrm>
            <a:off x="5998464" y="3364992"/>
            <a:ext cx="2743200" cy="420624"/>
          </a:xfrm>
          <a:prstGeom prst="rect">
            <a:avLst/>
          </a:prstGeom>
          <a:solidFill>
            <a:srgbClr val="E8F4FC"/>
          </a:solidFill>
          <a:ln w="6350">
            <a:solidFill>
              <a:srgbClr val="00695C"/>
            </a:solidFill>
            <a:prstDash val="solid"/>
          </a:ln>
        </p:spPr>
        <p:txBody>
          <a:bodyPr/>
          <a:lstStyle/>
          <a:p>
            <a:endParaRPr lang="en-US"/>
          </a:p>
        </p:txBody>
      </p:sp>
      <p:sp>
        <p:nvSpPr>
          <p:cNvPr id="39" name="Text 37"/>
          <p:cNvSpPr/>
          <p:nvPr/>
        </p:nvSpPr>
        <p:spPr>
          <a:xfrm>
            <a:off x="6035040" y="3364992"/>
            <a:ext cx="2670048" cy="420624"/>
          </a:xfrm>
          <a:prstGeom prst="rect">
            <a:avLst/>
          </a:prstGeom>
          <a:noFill/>
          <a:ln/>
        </p:spPr>
        <p:txBody>
          <a:bodyPr wrap="square" rtlCol="0" anchor="ctr"/>
          <a:lstStyle/>
          <a:p>
            <a:pPr marL="0" indent="0">
              <a:buNone/>
            </a:pPr>
            <a:r>
              <a:rPr lang="en-US" sz="1200" dirty="0">
                <a:solidFill>
                  <a:srgbClr val="404040"/>
                </a:solidFill>
                <a:latin typeface="Arial" pitchFamily="34" charset="0"/>
                <a:ea typeface="Arial" pitchFamily="34" charset="-122"/>
                <a:cs typeface="Arial" pitchFamily="34" charset="-120"/>
              </a:rPr>
              <a:t>VLAN (802.1Q)</a:t>
            </a:r>
            <a:endParaRPr lang="en-US" sz="1200" dirty="0"/>
          </a:p>
        </p:txBody>
      </p:sp>
      <p:sp>
        <p:nvSpPr>
          <p:cNvPr id="40" name="Shape 38"/>
          <p:cNvSpPr/>
          <p:nvPr/>
        </p:nvSpPr>
        <p:spPr>
          <a:xfrm>
            <a:off x="4709160" y="3840480"/>
            <a:ext cx="1280160" cy="420624"/>
          </a:xfrm>
          <a:prstGeom prst="rect">
            <a:avLst/>
          </a:prstGeom>
          <a:solidFill>
            <a:srgbClr val="00695C"/>
          </a:solidFill>
          <a:ln w="12700">
            <a:solidFill>
              <a:srgbClr val="00695C"/>
            </a:solidFill>
            <a:prstDash val="solid"/>
          </a:ln>
        </p:spPr>
        <p:txBody>
          <a:bodyPr/>
          <a:lstStyle/>
          <a:p>
            <a:endParaRPr lang="en-US"/>
          </a:p>
        </p:txBody>
      </p:sp>
      <p:sp>
        <p:nvSpPr>
          <p:cNvPr id="41" name="Text 39"/>
          <p:cNvSpPr/>
          <p:nvPr/>
        </p:nvSpPr>
        <p:spPr>
          <a:xfrm>
            <a:off x="4736592" y="3840480"/>
            <a:ext cx="1225296" cy="420624"/>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0x8847</a:t>
            </a:r>
            <a:endParaRPr lang="en-US" sz="1200" dirty="0"/>
          </a:p>
        </p:txBody>
      </p:sp>
      <p:sp>
        <p:nvSpPr>
          <p:cNvPr id="42" name="Shape 40"/>
          <p:cNvSpPr/>
          <p:nvPr/>
        </p:nvSpPr>
        <p:spPr>
          <a:xfrm>
            <a:off x="5998464" y="3840480"/>
            <a:ext cx="2743200" cy="420624"/>
          </a:xfrm>
          <a:prstGeom prst="rect">
            <a:avLst/>
          </a:prstGeom>
          <a:solidFill>
            <a:srgbClr val="E8F4FC"/>
          </a:solidFill>
          <a:ln w="6350">
            <a:solidFill>
              <a:srgbClr val="00695C"/>
            </a:solidFill>
            <a:prstDash val="solid"/>
          </a:ln>
        </p:spPr>
        <p:txBody>
          <a:bodyPr/>
          <a:lstStyle/>
          <a:p>
            <a:endParaRPr lang="en-US"/>
          </a:p>
        </p:txBody>
      </p:sp>
      <p:sp>
        <p:nvSpPr>
          <p:cNvPr id="43" name="Text 41"/>
          <p:cNvSpPr/>
          <p:nvPr/>
        </p:nvSpPr>
        <p:spPr>
          <a:xfrm>
            <a:off x="6035040" y="3840480"/>
            <a:ext cx="2670048" cy="420624"/>
          </a:xfrm>
          <a:prstGeom prst="rect">
            <a:avLst/>
          </a:prstGeom>
          <a:noFill/>
          <a:ln/>
        </p:spPr>
        <p:txBody>
          <a:bodyPr wrap="square" rtlCol="0" anchor="ctr"/>
          <a:lstStyle/>
          <a:p>
            <a:pPr marL="0" indent="0">
              <a:buNone/>
            </a:pPr>
            <a:r>
              <a:rPr lang="en-US" sz="1200" dirty="0">
                <a:solidFill>
                  <a:srgbClr val="404040"/>
                </a:solidFill>
                <a:latin typeface="Arial" pitchFamily="34" charset="0"/>
                <a:ea typeface="Arial" pitchFamily="34" charset="-122"/>
                <a:cs typeface="Arial" pitchFamily="34" charset="-120"/>
              </a:rPr>
              <a:t>MPLS</a:t>
            </a:r>
            <a:endParaRPr lang="en-US" sz="1200" dirty="0"/>
          </a:p>
        </p:txBody>
      </p:sp>
      <p:sp>
        <p:nvSpPr>
          <p:cNvPr id="44" name="Shape 42"/>
          <p:cNvSpPr/>
          <p:nvPr/>
        </p:nvSpPr>
        <p:spPr>
          <a:xfrm>
            <a:off x="4709160" y="4315968"/>
            <a:ext cx="1280160" cy="420624"/>
          </a:xfrm>
          <a:prstGeom prst="rect">
            <a:avLst/>
          </a:prstGeom>
          <a:solidFill>
            <a:srgbClr val="00695C"/>
          </a:solidFill>
          <a:ln w="12700">
            <a:solidFill>
              <a:srgbClr val="00695C"/>
            </a:solidFill>
            <a:prstDash val="solid"/>
          </a:ln>
        </p:spPr>
        <p:txBody>
          <a:bodyPr/>
          <a:lstStyle/>
          <a:p>
            <a:endParaRPr lang="en-US"/>
          </a:p>
        </p:txBody>
      </p:sp>
      <p:sp>
        <p:nvSpPr>
          <p:cNvPr id="45" name="Text 43"/>
          <p:cNvSpPr/>
          <p:nvPr/>
        </p:nvSpPr>
        <p:spPr>
          <a:xfrm>
            <a:off x="4736592" y="4315968"/>
            <a:ext cx="1225296" cy="420624"/>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0x88CC</a:t>
            </a:r>
            <a:endParaRPr lang="en-US" sz="1200" dirty="0"/>
          </a:p>
        </p:txBody>
      </p:sp>
      <p:sp>
        <p:nvSpPr>
          <p:cNvPr id="46" name="Shape 44"/>
          <p:cNvSpPr/>
          <p:nvPr/>
        </p:nvSpPr>
        <p:spPr>
          <a:xfrm>
            <a:off x="5998464" y="4315968"/>
            <a:ext cx="2743200" cy="420624"/>
          </a:xfrm>
          <a:prstGeom prst="rect">
            <a:avLst/>
          </a:prstGeom>
          <a:solidFill>
            <a:srgbClr val="E8F4FC"/>
          </a:solidFill>
          <a:ln w="6350">
            <a:solidFill>
              <a:srgbClr val="00695C"/>
            </a:solidFill>
            <a:prstDash val="solid"/>
          </a:ln>
        </p:spPr>
        <p:txBody>
          <a:bodyPr/>
          <a:lstStyle/>
          <a:p>
            <a:endParaRPr lang="en-US"/>
          </a:p>
        </p:txBody>
      </p:sp>
      <p:sp>
        <p:nvSpPr>
          <p:cNvPr id="47" name="Text 45"/>
          <p:cNvSpPr/>
          <p:nvPr/>
        </p:nvSpPr>
        <p:spPr>
          <a:xfrm>
            <a:off x="6035040" y="4315968"/>
            <a:ext cx="2670048" cy="420624"/>
          </a:xfrm>
          <a:prstGeom prst="rect">
            <a:avLst/>
          </a:prstGeom>
          <a:noFill/>
          <a:ln/>
        </p:spPr>
        <p:txBody>
          <a:bodyPr wrap="square" rtlCol="0" anchor="ctr"/>
          <a:lstStyle/>
          <a:p>
            <a:pPr marL="0" indent="0">
              <a:buNone/>
            </a:pPr>
            <a:r>
              <a:rPr lang="en-US" sz="1200" dirty="0">
                <a:solidFill>
                  <a:srgbClr val="404040"/>
                </a:solidFill>
                <a:latin typeface="Arial" pitchFamily="34" charset="0"/>
                <a:ea typeface="Arial" pitchFamily="34" charset="-122"/>
                <a:cs typeface="Arial" pitchFamily="34" charset="-120"/>
              </a:rPr>
              <a:t>LLDP</a:t>
            </a:r>
            <a:endParaRPr lang="en-US" sz="1200" dirty="0"/>
          </a:p>
        </p:txBody>
      </p:sp>
      <p:sp>
        <p:nvSpPr>
          <p:cNvPr id="48" name="Shape 46"/>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49" name="Text 47"/>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El campo Type hace que Ethernet sea 'multi-protocolo': el mismo cable transporta IPv4, IPv6, ARP y más, sin cambiar nada del hardware.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164592"/>
            <a:ext cx="8229600" cy="749808"/>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4" name="Text 2"/>
          <p:cNvSpPr/>
          <p:nvPr/>
        </p:nvSpPr>
        <p:spPr>
          <a:xfrm>
            <a:off x="566928" y="164592"/>
            <a:ext cx="8010144" cy="749808"/>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La Subcapa LLC — Lógica entre 802.3 y la Capa de Red</a:t>
            </a:r>
            <a:endParaRPr lang="en-US" sz="2500" dirty="0"/>
          </a:p>
        </p:txBody>
      </p:sp>
      <p:sp>
        <p:nvSpPr>
          <p:cNvPr id="5" name="Text 3"/>
          <p:cNvSpPr/>
          <p:nvPr/>
        </p:nvSpPr>
        <p:spPr>
          <a:xfrm>
            <a:off x="566928" y="987552"/>
            <a:ext cx="8010144" cy="347472"/>
          </a:xfrm>
          <a:prstGeom prst="rect">
            <a:avLst/>
          </a:prstGeom>
          <a:noFill/>
          <a:ln/>
        </p:spPr>
        <p:txBody>
          <a:bodyPr wrap="square" rtlCol="0" anchor="ctr"/>
          <a:lstStyle/>
          <a:p>
            <a:pPr marL="0" indent="0">
              <a:buNone/>
            </a:pPr>
            <a:r>
              <a:rPr lang="en-US" sz="1200" i="1" dirty="0">
                <a:solidFill>
                  <a:srgbClr val="B9DEF8"/>
                </a:solidFill>
                <a:latin typeface="Arial" pitchFamily="34" charset="0"/>
                <a:ea typeface="Arial" pitchFamily="34" charset="-122"/>
                <a:cs typeface="Arial" pitchFamily="34" charset="-120"/>
              </a:rPr>
              <a:t>Cómo 802.3 identifica el protocolo superior sin un campo Type</a:t>
            </a:r>
            <a:endParaRPr lang="en-US" sz="1200" dirty="0"/>
          </a:p>
        </p:txBody>
      </p:sp>
      <p:sp>
        <p:nvSpPr>
          <p:cNvPr id="6" name="Shape 4"/>
          <p:cNvSpPr/>
          <p:nvPr/>
        </p:nvSpPr>
        <p:spPr>
          <a:xfrm>
            <a:off x="320040" y="1417320"/>
            <a:ext cx="2743200" cy="384048"/>
          </a:xfrm>
          <a:prstGeom prst="rect">
            <a:avLst/>
          </a:prstGeom>
          <a:solidFill>
            <a:srgbClr val="607D8B"/>
          </a:solidFill>
          <a:ln w="12700">
            <a:solidFill>
              <a:srgbClr val="607D8B"/>
            </a:solidFill>
            <a:prstDash val="solid"/>
          </a:ln>
        </p:spPr>
        <p:txBody>
          <a:bodyPr/>
          <a:lstStyle/>
          <a:p>
            <a:endParaRPr lang="en-US"/>
          </a:p>
        </p:txBody>
      </p:sp>
      <p:sp>
        <p:nvSpPr>
          <p:cNvPr id="7" name="Text 5"/>
          <p:cNvSpPr/>
          <p:nvPr/>
        </p:nvSpPr>
        <p:spPr>
          <a:xfrm>
            <a:off x="384048" y="1417320"/>
            <a:ext cx="2615184" cy="384048"/>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Capa 3 — Red (IP, ARP...)</a:t>
            </a:r>
            <a:endParaRPr lang="en-US" sz="1100" dirty="0"/>
          </a:p>
        </p:txBody>
      </p:sp>
      <p:sp>
        <p:nvSpPr>
          <p:cNvPr id="8" name="Shape 6"/>
          <p:cNvSpPr/>
          <p:nvPr/>
        </p:nvSpPr>
        <p:spPr>
          <a:xfrm>
            <a:off x="1691640" y="1801368"/>
            <a:ext cx="0" cy="228600"/>
          </a:xfrm>
          <a:prstGeom prst="line">
            <a:avLst/>
          </a:prstGeom>
          <a:noFill/>
          <a:ln w="25400">
            <a:solidFill>
              <a:srgbClr val="B9DEF8"/>
            </a:solidFill>
            <a:prstDash val="solid"/>
          </a:ln>
        </p:spPr>
        <p:txBody>
          <a:bodyPr/>
          <a:lstStyle/>
          <a:p>
            <a:endParaRPr lang="en-US"/>
          </a:p>
        </p:txBody>
      </p:sp>
      <p:sp>
        <p:nvSpPr>
          <p:cNvPr id="9" name="Shape 7"/>
          <p:cNvSpPr/>
          <p:nvPr/>
        </p:nvSpPr>
        <p:spPr>
          <a:xfrm>
            <a:off x="320040" y="2029968"/>
            <a:ext cx="2743200" cy="384048"/>
          </a:xfrm>
          <a:prstGeom prst="rect">
            <a:avLst/>
          </a:prstGeom>
          <a:solidFill>
            <a:srgbClr val="3A7BAA"/>
          </a:solidFill>
          <a:ln w="12700">
            <a:solidFill>
              <a:srgbClr val="3A7BAA"/>
            </a:solidFill>
            <a:prstDash val="solid"/>
          </a:ln>
        </p:spPr>
        <p:txBody>
          <a:bodyPr/>
          <a:lstStyle/>
          <a:p>
            <a:endParaRPr lang="en-US"/>
          </a:p>
        </p:txBody>
      </p:sp>
      <p:sp>
        <p:nvSpPr>
          <p:cNvPr id="10" name="Text 8"/>
          <p:cNvSpPr/>
          <p:nvPr/>
        </p:nvSpPr>
        <p:spPr>
          <a:xfrm>
            <a:off x="384048" y="2029968"/>
            <a:ext cx="2615184" cy="384048"/>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LLC (802.2) — Capa 2 superior</a:t>
            </a:r>
            <a:endParaRPr lang="en-US" sz="1100" dirty="0"/>
          </a:p>
        </p:txBody>
      </p:sp>
      <p:sp>
        <p:nvSpPr>
          <p:cNvPr id="11" name="Shape 9"/>
          <p:cNvSpPr/>
          <p:nvPr/>
        </p:nvSpPr>
        <p:spPr>
          <a:xfrm>
            <a:off x="1691640" y="2414016"/>
            <a:ext cx="0" cy="228600"/>
          </a:xfrm>
          <a:prstGeom prst="line">
            <a:avLst/>
          </a:prstGeom>
          <a:noFill/>
          <a:ln w="25400">
            <a:solidFill>
              <a:srgbClr val="B9DEF8"/>
            </a:solidFill>
            <a:prstDash val="solid"/>
          </a:ln>
        </p:spPr>
        <p:txBody>
          <a:bodyPr/>
          <a:lstStyle/>
          <a:p>
            <a:endParaRPr lang="en-US"/>
          </a:p>
        </p:txBody>
      </p:sp>
      <p:sp>
        <p:nvSpPr>
          <p:cNvPr id="12" name="Shape 10"/>
          <p:cNvSpPr/>
          <p:nvPr/>
        </p:nvSpPr>
        <p:spPr>
          <a:xfrm>
            <a:off x="320040" y="2642616"/>
            <a:ext cx="2743200" cy="384048"/>
          </a:xfrm>
          <a:prstGeom prst="rect">
            <a:avLst/>
          </a:prstGeom>
          <a:solidFill>
            <a:srgbClr val="5AA8D8"/>
          </a:solidFill>
          <a:ln w="12700">
            <a:solidFill>
              <a:srgbClr val="5AA8D8"/>
            </a:solidFill>
            <a:prstDash val="solid"/>
          </a:ln>
        </p:spPr>
        <p:txBody>
          <a:bodyPr/>
          <a:lstStyle/>
          <a:p>
            <a:endParaRPr lang="en-US"/>
          </a:p>
        </p:txBody>
      </p:sp>
      <p:sp>
        <p:nvSpPr>
          <p:cNvPr id="13" name="Text 11"/>
          <p:cNvSpPr/>
          <p:nvPr/>
        </p:nvSpPr>
        <p:spPr>
          <a:xfrm>
            <a:off x="384048" y="2642616"/>
            <a:ext cx="2615184" cy="384048"/>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MAC (802.3) — Capa 2 inferior</a:t>
            </a:r>
            <a:endParaRPr lang="en-US" sz="1100" dirty="0"/>
          </a:p>
        </p:txBody>
      </p:sp>
      <p:sp>
        <p:nvSpPr>
          <p:cNvPr id="14" name="Shape 12"/>
          <p:cNvSpPr/>
          <p:nvPr/>
        </p:nvSpPr>
        <p:spPr>
          <a:xfrm>
            <a:off x="1691640" y="3026664"/>
            <a:ext cx="0" cy="228600"/>
          </a:xfrm>
          <a:prstGeom prst="line">
            <a:avLst/>
          </a:prstGeom>
          <a:noFill/>
          <a:ln w="25400">
            <a:solidFill>
              <a:srgbClr val="B9DEF8"/>
            </a:solidFill>
            <a:prstDash val="solid"/>
          </a:ln>
        </p:spPr>
        <p:txBody>
          <a:bodyPr/>
          <a:lstStyle/>
          <a:p>
            <a:endParaRPr lang="en-US"/>
          </a:p>
        </p:txBody>
      </p:sp>
      <p:sp>
        <p:nvSpPr>
          <p:cNvPr id="15" name="Shape 13"/>
          <p:cNvSpPr/>
          <p:nvPr/>
        </p:nvSpPr>
        <p:spPr>
          <a:xfrm>
            <a:off x="320040" y="3255264"/>
            <a:ext cx="2743200" cy="384048"/>
          </a:xfrm>
          <a:prstGeom prst="rect">
            <a:avLst/>
          </a:prstGeom>
          <a:solidFill>
            <a:srgbClr val="00695C"/>
          </a:solidFill>
          <a:ln w="12700">
            <a:solidFill>
              <a:srgbClr val="00695C"/>
            </a:solidFill>
            <a:prstDash val="solid"/>
          </a:ln>
        </p:spPr>
        <p:txBody>
          <a:bodyPr/>
          <a:lstStyle/>
          <a:p>
            <a:endParaRPr lang="en-US"/>
          </a:p>
        </p:txBody>
      </p:sp>
      <p:sp>
        <p:nvSpPr>
          <p:cNvPr id="16" name="Text 14"/>
          <p:cNvSpPr/>
          <p:nvPr/>
        </p:nvSpPr>
        <p:spPr>
          <a:xfrm>
            <a:off x="384048" y="3255264"/>
            <a:ext cx="2615184" cy="384048"/>
          </a:xfrm>
          <a:prstGeom prst="rect">
            <a:avLst/>
          </a:prstGeom>
          <a:noFill/>
          <a:ln/>
        </p:spPr>
        <p:txBody>
          <a:bodyPr wrap="square" rtlCol="0" anchor="ctr"/>
          <a:lstStyle/>
          <a:p>
            <a:pPr marL="0" indent="0">
              <a:buNone/>
            </a:pPr>
            <a:r>
              <a:rPr lang="en-US" sz="1100" dirty="0">
                <a:solidFill>
                  <a:srgbClr val="FFFFFF"/>
                </a:solidFill>
                <a:latin typeface="Arial" pitchFamily="34" charset="0"/>
                <a:ea typeface="Arial" pitchFamily="34" charset="-122"/>
                <a:cs typeface="Arial" pitchFamily="34" charset="-120"/>
              </a:rPr>
              <a:t>Capa 1 — Física</a:t>
            </a:r>
            <a:endParaRPr lang="en-US" sz="1100" dirty="0"/>
          </a:p>
        </p:txBody>
      </p:sp>
      <p:sp>
        <p:nvSpPr>
          <p:cNvPr id="17" name="Shape 15"/>
          <p:cNvSpPr/>
          <p:nvPr/>
        </p:nvSpPr>
        <p:spPr>
          <a:xfrm>
            <a:off x="3337560" y="1417320"/>
            <a:ext cx="5486400" cy="3337560"/>
          </a:xfrm>
          <a:prstGeom prst="rect">
            <a:avLst/>
          </a:prstGeom>
          <a:solidFill>
            <a:srgbClr val="3A4550"/>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18" name="Shape 16"/>
          <p:cNvSpPr/>
          <p:nvPr/>
        </p:nvSpPr>
        <p:spPr>
          <a:xfrm>
            <a:off x="3337560" y="1417320"/>
            <a:ext cx="5486400" cy="411480"/>
          </a:xfrm>
          <a:prstGeom prst="rect">
            <a:avLst/>
          </a:prstGeom>
          <a:solidFill>
            <a:srgbClr val="3A7BAA"/>
          </a:solidFill>
          <a:ln w="12700">
            <a:solidFill>
              <a:srgbClr val="3A7BAA"/>
            </a:solidFill>
            <a:prstDash val="solid"/>
          </a:ln>
        </p:spPr>
        <p:txBody>
          <a:bodyPr/>
          <a:lstStyle/>
          <a:p>
            <a:endParaRPr lang="en-US"/>
          </a:p>
        </p:txBody>
      </p:sp>
      <p:sp>
        <p:nvSpPr>
          <p:cNvPr id="19" name="Text 17"/>
          <p:cNvSpPr/>
          <p:nvPr/>
        </p:nvSpPr>
        <p:spPr>
          <a:xfrm>
            <a:off x="3401568" y="1417320"/>
            <a:ext cx="5358384" cy="41148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Estructura de la Trama LLC (dentro del campo Datos de 802.3)</a:t>
            </a:r>
            <a:endParaRPr lang="en-US" sz="1200" dirty="0"/>
          </a:p>
        </p:txBody>
      </p:sp>
      <p:sp>
        <p:nvSpPr>
          <p:cNvPr id="20" name="Shape 18"/>
          <p:cNvSpPr/>
          <p:nvPr/>
        </p:nvSpPr>
        <p:spPr>
          <a:xfrm>
            <a:off x="3401568" y="1938528"/>
            <a:ext cx="914400" cy="566928"/>
          </a:xfrm>
          <a:prstGeom prst="rect">
            <a:avLst/>
          </a:prstGeom>
          <a:solidFill>
            <a:srgbClr val="C62828"/>
          </a:solidFill>
          <a:ln w="12700">
            <a:solidFill>
              <a:srgbClr val="C62828"/>
            </a:solidFill>
            <a:prstDash val="solid"/>
          </a:ln>
        </p:spPr>
        <p:txBody>
          <a:bodyPr/>
          <a:lstStyle/>
          <a:p>
            <a:endParaRPr lang="en-US"/>
          </a:p>
        </p:txBody>
      </p:sp>
      <p:sp>
        <p:nvSpPr>
          <p:cNvPr id="21" name="Text 19"/>
          <p:cNvSpPr/>
          <p:nvPr/>
        </p:nvSpPr>
        <p:spPr>
          <a:xfrm>
            <a:off x="3401568" y="1938528"/>
            <a:ext cx="914400" cy="566928"/>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DSAP</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1B</a:t>
            </a:r>
            <a:endParaRPr lang="en-US" sz="1000" dirty="0"/>
          </a:p>
        </p:txBody>
      </p:sp>
      <p:sp>
        <p:nvSpPr>
          <p:cNvPr id="22" name="Shape 20"/>
          <p:cNvSpPr/>
          <p:nvPr/>
        </p:nvSpPr>
        <p:spPr>
          <a:xfrm>
            <a:off x="4343400" y="1938528"/>
            <a:ext cx="4407408" cy="566928"/>
          </a:xfrm>
          <a:prstGeom prst="rect">
            <a:avLst/>
          </a:prstGeom>
          <a:solidFill>
            <a:srgbClr val="2D3030"/>
          </a:solidFill>
          <a:ln w="6350">
            <a:solidFill>
              <a:srgbClr val="C62828"/>
            </a:solidFill>
            <a:prstDash val="solid"/>
          </a:ln>
        </p:spPr>
        <p:txBody>
          <a:bodyPr/>
          <a:lstStyle/>
          <a:p>
            <a:endParaRPr lang="en-US"/>
          </a:p>
        </p:txBody>
      </p:sp>
      <p:sp>
        <p:nvSpPr>
          <p:cNvPr id="23" name="Text 21"/>
          <p:cNvSpPr/>
          <p:nvPr/>
        </p:nvSpPr>
        <p:spPr>
          <a:xfrm>
            <a:off x="4407408" y="1993392"/>
            <a:ext cx="4279392" cy="457200"/>
          </a:xfrm>
          <a:prstGeom prst="rect">
            <a:avLst/>
          </a:prstGeom>
          <a:noFill/>
          <a:ln/>
        </p:spPr>
        <p:txBody>
          <a:bodyPr wrap="square" rtlCol="0" anchor="ctr"/>
          <a:lstStyle/>
          <a:p>
            <a:pPr marL="0" indent="0">
              <a:buNone/>
            </a:pPr>
            <a:r>
              <a:rPr lang="en-US" sz="1100" dirty="0">
                <a:solidFill>
                  <a:srgbClr val="B9DEF8"/>
                </a:solidFill>
                <a:latin typeface="Arial" pitchFamily="34" charset="0"/>
                <a:ea typeface="Arial" pitchFamily="34" charset="-122"/>
                <a:cs typeface="Arial" pitchFamily="34" charset="-120"/>
              </a:rPr>
              <a:t>Destination SAP. Indica a qué protocolo de capa superior va dirigido el dato.</a:t>
            </a:r>
            <a:endParaRPr lang="en-US" sz="1100" dirty="0"/>
          </a:p>
        </p:txBody>
      </p:sp>
      <p:sp>
        <p:nvSpPr>
          <p:cNvPr id="24" name="Shape 22"/>
          <p:cNvSpPr/>
          <p:nvPr/>
        </p:nvSpPr>
        <p:spPr>
          <a:xfrm>
            <a:off x="3401568" y="2670048"/>
            <a:ext cx="914400" cy="566928"/>
          </a:xfrm>
          <a:prstGeom prst="rect">
            <a:avLst/>
          </a:prstGeom>
          <a:solidFill>
            <a:srgbClr val="E65100"/>
          </a:solidFill>
          <a:ln w="12700">
            <a:solidFill>
              <a:srgbClr val="E65100"/>
            </a:solidFill>
            <a:prstDash val="solid"/>
          </a:ln>
        </p:spPr>
        <p:txBody>
          <a:bodyPr/>
          <a:lstStyle/>
          <a:p>
            <a:endParaRPr lang="en-US"/>
          </a:p>
        </p:txBody>
      </p:sp>
      <p:sp>
        <p:nvSpPr>
          <p:cNvPr id="25" name="Text 23"/>
          <p:cNvSpPr/>
          <p:nvPr/>
        </p:nvSpPr>
        <p:spPr>
          <a:xfrm>
            <a:off x="3401568" y="2670048"/>
            <a:ext cx="914400" cy="566928"/>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SSAP</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1B</a:t>
            </a:r>
            <a:endParaRPr lang="en-US" sz="1000" dirty="0"/>
          </a:p>
        </p:txBody>
      </p:sp>
      <p:sp>
        <p:nvSpPr>
          <p:cNvPr id="26" name="Shape 24"/>
          <p:cNvSpPr/>
          <p:nvPr/>
        </p:nvSpPr>
        <p:spPr>
          <a:xfrm>
            <a:off x="4343400" y="2670048"/>
            <a:ext cx="4407408" cy="566928"/>
          </a:xfrm>
          <a:prstGeom prst="rect">
            <a:avLst/>
          </a:prstGeom>
          <a:solidFill>
            <a:srgbClr val="2D3030"/>
          </a:solidFill>
          <a:ln w="6350">
            <a:solidFill>
              <a:srgbClr val="E65100"/>
            </a:solidFill>
            <a:prstDash val="solid"/>
          </a:ln>
        </p:spPr>
        <p:txBody>
          <a:bodyPr/>
          <a:lstStyle/>
          <a:p>
            <a:endParaRPr lang="en-US"/>
          </a:p>
        </p:txBody>
      </p:sp>
      <p:sp>
        <p:nvSpPr>
          <p:cNvPr id="27" name="Text 25"/>
          <p:cNvSpPr/>
          <p:nvPr/>
        </p:nvSpPr>
        <p:spPr>
          <a:xfrm>
            <a:off x="4407408" y="2724912"/>
            <a:ext cx="4279392" cy="457200"/>
          </a:xfrm>
          <a:prstGeom prst="rect">
            <a:avLst/>
          </a:prstGeom>
          <a:noFill/>
          <a:ln/>
        </p:spPr>
        <p:txBody>
          <a:bodyPr wrap="square" rtlCol="0" anchor="ctr"/>
          <a:lstStyle/>
          <a:p>
            <a:pPr marL="0" indent="0">
              <a:buNone/>
            </a:pPr>
            <a:r>
              <a:rPr lang="en-US" sz="1100" dirty="0">
                <a:solidFill>
                  <a:srgbClr val="B9DEF8"/>
                </a:solidFill>
                <a:latin typeface="Arial" pitchFamily="34" charset="0"/>
                <a:ea typeface="Arial" pitchFamily="34" charset="-122"/>
                <a:cs typeface="Arial" pitchFamily="34" charset="-120"/>
              </a:rPr>
              <a:t>Source SAP. Indica qué protocolo generó los datos.</a:t>
            </a:r>
            <a:endParaRPr lang="en-US" sz="1100" dirty="0"/>
          </a:p>
        </p:txBody>
      </p:sp>
      <p:sp>
        <p:nvSpPr>
          <p:cNvPr id="28" name="Shape 26"/>
          <p:cNvSpPr/>
          <p:nvPr/>
        </p:nvSpPr>
        <p:spPr>
          <a:xfrm>
            <a:off x="3401568" y="3401568"/>
            <a:ext cx="914400" cy="566928"/>
          </a:xfrm>
          <a:prstGeom prst="rect">
            <a:avLst/>
          </a:prstGeom>
          <a:solidFill>
            <a:srgbClr val="00695C"/>
          </a:solidFill>
          <a:ln w="12700">
            <a:solidFill>
              <a:srgbClr val="00695C"/>
            </a:solidFill>
            <a:prstDash val="solid"/>
          </a:ln>
        </p:spPr>
        <p:txBody>
          <a:bodyPr/>
          <a:lstStyle/>
          <a:p>
            <a:endParaRPr lang="en-US"/>
          </a:p>
        </p:txBody>
      </p:sp>
      <p:sp>
        <p:nvSpPr>
          <p:cNvPr id="29" name="Text 27"/>
          <p:cNvSpPr/>
          <p:nvPr/>
        </p:nvSpPr>
        <p:spPr>
          <a:xfrm>
            <a:off x="3401568" y="3401568"/>
            <a:ext cx="914400" cy="566928"/>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Control</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1-2B</a:t>
            </a:r>
            <a:endParaRPr lang="en-US" sz="1000" dirty="0"/>
          </a:p>
        </p:txBody>
      </p:sp>
      <p:sp>
        <p:nvSpPr>
          <p:cNvPr id="30" name="Shape 28"/>
          <p:cNvSpPr/>
          <p:nvPr/>
        </p:nvSpPr>
        <p:spPr>
          <a:xfrm>
            <a:off x="4343400" y="3401568"/>
            <a:ext cx="4407408" cy="566928"/>
          </a:xfrm>
          <a:prstGeom prst="rect">
            <a:avLst/>
          </a:prstGeom>
          <a:solidFill>
            <a:srgbClr val="2D3030"/>
          </a:solidFill>
          <a:ln w="6350">
            <a:solidFill>
              <a:srgbClr val="00695C"/>
            </a:solidFill>
            <a:prstDash val="solid"/>
          </a:ln>
        </p:spPr>
        <p:txBody>
          <a:bodyPr/>
          <a:lstStyle/>
          <a:p>
            <a:endParaRPr lang="en-US"/>
          </a:p>
        </p:txBody>
      </p:sp>
      <p:sp>
        <p:nvSpPr>
          <p:cNvPr id="31" name="Text 29"/>
          <p:cNvSpPr/>
          <p:nvPr/>
        </p:nvSpPr>
        <p:spPr>
          <a:xfrm>
            <a:off x="4407408" y="3456432"/>
            <a:ext cx="4279392" cy="457200"/>
          </a:xfrm>
          <a:prstGeom prst="rect">
            <a:avLst/>
          </a:prstGeom>
          <a:noFill/>
          <a:ln/>
        </p:spPr>
        <p:txBody>
          <a:bodyPr wrap="square" rtlCol="0" anchor="ctr"/>
          <a:lstStyle/>
          <a:p>
            <a:pPr marL="0" indent="0">
              <a:buNone/>
            </a:pPr>
            <a:r>
              <a:rPr lang="en-US" sz="1100" dirty="0">
                <a:solidFill>
                  <a:srgbClr val="B9DEF8"/>
                </a:solidFill>
                <a:latin typeface="Arial" pitchFamily="34" charset="0"/>
                <a:ea typeface="Arial" pitchFamily="34" charset="-122"/>
                <a:cs typeface="Arial" pitchFamily="34" charset="-120"/>
              </a:rPr>
              <a:t>Tipo de servicio: sin conexión (UI frame), con conexión, etc.</a:t>
            </a:r>
            <a:endParaRPr lang="en-US" sz="1100" dirty="0"/>
          </a:p>
        </p:txBody>
      </p:sp>
      <p:sp>
        <p:nvSpPr>
          <p:cNvPr id="32" name="Shape 30"/>
          <p:cNvSpPr/>
          <p:nvPr/>
        </p:nvSpPr>
        <p:spPr>
          <a:xfrm>
            <a:off x="3401568" y="4133088"/>
            <a:ext cx="914400" cy="566928"/>
          </a:xfrm>
          <a:prstGeom prst="rect">
            <a:avLst/>
          </a:prstGeom>
          <a:solidFill>
            <a:srgbClr val="3A7BAA"/>
          </a:solidFill>
          <a:ln w="12700">
            <a:solidFill>
              <a:srgbClr val="3A7BAA"/>
            </a:solidFill>
            <a:prstDash val="solid"/>
          </a:ln>
        </p:spPr>
        <p:txBody>
          <a:bodyPr/>
          <a:lstStyle/>
          <a:p>
            <a:endParaRPr lang="en-US"/>
          </a:p>
        </p:txBody>
      </p:sp>
      <p:sp>
        <p:nvSpPr>
          <p:cNvPr id="33" name="Text 31"/>
          <p:cNvSpPr/>
          <p:nvPr/>
        </p:nvSpPr>
        <p:spPr>
          <a:xfrm>
            <a:off x="3401568" y="4133088"/>
            <a:ext cx="914400" cy="566928"/>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Datos</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var</a:t>
            </a:r>
            <a:endParaRPr lang="en-US" sz="1000" dirty="0"/>
          </a:p>
        </p:txBody>
      </p:sp>
      <p:sp>
        <p:nvSpPr>
          <p:cNvPr id="34" name="Shape 32"/>
          <p:cNvSpPr/>
          <p:nvPr/>
        </p:nvSpPr>
        <p:spPr>
          <a:xfrm>
            <a:off x="4343400" y="4133088"/>
            <a:ext cx="4407408" cy="566928"/>
          </a:xfrm>
          <a:prstGeom prst="rect">
            <a:avLst/>
          </a:prstGeom>
          <a:solidFill>
            <a:srgbClr val="2D3030"/>
          </a:solidFill>
          <a:ln w="6350">
            <a:solidFill>
              <a:srgbClr val="3A7BAA"/>
            </a:solidFill>
            <a:prstDash val="solid"/>
          </a:ln>
        </p:spPr>
        <p:txBody>
          <a:bodyPr/>
          <a:lstStyle/>
          <a:p>
            <a:endParaRPr lang="en-US"/>
          </a:p>
        </p:txBody>
      </p:sp>
      <p:sp>
        <p:nvSpPr>
          <p:cNvPr id="35" name="Text 33"/>
          <p:cNvSpPr/>
          <p:nvPr/>
        </p:nvSpPr>
        <p:spPr>
          <a:xfrm>
            <a:off x="4407408" y="4187952"/>
            <a:ext cx="4279392" cy="457200"/>
          </a:xfrm>
          <a:prstGeom prst="rect">
            <a:avLst/>
          </a:prstGeom>
          <a:noFill/>
          <a:ln/>
        </p:spPr>
        <p:txBody>
          <a:bodyPr wrap="square" rtlCol="0" anchor="ctr"/>
          <a:lstStyle/>
          <a:p>
            <a:pPr marL="0" indent="0">
              <a:buNone/>
            </a:pPr>
            <a:r>
              <a:rPr lang="en-US" sz="1100" dirty="0">
                <a:solidFill>
                  <a:srgbClr val="B9DEF8"/>
                </a:solidFill>
                <a:latin typeface="Arial" pitchFamily="34" charset="0"/>
                <a:ea typeface="Arial" pitchFamily="34" charset="-122"/>
                <a:cs typeface="Arial" pitchFamily="34" charset="-120"/>
              </a:rPr>
              <a:t>El paquete de red (IP, etc.) propiamente dicho.</a:t>
            </a:r>
            <a:endParaRPr lang="en-US" sz="1100" dirty="0"/>
          </a:p>
        </p:txBody>
      </p:sp>
      <p:sp>
        <p:nvSpPr>
          <p:cNvPr id="36" name="Shape 34"/>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37" name="Text 35"/>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LLC es el 'traductor' entre 802.3 y la capa de red. En Ethernet II no hace falta: el campo Type lo hace directamente.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4" name="Shape 2"/>
          <p:cNvSpPr/>
          <p:nvPr/>
        </p:nvSpPr>
        <p:spPr>
          <a:xfrm>
            <a:off x="274320" y="201168"/>
            <a:ext cx="2011680" cy="502920"/>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5" name="Text 3"/>
          <p:cNvSpPr/>
          <p:nvPr/>
        </p:nvSpPr>
        <p:spPr>
          <a:xfrm>
            <a:off x="274320" y="201168"/>
            <a:ext cx="2011680" cy="502920"/>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VERDADERO / FALSO</a:t>
            </a:r>
            <a:endParaRPr lang="en-US" sz="900" dirty="0"/>
          </a:p>
        </p:txBody>
      </p:sp>
      <p:sp>
        <p:nvSpPr>
          <p:cNvPr id="6" name="Text 4"/>
          <p:cNvSpPr/>
          <p:nvPr/>
        </p:nvSpPr>
        <p:spPr>
          <a:xfrm>
            <a:off x="2377440" y="274320"/>
            <a:ext cx="2743200" cy="347472"/>
          </a:xfrm>
          <a:prstGeom prst="rect">
            <a:avLst/>
          </a:prstGeom>
          <a:noFill/>
          <a:ln/>
        </p:spPr>
        <p:txBody>
          <a:bodyPr wrap="square" rtlCol="0" anchor="ctr"/>
          <a:lstStyle/>
          <a:p>
            <a:pPr marL="0" indent="0">
              <a:buNone/>
            </a:pPr>
            <a:r>
              <a:rPr lang="en-US" sz="1100" i="1" dirty="0">
                <a:solidFill>
                  <a:srgbClr val="808080"/>
                </a:solidFill>
                <a:latin typeface="Arial" pitchFamily="34" charset="0"/>
                <a:ea typeface="Arial" pitchFamily="34" charset="-122"/>
                <a:cs typeface="Arial" pitchFamily="34" charset="-120"/>
              </a:rPr>
              <a:t>Pregunta 1 de 3</a:t>
            </a:r>
            <a:endParaRPr lang="en-US" sz="1100" dirty="0"/>
          </a:p>
        </p:txBody>
      </p:sp>
      <p:sp>
        <p:nvSpPr>
          <p:cNvPr id="7" name="Shape 5"/>
          <p:cNvSpPr/>
          <p:nvPr/>
        </p:nvSpPr>
        <p:spPr>
          <a:xfrm>
            <a:off x="457200" y="914400"/>
            <a:ext cx="8229600" cy="265176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8" name="Shape 6"/>
          <p:cNvSpPr/>
          <p:nvPr/>
        </p:nvSpPr>
        <p:spPr>
          <a:xfrm>
            <a:off x="457200" y="914400"/>
            <a:ext cx="91440" cy="2651760"/>
          </a:xfrm>
          <a:prstGeom prst="rect">
            <a:avLst/>
          </a:prstGeom>
          <a:solidFill>
            <a:srgbClr val="5AA8D8"/>
          </a:solidFill>
          <a:ln w="12700">
            <a:solidFill>
              <a:srgbClr val="5AA8D8"/>
            </a:solidFill>
            <a:prstDash val="solid"/>
          </a:ln>
        </p:spPr>
        <p:txBody>
          <a:bodyPr/>
          <a:lstStyle/>
          <a:p>
            <a:endParaRPr lang="en-US"/>
          </a:p>
        </p:txBody>
      </p:sp>
      <p:sp>
        <p:nvSpPr>
          <p:cNvPr id="9" name="Text 7"/>
          <p:cNvSpPr/>
          <p:nvPr/>
        </p:nvSpPr>
        <p:spPr>
          <a:xfrm>
            <a:off x="685800" y="960120"/>
            <a:ext cx="7818120" cy="2560320"/>
          </a:xfrm>
          <a:prstGeom prst="rect">
            <a:avLst/>
          </a:prstGeom>
          <a:noFill/>
          <a:ln/>
        </p:spPr>
        <p:txBody>
          <a:bodyPr wrap="square" rtlCol="0" anchor="ctr"/>
          <a:lstStyle/>
          <a:p>
            <a:pPr marL="0" indent="0">
              <a:buNone/>
            </a:pPr>
            <a:r>
              <a:rPr lang="en-US" sz="1700" b="1" dirty="0">
                <a:solidFill>
                  <a:srgbClr val="2D3030"/>
                </a:solidFill>
                <a:latin typeface="Arial" pitchFamily="34" charset="0"/>
                <a:ea typeface="Arial" pitchFamily="34" charset="-122"/>
                <a:cs typeface="Arial" pitchFamily="34" charset="-120"/>
              </a:rPr>
              <a:t>En la trama Ethernet II, el campo 'Type' de 2 bytes indica la longitud en bytes del campo de datos que sigue.</a:t>
            </a:r>
            <a:endParaRPr lang="en-US" sz="1700" dirty="0"/>
          </a:p>
        </p:txBody>
      </p:sp>
      <p:sp>
        <p:nvSpPr>
          <p:cNvPr id="10" name="Shape 8"/>
          <p:cNvSpPr/>
          <p:nvPr/>
        </p:nvSpPr>
        <p:spPr>
          <a:xfrm>
            <a:off x="1371600" y="3749040"/>
            <a:ext cx="2560320" cy="640080"/>
          </a:xfrm>
          <a:prstGeom prst="rect">
            <a:avLst/>
          </a:prstGeom>
          <a:solidFill>
            <a:srgbClr val="FFFFFF"/>
          </a:solidFill>
          <a:ln w="12700">
            <a:solidFill>
              <a:srgbClr val="5AA8D8"/>
            </a:solidFill>
            <a:prstDash val="solid"/>
          </a:ln>
        </p:spPr>
        <p:txBody>
          <a:bodyPr/>
          <a:lstStyle/>
          <a:p>
            <a:endParaRPr lang="en-US"/>
          </a:p>
        </p:txBody>
      </p:sp>
      <p:sp>
        <p:nvSpPr>
          <p:cNvPr id="11" name="Text 9"/>
          <p:cNvSpPr/>
          <p:nvPr/>
        </p:nvSpPr>
        <p:spPr>
          <a:xfrm>
            <a:off x="1371600" y="3749040"/>
            <a:ext cx="2560320" cy="640080"/>
          </a:xfrm>
          <a:prstGeom prst="rect">
            <a:avLst/>
          </a:prstGeom>
          <a:noFill/>
          <a:ln/>
        </p:spPr>
        <p:txBody>
          <a:bodyPr wrap="square" rtlCol="0" anchor="ctr"/>
          <a:lstStyle/>
          <a:p>
            <a:pPr marL="0" indent="0" algn="ctr">
              <a:buNone/>
            </a:pPr>
            <a:r>
              <a:rPr lang="en-US" sz="1600" b="1" dirty="0">
                <a:solidFill>
                  <a:srgbClr val="3A7BAA"/>
                </a:solidFill>
                <a:latin typeface="Arial" pitchFamily="34" charset="0"/>
                <a:ea typeface="Arial" pitchFamily="34" charset="-122"/>
                <a:cs typeface="Arial" pitchFamily="34" charset="-120"/>
              </a:rPr>
              <a:t>✅  VERDADERO</a:t>
            </a:r>
            <a:endParaRPr lang="en-US" sz="1600" dirty="0"/>
          </a:p>
        </p:txBody>
      </p:sp>
      <p:sp>
        <p:nvSpPr>
          <p:cNvPr id="12" name="Shape 10"/>
          <p:cNvSpPr/>
          <p:nvPr/>
        </p:nvSpPr>
        <p:spPr>
          <a:xfrm>
            <a:off x="5212080" y="3749040"/>
            <a:ext cx="2560320" cy="640080"/>
          </a:xfrm>
          <a:prstGeom prst="rect">
            <a:avLst/>
          </a:prstGeom>
          <a:solidFill>
            <a:srgbClr val="FFFFFF"/>
          </a:solidFill>
          <a:ln w="12700">
            <a:solidFill>
              <a:srgbClr val="5AA8D8"/>
            </a:solidFill>
            <a:prstDash val="solid"/>
          </a:ln>
        </p:spPr>
        <p:txBody>
          <a:bodyPr/>
          <a:lstStyle/>
          <a:p>
            <a:endParaRPr lang="en-US"/>
          </a:p>
        </p:txBody>
      </p:sp>
      <p:sp>
        <p:nvSpPr>
          <p:cNvPr id="13" name="Text 11"/>
          <p:cNvSpPr/>
          <p:nvPr/>
        </p:nvSpPr>
        <p:spPr>
          <a:xfrm>
            <a:off x="5212080" y="3749040"/>
            <a:ext cx="2560320" cy="640080"/>
          </a:xfrm>
          <a:prstGeom prst="rect">
            <a:avLst/>
          </a:prstGeom>
          <a:noFill/>
          <a:ln/>
        </p:spPr>
        <p:txBody>
          <a:bodyPr wrap="square" rtlCol="0" anchor="ctr"/>
          <a:lstStyle/>
          <a:p>
            <a:pPr marL="0" indent="0" algn="ctr">
              <a:buNone/>
            </a:pPr>
            <a:r>
              <a:rPr lang="en-US" sz="1600" b="1" dirty="0">
                <a:solidFill>
                  <a:srgbClr val="3A7BAA"/>
                </a:solidFill>
                <a:latin typeface="Arial" pitchFamily="34" charset="0"/>
                <a:ea typeface="Arial" pitchFamily="34" charset="-122"/>
                <a:cs typeface="Arial" pitchFamily="34" charset="-120"/>
              </a:rPr>
              <a:t>❌  FALSO</a:t>
            </a:r>
            <a:endParaRPr lang="en-US" sz="1600" dirty="0"/>
          </a:p>
        </p:txBody>
      </p:sp>
      <p:sp>
        <p:nvSpPr>
          <p:cNvPr id="14" name="Shape 12"/>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15" name="Text 13"/>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Dar un minuto para pensar. Pedir justificación antes de revelar la respuesta.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4" name="Shape 2"/>
          <p:cNvSpPr/>
          <p:nvPr/>
        </p:nvSpPr>
        <p:spPr>
          <a:xfrm>
            <a:off x="274320" y="201168"/>
            <a:ext cx="2011680" cy="502920"/>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5" name="Text 3"/>
          <p:cNvSpPr/>
          <p:nvPr/>
        </p:nvSpPr>
        <p:spPr>
          <a:xfrm>
            <a:off x="274320" y="201168"/>
            <a:ext cx="201168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RESPUESTA</a:t>
            </a:r>
            <a:endParaRPr lang="en-US" sz="1200" dirty="0"/>
          </a:p>
        </p:txBody>
      </p:sp>
      <p:sp>
        <p:nvSpPr>
          <p:cNvPr id="6" name="Shape 4"/>
          <p:cNvSpPr/>
          <p:nvPr/>
        </p:nvSpPr>
        <p:spPr>
          <a:xfrm>
            <a:off x="2743200" y="164592"/>
            <a:ext cx="3657600" cy="594360"/>
          </a:xfrm>
          <a:prstGeom prst="rect">
            <a:avLst/>
          </a:prstGeom>
          <a:solidFill>
            <a:srgbClr val="C62828"/>
          </a:solidFill>
          <a:ln w="12700">
            <a:solidFill>
              <a:srgbClr val="C62828"/>
            </a:solidFill>
            <a:prstDash val="solid"/>
          </a:ln>
          <a:effectLst>
            <a:outerShdw blurRad="101600" dist="38100" dir="8100000" algn="bl" rotWithShape="0">
              <a:srgbClr val="000000">
                <a:alpha val="15000"/>
              </a:srgbClr>
            </a:outerShdw>
          </a:effectLst>
        </p:spPr>
        <p:txBody>
          <a:bodyPr/>
          <a:lstStyle/>
          <a:p>
            <a:endParaRPr lang="en-US"/>
          </a:p>
        </p:txBody>
      </p:sp>
      <p:sp>
        <p:nvSpPr>
          <p:cNvPr id="7" name="Text 5"/>
          <p:cNvSpPr/>
          <p:nvPr/>
        </p:nvSpPr>
        <p:spPr>
          <a:xfrm>
            <a:off x="2743200" y="164592"/>
            <a:ext cx="3657600" cy="59436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  FALSO</a:t>
            </a:r>
            <a:endParaRPr lang="en-US" sz="2000" dirty="0"/>
          </a:p>
        </p:txBody>
      </p:sp>
      <p:sp>
        <p:nvSpPr>
          <p:cNvPr id="8" name="Shape 6"/>
          <p:cNvSpPr/>
          <p:nvPr/>
        </p:nvSpPr>
        <p:spPr>
          <a:xfrm>
            <a:off x="365760" y="914400"/>
            <a:ext cx="8412480" cy="777240"/>
          </a:xfrm>
          <a:prstGeom prst="rect">
            <a:avLst/>
          </a:prstGeom>
          <a:solidFill>
            <a:srgbClr val="3A4550"/>
          </a:solidFill>
          <a:ln w="12700">
            <a:solidFill>
              <a:srgbClr val="404040"/>
            </a:solidFill>
            <a:prstDash val="solid"/>
          </a:ln>
        </p:spPr>
        <p:txBody>
          <a:bodyPr/>
          <a:lstStyle/>
          <a:p>
            <a:endParaRPr lang="en-US"/>
          </a:p>
        </p:txBody>
      </p:sp>
      <p:sp>
        <p:nvSpPr>
          <p:cNvPr id="9" name="Text 7"/>
          <p:cNvSpPr/>
          <p:nvPr/>
        </p:nvSpPr>
        <p:spPr>
          <a:xfrm>
            <a:off x="502920" y="914400"/>
            <a:ext cx="8138160" cy="777240"/>
          </a:xfrm>
          <a:prstGeom prst="rect">
            <a:avLst/>
          </a:prstGeom>
          <a:noFill/>
          <a:ln/>
        </p:spPr>
        <p:txBody>
          <a:bodyPr wrap="square" rtlCol="0" anchor="ctr"/>
          <a:lstStyle/>
          <a:p>
            <a:pPr marL="0" indent="0">
              <a:buNone/>
            </a:pPr>
            <a:r>
              <a:rPr lang="en-US" sz="1050" i="1" dirty="0">
                <a:solidFill>
                  <a:srgbClr val="808080"/>
                </a:solidFill>
                <a:latin typeface="Arial" pitchFamily="34" charset="0"/>
                <a:ea typeface="Arial" pitchFamily="34" charset="-122"/>
                <a:cs typeface="Arial" pitchFamily="34" charset="-120"/>
              </a:rPr>
              <a:t>En la trama Ethernet II, el campo 'Type' de 2 bytes indica la longitud en bytes del campo de datos que sigue.</a:t>
            </a:r>
            <a:endParaRPr lang="en-US" sz="1050" dirty="0"/>
          </a:p>
        </p:txBody>
      </p:sp>
      <p:sp>
        <p:nvSpPr>
          <p:cNvPr id="10" name="Shape 8"/>
          <p:cNvSpPr/>
          <p:nvPr/>
        </p:nvSpPr>
        <p:spPr>
          <a:xfrm>
            <a:off x="365760" y="1828800"/>
            <a:ext cx="8412480" cy="288036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11" name="Shape 9"/>
          <p:cNvSpPr/>
          <p:nvPr/>
        </p:nvSpPr>
        <p:spPr>
          <a:xfrm>
            <a:off x="365760" y="1828800"/>
            <a:ext cx="8412480" cy="384048"/>
          </a:xfrm>
          <a:prstGeom prst="rect">
            <a:avLst/>
          </a:prstGeom>
          <a:solidFill>
            <a:srgbClr val="3A7BAA"/>
          </a:solidFill>
          <a:ln w="12700">
            <a:solidFill>
              <a:srgbClr val="3A7BAA"/>
            </a:solidFill>
            <a:prstDash val="solid"/>
          </a:ln>
        </p:spPr>
        <p:txBody>
          <a:bodyPr/>
          <a:lstStyle/>
          <a:p>
            <a:endParaRPr lang="en-US"/>
          </a:p>
        </p:txBody>
      </p:sp>
      <p:sp>
        <p:nvSpPr>
          <p:cNvPr id="12" name="Text 10"/>
          <p:cNvSpPr/>
          <p:nvPr/>
        </p:nvSpPr>
        <p:spPr>
          <a:xfrm>
            <a:off x="457200" y="1828800"/>
            <a:ext cx="8229600" cy="384048"/>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Justificación</a:t>
            </a:r>
            <a:endParaRPr lang="en-US" sz="1300" dirty="0"/>
          </a:p>
        </p:txBody>
      </p:sp>
      <p:sp>
        <p:nvSpPr>
          <p:cNvPr id="13" name="Text 11"/>
          <p:cNvSpPr/>
          <p:nvPr/>
        </p:nvSpPr>
        <p:spPr>
          <a:xfrm>
            <a:off x="502920" y="2286000"/>
            <a:ext cx="8229600" cy="2331720"/>
          </a:xfrm>
          <a:prstGeom prst="rect">
            <a:avLst/>
          </a:prstGeom>
          <a:noFill/>
          <a:ln/>
        </p:spPr>
        <p:txBody>
          <a:bodyPr wrap="square" rtlCol="0" anchor="t"/>
          <a:lstStyle/>
          <a:p>
            <a:pPr marL="0" indent="0">
              <a:buNone/>
            </a:pPr>
            <a:r>
              <a:rPr lang="en-US" sz="1250" dirty="0">
                <a:solidFill>
                  <a:srgbClr val="404040"/>
                </a:solidFill>
                <a:latin typeface="Arial" pitchFamily="34" charset="0"/>
                <a:ea typeface="Arial" pitchFamily="34" charset="-122"/>
                <a:cs typeface="Arial" pitchFamily="34" charset="-120"/>
              </a:rPr>
              <a:t>FALSO. En Ethernet II el campo 'Type' NO indica la longitud: indica el PROTOCOLO de capa 3 encapsulado (ej: 0x0800 = IPv4, 0x0806 = ARP). Es la trama IEEE 802.3 la que tiene un campo 'Length' que sí indica la longitud del payload. Esta es la diferencia más importante entre ambas tramas, y un error clásico de confusión en exámenes.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4" name="Shape 2"/>
          <p:cNvSpPr/>
          <p:nvPr/>
        </p:nvSpPr>
        <p:spPr>
          <a:xfrm>
            <a:off x="274320" y="201168"/>
            <a:ext cx="2011680" cy="502920"/>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5" name="Text 3"/>
          <p:cNvSpPr/>
          <p:nvPr/>
        </p:nvSpPr>
        <p:spPr>
          <a:xfrm>
            <a:off x="274320" y="201168"/>
            <a:ext cx="2011680" cy="502920"/>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VERDADERO / FALSO</a:t>
            </a:r>
            <a:endParaRPr lang="en-US" sz="900" dirty="0"/>
          </a:p>
        </p:txBody>
      </p:sp>
      <p:sp>
        <p:nvSpPr>
          <p:cNvPr id="6" name="Text 4"/>
          <p:cNvSpPr/>
          <p:nvPr/>
        </p:nvSpPr>
        <p:spPr>
          <a:xfrm>
            <a:off x="2377440" y="274320"/>
            <a:ext cx="2743200" cy="347472"/>
          </a:xfrm>
          <a:prstGeom prst="rect">
            <a:avLst/>
          </a:prstGeom>
          <a:noFill/>
          <a:ln/>
        </p:spPr>
        <p:txBody>
          <a:bodyPr wrap="square" rtlCol="0" anchor="ctr"/>
          <a:lstStyle/>
          <a:p>
            <a:pPr marL="0" indent="0">
              <a:buNone/>
            </a:pPr>
            <a:r>
              <a:rPr lang="en-US" sz="1100" i="1" dirty="0">
                <a:solidFill>
                  <a:srgbClr val="808080"/>
                </a:solidFill>
                <a:latin typeface="Arial" pitchFamily="34" charset="0"/>
                <a:ea typeface="Arial" pitchFamily="34" charset="-122"/>
                <a:cs typeface="Arial" pitchFamily="34" charset="-120"/>
              </a:rPr>
              <a:t>Pregunta 2 de 3</a:t>
            </a:r>
            <a:endParaRPr lang="en-US" sz="1100" dirty="0"/>
          </a:p>
        </p:txBody>
      </p:sp>
      <p:sp>
        <p:nvSpPr>
          <p:cNvPr id="7" name="Shape 5"/>
          <p:cNvSpPr/>
          <p:nvPr/>
        </p:nvSpPr>
        <p:spPr>
          <a:xfrm>
            <a:off x="457200" y="914400"/>
            <a:ext cx="8229600" cy="265176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8" name="Shape 6"/>
          <p:cNvSpPr/>
          <p:nvPr/>
        </p:nvSpPr>
        <p:spPr>
          <a:xfrm>
            <a:off x="457200" y="914400"/>
            <a:ext cx="91440" cy="2651760"/>
          </a:xfrm>
          <a:prstGeom prst="rect">
            <a:avLst/>
          </a:prstGeom>
          <a:solidFill>
            <a:srgbClr val="5AA8D8"/>
          </a:solidFill>
          <a:ln w="12700">
            <a:solidFill>
              <a:srgbClr val="5AA8D8"/>
            </a:solidFill>
            <a:prstDash val="solid"/>
          </a:ln>
        </p:spPr>
        <p:txBody>
          <a:bodyPr/>
          <a:lstStyle/>
          <a:p>
            <a:endParaRPr lang="en-US"/>
          </a:p>
        </p:txBody>
      </p:sp>
      <p:sp>
        <p:nvSpPr>
          <p:cNvPr id="9" name="Text 7"/>
          <p:cNvSpPr/>
          <p:nvPr/>
        </p:nvSpPr>
        <p:spPr>
          <a:xfrm>
            <a:off x="685800" y="960120"/>
            <a:ext cx="7818120" cy="2560320"/>
          </a:xfrm>
          <a:prstGeom prst="rect">
            <a:avLst/>
          </a:prstGeom>
          <a:noFill/>
          <a:ln/>
        </p:spPr>
        <p:txBody>
          <a:bodyPr wrap="square" rtlCol="0" anchor="ctr"/>
          <a:lstStyle/>
          <a:p>
            <a:pPr marL="0" indent="0">
              <a:buNone/>
            </a:pPr>
            <a:r>
              <a:rPr lang="en-US" sz="1700" b="1" dirty="0">
                <a:solidFill>
                  <a:srgbClr val="2D3030"/>
                </a:solidFill>
                <a:latin typeface="Arial" pitchFamily="34" charset="0"/>
                <a:ea typeface="Arial" pitchFamily="34" charset="-122"/>
                <a:cs typeface="Arial" pitchFamily="34" charset="-120"/>
              </a:rPr>
              <a:t>El campo FCS de la trama Ethernet detecta errores de transmisión. Si detecta un error, solicita la retransmisión automática de la trama.</a:t>
            </a:r>
            <a:endParaRPr lang="en-US" sz="1700" dirty="0"/>
          </a:p>
        </p:txBody>
      </p:sp>
      <p:sp>
        <p:nvSpPr>
          <p:cNvPr id="10" name="Shape 8"/>
          <p:cNvSpPr/>
          <p:nvPr/>
        </p:nvSpPr>
        <p:spPr>
          <a:xfrm>
            <a:off x="1371600" y="3749040"/>
            <a:ext cx="2560320" cy="640080"/>
          </a:xfrm>
          <a:prstGeom prst="rect">
            <a:avLst/>
          </a:prstGeom>
          <a:solidFill>
            <a:srgbClr val="FFFFFF"/>
          </a:solidFill>
          <a:ln w="12700">
            <a:solidFill>
              <a:srgbClr val="5AA8D8"/>
            </a:solidFill>
            <a:prstDash val="solid"/>
          </a:ln>
        </p:spPr>
        <p:txBody>
          <a:bodyPr/>
          <a:lstStyle/>
          <a:p>
            <a:endParaRPr lang="en-US"/>
          </a:p>
        </p:txBody>
      </p:sp>
      <p:sp>
        <p:nvSpPr>
          <p:cNvPr id="11" name="Text 9"/>
          <p:cNvSpPr/>
          <p:nvPr/>
        </p:nvSpPr>
        <p:spPr>
          <a:xfrm>
            <a:off x="1371600" y="3749040"/>
            <a:ext cx="2560320" cy="640080"/>
          </a:xfrm>
          <a:prstGeom prst="rect">
            <a:avLst/>
          </a:prstGeom>
          <a:noFill/>
          <a:ln/>
        </p:spPr>
        <p:txBody>
          <a:bodyPr wrap="square" rtlCol="0" anchor="ctr"/>
          <a:lstStyle/>
          <a:p>
            <a:pPr marL="0" indent="0" algn="ctr">
              <a:buNone/>
            </a:pPr>
            <a:r>
              <a:rPr lang="en-US" sz="1600" b="1" dirty="0">
                <a:solidFill>
                  <a:srgbClr val="3A7BAA"/>
                </a:solidFill>
                <a:latin typeface="Arial" pitchFamily="34" charset="0"/>
                <a:ea typeface="Arial" pitchFamily="34" charset="-122"/>
                <a:cs typeface="Arial" pitchFamily="34" charset="-120"/>
              </a:rPr>
              <a:t>✅  VERDADERO</a:t>
            </a:r>
            <a:endParaRPr lang="en-US" sz="1600" dirty="0"/>
          </a:p>
        </p:txBody>
      </p:sp>
      <p:sp>
        <p:nvSpPr>
          <p:cNvPr id="12" name="Shape 10"/>
          <p:cNvSpPr/>
          <p:nvPr/>
        </p:nvSpPr>
        <p:spPr>
          <a:xfrm>
            <a:off x="5212080" y="3749040"/>
            <a:ext cx="2560320" cy="640080"/>
          </a:xfrm>
          <a:prstGeom prst="rect">
            <a:avLst/>
          </a:prstGeom>
          <a:solidFill>
            <a:srgbClr val="FFFFFF"/>
          </a:solidFill>
          <a:ln w="12700">
            <a:solidFill>
              <a:srgbClr val="5AA8D8"/>
            </a:solidFill>
            <a:prstDash val="solid"/>
          </a:ln>
        </p:spPr>
        <p:txBody>
          <a:bodyPr/>
          <a:lstStyle/>
          <a:p>
            <a:endParaRPr lang="en-US"/>
          </a:p>
        </p:txBody>
      </p:sp>
      <p:sp>
        <p:nvSpPr>
          <p:cNvPr id="13" name="Text 11"/>
          <p:cNvSpPr/>
          <p:nvPr/>
        </p:nvSpPr>
        <p:spPr>
          <a:xfrm>
            <a:off x="5212080" y="3749040"/>
            <a:ext cx="2560320" cy="640080"/>
          </a:xfrm>
          <a:prstGeom prst="rect">
            <a:avLst/>
          </a:prstGeom>
          <a:noFill/>
          <a:ln/>
        </p:spPr>
        <p:txBody>
          <a:bodyPr wrap="square" rtlCol="0" anchor="ctr"/>
          <a:lstStyle/>
          <a:p>
            <a:pPr marL="0" indent="0" algn="ctr">
              <a:buNone/>
            </a:pPr>
            <a:r>
              <a:rPr lang="en-US" sz="1600" b="1" dirty="0">
                <a:solidFill>
                  <a:srgbClr val="3A7BAA"/>
                </a:solidFill>
                <a:latin typeface="Arial" pitchFamily="34" charset="0"/>
                <a:ea typeface="Arial" pitchFamily="34" charset="-122"/>
                <a:cs typeface="Arial" pitchFamily="34" charset="-120"/>
              </a:rPr>
              <a:t>❌  FALSO</a:t>
            </a:r>
            <a:endParaRPr lang="en-US" sz="1600" dirty="0"/>
          </a:p>
        </p:txBody>
      </p:sp>
      <p:sp>
        <p:nvSpPr>
          <p:cNvPr id="14" name="Shape 12"/>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15" name="Text 13"/>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Dar un minuto para pensar. Pedir justificación antes de revelar la respuesta.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4" name="Shape 2"/>
          <p:cNvSpPr/>
          <p:nvPr/>
        </p:nvSpPr>
        <p:spPr>
          <a:xfrm>
            <a:off x="274320" y="201168"/>
            <a:ext cx="2011680" cy="502920"/>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5" name="Text 3"/>
          <p:cNvSpPr/>
          <p:nvPr/>
        </p:nvSpPr>
        <p:spPr>
          <a:xfrm>
            <a:off x="274320" y="201168"/>
            <a:ext cx="201168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RESPUESTA</a:t>
            </a:r>
            <a:endParaRPr lang="en-US" sz="1200" dirty="0"/>
          </a:p>
        </p:txBody>
      </p:sp>
      <p:sp>
        <p:nvSpPr>
          <p:cNvPr id="6" name="Shape 4"/>
          <p:cNvSpPr/>
          <p:nvPr/>
        </p:nvSpPr>
        <p:spPr>
          <a:xfrm>
            <a:off x="2743200" y="164592"/>
            <a:ext cx="3657600" cy="594360"/>
          </a:xfrm>
          <a:prstGeom prst="rect">
            <a:avLst/>
          </a:prstGeom>
          <a:solidFill>
            <a:srgbClr val="C62828"/>
          </a:solidFill>
          <a:ln w="12700">
            <a:solidFill>
              <a:srgbClr val="C62828"/>
            </a:solidFill>
            <a:prstDash val="solid"/>
          </a:ln>
          <a:effectLst>
            <a:outerShdw blurRad="101600" dist="38100" dir="8100000" algn="bl" rotWithShape="0">
              <a:srgbClr val="000000">
                <a:alpha val="15000"/>
              </a:srgbClr>
            </a:outerShdw>
          </a:effectLst>
        </p:spPr>
        <p:txBody>
          <a:bodyPr/>
          <a:lstStyle/>
          <a:p>
            <a:endParaRPr lang="en-US"/>
          </a:p>
        </p:txBody>
      </p:sp>
      <p:sp>
        <p:nvSpPr>
          <p:cNvPr id="7" name="Text 5"/>
          <p:cNvSpPr/>
          <p:nvPr/>
        </p:nvSpPr>
        <p:spPr>
          <a:xfrm>
            <a:off x="2743200" y="164592"/>
            <a:ext cx="3657600" cy="59436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  FALSO</a:t>
            </a:r>
            <a:endParaRPr lang="en-US" sz="2000" dirty="0"/>
          </a:p>
        </p:txBody>
      </p:sp>
      <p:sp>
        <p:nvSpPr>
          <p:cNvPr id="8" name="Shape 6"/>
          <p:cNvSpPr/>
          <p:nvPr/>
        </p:nvSpPr>
        <p:spPr>
          <a:xfrm>
            <a:off x="365760" y="914400"/>
            <a:ext cx="8412480" cy="777240"/>
          </a:xfrm>
          <a:prstGeom prst="rect">
            <a:avLst/>
          </a:prstGeom>
          <a:solidFill>
            <a:srgbClr val="3A4550"/>
          </a:solidFill>
          <a:ln w="12700">
            <a:solidFill>
              <a:srgbClr val="404040"/>
            </a:solidFill>
            <a:prstDash val="solid"/>
          </a:ln>
        </p:spPr>
        <p:txBody>
          <a:bodyPr/>
          <a:lstStyle/>
          <a:p>
            <a:endParaRPr lang="en-US"/>
          </a:p>
        </p:txBody>
      </p:sp>
      <p:sp>
        <p:nvSpPr>
          <p:cNvPr id="9" name="Text 7"/>
          <p:cNvSpPr/>
          <p:nvPr/>
        </p:nvSpPr>
        <p:spPr>
          <a:xfrm>
            <a:off x="502920" y="914400"/>
            <a:ext cx="8138160" cy="777240"/>
          </a:xfrm>
          <a:prstGeom prst="rect">
            <a:avLst/>
          </a:prstGeom>
          <a:noFill/>
          <a:ln/>
        </p:spPr>
        <p:txBody>
          <a:bodyPr wrap="square" rtlCol="0" anchor="ctr"/>
          <a:lstStyle/>
          <a:p>
            <a:pPr marL="0" indent="0">
              <a:buNone/>
            </a:pPr>
            <a:r>
              <a:rPr lang="en-US" sz="1050" i="1" dirty="0">
                <a:solidFill>
                  <a:srgbClr val="808080"/>
                </a:solidFill>
                <a:latin typeface="Arial" pitchFamily="34" charset="0"/>
                <a:ea typeface="Arial" pitchFamily="34" charset="-122"/>
                <a:cs typeface="Arial" pitchFamily="34" charset="-120"/>
              </a:rPr>
              <a:t>El campo FCS de la trama Ethernet detecta errores de transmisión. Si detecta un error, solicita la retransmisión automática de la trama.</a:t>
            </a:r>
            <a:endParaRPr lang="en-US" sz="1050" dirty="0"/>
          </a:p>
        </p:txBody>
      </p:sp>
      <p:sp>
        <p:nvSpPr>
          <p:cNvPr id="10" name="Shape 8"/>
          <p:cNvSpPr/>
          <p:nvPr/>
        </p:nvSpPr>
        <p:spPr>
          <a:xfrm>
            <a:off x="365760" y="1828800"/>
            <a:ext cx="8412480" cy="288036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11" name="Shape 9"/>
          <p:cNvSpPr/>
          <p:nvPr/>
        </p:nvSpPr>
        <p:spPr>
          <a:xfrm>
            <a:off x="365760" y="1828800"/>
            <a:ext cx="8412480" cy="384048"/>
          </a:xfrm>
          <a:prstGeom prst="rect">
            <a:avLst/>
          </a:prstGeom>
          <a:solidFill>
            <a:srgbClr val="3A7BAA"/>
          </a:solidFill>
          <a:ln w="12700">
            <a:solidFill>
              <a:srgbClr val="3A7BAA"/>
            </a:solidFill>
            <a:prstDash val="solid"/>
          </a:ln>
        </p:spPr>
        <p:txBody>
          <a:bodyPr/>
          <a:lstStyle/>
          <a:p>
            <a:endParaRPr lang="en-US"/>
          </a:p>
        </p:txBody>
      </p:sp>
      <p:sp>
        <p:nvSpPr>
          <p:cNvPr id="12" name="Text 10"/>
          <p:cNvSpPr/>
          <p:nvPr/>
        </p:nvSpPr>
        <p:spPr>
          <a:xfrm>
            <a:off x="457200" y="1828800"/>
            <a:ext cx="8229600" cy="384048"/>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Justificación</a:t>
            </a:r>
            <a:endParaRPr lang="en-US" sz="1300" dirty="0"/>
          </a:p>
        </p:txBody>
      </p:sp>
      <p:sp>
        <p:nvSpPr>
          <p:cNvPr id="13" name="Text 11"/>
          <p:cNvSpPr/>
          <p:nvPr/>
        </p:nvSpPr>
        <p:spPr>
          <a:xfrm>
            <a:off x="502920" y="2286000"/>
            <a:ext cx="8229600" cy="2331720"/>
          </a:xfrm>
          <a:prstGeom prst="rect">
            <a:avLst/>
          </a:prstGeom>
          <a:noFill/>
          <a:ln/>
        </p:spPr>
        <p:txBody>
          <a:bodyPr wrap="square" rtlCol="0" anchor="t"/>
          <a:lstStyle/>
          <a:p>
            <a:pPr marL="0" indent="0">
              <a:buNone/>
            </a:pPr>
            <a:r>
              <a:rPr lang="en-US" sz="1250" dirty="0">
                <a:solidFill>
                  <a:srgbClr val="404040"/>
                </a:solidFill>
                <a:latin typeface="Arial" pitchFamily="34" charset="0"/>
                <a:ea typeface="Arial" pitchFamily="34" charset="-122"/>
                <a:cs typeface="Arial" pitchFamily="34" charset="-120"/>
              </a:rPr>
              <a:t>FALSO. El FCS DETECTA errores usando CRC-32, pero NO solicita retransmisión. Si el FCS calculado por el receptor no coincide con el recibido, la trama se DESCARTA silenciosamente. La retransmisión de datos perdidos es responsabilidad del protocolo TCP en la Capa 4 (Transporte), no de Ethernet en Capa 2.</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4" name="Shape 2"/>
          <p:cNvSpPr/>
          <p:nvPr/>
        </p:nvSpPr>
        <p:spPr>
          <a:xfrm>
            <a:off x="274320" y="201168"/>
            <a:ext cx="2011680" cy="502920"/>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5" name="Text 3"/>
          <p:cNvSpPr/>
          <p:nvPr/>
        </p:nvSpPr>
        <p:spPr>
          <a:xfrm>
            <a:off x="274320" y="201168"/>
            <a:ext cx="2011680" cy="502920"/>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VERDADERO / FALSO</a:t>
            </a:r>
            <a:endParaRPr lang="en-US" sz="900" dirty="0"/>
          </a:p>
        </p:txBody>
      </p:sp>
      <p:sp>
        <p:nvSpPr>
          <p:cNvPr id="6" name="Text 4"/>
          <p:cNvSpPr/>
          <p:nvPr/>
        </p:nvSpPr>
        <p:spPr>
          <a:xfrm>
            <a:off x="2377440" y="274320"/>
            <a:ext cx="2743200" cy="347472"/>
          </a:xfrm>
          <a:prstGeom prst="rect">
            <a:avLst/>
          </a:prstGeom>
          <a:noFill/>
          <a:ln/>
        </p:spPr>
        <p:txBody>
          <a:bodyPr wrap="square" rtlCol="0" anchor="ctr"/>
          <a:lstStyle/>
          <a:p>
            <a:pPr marL="0" indent="0">
              <a:buNone/>
            </a:pPr>
            <a:r>
              <a:rPr lang="en-US" sz="1100" i="1" dirty="0">
                <a:solidFill>
                  <a:srgbClr val="808080"/>
                </a:solidFill>
                <a:latin typeface="Arial" pitchFamily="34" charset="0"/>
                <a:ea typeface="Arial" pitchFamily="34" charset="-122"/>
                <a:cs typeface="Arial" pitchFamily="34" charset="-120"/>
              </a:rPr>
              <a:t>Pregunta 3 de 3</a:t>
            </a:r>
            <a:endParaRPr lang="en-US" sz="1100" dirty="0"/>
          </a:p>
        </p:txBody>
      </p:sp>
      <p:sp>
        <p:nvSpPr>
          <p:cNvPr id="7" name="Shape 5"/>
          <p:cNvSpPr/>
          <p:nvPr/>
        </p:nvSpPr>
        <p:spPr>
          <a:xfrm>
            <a:off x="457200" y="914400"/>
            <a:ext cx="8229600" cy="265176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8" name="Shape 6"/>
          <p:cNvSpPr/>
          <p:nvPr/>
        </p:nvSpPr>
        <p:spPr>
          <a:xfrm>
            <a:off x="457200" y="914400"/>
            <a:ext cx="91440" cy="2651760"/>
          </a:xfrm>
          <a:prstGeom prst="rect">
            <a:avLst/>
          </a:prstGeom>
          <a:solidFill>
            <a:srgbClr val="5AA8D8"/>
          </a:solidFill>
          <a:ln w="12700">
            <a:solidFill>
              <a:srgbClr val="5AA8D8"/>
            </a:solidFill>
            <a:prstDash val="solid"/>
          </a:ln>
        </p:spPr>
        <p:txBody>
          <a:bodyPr/>
          <a:lstStyle/>
          <a:p>
            <a:endParaRPr lang="en-US"/>
          </a:p>
        </p:txBody>
      </p:sp>
      <p:sp>
        <p:nvSpPr>
          <p:cNvPr id="9" name="Text 7"/>
          <p:cNvSpPr/>
          <p:nvPr/>
        </p:nvSpPr>
        <p:spPr>
          <a:xfrm>
            <a:off x="685800" y="960120"/>
            <a:ext cx="7818120" cy="2560320"/>
          </a:xfrm>
          <a:prstGeom prst="rect">
            <a:avLst/>
          </a:prstGeom>
          <a:noFill/>
          <a:ln/>
        </p:spPr>
        <p:txBody>
          <a:bodyPr wrap="square" rtlCol="0" anchor="ctr"/>
          <a:lstStyle/>
          <a:p>
            <a:pPr marL="0" indent="0">
              <a:buNone/>
            </a:pPr>
            <a:r>
              <a:rPr lang="en-US" sz="1700" b="1" dirty="0">
                <a:solidFill>
                  <a:srgbClr val="2D3030"/>
                </a:solidFill>
                <a:latin typeface="Arial" pitchFamily="34" charset="0"/>
                <a:ea typeface="Arial" pitchFamily="34" charset="-122"/>
                <a:cs typeface="Arial" pitchFamily="34" charset="-120"/>
              </a:rPr>
              <a:t>En la trama IEEE 802.3, el campo de datos contiene directamente el paquete IP, igual que en la trama Ethernet II.</a:t>
            </a:r>
            <a:endParaRPr lang="en-US" sz="1700" dirty="0"/>
          </a:p>
        </p:txBody>
      </p:sp>
      <p:sp>
        <p:nvSpPr>
          <p:cNvPr id="10" name="Shape 8"/>
          <p:cNvSpPr/>
          <p:nvPr/>
        </p:nvSpPr>
        <p:spPr>
          <a:xfrm>
            <a:off x="1371600" y="3749040"/>
            <a:ext cx="2560320" cy="640080"/>
          </a:xfrm>
          <a:prstGeom prst="rect">
            <a:avLst/>
          </a:prstGeom>
          <a:solidFill>
            <a:srgbClr val="FFFFFF"/>
          </a:solidFill>
          <a:ln w="12700">
            <a:solidFill>
              <a:srgbClr val="5AA8D8"/>
            </a:solidFill>
            <a:prstDash val="solid"/>
          </a:ln>
        </p:spPr>
        <p:txBody>
          <a:bodyPr/>
          <a:lstStyle/>
          <a:p>
            <a:endParaRPr lang="en-US"/>
          </a:p>
        </p:txBody>
      </p:sp>
      <p:sp>
        <p:nvSpPr>
          <p:cNvPr id="11" name="Text 9"/>
          <p:cNvSpPr/>
          <p:nvPr/>
        </p:nvSpPr>
        <p:spPr>
          <a:xfrm>
            <a:off x="1371600" y="3749040"/>
            <a:ext cx="2560320" cy="640080"/>
          </a:xfrm>
          <a:prstGeom prst="rect">
            <a:avLst/>
          </a:prstGeom>
          <a:noFill/>
          <a:ln/>
        </p:spPr>
        <p:txBody>
          <a:bodyPr wrap="square" rtlCol="0" anchor="ctr"/>
          <a:lstStyle/>
          <a:p>
            <a:pPr marL="0" indent="0" algn="ctr">
              <a:buNone/>
            </a:pPr>
            <a:r>
              <a:rPr lang="en-US" sz="1600" b="1" dirty="0">
                <a:solidFill>
                  <a:srgbClr val="3A7BAA"/>
                </a:solidFill>
                <a:latin typeface="Arial" pitchFamily="34" charset="0"/>
                <a:ea typeface="Arial" pitchFamily="34" charset="-122"/>
                <a:cs typeface="Arial" pitchFamily="34" charset="-120"/>
              </a:rPr>
              <a:t>✅  VERDADERO</a:t>
            </a:r>
            <a:endParaRPr lang="en-US" sz="1600" dirty="0"/>
          </a:p>
        </p:txBody>
      </p:sp>
      <p:sp>
        <p:nvSpPr>
          <p:cNvPr id="12" name="Shape 10"/>
          <p:cNvSpPr/>
          <p:nvPr/>
        </p:nvSpPr>
        <p:spPr>
          <a:xfrm>
            <a:off x="5212080" y="3749040"/>
            <a:ext cx="2560320" cy="640080"/>
          </a:xfrm>
          <a:prstGeom prst="rect">
            <a:avLst/>
          </a:prstGeom>
          <a:solidFill>
            <a:srgbClr val="FFFFFF"/>
          </a:solidFill>
          <a:ln w="12700">
            <a:solidFill>
              <a:srgbClr val="5AA8D8"/>
            </a:solidFill>
            <a:prstDash val="solid"/>
          </a:ln>
        </p:spPr>
        <p:txBody>
          <a:bodyPr/>
          <a:lstStyle/>
          <a:p>
            <a:endParaRPr lang="en-US"/>
          </a:p>
        </p:txBody>
      </p:sp>
      <p:sp>
        <p:nvSpPr>
          <p:cNvPr id="13" name="Text 11"/>
          <p:cNvSpPr/>
          <p:nvPr/>
        </p:nvSpPr>
        <p:spPr>
          <a:xfrm>
            <a:off x="5212080" y="3749040"/>
            <a:ext cx="2560320" cy="640080"/>
          </a:xfrm>
          <a:prstGeom prst="rect">
            <a:avLst/>
          </a:prstGeom>
          <a:noFill/>
          <a:ln/>
        </p:spPr>
        <p:txBody>
          <a:bodyPr wrap="square" rtlCol="0" anchor="ctr"/>
          <a:lstStyle/>
          <a:p>
            <a:pPr marL="0" indent="0" algn="ctr">
              <a:buNone/>
            </a:pPr>
            <a:r>
              <a:rPr lang="en-US" sz="1600" b="1" dirty="0">
                <a:solidFill>
                  <a:srgbClr val="3A7BAA"/>
                </a:solidFill>
                <a:latin typeface="Arial" pitchFamily="34" charset="0"/>
                <a:ea typeface="Arial" pitchFamily="34" charset="-122"/>
                <a:cs typeface="Arial" pitchFamily="34" charset="-120"/>
              </a:rPr>
              <a:t>❌  FALSO</a:t>
            </a:r>
            <a:endParaRPr lang="en-US" sz="1600" dirty="0"/>
          </a:p>
        </p:txBody>
      </p:sp>
      <p:sp>
        <p:nvSpPr>
          <p:cNvPr id="14" name="Shape 12"/>
          <p:cNvSpPr/>
          <p:nvPr/>
        </p:nvSpPr>
        <p:spPr>
          <a:xfrm>
            <a:off x="0" y="4846320"/>
            <a:ext cx="9144000" cy="297180"/>
          </a:xfrm>
          <a:prstGeom prst="rect">
            <a:avLst/>
          </a:prstGeom>
          <a:solidFill>
            <a:srgbClr val="2D3030"/>
          </a:solidFill>
          <a:ln w="12700">
            <a:solidFill>
              <a:srgbClr val="2D3030"/>
            </a:solidFill>
            <a:prstDash val="solid"/>
          </a:ln>
        </p:spPr>
        <p:txBody>
          <a:bodyPr/>
          <a:lstStyle/>
          <a:p>
            <a:endParaRPr lang="en-US"/>
          </a:p>
        </p:txBody>
      </p:sp>
      <p:sp>
        <p:nvSpPr>
          <p:cNvPr id="15" name="Text 13"/>
          <p:cNvSpPr/>
          <p:nvPr/>
        </p:nvSpPr>
        <p:spPr>
          <a:xfrm>
            <a:off x="137160" y="4846320"/>
            <a:ext cx="8869680" cy="297180"/>
          </a:xfrm>
          <a:prstGeom prst="rect">
            <a:avLst/>
          </a:prstGeom>
          <a:noFill/>
          <a:ln/>
        </p:spPr>
        <p:txBody>
          <a:bodyPr wrap="square" rtlCol="0" anchor="ctr"/>
          <a:lstStyle/>
          <a:p>
            <a:pPr marL="0" indent="0">
              <a:buNone/>
            </a:pPr>
            <a:r>
              <a:rPr lang="en-US" sz="1000" i="1" dirty="0">
                <a:solidFill>
                  <a:srgbClr val="B9DEF8"/>
                </a:solidFill>
                <a:latin typeface="Arial" pitchFamily="34" charset="0"/>
                <a:ea typeface="Arial" pitchFamily="34" charset="-122"/>
                <a:cs typeface="Arial" pitchFamily="34" charset="-120"/>
              </a:rPr>
              <a:t>🎤 Dar un minuto para pensar. Pedir justificación antes de revelar la respuesta.</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0"/>
            <a:ext cx="9144000" cy="73152"/>
          </a:xfrm>
          <a:prstGeom prst="rect">
            <a:avLst/>
          </a:prstGeom>
          <a:solidFill>
            <a:srgbClr val="5AA8D8"/>
          </a:solidFill>
          <a:ln w="12700">
            <a:solidFill>
              <a:srgbClr val="5AA8D8"/>
            </a:solidFill>
            <a:prstDash val="solid"/>
          </a:ln>
        </p:spPr>
        <p:txBody>
          <a:bodyPr/>
          <a:lstStyle/>
          <a:p>
            <a:endParaRPr lang="en-US"/>
          </a:p>
        </p:txBody>
      </p:sp>
      <p:sp>
        <p:nvSpPr>
          <p:cNvPr id="4" name="Shape 2"/>
          <p:cNvSpPr/>
          <p:nvPr/>
        </p:nvSpPr>
        <p:spPr>
          <a:xfrm>
            <a:off x="274320" y="201168"/>
            <a:ext cx="2011680" cy="502920"/>
          </a:xfrm>
          <a:prstGeom prst="rect">
            <a:avLst/>
          </a:prstGeom>
          <a:solidFill>
            <a:srgbClr val="3A7BAA"/>
          </a:solidFill>
          <a:ln w="12700">
            <a:solidFill>
              <a:srgbClr val="3A7BAA"/>
            </a:solidFill>
            <a:prstDash val="solid"/>
          </a:ln>
          <a:effectLst>
            <a:outerShdw blurRad="101600" dist="38100" dir="8100000" algn="bl" rotWithShape="0">
              <a:srgbClr val="000000">
                <a:alpha val="15000"/>
              </a:srgbClr>
            </a:outerShdw>
          </a:effectLst>
        </p:spPr>
        <p:txBody>
          <a:bodyPr/>
          <a:lstStyle/>
          <a:p>
            <a:endParaRPr lang="en-US"/>
          </a:p>
        </p:txBody>
      </p:sp>
      <p:sp>
        <p:nvSpPr>
          <p:cNvPr id="5" name="Text 3"/>
          <p:cNvSpPr/>
          <p:nvPr/>
        </p:nvSpPr>
        <p:spPr>
          <a:xfrm>
            <a:off x="274320" y="201168"/>
            <a:ext cx="2011680" cy="5029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RESPUESTA</a:t>
            </a:r>
            <a:endParaRPr lang="en-US" sz="1200" dirty="0"/>
          </a:p>
        </p:txBody>
      </p:sp>
      <p:sp>
        <p:nvSpPr>
          <p:cNvPr id="6" name="Shape 4"/>
          <p:cNvSpPr/>
          <p:nvPr/>
        </p:nvSpPr>
        <p:spPr>
          <a:xfrm>
            <a:off x="2743200" y="164592"/>
            <a:ext cx="3657600" cy="594360"/>
          </a:xfrm>
          <a:prstGeom prst="rect">
            <a:avLst/>
          </a:prstGeom>
          <a:solidFill>
            <a:srgbClr val="C62828"/>
          </a:solidFill>
          <a:ln w="12700">
            <a:solidFill>
              <a:srgbClr val="C62828"/>
            </a:solidFill>
            <a:prstDash val="solid"/>
          </a:ln>
          <a:effectLst>
            <a:outerShdw blurRad="101600" dist="38100" dir="8100000" algn="bl" rotWithShape="0">
              <a:srgbClr val="000000">
                <a:alpha val="15000"/>
              </a:srgbClr>
            </a:outerShdw>
          </a:effectLst>
        </p:spPr>
        <p:txBody>
          <a:bodyPr/>
          <a:lstStyle/>
          <a:p>
            <a:endParaRPr lang="en-US"/>
          </a:p>
        </p:txBody>
      </p:sp>
      <p:sp>
        <p:nvSpPr>
          <p:cNvPr id="7" name="Text 5"/>
          <p:cNvSpPr/>
          <p:nvPr/>
        </p:nvSpPr>
        <p:spPr>
          <a:xfrm>
            <a:off x="2743200" y="164592"/>
            <a:ext cx="3657600" cy="59436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  FALSO</a:t>
            </a:r>
            <a:endParaRPr lang="en-US" sz="2000" dirty="0"/>
          </a:p>
        </p:txBody>
      </p:sp>
      <p:sp>
        <p:nvSpPr>
          <p:cNvPr id="8" name="Shape 6"/>
          <p:cNvSpPr/>
          <p:nvPr/>
        </p:nvSpPr>
        <p:spPr>
          <a:xfrm>
            <a:off x="365760" y="914400"/>
            <a:ext cx="8412480" cy="777240"/>
          </a:xfrm>
          <a:prstGeom prst="rect">
            <a:avLst/>
          </a:prstGeom>
          <a:solidFill>
            <a:srgbClr val="3A4550"/>
          </a:solidFill>
          <a:ln w="12700">
            <a:solidFill>
              <a:srgbClr val="404040"/>
            </a:solidFill>
            <a:prstDash val="solid"/>
          </a:ln>
        </p:spPr>
        <p:txBody>
          <a:bodyPr/>
          <a:lstStyle/>
          <a:p>
            <a:endParaRPr lang="en-US"/>
          </a:p>
        </p:txBody>
      </p:sp>
      <p:sp>
        <p:nvSpPr>
          <p:cNvPr id="9" name="Text 7"/>
          <p:cNvSpPr/>
          <p:nvPr/>
        </p:nvSpPr>
        <p:spPr>
          <a:xfrm>
            <a:off x="502920" y="914400"/>
            <a:ext cx="8138160" cy="777240"/>
          </a:xfrm>
          <a:prstGeom prst="rect">
            <a:avLst/>
          </a:prstGeom>
          <a:noFill/>
          <a:ln/>
        </p:spPr>
        <p:txBody>
          <a:bodyPr wrap="square" rtlCol="0" anchor="ctr"/>
          <a:lstStyle/>
          <a:p>
            <a:pPr marL="0" indent="0">
              <a:buNone/>
            </a:pPr>
            <a:r>
              <a:rPr lang="en-US" sz="1050" i="1" dirty="0">
                <a:solidFill>
                  <a:srgbClr val="808080"/>
                </a:solidFill>
                <a:latin typeface="Arial" pitchFamily="34" charset="0"/>
                <a:ea typeface="Arial" pitchFamily="34" charset="-122"/>
                <a:cs typeface="Arial" pitchFamily="34" charset="-120"/>
              </a:rPr>
              <a:t>En la trama IEEE 802.3, el campo de datos contiene directamente el paquete IP, igual que en la trama Ethernet II.</a:t>
            </a:r>
            <a:endParaRPr lang="en-US" sz="1050" dirty="0"/>
          </a:p>
        </p:txBody>
      </p:sp>
      <p:sp>
        <p:nvSpPr>
          <p:cNvPr id="10" name="Shape 8"/>
          <p:cNvSpPr/>
          <p:nvPr/>
        </p:nvSpPr>
        <p:spPr>
          <a:xfrm>
            <a:off x="365760" y="1828800"/>
            <a:ext cx="8412480" cy="2880360"/>
          </a:xfrm>
          <a:prstGeom prst="rect">
            <a:avLst/>
          </a:prstGeom>
          <a:solidFill>
            <a:srgbClr val="E8F4FC"/>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11" name="Shape 9"/>
          <p:cNvSpPr/>
          <p:nvPr/>
        </p:nvSpPr>
        <p:spPr>
          <a:xfrm>
            <a:off x="365760" y="1828800"/>
            <a:ext cx="8412480" cy="384048"/>
          </a:xfrm>
          <a:prstGeom prst="rect">
            <a:avLst/>
          </a:prstGeom>
          <a:solidFill>
            <a:srgbClr val="3A7BAA"/>
          </a:solidFill>
          <a:ln w="12700">
            <a:solidFill>
              <a:srgbClr val="3A7BAA"/>
            </a:solidFill>
            <a:prstDash val="solid"/>
          </a:ln>
        </p:spPr>
        <p:txBody>
          <a:bodyPr/>
          <a:lstStyle/>
          <a:p>
            <a:endParaRPr lang="en-US"/>
          </a:p>
        </p:txBody>
      </p:sp>
      <p:sp>
        <p:nvSpPr>
          <p:cNvPr id="12" name="Text 10"/>
          <p:cNvSpPr/>
          <p:nvPr/>
        </p:nvSpPr>
        <p:spPr>
          <a:xfrm>
            <a:off x="457200" y="1828800"/>
            <a:ext cx="8229600" cy="384048"/>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Justificación</a:t>
            </a:r>
            <a:endParaRPr lang="en-US" sz="1300" dirty="0"/>
          </a:p>
        </p:txBody>
      </p:sp>
      <p:sp>
        <p:nvSpPr>
          <p:cNvPr id="13" name="Text 11"/>
          <p:cNvSpPr/>
          <p:nvPr/>
        </p:nvSpPr>
        <p:spPr>
          <a:xfrm>
            <a:off x="502920" y="2286000"/>
            <a:ext cx="8229600" cy="2331720"/>
          </a:xfrm>
          <a:prstGeom prst="rect">
            <a:avLst/>
          </a:prstGeom>
          <a:noFill/>
          <a:ln/>
        </p:spPr>
        <p:txBody>
          <a:bodyPr wrap="square" rtlCol="0" anchor="t"/>
          <a:lstStyle/>
          <a:p>
            <a:pPr marL="0" indent="0">
              <a:buNone/>
            </a:pPr>
            <a:r>
              <a:rPr lang="en-US" sz="1250" dirty="0">
                <a:solidFill>
                  <a:srgbClr val="404040"/>
                </a:solidFill>
                <a:latin typeface="Arial" pitchFamily="34" charset="0"/>
                <a:ea typeface="Arial" pitchFamily="34" charset="-122"/>
                <a:cs typeface="Arial" pitchFamily="34" charset="-120"/>
              </a:rPr>
              <a:t>FALSO. En IEEE 802.3, el campo de datos contiene una TRAMA LLC, que a su vez incluye campos DSAP, SSAP, Control y finalmente los datos del paquete de red. Es la trama Ethernet II (DIX) la que contiene directamente el paquete IP en su campo de datos, sin pasar por LLC.</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0" y="5047488"/>
            <a:ext cx="9144000" cy="91440"/>
          </a:xfrm>
          <a:prstGeom prst="rect">
            <a:avLst/>
          </a:prstGeom>
          <a:solidFill>
            <a:srgbClr val="5AA8D8"/>
          </a:solidFill>
          <a:ln w="12700">
            <a:solidFill>
              <a:srgbClr val="5AA8D8"/>
            </a:solidFill>
            <a:prstDash val="solid"/>
          </a:ln>
        </p:spPr>
        <p:txBody>
          <a:bodyPr/>
          <a:lstStyle/>
          <a:p>
            <a:endParaRPr lang="en-US"/>
          </a:p>
        </p:txBody>
      </p:sp>
      <p:sp>
        <p:nvSpPr>
          <p:cNvPr id="4" name="Shape 2"/>
          <p:cNvSpPr/>
          <p:nvPr/>
        </p:nvSpPr>
        <p:spPr>
          <a:xfrm>
            <a:off x="1280160" y="658368"/>
            <a:ext cx="6583680" cy="4251960"/>
          </a:xfrm>
          <a:prstGeom prst="rect">
            <a:avLst/>
          </a:prstGeom>
          <a:solidFill>
            <a:srgbClr val="3A4550"/>
          </a:solidFill>
          <a:ln w="12700">
            <a:solidFill>
              <a:srgbClr val="5AA8D8"/>
            </a:solidFill>
            <a:prstDash val="solid"/>
          </a:ln>
          <a:effectLst>
            <a:outerShdw blurRad="101600" dist="38100" dir="8100000" algn="bl" rotWithShape="0">
              <a:srgbClr val="000000">
                <a:alpha val="15000"/>
              </a:srgbClr>
            </a:outerShdw>
          </a:effectLst>
        </p:spPr>
        <p:txBody>
          <a:bodyPr/>
          <a:lstStyle/>
          <a:p>
            <a:endParaRPr lang="en-US"/>
          </a:p>
        </p:txBody>
      </p:sp>
      <p:sp>
        <p:nvSpPr>
          <p:cNvPr id="5" name="Text 3"/>
          <p:cNvSpPr/>
          <p:nvPr/>
        </p:nvSpPr>
        <p:spPr>
          <a:xfrm>
            <a:off x="1463040" y="795528"/>
            <a:ext cx="6217920" cy="384048"/>
          </a:xfrm>
          <a:prstGeom prst="rect">
            <a:avLst/>
          </a:prstGeom>
          <a:noFill/>
          <a:ln/>
        </p:spPr>
        <p:txBody>
          <a:bodyPr wrap="square" rtlCol="0" anchor="ctr"/>
          <a:lstStyle/>
          <a:p>
            <a:pPr marL="0" indent="0" algn="ctr">
              <a:buNone/>
            </a:pPr>
            <a:r>
              <a:rPr lang="en-US" sz="1800" b="1" dirty="0">
                <a:solidFill>
                  <a:srgbClr val="5AA8D8"/>
                </a:solidFill>
                <a:latin typeface="Arial" pitchFamily="34" charset="0"/>
                <a:ea typeface="Arial" pitchFamily="34" charset="-122"/>
                <a:cs typeface="Arial" pitchFamily="34" charset="-120"/>
              </a:rPr>
              <a:t>Ideas Clave</a:t>
            </a:r>
            <a:endParaRPr lang="en-US" sz="1800" dirty="0"/>
          </a:p>
        </p:txBody>
      </p:sp>
      <p:sp>
        <p:nvSpPr>
          <p:cNvPr id="6" name="Shape 4"/>
          <p:cNvSpPr/>
          <p:nvPr/>
        </p:nvSpPr>
        <p:spPr>
          <a:xfrm>
            <a:off x="1463040" y="1298448"/>
            <a:ext cx="54864" cy="256032"/>
          </a:xfrm>
          <a:prstGeom prst="rect">
            <a:avLst/>
          </a:prstGeom>
          <a:solidFill>
            <a:srgbClr val="5AA8D8"/>
          </a:solidFill>
          <a:ln w="12700">
            <a:solidFill>
              <a:srgbClr val="5AA8D8"/>
            </a:solidFill>
            <a:prstDash val="solid"/>
          </a:ln>
        </p:spPr>
        <p:txBody>
          <a:bodyPr/>
          <a:lstStyle/>
          <a:p>
            <a:endParaRPr lang="en-US"/>
          </a:p>
        </p:txBody>
      </p:sp>
      <p:sp>
        <p:nvSpPr>
          <p:cNvPr id="7" name="Text 5"/>
          <p:cNvSpPr/>
          <p:nvPr/>
        </p:nvSpPr>
        <p:spPr>
          <a:xfrm>
            <a:off x="1600200" y="1280160"/>
            <a:ext cx="6080760" cy="347472"/>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La trama es la unidad de datos de Capa 2 — encapsula el paquete IP</a:t>
            </a:r>
            <a:endParaRPr lang="en-US" sz="1150" dirty="0"/>
          </a:p>
        </p:txBody>
      </p:sp>
      <p:sp>
        <p:nvSpPr>
          <p:cNvPr id="8" name="Shape 6"/>
          <p:cNvSpPr/>
          <p:nvPr/>
        </p:nvSpPr>
        <p:spPr>
          <a:xfrm>
            <a:off x="1463040" y="1709928"/>
            <a:ext cx="54864" cy="256032"/>
          </a:xfrm>
          <a:prstGeom prst="rect">
            <a:avLst/>
          </a:prstGeom>
          <a:solidFill>
            <a:srgbClr val="5AA8D8"/>
          </a:solidFill>
          <a:ln w="12700">
            <a:solidFill>
              <a:srgbClr val="5AA8D8"/>
            </a:solidFill>
            <a:prstDash val="solid"/>
          </a:ln>
        </p:spPr>
        <p:txBody>
          <a:bodyPr/>
          <a:lstStyle/>
          <a:p>
            <a:endParaRPr lang="en-US"/>
          </a:p>
        </p:txBody>
      </p:sp>
      <p:sp>
        <p:nvSpPr>
          <p:cNvPr id="9" name="Text 7"/>
          <p:cNvSpPr/>
          <p:nvPr/>
        </p:nvSpPr>
        <p:spPr>
          <a:xfrm>
            <a:off x="1600200" y="1691640"/>
            <a:ext cx="6080760" cy="347472"/>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Ethernet II: Preámbulo 8B + MAC dst + MAC src + Type 2B + Datos + FCS</a:t>
            </a:r>
            <a:endParaRPr lang="en-US" sz="1150" dirty="0"/>
          </a:p>
        </p:txBody>
      </p:sp>
      <p:sp>
        <p:nvSpPr>
          <p:cNvPr id="10" name="Shape 8"/>
          <p:cNvSpPr/>
          <p:nvPr/>
        </p:nvSpPr>
        <p:spPr>
          <a:xfrm>
            <a:off x="1463040" y="2121408"/>
            <a:ext cx="54864" cy="256032"/>
          </a:xfrm>
          <a:prstGeom prst="rect">
            <a:avLst/>
          </a:prstGeom>
          <a:solidFill>
            <a:srgbClr val="5AA8D8"/>
          </a:solidFill>
          <a:ln w="12700">
            <a:solidFill>
              <a:srgbClr val="5AA8D8"/>
            </a:solidFill>
            <a:prstDash val="solid"/>
          </a:ln>
        </p:spPr>
        <p:txBody>
          <a:bodyPr/>
          <a:lstStyle/>
          <a:p>
            <a:endParaRPr lang="en-US"/>
          </a:p>
        </p:txBody>
      </p:sp>
      <p:sp>
        <p:nvSpPr>
          <p:cNvPr id="11" name="Text 9"/>
          <p:cNvSpPr/>
          <p:nvPr/>
        </p:nvSpPr>
        <p:spPr>
          <a:xfrm>
            <a:off x="1600200" y="2103120"/>
            <a:ext cx="6080760" cy="347472"/>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IEEE 802.3: Preámbulo 7B + SOF 1B + MAC dst + MAC src + Length 2B + LLC + FCS</a:t>
            </a:r>
            <a:endParaRPr lang="en-US" sz="1150" dirty="0"/>
          </a:p>
        </p:txBody>
      </p:sp>
      <p:sp>
        <p:nvSpPr>
          <p:cNvPr id="12" name="Shape 10"/>
          <p:cNvSpPr/>
          <p:nvPr/>
        </p:nvSpPr>
        <p:spPr>
          <a:xfrm>
            <a:off x="1463040" y="2532888"/>
            <a:ext cx="54864" cy="256032"/>
          </a:xfrm>
          <a:prstGeom prst="rect">
            <a:avLst/>
          </a:prstGeom>
          <a:solidFill>
            <a:srgbClr val="5AA8D8"/>
          </a:solidFill>
          <a:ln w="12700">
            <a:solidFill>
              <a:srgbClr val="5AA8D8"/>
            </a:solidFill>
            <a:prstDash val="solid"/>
          </a:ln>
        </p:spPr>
        <p:txBody>
          <a:bodyPr/>
          <a:lstStyle/>
          <a:p>
            <a:endParaRPr lang="en-US"/>
          </a:p>
        </p:txBody>
      </p:sp>
      <p:sp>
        <p:nvSpPr>
          <p:cNvPr id="13" name="Text 11"/>
          <p:cNvSpPr/>
          <p:nvPr/>
        </p:nvSpPr>
        <p:spPr>
          <a:xfrm>
            <a:off x="1600200" y="2514600"/>
            <a:ext cx="6080760" cy="347472"/>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Type (Ethernet II) = protocolo Capa 3  |  Length (802.3) = tamaño del payload</a:t>
            </a:r>
            <a:endParaRPr lang="en-US" sz="1150" dirty="0"/>
          </a:p>
        </p:txBody>
      </p:sp>
      <p:sp>
        <p:nvSpPr>
          <p:cNvPr id="14" name="Shape 12"/>
          <p:cNvSpPr/>
          <p:nvPr/>
        </p:nvSpPr>
        <p:spPr>
          <a:xfrm>
            <a:off x="1463040" y="2944368"/>
            <a:ext cx="54864" cy="256032"/>
          </a:xfrm>
          <a:prstGeom prst="rect">
            <a:avLst/>
          </a:prstGeom>
          <a:solidFill>
            <a:srgbClr val="5AA8D8"/>
          </a:solidFill>
          <a:ln w="12700">
            <a:solidFill>
              <a:srgbClr val="5AA8D8"/>
            </a:solidFill>
            <a:prstDash val="solid"/>
          </a:ln>
        </p:spPr>
        <p:txBody>
          <a:bodyPr/>
          <a:lstStyle/>
          <a:p>
            <a:endParaRPr lang="en-US"/>
          </a:p>
        </p:txBody>
      </p:sp>
      <p:sp>
        <p:nvSpPr>
          <p:cNvPr id="15" name="Text 13"/>
          <p:cNvSpPr/>
          <p:nvPr/>
        </p:nvSpPr>
        <p:spPr>
          <a:xfrm>
            <a:off x="1600200" y="2926080"/>
            <a:ext cx="6080760" cy="347472"/>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Truco: valor ≥ 1536 → Ethernet II  |  valor ≤ 1500 → IEEE 802.3</a:t>
            </a:r>
            <a:endParaRPr lang="en-US" sz="1150" dirty="0"/>
          </a:p>
        </p:txBody>
      </p:sp>
      <p:sp>
        <p:nvSpPr>
          <p:cNvPr id="16" name="Shape 14"/>
          <p:cNvSpPr/>
          <p:nvPr/>
        </p:nvSpPr>
        <p:spPr>
          <a:xfrm>
            <a:off x="1463040" y="3355848"/>
            <a:ext cx="54864" cy="256032"/>
          </a:xfrm>
          <a:prstGeom prst="rect">
            <a:avLst/>
          </a:prstGeom>
          <a:solidFill>
            <a:srgbClr val="5AA8D8"/>
          </a:solidFill>
          <a:ln w="12700">
            <a:solidFill>
              <a:srgbClr val="5AA8D8"/>
            </a:solidFill>
            <a:prstDash val="solid"/>
          </a:ln>
        </p:spPr>
        <p:txBody>
          <a:bodyPr/>
          <a:lstStyle/>
          <a:p>
            <a:endParaRPr lang="en-US"/>
          </a:p>
        </p:txBody>
      </p:sp>
      <p:sp>
        <p:nvSpPr>
          <p:cNvPr id="17" name="Text 15"/>
          <p:cNvSpPr/>
          <p:nvPr/>
        </p:nvSpPr>
        <p:spPr>
          <a:xfrm>
            <a:off x="1600200" y="3337560"/>
            <a:ext cx="6080760" cy="347472"/>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Trama mínima 64 bytes (datos mínimos 46B + PAD si faltan). Razón: CSMA/CD</a:t>
            </a:r>
            <a:endParaRPr lang="en-US" sz="1150" dirty="0"/>
          </a:p>
        </p:txBody>
      </p:sp>
      <p:sp>
        <p:nvSpPr>
          <p:cNvPr id="18" name="Shape 16"/>
          <p:cNvSpPr/>
          <p:nvPr/>
        </p:nvSpPr>
        <p:spPr>
          <a:xfrm>
            <a:off x="1463040" y="3767328"/>
            <a:ext cx="54864" cy="256032"/>
          </a:xfrm>
          <a:prstGeom prst="rect">
            <a:avLst/>
          </a:prstGeom>
          <a:solidFill>
            <a:srgbClr val="5AA8D8"/>
          </a:solidFill>
          <a:ln w="12700">
            <a:solidFill>
              <a:srgbClr val="5AA8D8"/>
            </a:solidFill>
            <a:prstDash val="solid"/>
          </a:ln>
        </p:spPr>
        <p:txBody>
          <a:bodyPr/>
          <a:lstStyle/>
          <a:p>
            <a:endParaRPr lang="en-US"/>
          </a:p>
        </p:txBody>
      </p:sp>
      <p:sp>
        <p:nvSpPr>
          <p:cNvPr id="19" name="Text 17"/>
          <p:cNvSpPr/>
          <p:nvPr/>
        </p:nvSpPr>
        <p:spPr>
          <a:xfrm>
            <a:off x="1600200" y="3749040"/>
            <a:ext cx="6080760" cy="347472"/>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MTU estándar = 1500 bytes. Jumbo frames = 9000 bytes (data centers)</a:t>
            </a:r>
            <a:endParaRPr lang="en-US" sz="1150" dirty="0"/>
          </a:p>
        </p:txBody>
      </p:sp>
      <p:sp>
        <p:nvSpPr>
          <p:cNvPr id="20" name="Shape 18"/>
          <p:cNvSpPr/>
          <p:nvPr/>
        </p:nvSpPr>
        <p:spPr>
          <a:xfrm>
            <a:off x="1463040" y="4178808"/>
            <a:ext cx="54864" cy="256032"/>
          </a:xfrm>
          <a:prstGeom prst="rect">
            <a:avLst/>
          </a:prstGeom>
          <a:solidFill>
            <a:srgbClr val="5AA8D8"/>
          </a:solidFill>
          <a:ln w="12700">
            <a:solidFill>
              <a:srgbClr val="5AA8D8"/>
            </a:solidFill>
            <a:prstDash val="solid"/>
          </a:ln>
        </p:spPr>
        <p:txBody>
          <a:bodyPr/>
          <a:lstStyle/>
          <a:p>
            <a:endParaRPr lang="en-US"/>
          </a:p>
        </p:txBody>
      </p:sp>
      <p:sp>
        <p:nvSpPr>
          <p:cNvPr id="21" name="Text 19"/>
          <p:cNvSpPr/>
          <p:nvPr/>
        </p:nvSpPr>
        <p:spPr>
          <a:xfrm>
            <a:off x="1600200" y="4160520"/>
            <a:ext cx="6080760" cy="347472"/>
          </a:xfrm>
          <a:prstGeom prst="rect">
            <a:avLst/>
          </a:prstGeom>
          <a:noFill/>
          <a:ln/>
        </p:spPr>
        <p:txBody>
          <a:bodyPr wrap="square" rtlCol="0" anchor="ctr"/>
          <a:lstStyle/>
          <a:p>
            <a:pPr marL="0" indent="0">
              <a:buNone/>
            </a:pPr>
            <a:r>
              <a:rPr lang="en-US" sz="1150" dirty="0">
                <a:solidFill>
                  <a:srgbClr val="FFFFFF"/>
                </a:solidFill>
                <a:latin typeface="Arial" pitchFamily="34" charset="0"/>
                <a:ea typeface="Arial" pitchFamily="34" charset="-122"/>
                <a:cs typeface="Arial" pitchFamily="34" charset="-120"/>
              </a:rPr>
              <a:t>FCS = CRC-32: detecta errores, NO los corrige. Trama errónea → descartada</a:t>
            </a:r>
            <a:endParaRPr lang="en-US" sz="1150" dirty="0"/>
          </a:p>
        </p:txBody>
      </p:sp>
      <p:sp>
        <p:nvSpPr>
          <p:cNvPr id="22" name="Text 20"/>
          <p:cNvSpPr/>
          <p:nvPr/>
        </p:nvSpPr>
        <p:spPr>
          <a:xfrm>
            <a:off x="0" y="4700016"/>
            <a:ext cx="9144000" cy="274320"/>
          </a:xfrm>
          <a:prstGeom prst="rect">
            <a:avLst/>
          </a:prstGeom>
          <a:noFill/>
          <a:ln/>
        </p:spPr>
        <p:txBody>
          <a:bodyPr wrap="square" rtlCol="0" anchor="ctr"/>
          <a:lstStyle/>
          <a:p>
            <a:pPr marL="0" indent="0" algn="ctr">
              <a:buNone/>
            </a:pPr>
            <a:r>
              <a:rPr lang="en-US" sz="1000" dirty="0">
                <a:solidFill>
                  <a:srgbClr val="808080"/>
                </a:solidFill>
                <a:latin typeface="Arial" pitchFamily="34" charset="0"/>
                <a:ea typeface="Arial" pitchFamily="34" charset="-122"/>
                <a:cs typeface="Arial" pitchFamily="34" charset="-120"/>
              </a:rPr>
              <a:t>Redes y Comunicaciones  —  SP4 / H5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1786</Words>
  <Application>Microsoft Office PowerPoint</Application>
  <PresentationFormat>Presentación en pantalla (16:9)</PresentationFormat>
  <Paragraphs>245</Paragraphs>
  <Slides>15</Slides>
  <Notes>15</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15</vt:i4>
      </vt:variant>
    </vt:vector>
  </HeadingPairs>
  <TitlesOfParts>
    <vt:vector size="17" baseType="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SP4/H5: Tramas Ethernet e IEEE 802.3</dc:title>
  <dc:subject>PptxGenJS Presentation</dc:subject>
  <dc:creator>PptxGenJS</dc:creator>
  <cp:lastModifiedBy>PEREZ ESPAÑON, ANTONIO VICTOR</cp:lastModifiedBy>
  <cp:revision>2</cp:revision>
  <dcterms:created xsi:type="dcterms:W3CDTF">2026-04-06T22:11:06Z</dcterms:created>
  <dcterms:modified xsi:type="dcterms:W3CDTF">2026-04-30T18:53:53Z</dcterms:modified>
</cp:coreProperties>
</file>