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6" y="4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65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48840" y="1508760"/>
            <a:ext cx="274320" cy="274320"/>
          </a:xfrm>
          <a:prstGeom prst="ellipse">
            <a:avLst/>
          </a:prstGeom>
          <a:solidFill>
            <a:srgbClr val="5AA8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1645920"/>
            <a:ext cx="956611" cy="695018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5451" y="2203778"/>
            <a:ext cx="274320" cy="274320"/>
          </a:xfrm>
          <a:prstGeom prst="ellipse">
            <a:avLst/>
          </a:prstGeom>
          <a:solidFill>
            <a:srgbClr val="5AA8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77218" y="2340938"/>
            <a:ext cx="365393" cy="1124563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0058" y="3328342"/>
            <a:ext cx="274320" cy="274320"/>
          </a:xfrm>
          <a:prstGeom prst="ellipse">
            <a:avLst/>
          </a:prstGeom>
          <a:solidFill>
            <a:srgbClr val="5AA8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4782" y="3465502"/>
            <a:ext cx="1182436" cy="9144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7622" y="3328342"/>
            <a:ext cx="274320" cy="274320"/>
          </a:xfrm>
          <a:prstGeom prst="ellipse">
            <a:avLst/>
          </a:prstGeom>
          <a:solidFill>
            <a:srgbClr val="5AA8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29389" y="2340938"/>
            <a:ext cx="365393" cy="1124563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92229" y="2203778"/>
            <a:ext cx="274320" cy="274320"/>
          </a:xfrm>
          <a:prstGeom prst="ellipse">
            <a:avLst/>
          </a:prstGeom>
          <a:solidFill>
            <a:srgbClr val="5AA8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29389" y="1645920"/>
            <a:ext cx="956611" cy="695018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1828800"/>
            <a:ext cx="594360" cy="256032"/>
          </a:xfrm>
          <a:prstGeom prst="rect">
            <a:avLst/>
          </a:prstGeom>
          <a:solidFill>
            <a:srgbClr val="3A7BAA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1828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2834640"/>
          </a:xfrm>
          <a:prstGeom prst="rect">
            <a:avLst/>
          </a:prstGeom>
          <a:solidFill>
            <a:srgbClr val="3A7BAA">
              <a:alpha val="90000"/>
            </a:srgbClr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SP4 / H2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Acceso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Medio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IEEE 802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se necesita controlar el acceso al medio?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las colisiones en un canal compartido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120640" cy="3337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12064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— Canal compartido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128016" cy="128016"/>
          </a:xfrm>
          <a:prstGeom prst="ellipse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" y="186537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LAN, todos los dispositivos comparten el mismo medio físico.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128016" cy="128016"/>
          </a:xfrm>
          <a:prstGeom prst="ellipse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23774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dos transmiten al mismo tiempo → los datos se corrompen.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28016" cy="128016"/>
          </a:xfrm>
          <a:prstGeom prst="ellipse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" y="288950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esto se llama COLISIÓN.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128016" cy="128016"/>
          </a:xfrm>
          <a:prstGeom prst="ellipse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" y="340156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reglas, la red sería inutilizable bajo carga.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128016" cy="128016"/>
          </a:xfrm>
          <a:prstGeom prst="ellipse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391363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necesita un árbitro: el Método de Acceso al Medio (MAC).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417320"/>
            <a:ext cx="3154680" cy="3337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315468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0" y="14173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enfoques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1938528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0644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2286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colisión y resolver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2898648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064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Passing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3246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colisión con turnos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3858768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3886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06440" y="4206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(Wi-Fi) Evitar antes de transmitir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Analogía: una reunión sin moderador — todos hablan al mismo tiempo. El método de acceso es el moderador.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— Ethernet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Sense Multiple Access with Collision Detection — IEEE 802.3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097280" cy="8686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08760" y="1389888"/>
            <a:ext cx="7269480" cy="868680"/>
          </a:xfrm>
          <a:prstGeom prst="rect">
            <a:avLst/>
          </a:prstGeom>
          <a:solidFill>
            <a:srgbClr val="3A4550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1426464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Sense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773936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Escuchá antes de hablar. El dispositivo verifica si el canal está libre.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1097280" cy="8686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4688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08760" y="2468880"/>
            <a:ext cx="7269480" cy="868680"/>
          </a:xfrm>
          <a:prstGeom prst="rect">
            <a:avLst/>
          </a:prstGeom>
          <a:solidFill>
            <a:srgbClr val="3A4550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00200" y="250545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2852928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pueden usar el canal. No hay un dueño del medio.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1097280" cy="8686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547872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08760" y="3547872"/>
            <a:ext cx="7269480" cy="868680"/>
          </a:xfrm>
          <a:prstGeom prst="rect">
            <a:avLst/>
          </a:prstGeom>
          <a:solidFill>
            <a:srgbClr val="3A4550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00200" y="3584448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931920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dos transmiten al mismo tiempo, se detecta la colisión y ambos paran.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4805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Estado actual: con switches full-duplex, las colisiones son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minimizadas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CSMA/CD es el fundamento conceptual de Ethernet (802.3).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Pregunta: ¿por qué con un switch full-duplex no hay colisiones? (Cada puerto tiene su propio canal dedicado)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Passing — Paso de Testigo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determinístico: turnos ordenados, sin colisiones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337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8836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token (trama especial) circula por la 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395728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591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dispositivo con el token puede transmitir.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2871216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8346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termina, pasa el token al siguiente.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346704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31012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dispositivos tienen turno garantizado.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" y="3822192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7856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colisiones: es imposible que dos transmitan al mismo tiempo.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" y="4297680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426110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calcular el tiempo máximo de espera.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4160520" cy="33375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1975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Bus (802.4)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64608" y="22677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Topología bus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25146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General Motors. Aplicaciones industriales. Actualmente EN DESUSO.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42900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34838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Ring (802.5)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Topología anillo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IBM. Alta fiabilidad. EN DESUSO en redes modernas. Sus conceptos viven </a:t>
            </a:r>
            <a:r>
              <a:rPr lang="en-US" sz="1100" dirty="0" err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anillos</a:t>
            </a: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ópticos.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Analogía: el token es un micrófono que circula. Solo habla quien lo tiene. Nadie interrumpe.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vs Token Passing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estrategias distintas para el mismo problema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5603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" y="141732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417320"/>
            <a:ext cx="301752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35224" y="141732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(Ethernet)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1417320"/>
            <a:ext cx="3017520" cy="4114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52744" y="141732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2560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9019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901952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44368" y="1901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Probabilístico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901952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61888" y="19019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Determinístico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322576"/>
            <a:ext cx="2560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3225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322576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44368" y="23225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2322576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61888" y="23225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2560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7432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máx. espera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2743200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44368" y="27432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garantizado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743200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61888" y="27432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2560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1638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carga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3163824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44368" y="31638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Muy eficiente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163824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61888" y="316382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Espera el token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584448"/>
            <a:ext cx="2560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35844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carga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80360" y="3584448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44368" y="35844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Muchas colisiones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97880" y="3584448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61888" y="35844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Sin degradación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4005072"/>
            <a:ext cx="2560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4048" y="40050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hoy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80360" y="4005072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44368" y="4005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Ethernet (802.3)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97880" y="4005072"/>
            <a:ext cx="30175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61888" y="4005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desuso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4425696"/>
            <a:ext cx="2560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4048" y="44256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inalámbrica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80360" y="4425696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944368" y="442569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CSMA/CA (Wi-Fi)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97880" y="4425696"/>
            <a:ext cx="30175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61888" y="442569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equiv. directo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Preguntar: ¿para qué escenario usarías Token Passing hoy? (Entornos industriales críticos: PROFIBUS, PLC, automatización)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Estándares IEEE 802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nervioso de todas las redes locales — desde 1980 hasta hoy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8412480" cy="0"/>
          </a:xfrm>
          <a:prstGeom prst="line">
            <a:avLst/>
          </a:prstGeom>
          <a:noFill/>
          <a:ln w="317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9144" cy="0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-164592" y="118872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1980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-292608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crea el Comité 802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7640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67840" y="2029968"/>
            <a:ext cx="9144" cy="475488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7488" y="257860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1981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09472" y="2852928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preliminar IEEE 802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7848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69920" y="1847088"/>
            <a:ext cx="9144" cy="0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39568" y="118872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1552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802.3 (Ethernet) publicado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029968"/>
            <a:ext cx="9144" cy="475488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41648" y="257860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2852928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 (Wi-Fi) primera versión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8264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74080" y="1847088"/>
            <a:ext cx="9144" cy="0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3728" y="118872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15712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802.11n (Wi-Fi 4)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8472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6160" y="2029968"/>
            <a:ext cx="9144" cy="475488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45808" y="257860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17792" y="2852928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802.11ax (Wi-Fi 6)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86800" y="1847088"/>
            <a:ext cx="182880" cy="182880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778240" y="1847088"/>
            <a:ext cx="9144" cy="0"/>
          </a:xfrm>
          <a:prstGeom prst="line">
            <a:avLst/>
          </a:prstGeom>
          <a:noFill/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47888" y="118872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19872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802.11be (Wi-Fi 7)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246120"/>
            <a:ext cx="73152" cy="1508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291840"/>
            <a:ext cx="8092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 el IEEE 802?  El Ethernet de tu PC, el Wi-Fi de tu celular y el Bluetooth de tus auriculares son todos estándares IEEE 802. Sin este comité, cada fabricante haría su propia red incompatible. Los estándares abiertos son la base de la interoperabilidad: conectás un router TP-Link, una PC Dell y un celular Samsung en la misma red sin problemas.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Dato: el '802' viene de la fecha: año 1980, mes 02. El comité se reunió por primera vez en febrero de 1980.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153162"/>
            <a:ext cx="8229600" cy="55549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Modelo IEEE 802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87415" y="73609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de Enlace se divide en dos: MAC y LLC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9910"/>
            <a:ext cx="2286000" cy="34747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5991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OSI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53102"/>
            <a:ext cx="2286000" cy="438912"/>
          </a:xfrm>
          <a:prstGeom prst="rect">
            <a:avLst/>
          </a:prstGeom>
          <a:solidFill>
            <a:srgbClr val="555555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5310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Aplicación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8590"/>
            <a:ext cx="2286000" cy="438912"/>
          </a:xfrm>
          <a:prstGeom prst="rect">
            <a:avLst/>
          </a:prstGeom>
          <a:solidFill>
            <a:srgbClr val="555555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92859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Presentación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04078"/>
            <a:ext cx="2286000" cy="438912"/>
          </a:xfrm>
          <a:prstGeom prst="rect">
            <a:avLst/>
          </a:prstGeom>
          <a:solidFill>
            <a:srgbClr val="555555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40407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Sesión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79566"/>
            <a:ext cx="2286000" cy="438912"/>
          </a:xfrm>
          <a:prstGeom prst="rect">
            <a:avLst/>
          </a:prstGeom>
          <a:solidFill>
            <a:srgbClr val="555555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7956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Transporte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55054"/>
            <a:ext cx="2286000" cy="438912"/>
          </a:xfrm>
          <a:prstGeom prst="rect">
            <a:avLst/>
          </a:prstGeom>
          <a:solidFill>
            <a:srgbClr val="555555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35505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30542"/>
            <a:ext cx="2286000" cy="438912"/>
          </a:xfrm>
          <a:prstGeom prst="rect">
            <a:avLst/>
          </a:prstGeom>
          <a:solidFill>
            <a:srgbClr val="3A7BAA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83054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Enlace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306030"/>
            <a:ext cx="2286000" cy="438912"/>
          </a:xfrm>
          <a:prstGeom prst="rect">
            <a:avLst/>
          </a:prstGeom>
          <a:solidFill>
            <a:srgbClr val="444444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30603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Física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1389888"/>
            <a:ext cx="5577840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13898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IEEE 802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1783080"/>
            <a:ext cx="5577840" cy="658368"/>
          </a:xfrm>
          <a:prstGeom prst="rect">
            <a:avLst/>
          </a:prstGeom>
          <a:solidFill>
            <a:srgbClr val="3A7BAA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10128" y="181965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— Logical Link Control (802.2)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2112264"/>
            <a:ext cx="5449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enlace lógico. COMÚN a todos los estándares 802. Gestiona el enlace entre dispositivos.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478024"/>
            <a:ext cx="5577840" cy="658368"/>
          </a:xfrm>
          <a:prstGeom prst="rect">
            <a:avLst/>
          </a:prstGeom>
          <a:solidFill>
            <a:srgbClr val="2A5E7A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2514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— Media Access Control (802.3 / 802.11 / 802.15...)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2807208"/>
            <a:ext cx="5449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el acceso al medio. VARÍA según tecnología: Ethernet, Wi-Fi, Bluetooth, etc.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172968"/>
            <a:ext cx="5577840" cy="658368"/>
          </a:xfrm>
          <a:prstGeom prst="rect">
            <a:avLst/>
          </a:prstGeom>
          <a:solidFill>
            <a:srgbClr val="3A3F44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0128" y="320954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Física — PHY (varía por tecnología)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3502152"/>
            <a:ext cx="5449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eléctricas/ópticas/radio. Varía según el medio: cable, fibra, aire.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4160520"/>
            <a:ext cx="5577840" cy="457200"/>
          </a:xfrm>
          <a:prstGeom prst="rect">
            <a:avLst/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4160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Clave: el LLC (802.2) es IGUAL para Ethernet, Wi-Fi y Bluetooth. Solo cambia el MAC y la Física.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7160" y="4805172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Pregunta: ¿qué ventaja da tener el LLC igual para todos? → Interoperabilidad entre tecnologías distintas.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IEEE 802 — Estándares actuales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cable de par trenzado al 5G: todos tienen raíces en el IEEE 802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  —  Gestión y VLANs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Spanning Tree, VLANs (802.1Q), seguridad de 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44475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802.2  —  LLC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92024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enlace lógico — común a todos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44475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802.3  —  Ethernet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92024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Mbps→100 GbE. Base de toda LAN cableada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163824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  —  Wi-Fi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4/5/6/7: 802.11n/ac/ax/be. Omnipresente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64408" y="3163824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64408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802.15  —  WPAN / Bluetooth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63931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Bluetooth, ZigBee, UWB — IoT y wearables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08776" y="3163824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81928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802.16  —  WiMAX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0216" y="363931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inalámbrico metropolitano — precursor 5G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Tu celular usa al menos 802.11 (Wi-Fi), 802.15.1 (Bluetooth) y 802.15.4 si tiene ZigBee. Todo es IEEE 802.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y CSMA/CA son el mismo protocolo. Ambos detectan colisiones después de que ocurren.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Pedir justificación antes de revelar la respuesta.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y CSMA/CA son el mismo protocolo. Ambos detectan colisiones después de que ocurren.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CSMA/CD (Collision Detection) detecta colisiones después de que ocurren — se usa en Ethernet cableado. CSMA/CA (Collision Avoidance) intenta EVITAR las colisiones antes de transmitir — se usa en Wi-Fi (802.11), porque en inalámbrico no siempre es posible detectar una colisión en curso.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estándar IEEE 802, el protocolo LLC (802.2) es el mismo para Ethernet, Wi-Fi y otras tecnologías LAN.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Pedir justificación antes de revelar la respuesta.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estándar IEEE 802, el protocolo LLC (802.2) es el mismo para Ethernet, Wi-Fi y otras tecnologías LAN.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VERDADERO. La subcapa LLC (Logical Link Control, 802.2) es idéntica para todos los estándares IEEE 802, independientemente del método de acceso (Ethernet, Wi-Fi, Bluetooth). Esto garantiza la interoperabilidad entre dispositivos de distintas tecnologías en la misma red.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3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Ring (IEEE 802.5) sigue siendo el protocolo dominante en las redes LAN empresariales modernas por su alta fiabilidad.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Pedir justificación antes de revelar la respuesta.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Ring (IEEE 802.5) sigue siendo el protocolo dominante en las redes LAN empresariales modernas por su alta fiabilidad.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Token Ring cayó en desuso. Ethernet (CSMA/CD, 802.3) evolucionó más rápido en velocidad y redujo su costo. Con switches full-duplex, Ethernet eliminó prácticamente las colisiones y superó a Token Ring en todos los aspectos prácticos. Token Ring vive solo en nichos industriales muy específicos.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685800"/>
            <a:ext cx="6400800" cy="420624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1298448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= probabilístico — puede haber colisiones (Ethernet 802.3)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764792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Passing = determinístico — sin colisiones, con turnos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203704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2176272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usa CSMA/CA, no CD — evita antes de transmitir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642616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615184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switches full-duplex, las colisiones son cosa del pasado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081528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3054096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 divide la Capa 2 OSI en: MAC (varía) + LLC (igual para todos)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520440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3493008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LLC 802.2 es el mismo para Ethernet, Wi-Fi y Bluetooth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3959352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3931920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 ax/be (Wi-Fi 6/7) es el estándar LAN inalámbrico actual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  —  SP4 / H2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1452</Words>
  <Application>Microsoft Office PowerPoint</Application>
  <PresentationFormat>Presentación en pantalla (16:9)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SP4/H2: Métodos de Acceso al Medio — IEEE 802</dc:title>
  <dc:subject>PptxGenJS Presentation</dc:subject>
  <dc:creator>PptxGenJS</dc:creator>
  <cp:lastModifiedBy>PEREZ ESPAÑON, ANTONIO VICTOR</cp:lastModifiedBy>
  <cp:revision>4</cp:revision>
  <dcterms:created xsi:type="dcterms:W3CDTF">2026-04-06T21:30:27Z</dcterms:created>
  <dcterms:modified xsi:type="dcterms:W3CDTF">2026-04-14T00:49:50Z</dcterms:modified>
</cp:coreProperties>
</file>