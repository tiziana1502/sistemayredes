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0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SP6 / H1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164592"/>
            <a:ext cx="1737360" cy="640080"/>
          </a:xfrm>
          <a:prstGeom prst="rect">
            <a:avLst/>
          </a:prstGeom>
          <a:solidFill>
            <a:srgbClr val="2D303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164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Arquitectónico de Internet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SP6 / H1 — Redes y Comunicaciones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Prof: Ing. Antonio Víctor Pérez Españón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Internet?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más grande del mundo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mundial de redes interconectadas que usa el protocolo IP.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 explosivo: de 6.000 computadoras en 1986 a más de 2.400 millones de dispositivos en 2012. Hoy superamos los 15.000 millones.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tráfico se duplicaba cada dos años; actualmente el crecimiento sigue exponencial.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 no solo PCs, sino también notebooks, tablets, smartphones, Smart TVs, IoT y wearables.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conductor común que enlaza toda esta red es el software TCP/IP.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0" y="1005840"/>
            <a:ext cx="3017520" cy="1005840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0" y="10058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60720" y="1572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Nace ARPANET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3017520" cy="1005840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22402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280720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es estándar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3474720"/>
            <a:ext cx="3017520" cy="1005840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3474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60720" y="40416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mil millones de usuarios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Conectados a Internet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actual de conectividad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743200" cy="14630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Computadoras / Notebooks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Usuarios tradicionales de la 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14630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Teléfonos Celulares / Smartphones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4G/5G, WiFi, apps nativas de 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51560"/>
            <a:ext cx="2743200" cy="14630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1430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📟  Tablets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6916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WiFi y datos móviles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2743200" cy="14630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Smart TVs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Streaming, servicios OTT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2743200"/>
            <a:ext cx="2743200" cy="14630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375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Dispositivos IoT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37560" y="3383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Sensores, electrodomésticos, wearables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743200"/>
            <a:ext cx="2743200" cy="146304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28346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Automóviles conectados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3832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Conectividad 5G y V2X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estos dispositivos usan TCP/IP como protocolo común de comunicación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ARPANET a Internet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 y evolución de la 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0160" y="1143000"/>
            <a:ext cx="0" cy="3474720"/>
          </a:xfrm>
          <a:prstGeom prst="line">
            <a:avLst/>
          </a:prstGeom>
          <a:noFill/>
          <a:ln w="254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61288" y="1133856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10972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DARPA crea ARPANET — red experimental de conmutación de paquetes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61288" y="1728216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" y="1691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ARPANET pasa a ser operacional; administrada por DCA/DISA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61288" y="2322576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" y="22860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adoptado como Estándar Militar (MIL STD); nace el término Internet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61288" y="2916936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" y="28803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5448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ARPANET se divide en MILNET y ARPANET; 'Internet' = ambas redes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61288" y="3511296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" y="34747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5448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ARPANET deja de existir. Internet continúa creciendo globalmente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61288" y="4105656"/>
            <a:ext cx="237744" cy="23774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" y="40690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4069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Millones de redes interconectadas en todo el mundo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— El Protocolo de Internet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lenguaje común de la 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es un conjunto completo de protocolos de comunicación que lleva el nombre de sus dos protocolos principales: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4023360" cy="1463040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Control Protocol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Transporte. Garantiza entrega exacta extremo a extremo con detección y corrección de errores.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45920"/>
            <a:ext cx="4023360" cy="146304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1762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Protocol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4871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Red. Maneja el direccionamiento y la entrega de datos. Aísla capas superiores de los detalles físicos de la red.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 del TCP e IP, existen muchos otros protocolos en la suite: UDP, ICMP, ARP, DNS, HTTP, FTP, SMTP, etc.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1463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7490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7490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Colección mundial de redes; usa IP para interconectarlas en una red lógica única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1463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160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Intranet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416052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tecnología TCP/IP en una red local (LAN) sin conexión a Internet pública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146304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457200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(minúscula) Término genérico para cualquier colección de redes interconectadas por protocolo común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OSI y TCP/IP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referencia que describe TCP/IP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OSI (ISO) provee una referencia conceptual para entender TCP/IP, aunque TCP/IP no implementa todas sus capas de forma separada.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554480"/>
            <a:ext cx="411480" cy="47548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" y="155448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554480"/>
            <a:ext cx="2103120" cy="47548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97480" y="1554480"/>
            <a:ext cx="6263640" cy="47548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88920" y="1554480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(HTTP, FTP, SMTP, DNS...)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2029968"/>
            <a:ext cx="411480" cy="47548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202996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2029968"/>
            <a:ext cx="2103120" cy="47548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0299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97480" y="2029968"/>
            <a:ext cx="6263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88920" y="2029968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Integrada en capa Aplicación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2505456"/>
            <a:ext cx="411480" cy="47548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2880" y="2505456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2505456"/>
            <a:ext cx="2103120" cy="47548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5054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97480" y="2505456"/>
            <a:ext cx="6263640" cy="47548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88920" y="2505456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Integrada en capa Transporte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2880" y="2980944"/>
            <a:ext cx="411480" cy="47548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2980944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94360" y="2980944"/>
            <a:ext cx="2103120" cy="47548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29809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97480" y="2980944"/>
            <a:ext cx="6263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88920" y="2980944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/ UDP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2880" y="3456432"/>
            <a:ext cx="411480" cy="47548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82880" y="345643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4360" y="3456432"/>
            <a:ext cx="2103120" cy="47548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" y="345643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97480" y="3456432"/>
            <a:ext cx="6263640" cy="47548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88920" y="3456432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(Internet Protocol)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2880" y="3931920"/>
            <a:ext cx="411480" cy="475488"/>
          </a:xfrm>
          <a:prstGeom prst="rect">
            <a:avLst/>
          </a:prstGeom>
          <a:solidFill>
            <a:srgbClr val="5A7890"/>
          </a:solidFill>
          <a:ln w="12700">
            <a:solidFill>
              <a:srgbClr val="5A7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82880" y="3931920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94360" y="3931920"/>
            <a:ext cx="2103120" cy="475488"/>
          </a:xfrm>
          <a:prstGeom prst="rect">
            <a:avLst/>
          </a:prstGeom>
          <a:solidFill>
            <a:srgbClr val="5A7890"/>
          </a:solidFill>
          <a:ln w="12700">
            <a:solidFill>
              <a:srgbClr val="5A7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" y="3931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de Datos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97480" y="3931920"/>
            <a:ext cx="62636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88920" y="3931920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protocolos existentes (Ethernet, WiFi)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" y="4407408"/>
            <a:ext cx="411480" cy="475488"/>
          </a:xfrm>
          <a:prstGeom prst="rect">
            <a:avLst/>
          </a:prstGeom>
          <a:solidFill>
            <a:srgbClr val="5A7890"/>
          </a:solidFill>
          <a:ln w="12700">
            <a:solidFill>
              <a:srgbClr val="5A7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82880" y="4407408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94360" y="4407408"/>
            <a:ext cx="2103120" cy="475488"/>
          </a:xfrm>
          <a:prstGeom prst="rect">
            <a:avLst/>
          </a:prstGeom>
          <a:solidFill>
            <a:srgbClr val="5A7890"/>
          </a:solidFill>
          <a:ln w="12700">
            <a:solidFill>
              <a:srgbClr val="5A78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4360" y="440740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97480" y="4407408"/>
            <a:ext cx="6263640" cy="47548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88920" y="4407408"/>
            <a:ext cx="6080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estándares existentes (RS-232, IEEE 802.3)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82880" y="4974336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 clave: La pila de protocolos (protocol stack) — los datos bajan por la pila en el emisor y suben en el receptor.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de las Capas OSI en TCP/IP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cada capa hace en el contexto TCP/IP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286000" cy="566928"/>
          </a:xfrm>
          <a:prstGeom prst="rect">
            <a:avLst/>
          </a:prstGeom>
          <a:solidFill>
            <a:srgbClr val="5AA8D8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6355080" cy="56692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051560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que usan la red: HTTP, FTP, SMTP, DNS, apps de celular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09928"/>
            <a:ext cx="2286000" cy="566928"/>
          </a:xfrm>
          <a:prstGeom prst="rect">
            <a:avLst/>
          </a:prstGeom>
          <a:solidFill>
            <a:srgbClr val="5AA8D8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7099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+ Sesión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709928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1760" y="1709928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Integradas en la Aplicación en TCP/IP. La sesión se maneja con conexiones/sockets/puertos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68296"/>
            <a:ext cx="2286000" cy="566928"/>
          </a:xfrm>
          <a:prstGeom prst="rect">
            <a:avLst/>
          </a:prstGeom>
          <a:solidFill>
            <a:srgbClr val="3A7BAA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36829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2368296"/>
            <a:ext cx="6355080" cy="56692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651760" y="2368296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(confiable, orientado conexión) y UDP (sin conexión, más rápido). End-to-end.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026664"/>
            <a:ext cx="2286000" cy="566928"/>
          </a:xfrm>
          <a:prstGeom prst="rect">
            <a:avLst/>
          </a:prstGeom>
          <a:solidFill>
            <a:srgbClr val="5A789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02666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(IP)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3026664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3026664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Encaminamiento (routing) de paquetes. Aísla capas superiores del medio físico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85032"/>
            <a:ext cx="2286000" cy="566928"/>
          </a:xfrm>
          <a:prstGeom prst="rect">
            <a:avLst/>
          </a:prstGeom>
          <a:solidFill>
            <a:srgbClr val="5A789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3685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Enlace de Datos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685032"/>
            <a:ext cx="6355080" cy="56692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651760" y="3685032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segura en la red local. TCP/IP usa protocolos existentes (Ethernet, Wi-Fi)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2286000" cy="566928"/>
          </a:xfrm>
          <a:prstGeom prst="rect">
            <a:avLst/>
          </a:prstGeom>
          <a:solidFill>
            <a:srgbClr val="5A789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3434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4343400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51760" y="4343400"/>
            <a:ext cx="6172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Señales eléctricas, pines, voltajes. TCP/IP usa estándares: RS-232, V.35, IEEE 802.3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Estándar y RFC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definen las reglas de Internet?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protocolo es un conjunto de reglas formales de comportamiento para las comunicaciones.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crea una red heterogénea con protocolos abiertos, independientes del sistema operativo o hardware.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protocolos son desarrollados por consenso, no por un fabricante.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persona puede desarrollar productos que implementen los protocolos abiertos.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4754880" cy="1371600"/>
          </a:xfrm>
          <a:prstGeom prst="rect">
            <a:avLst/>
          </a:prstGeom>
          <a:solidFill>
            <a:srgbClr val="E8F4FC"/>
          </a:solidFill>
          <a:ln w="190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— Request For Comments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públicos donde se especifican todos los protocolos TCP/IP. Contienen especificaciones formales, guías prácticas y noticias de implementación. Son de acceso libre.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1005840"/>
            <a:ext cx="3474720" cy="1691640"/>
          </a:xfrm>
          <a:prstGeom prst="rect">
            <a:avLst/>
          </a:prstGeom>
          <a:solidFill>
            <a:srgbClr val="808080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0" y="1005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homogéneas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fabricante define las reglas. Ejemplos: propietario, cerrado.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94960" y="2926080"/>
            <a:ext cx="3474720" cy="1691640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9496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(heterogéneo)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338328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Protocolos abiertos. Funciona en cualquier sistema operativo, hardware o dispositivo (PC, celular, router, IoT).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Red vs. de Sistemas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distintos en una organización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de Sistemas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114800" cy="3200400"/>
          </a:xfrm>
          <a:prstGeom prst="rect">
            <a:avLst/>
          </a:prstGeom>
          <a:solidFill>
            <a:srgbClr val="E8F4FC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equipos de cómputo aislados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Agrega/elimina usuarios locales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 backups del sistema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acciones afectan solo al equipo local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 con el sistema operativo y hardware propio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5029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Administrador de 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4114800" cy="32004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6002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 la conectividad entre múltiples sistemas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 decisiones afectan a toda la 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 routers, switches, protocolos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Interactúa con sistemas de otros organismos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conocimiento profundo de TCP/IP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5AA8D8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conectividad generó la Administración de Red como disciplina profesional específica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en Teléfonos Celulares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que hace posible la conectividad móvil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smartphones son hoy los principales dispositivos de acceso a Internet. Usan TCP/IP sobre distintas tecnologías de acceso.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114800" cy="13716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11480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(IEEE 802.11)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0391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inalámbrico en redes locales. El teléfono obtiene IP vía DHCP y usa TCP/IP igual que una PC.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114800" cy="13716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11480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600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4G LTE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0391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datos móviles. El celular conecta a Internet directamente con IP pública o privada (NAT del operador).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154680"/>
            <a:ext cx="4114800" cy="13716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411480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154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35935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Latencia ultra-baja (&lt;1ms), velocidades &gt;1Gbps. Habilita IoT masivo, vehículos autónomos, streaming 4K/8K.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4114800" cy="13716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114800" cy="38404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31546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y Protocolos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59359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(TCP), llamadas VoIP (UDP/RTP), HTTP/HTTPS para web y APIs. El celular usa TCP/IP en cada interacción.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Dato clave: más del 60% del tráfico de Internet mundial proviene de dispositivos móviles (2024)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Modelo de Capas TCP/IP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con OSI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286000" cy="749808"/>
          </a:xfrm>
          <a:prstGeom prst="rect">
            <a:avLst/>
          </a:prstGeom>
          <a:solidFill>
            <a:srgbClr val="5AA8D8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515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4114800" cy="74980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05156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FTP, SMTP, DNS, apps de usuario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1051560"/>
            <a:ext cx="2194560" cy="749808"/>
          </a:xfrm>
          <a:prstGeom prst="rect">
            <a:avLst/>
          </a:prstGeom>
          <a:solidFill>
            <a:srgbClr val="B9DEF8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75120" y="105156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5,6,7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874520"/>
            <a:ext cx="22860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87452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1874520"/>
            <a:ext cx="4114800" cy="74980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51760" y="18745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(confiable) / UDP (sin conexión)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874520"/>
            <a:ext cx="2194560" cy="749808"/>
          </a:xfrm>
          <a:prstGeom prst="rect">
            <a:avLst/>
          </a:prstGeom>
          <a:solidFill>
            <a:srgbClr val="B9DEF8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8745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697480"/>
            <a:ext cx="2286000" cy="749808"/>
          </a:xfrm>
          <a:prstGeom prst="rect">
            <a:avLst/>
          </a:prstGeom>
          <a:solidFill>
            <a:srgbClr val="5A789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697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(IP)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2697480"/>
            <a:ext cx="4114800" cy="74980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51760" y="269748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Enrutamiento y direccionamiento IP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2697480"/>
            <a:ext cx="2194560" cy="749808"/>
          </a:xfrm>
          <a:prstGeom prst="rect">
            <a:avLst/>
          </a:prstGeom>
          <a:solidFill>
            <a:srgbClr val="B9DEF8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269748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2286000" cy="749808"/>
          </a:xfrm>
          <a:prstGeom prst="rect">
            <a:avLst/>
          </a:prstGeom>
          <a:solidFill>
            <a:srgbClr val="44709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52044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Red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0" y="3520440"/>
            <a:ext cx="4114800" cy="749808"/>
          </a:xfrm>
          <a:prstGeom prst="rect">
            <a:avLst/>
          </a:prstGeom>
          <a:solidFill>
            <a:srgbClr val="E8F4FC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51760" y="352044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Ethernet, WiFi, 4G/5G, acceso físico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3520440"/>
            <a:ext cx="2194560" cy="749808"/>
          </a:xfrm>
          <a:prstGeom prst="rect">
            <a:avLst/>
          </a:prstGeom>
          <a:solidFill>
            <a:srgbClr val="B9DEF8"/>
          </a:solidFill>
          <a:ln w="635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675120" y="352044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 1,2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914400"/>
            <a:ext cx="22860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560320" y="914400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75120" y="91440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Equivalencia OSI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datos bajan por la pila en el emisor (encapsulación) y suben en el receptor (desencapsulación).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lo aprendido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administración de sistemas y la administración de red son la misma tarea y cumplen las mismas funciones.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¿Verdadero o Falso?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1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25603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tareas distintas. El administrador de sistemas gestiona equipos aislados (agrega usuarios, hace backups). El administrador de red gestiona la conectividad entre múltiples sistemas; sus acciones pueden afectar no solo su propio equipo sino también a otros sistemas de la red.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lo aprendido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es un protocolo único. El nombre se refiere exclusivamente al protocolo TCP.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¿Verdadero o Falso?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25603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TCP/IP es un conjunto completo (suite) de protocolos de comunicación. El nombre proviene de sus dos protocolos más importantes: TCP (Transmission Control Protocol) e IP (Internet Protocol). Sin embargo, existen muchos otros: UDP, ICMP, ARP, DNS, HTTP, FTP, SMTP, etc.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o Falso — Pregunta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Evalúa lo aprendido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solidFill>
            <a:srgbClr val="E8F4FC"/>
          </a:solidFill>
          <a:ln w="254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teléfonos celulares modernos usan TCP/IP para comunicarse a través de redes WiFi y datos móviles (4G/5G).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¿Verdadero o Falso?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— Pregunta 3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256032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dispositivos conectados a Internet —incluyendo smartphones— utilizan TCP/IP. Cuando un celular se conecta por WiFi o por datos móviles (4G/5G), el dispositivo obtiene una dirección IP y usa el stack TCP/IP para toda comunicación: apps, navegador, mensajería, llamadas VoIP, etc.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8288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presentación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132320" y="164592"/>
            <a:ext cx="1737360" cy="640080"/>
          </a:xfrm>
          <a:prstGeom prst="rect">
            <a:avLst/>
          </a:prstGeom>
          <a:solidFill>
            <a:srgbClr val="2D3030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0" y="1645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¡Gracias!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SP6 / H1 — El Modelo Arquitectónico de Internet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Prof: Ing. Antonio Víctor Pérez Españón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1541</Words>
  <Application>Microsoft Office PowerPoint</Application>
  <PresentationFormat>Presentación en pantalla (16:9)</PresentationFormat>
  <Paragraphs>206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SP6 H1 - Modelo Arquitectónico de Internet</dc:title>
  <dc:subject>PptxGenJS Presentation</dc:subject>
  <dc:creator>PptxGenJS</dc:creator>
  <cp:lastModifiedBy>user</cp:lastModifiedBy>
  <cp:revision>1</cp:revision>
  <dcterms:created xsi:type="dcterms:W3CDTF">2026-05-11T22:39:52Z</dcterms:created>
  <dcterms:modified xsi:type="dcterms:W3CDTF">2026-05-14T08:31:26Z</dcterms:modified>
</cp:coreProperties>
</file>