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282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201168"/>
            <a:ext cx="3474720" cy="41148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457200" y="201168"/>
            <a:ext cx="3474720" cy="411480"/>
          </a:xfrm>
          <a:prstGeom prst="rect">
            <a:avLst/>
          </a:prstGeom>
          <a:noFill/>
          <a:ln/>
        </p:spPr>
        <p:txBody>
          <a:bodyPr wrap="square" rtlCol="0" anchor="ctr"/>
          <a:lstStyle/>
          <a:p>
            <a:pPr marL="0" indent="0" algn="ctr">
              <a:buNone/>
            </a:pPr>
            <a:r>
              <a:rPr lang="en-US" sz="1200" b="1" dirty="0">
                <a:solidFill>
                  <a:srgbClr val="FFFFFF"/>
                </a:solidFill>
              </a:rPr>
              <a:t>Redes y Comunicaciones</a:t>
            </a:r>
            <a:endParaRPr lang="en-US" sz="1200" dirty="0"/>
          </a:p>
        </p:txBody>
      </p:sp>
      <p:sp>
        <p:nvSpPr>
          <p:cNvPr id="5" name="Shape 3"/>
          <p:cNvSpPr/>
          <p:nvPr/>
        </p:nvSpPr>
        <p:spPr>
          <a:xfrm>
            <a:off x="4114800" y="201168"/>
            <a:ext cx="1828800" cy="411480"/>
          </a:xfrm>
          <a:prstGeom prst="rect">
            <a:avLst/>
          </a:prstGeom>
          <a:solidFill>
            <a:srgbClr val="3A7BAA"/>
          </a:solidFill>
          <a:ln w="12700">
            <a:solidFill>
              <a:srgbClr val="5AA8D8"/>
            </a:solidFill>
            <a:prstDash val="solid"/>
          </a:ln>
        </p:spPr>
        <p:txBody>
          <a:bodyPr/>
          <a:lstStyle/>
          <a:p>
            <a:endParaRPr lang="en-US"/>
          </a:p>
        </p:txBody>
      </p:sp>
      <p:sp>
        <p:nvSpPr>
          <p:cNvPr id="6" name="Text 4"/>
          <p:cNvSpPr/>
          <p:nvPr/>
        </p:nvSpPr>
        <p:spPr>
          <a:xfrm>
            <a:off x="4114800" y="201168"/>
            <a:ext cx="1828800" cy="411480"/>
          </a:xfrm>
          <a:prstGeom prst="rect">
            <a:avLst/>
          </a:prstGeom>
          <a:noFill/>
          <a:ln/>
        </p:spPr>
        <p:txBody>
          <a:bodyPr wrap="square" rtlCol="0" anchor="ctr"/>
          <a:lstStyle/>
          <a:p>
            <a:pPr marL="0" indent="0" algn="ctr">
              <a:buNone/>
            </a:pPr>
            <a:r>
              <a:rPr lang="en-US" sz="1200" b="1" dirty="0">
                <a:solidFill>
                  <a:srgbClr val="FFFFFF"/>
                </a:solidFill>
              </a:rPr>
              <a:t>SP6 / H5</a:t>
            </a:r>
            <a:endParaRPr lang="en-US" sz="1200" dirty="0"/>
          </a:p>
        </p:txBody>
      </p:sp>
      <p:sp>
        <p:nvSpPr>
          <p:cNvPr id="7" name="Text 5"/>
          <p:cNvSpPr/>
          <p:nvPr/>
        </p:nvSpPr>
        <p:spPr>
          <a:xfrm>
            <a:off x="457200" y="914400"/>
            <a:ext cx="8229600" cy="146304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Diferentes Tipos</a:t>
            </a:r>
            <a:endParaRPr lang="en-US" sz="4200" dirty="0"/>
          </a:p>
          <a:p>
            <a:pPr marL="0" indent="0" algn="ctr">
              <a:buNone/>
            </a:pPr>
            <a:r>
              <a:rPr lang="en-US" sz="4200" b="1" dirty="0">
                <a:solidFill>
                  <a:srgbClr val="FFFFFF"/>
                </a:solidFill>
                <a:latin typeface="Arial" pitchFamily="34" charset="0"/>
                <a:ea typeface="Arial" pitchFamily="34" charset="-122"/>
                <a:cs typeface="Arial" pitchFamily="34" charset="-120"/>
              </a:rPr>
              <a:t>de Interconexión</a:t>
            </a:r>
            <a:endParaRPr lang="en-US" sz="4200" dirty="0"/>
          </a:p>
        </p:txBody>
      </p:sp>
      <p:sp>
        <p:nvSpPr>
          <p:cNvPr id="8" name="Text 6"/>
          <p:cNvSpPr/>
          <p:nvPr/>
        </p:nvSpPr>
        <p:spPr>
          <a:xfrm>
            <a:off x="457200" y="2487168"/>
            <a:ext cx="8229600" cy="411480"/>
          </a:xfrm>
          <a:prstGeom prst="rect">
            <a:avLst/>
          </a:prstGeom>
          <a:noFill/>
          <a:ln/>
        </p:spPr>
        <p:txBody>
          <a:bodyPr wrap="square" rtlCol="0" anchor="ctr"/>
          <a:lstStyle/>
          <a:p>
            <a:pPr marL="0" indent="0" algn="ctr">
              <a:buNone/>
            </a:pPr>
            <a:r>
              <a:rPr lang="en-US" sz="1400" i="1" dirty="0">
                <a:solidFill>
                  <a:srgbClr val="5AA8D8"/>
                </a:solidFill>
              </a:rPr>
              <a:t>Circuito Virtual · Datagramas · IP · ICMP · Encaminamiento · Armado de LAN</a:t>
            </a:r>
            <a:endParaRPr lang="en-US" sz="1400" dirty="0"/>
          </a:p>
        </p:txBody>
      </p:sp>
      <p:sp>
        <p:nvSpPr>
          <p:cNvPr id="9" name="Shape 7"/>
          <p:cNvSpPr/>
          <p:nvPr/>
        </p:nvSpPr>
        <p:spPr>
          <a:xfrm>
            <a:off x="2286000" y="2999232"/>
            <a:ext cx="4572000" cy="54864"/>
          </a:xfrm>
          <a:prstGeom prst="rect">
            <a:avLst/>
          </a:prstGeom>
          <a:solidFill>
            <a:srgbClr val="5AA8D8"/>
          </a:solidFill>
          <a:ln w="12700">
            <a:solidFill>
              <a:srgbClr val="5AA8D8"/>
            </a:solidFill>
            <a:prstDash val="solid"/>
          </a:ln>
        </p:spPr>
        <p:txBody>
          <a:bodyPr/>
          <a:lstStyle/>
          <a:p>
            <a:endParaRPr lang="en-US"/>
          </a:p>
        </p:txBody>
      </p:sp>
      <p:sp>
        <p:nvSpPr>
          <p:cNvPr id="10" name="Shape 8"/>
          <p:cNvSpPr/>
          <p:nvPr/>
        </p:nvSpPr>
        <p:spPr>
          <a:xfrm>
            <a:off x="1097280" y="3154680"/>
            <a:ext cx="2743200" cy="1005840"/>
          </a:xfrm>
          <a:prstGeom prst="rect">
            <a:avLst/>
          </a:prstGeom>
          <a:solidFill>
            <a:srgbClr val="3A5A8A"/>
          </a:solidFill>
          <a:ln w="19050">
            <a:solidFill>
              <a:srgbClr val="FFFFFF"/>
            </a:solidFill>
            <a:prstDash val="solid"/>
          </a:ln>
        </p:spPr>
        <p:txBody>
          <a:bodyPr/>
          <a:lstStyle/>
          <a:p>
            <a:endParaRPr lang="en-US"/>
          </a:p>
        </p:txBody>
      </p:sp>
      <p:sp>
        <p:nvSpPr>
          <p:cNvPr id="11" name="Text 9"/>
          <p:cNvSpPr/>
          <p:nvPr/>
        </p:nvSpPr>
        <p:spPr>
          <a:xfrm>
            <a:off x="1097280" y="3200400"/>
            <a:ext cx="2743200" cy="548640"/>
          </a:xfrm>
          <a:prstGeom prst="rect">
            <a:avLst/>
          </a:prstGeom>
          <a:noFill/>
          <a:ln/>
        </p:spPr>
        <p:txBody>
          <a:bodyPr wrap="square" rtlCol="0" anchor="ctr"/>
          <a:lstStyle/>
          <a:p>
            <a:pPr marL="0" indent="0" algn="ctr">
              <a:buNone/>
            </a:pPr>
            <a:r>
              <a:rPr lang="en-US" sz="1500" b="1" dirty="0">
                <a:solidFill>
                  <a:srgbClr val="FFFFFF"/>
                </a:solidFill>
              </a:rPr>
              <a:t>CIRCUITO</a:t>
            </a:r>
            <a:endParaRPr lang="en-US" sz="1500" dirty="0"/>
          </a:p>
          <a:p>
            <a:pPr marL="0" indent="0" algn="ctr">
              <a:buNone/>
            </a:pPr>
            <a:r>
              <a:rPr lang="en-US" sz="1500" b="1" dirty="0">
                <a:solidFill>
                  <a:srgbClr val="FFFFFF"/>
                </a:solidFill>
              </a:rPr>
              <a:t>VIRTUAL</a:t>
            </a:r>
            <a:endParaRPr lang="en-US" sz="1500" dirty="0"/>
          </a:p>
        </p:txBody>
      </p:sp>
      <p:sp>
        <p:nvSpPr>
          <p:cNvPr id="12" name="Text 10"/>
          <p:cNvSpPr/>
          <p:nvPr/>
        </p:nvSpPr>
        <p:spPr>
          <a:xfrm>
            <a:off x="1097280" y="3730752"/>
            <a:ext cx="2743200" cy="320040"/>
          </a:xfrm>
          <a:prstGeom prst="rect">
            <a:avLst/>
          </a:prstGeom>
          <a:noFill/>
          <a:ln/>
        </p:spPr>
        <p:txBody>
          <a:bodyPr wrap="square" rtlCol="0" anchor="ctr"/>
          <a:lstStyle/>
          <a:p>
            <a:pPr marL="0" indent="0" algn="ctr">
              <a:buNone/>
            </a:pPr>
            <a:r>
              <a:rPr lang="en-US" sz="1000" i="1" dirty="0">
                <a:solidFill>
                  <a:srgbClr val="B9DEF8"/>
                </a:solidFill>
              </a:rPr>
              <a:t>ITU-T</a:t>
            </a:r>
            <a:endParaRPr lang="en-US" sz="1000" dirty="0"/>
          </a:p>
        </p:txBody>
      </p:sp>
      <p:sp>
        <p:nvSpPr>
          <p:cNvPr id="13" name="Shape 11"/>
          <p:cNvSpPr/>
          <p:nvPr/>
        </p:nvSpPr>
        <p:spPr>
          <a:xfrm>
            <a:off x="5303520" y="3154680"/>
            <a:ext cx="2743200" cy="1005840"/>
          </a:xfrm>
          <a:prstGeom prst="rect">
            <a:avLst/>
          </a:prstGeom>
          <a:solidFill>
            <a:srgbClr val="5AA8D8"/>
          </a:solidFill>
          <a:ln w="19050">
            <a:solidFill>
              <a:srgbClr val="FFFFFF"/>
            </a:solidFill>
            <a:prstDash val="solid"/>
          </a:ln>
        </p:spPr>
        <p:txBody>
          <a:bodyPr/>
          <a:lstStyle/>
          <a:p>
            <a:endParaRPr lang="en-US"/>
          </a:p>
        </p:txBody>
      </p:sp>
      <p:sp>
        <p:nvSpPr>
          <p:cNvPr id="14" name="Text 12"/>
          <p:cNvSpPr/>
          <p:nvPr/>
        </p:nvSpPr>
        <p:spPr>
          <a:xfrm>
            <a:off x="5303520" y="3200400"/>
            <a:ext cx="2743200" cy="548640"/>
          </a:xfrm>
          <a:prstGeom prst="rect">
            <a:avLst/>
          </a:prstGeom>
          <a:noFill/>
          <a:ln/>
        </p:spPr>
        <p:txBody>
          <a:bodyPr wrap="square" rtlCol="0" anchor="ctr"/>
          <a:lstStyle/>
          <a:p>
            <a:pPr marL="0" indent="0" algn="ctr">
              <a:buNone/>
            </a:pPr>
            <a:r>
              <a:rPr lang="en-US" sz="1500" b="1" dirty="0">
                <a:solidFill>
                  <a:srgbClr val="FFFFFF"/>
                </a:solidFill>
              </a:rPr>
              <a:t>DATAGRAMAS</a:t>
            </a:r>
            <a:endParaRPr lang="en-US" sz="1500" dirty="0"/>
          </a:p>
        </p:txBody>
      </p:sp>
      <p:sp>
        <p:nvSpPr>
          <p:cNvPr id="15" name="Text 13"/>
          <p:cNvSpPr/>
          <p:nvPr/>
        </p:nvSpPr>
        <p:spPr>
          <a:xfrm>
            <a:off x="5303520" y="3730752"/>
            <a:ext cx="2743200" cy="320040"/>
          </a:xfrm>
          <a:prstGeom prst="rect">
            <a:avLst/>
          </a:prstGeom>
          <a:noFill/>
          <a:ln/>
        </p:spPr>
        <p:txBody>
          <a:bodyPr wrap="square" rtlCol="0" anchor="ctr"/>
          <a:lstStyle/>
          <a:p>
            <a:pPr marL="0" indent="0" algn="ctr">
              <a:buNone/>
            </a:pPr>
            <a:r>
              <a:rPr lang="en-US" sz="1000" i="1" dirty="0">
                <a:solidFill>
                  <a:srgbClr val="B9DEF8"/>
                </a:solidFill>
              </a:rPr>
              <a:t>Internet</a:t>
            </a:r>
            <a:endParaRPr lang="en-US" sz="1000" dirty="0"/>
          </a:p>
        </p:txBody>
      </p:sp>
      <p:sp>
        <p:nvSpPr>
          <p:cNvPr id="16" name="Text 14"/>
          <p:cNvSpPr/>
          <p:nvPr/>
        </p:nvSpPr>
        <p:spPr>
          <a:xfrm>
            <a:off x="3931920" y="3429000"/>
            <a:ext cx="1280160" cy="457200"/>
          </a:xfrm>
          <a:prstGeom prst="rect">
            <a:avLst/>
          </a:prstGeom>
          <a:noFill/>
          <a:ln/>
        </p:spPr>
        <p:txBody>
          <a:bodyPr wrap="square" rtlCol="0" anchor="ctr"/>
          <a:lstStyle/>
          <a:p>
            <a:pPr marL="0" indent="0" algn="ctr">
              <a:buNone/>
            </a:pPr>
            <a:r>
              <a:rPr lang="en-US" sz="1800" b="1" dirty="0">
                <a:solidFill>
                  <a:srgbClr val="808080"/>
                </a:solidFill>
              </a:rPr>
              <a:t>VS</a:t>
            </a:r>
            <a:endParaRPr lang="en-US" sz="1800" dirty="0"/>
          </a:p>
        </p:txBody>
      </p:sp>
      <p:sp>
        <p:nvSpPr>
          <p:cNvPr id="17" name="Text 15"/>
          <p:cNvSpPr/>
          <p:nvPr/>
        </p:nvSpPr>
        <p:spPr>
          <a:xfrm>
            <a:off x="457200" y="4498848"/>
            <a:ext cx="8229600" cy="32004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18" name="Shape 16"/>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Dos Métodos de Interconexión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Circuito Virtual (ITU-T) vs Datagramas (Internet)</a:t>
            </a:r>
            <a:endParaRPr lang="en-US" sz="1300" dirty="0"/>
          </a:p>
        </p:txBody>
      </p:sp>
      <p:sp>
        <p:nvSpPr>
          <p:cNvPr id="6" name="Shape 4"/>
          <p:cNvSpPr/>
          <p:nvPr/>
        </p:nvSpPr>
        <p:spPr>
          <a:xfrm>
            <a:off x="228600" y="1143000"/>
            <a:ext cx="4114800" cy="3383280"/>
          </a:xfrm>
          <a:prstGeom prst="rect">
            <a:avLst/>
          </a:prstGeom>
          <a:solidFill>
            <a:srgbClr val="1E2A40"/>
          </a:solidFill>
          <a:ln w="25400">
            <a:solidFill>
              <a:srgbClr val="3A5A8A"/>
            </a:solidFill>
            <a:prstDash val="solid"/>
          </a:ln>
        </p:spPr>
        <p:txBody>
          <a:bodyPr/>
          <a:lstStyle/>
          <a:p>
            <a:endParaRPr lang="en-US"/>
          </a:p>
        </p:txBody>
      </p:sp>
      <p:sp>
        <p:nvSpPr>
          <p:cNvPr id="7" name="Shape 5"/>
          <p:cNvSpPr/>
          <p:nvPr/>
        </p:nvSpPr>
        <p:spPr>
          <a:xfrm>
            <a:off x="228600" y="1143000"/>
            <a:ext cx="4114800" cy="438912"/>
          </a:xfrm>
          <a:prstGeom prst="rect">
            <a:avLst/>
          </a:prstGeom>
          <a:solidFill>
            <a:srgbClr val="3A5A8A"/>
          </a:solidFill>
          <a:ln w="12700">
            <a:solidFill>
              <a:srgbClr val="3A5A8A"/>
            </a:solidFill>
            <a:prstDash val="solid"/>
          </a:ln>
        </p:spPr>
        <p:txBody>
          <a:bodyPr/>
          <a:lstStyle/>
          <a:p>
            <a:endParaRPr lang="en-US"/>
          </a:p>
        </p:txBody>
      </p:sp>
      <p:sp>
        <p:nvSpPr>
          <p:cNvPr id="8" name="Text 6"/>
          <p:cNvSpPr/>
          <p:nvPr/>
        </p:nvSpPr>
        <p:spPr>
          <a:xfrm>
            <a:off x="274320" y="1143000"/>
            <a:ext cx="4023360" cy="438912"/>
          </a:xfrm>
          <a:prstGeom prst="rect">
            <a:avLst/>
          </a:prstGeom>
          <a:noFill/>
          <a:ln/>
        </p:spPr>
        <p:txBody>
          <a:bodyPr wrap="square" rtlCol="0" anchor="ctr"/>
          <a:lstStyle/>
          <a:p>
            <a:pPr marL="0" indent="0" algn="ctr">
              <a:buNone/>
            </a:pPr>
            <a:r>
              <a:rPr lang="en-US" sz="1200" b="1" dirty="0">
                <a:solidFill>
                  <a:srgbClr val="FFFFFF"/>
                </a:solidFill>
              </a:rPr>
              <a:t>CIRCUITO VIRTUAL (ITU-T)</a:t>
            </a:r>
            <a:endParaRPr lang="en-US" sz="1200" dirty="0"/>
          </a:p>
        </p:txBody>
      </p:sp>
      <p:sp>
        <p:nvSpPr>
          <p:cNvPr id="9" name="Text 7"/>
          <p:cNvSpPr/>
          <p:nvPr/>
        </p:nvSpPr>
        <p:spPr>
          <a:xfrm>
            <a:off x="320040" y="1664208"/>
            <a:ext cx="3931920" cy="347472"/>
          </a:xfrm>
          <a:prstGeom prst="rect">
            <a:avLst/>
          </a:prstGeom>
          <a:noFill/>
          <a:ln/>
        </p:spPr>
        <p:txBody>
          <a:bodyPr wrap="square" rtlCol="0" anchor="ctr"/>
          <a:lstStyle/>
          <a:p>
            <a:pPr marL="0" indent="0">
              <a:buNone/>
            </a:pPr>
            <a:r>
              <a:rPr lang="en-US" sz="950" dirty="0">
                <a:solidFill>
                  <a:srgbClr val="FFFFFF"/>
                </a:solidFill>
              </a:rPr>
              <a:t>Establece una ruta fija ANTES de transmitir.</a:t>
            </a:r>
            <a:endParaRPr lang="en-US" sz="950" dirty="0"/>
          </a:p>
        </p:txBody>
      </p:sp>
      <p:sp>
        <p:nvSpPr>
          <p:cNvPr id="10" name="Text 8"/>
          <p:cNvSpPr/>
          <p:nvPr/>
        </p:nvSpPr>
        <p:spPr>
          <a:xfrm>
            <a:off x="320040" y="2066544"/>
            <a:ext cx="3931920" cy="347472"/>
          </a:xfrm>
          <a:prstGeom prst="rect">
            <a:avLst/>
          </a:prstGeom>
          <a:noFill/>
          <a:ln/>
        </p:spPr>
        <p:txBody>
          <a:bodyPr wrap="square" rtlCol="0" anchor="ctr"/>
          <a:lstStyle/>
          <a:p>
            <a:pPr marL="0" indent="0">
              <a:buNone/>
            </a:pPr>
            <a:r>
              <a:rPr lang="en-US" sz="950" dirty="0">
                <a:solidFill>
                  <a:srgbClr val="FFFFFF"/>
                </a:solidFill>
              </a:rPr>
              <a:t>El circuito se crea entre host fuente y host destino.</a:t>
            </a:r>
            <a:endParaRPr lang="en-US" sz="950" dirty="0"/>
          </a:p>
        </p:txBody>
      </p:sp>
      <p:sp>
        <p:nvSpPr>
          <p:cNvPr id="11" name="Text 9"/>
          <p:cNvSpPr/>
          <p:nvPr/>
        </p:nvSpPr>
        <p:spPr>
          <a:xfrm>
            <a:off x="320040" y="2468880"/>
            <a:ext cx="3931920" cy="347472"/>
          </a:xfrm>
          <a:prstGeom prst="rect">
            <a:avLst/>
          </a:prstGeom>
          <a:noFill/>
          <a:ln/>
        </p:spPr>
        <p:txBody>
          <a:bodyPr wrap="square" rtlCol="0" anchor="ctr"/>
          <a:lstStyle/>
          <a:p>
            <a:pPr marL="0" indent="0">
              <a:buNone/>
            </a:pPr>
            <a:r>
              <a:rPr lang="en-US" sz="950" dirty="0">
                <a:solidFill>
                  <a:srgbClr val="FFFFFF"/>
                </a:solidFill>
              </a:rPr>
              <a:t>Mensajes seguros y en secuencia a los gateways vecinos.</a:t>
            </a:r>
            <a:endParaRPr lang="en-US" sz="950" dirty="0"/>
          </a:p>
        </p:txBody>
      </p:sp>
      <p:sp>
        <p:nvSpPr>
          <p:cNvPr id="12" name="Text 10"/>
          <p:cNvSpPr/>
          <p:nvPr/>
        </p:nvSpPr>
        <p:spPr>
          <a:xfrm>
            <a:off x="320040" y="2871216"/>
            <a:ext cx="3931920" cy="347472"/>
          </a:xfrm>
          <a:prstGeom prst="rect">
            <a:avLst/>
          </a:prstGeom>
          <a:noFill/>
          <a:ln/>
        </p:spPr>
        <p:txBody>
          <a:bodyPr wrap="square" rtlCol="0" anchor="ctr"/>
          <a:lstStyle/>
          <a:p>
            <a:pPr marL="0" indent="0">
              <a:buNone/>
            </a:pPr>
            <a:r>
              <a:rPr lang="en-US" sz="950" dirty="0">
                <a:solidFill>
                  <a:srgbClr val="FFFFFF"/>
                </a:solidFill>
              </a:rPr>
              <a:t>Control de flujo: un gateway no puede saturar al vecino.</a:t>
            </a:r>
            <a:endParaRPr lang="en-US" sz="950" dirty="0"/>
          </a:p>
        </p:txBody>
      </p:sp>
      <p:sp>
        <p:nvSpPr>
          <p:cNvPr id="13" name="Text 11"/>
          <p:cNvSpPr/>
          <p:nvPr/>
        </p:nvSpPr>
        <p:spPr>
          <a:xfrm>
            <a:off x="320040" y="3273552"/>
            <a:ext cx="3931920" cy="347472"/>
          </a:xfrm>
          <a:prstGeom prst="rect">
            <a:avLst/>
          </a:prstGeom>
          <a:noFill/>
          <a:ln/>
        </p:spPr>
        <p:txBody>
          <a:bodyPr wrap="square" rtlCol="0" anchor="ctr"/>
          <a:lstStyle/>
          <a:p>
            <a:pPr marL="0" indent="0">
              <a:buNone/>
            </a:pPr>
            <a:r>
              <a:rPr lang="en-US" sz="950" dirty="0">
                <a:solidFill>
                  <a:srgbClr val="FFFFFF"/>
                </a:solidFill>
              </a:rPr>
              <a:t>Ventaja: predecible, ordenado, con garantías.</a:t>
            </a:r>
            <a:endParaRPr lang="en-US" sz="950" dirty="0"/>
          </a:p>
        </p:txBody>
      </p:sp>
      <p:sp>
        <p:nvSpPr>
          <p:cNvPr id="14" name="Text 12"/>
          <p:cNvSpPr/>
          <p:nvPr/>
        </p:nvSpPr>
        <p:spPr>
          <a:xfrm>
            <a:off x="320040" y="3675888"/>
            <a:ext cx="3931920" cy="347472"/>
          </a:xfrm>
          <a:prstGeom prst="rect">
            <a:avLst/>
          </a:prstGeom>
          <a:noFill/>
          <a:ln/>
        </p:spPr>
        <p:txBody>
          <a:bodyPr wrap="square" rtlCol="0" anchor="ctr"/>
          <a:lstStyle/>
          <a:p>
            <a:pPr marL="0" indent="0">
              <a:buNone/>
            </a:pPr>
            <a:r>
              <a:rPr lang="en-US" sz="950" dirty="0">
                <a:solidFill>
                  <a:srgbClr val="FFFFFF"/>
                </a:solidFill>
              </a:rPr>
              <a:t>Desventaja: mayor overhead para establecer la conexión.</a:t>
            </a:r>
            <a:endParaRPr lang="en-US" sz="950" dirty="0"/>
          </a:p>
        </p:txBody>
      </p:sp>
      <p:sp>
        <p:nvSpPr>
          <p:cNvPr id="15" name="Text 13"/>
          <p:cNvSpPr/>
          <p:nvPr/>
        </p:nvSpPr>
        <p:spPr>
          <a:xfrm>
            <a:off x="320040" y="4078224"/>
            <a:ext cx="3931920" cy="347472"/>
          </a:xfrm>
          <a:prstGeom prst="rect">
            <a:avLst/>
          </a:prstGeom>
          <a:noFill/>
          <a:ln/>
        </p:spPr>
        <p:txBody>
          <a:bodyPr wrap="square" rtlCol="0" anchor="ctr"/>
          <a:lstStyle/>
          <a:p>
            <a:pPr marL="0" indent="0">
              <a:buNone/>
            </a:pPr>
            <a:r>
              <a:rPr lang="en-US" sz="950" dirty="0">
                <a:solidFill>
                  <a:srgbClr val="FFFFFF"/>
                </a:solidFill>
              </a:rPr>
              <a:t>Usado en: redes telefónicas (ISDN), ATM.</a:t>
            </a:r>
            <a:endParaRPr lang="en-US" sz="950" dirty="0"/>
          </a:p>
        </p:txBody>
      </p:sp>
      <p:sp>
        <p:nvSpPr>
          <p:cNvPr id="16" name="Shape 14"/>
          <p:cNvSpPr/>
          <p:nvPr/>
        </p:nvSpPr>
        <p:spPr>
          <a:xfrm>
            <a:off x="4754880" y="1143000"/>
            <a:ext cx="4114800" cy="3383280"/>
          </a:xfrm>
          <a:prstGeom prst="rect">
            <a:avLst/>
          </a:prstGeom>
          <a:solidFill>
            <a:srgbClr val="1A2530"/>
          </a:solidFill>
          <a:ln w="25400">
            <a:solidFill>
              <a:srgbClr val="5AA8D8"/>
            </a:solidFill>
            <a:prstDash val="solid"/>
          </a:ln>
        </p:spPr>
        <p:txBody>
          <a:bodyPr/>
          <a:lstStyle/>
          <a:p>
            <a:endParaRPr lang="en-US"/>
          </a:p>
        </p:txBody>
      </p:sp>
      <p:sp>
        <p:nvSpPr>
          <p:cNvPr id="17" name="Shape 15"/>
          <p:cNvSpPr/>
          <p:nvPr/>
        </p:nvSpPr>
        <p:spPr>
          <a:xfrm>
            <a:off x="4754880" y="1143000"/>
            <a:ext cx="4114800" cy="438912"/>
          </a:xfrm>
          <a:prstGeom prst="rect">
            <a:avLst/>
          </a:prstGeom>
          <a:solidFill>
            <a:srgbClr val="5AA8D8"/>
          </a:solidFill>
          <a:ln w="12700">
            <a:solidFill>
              <a:srgbClr val="5AA8D8"/>
            </a:solidFill>
            <a:prstDash val="solid"/>
          </a:ln>
        </p:spPr>
        <p:txBody>
          <a:bodyPr/>
          <a:lstStyle/>
          <a:p>
            <a:endParaRPr lang="en-US"/>
          </a:p>
        </p:txBody>
      </p:sp>
      <p:sp>
        <p:nvSpPr>
          <p:cNvPr id="18" name="Text 16"/>
          <p:cNvSpPr/>
          <p:nvPr/>
        </p:nvSpPr>
        <p:spPr>
          <a:xfrm>
            <a:off x="4800600" y="1143000"/>
            <a:ext cx="4023360" cy="438912"/>
          </a:xfrm>
          <a:prstGeom prst="rect">
            <a:avLst/>
          </a:prstGeom>
          <a:noFill/>
          <a:ln/>
        </p:spPr>
        <p:txBody>
          <a:bodyPr wrap="square" rtlCol="0" anchor="ctr"/>
          <a:lstStyle/>
          <a:p>
            <a:pPr marL="0" indent="0" algn="ctr">
              <a:buNone/>
            </a:pPr>
            <a:r>
              <a:rPr lang="en-US" sz="1200" b="1" dirty="0">
                <a:solidFill>
                  <a:srgbClr val="FFFFFF"/>
                </a:solidFill>
              </a:rPr>
              <a:t>DATAGRAMAS (Internet)</a:t>
            </a:r>
            <a:endParaRPr lang="en-US" sz="1200" dirty="0"/>
          </a:p>
        </p:txBody>
      </p:sp>
      <p:sp>
        <p:nvSpPr>
          <p:cNvPr id="19" name="Text 17"/>
          <p:cNvSpPr/>
          <p:nvPr/>
        </p:nvSpPr>
        <p:spPr>
          <a:xfrm>
            <a:off x="4846320" y="1664208"/>
            <a:ext cx="3931920" cy="347472"/>
          </a:xfrm>
          <a:prstGeom prst="rect">
            <a:avLst/>
          </a:prstGeom>
          <a:noFill/>
          <a:ln/>
        </p:spPr>
        <p:txBody>
          <a:bodyPr wrap="square" rtlCol="0" anchor="ctr"/>
          <a:lstStyle/>
          <a:p>
            <a:pPr marL="0" indent="0">
              <a:buNone/>
            </a:pPr>
            <a:r>
              <a:rPr lang="en-US" sz="950" dirty="0">
                <a:solidFill>
                  <a:srgbClr val="FFFFFF"/>
                </a:solidFill>
              </a:rPr>
              <a:t>NO establece conexión previa: cada paquete viaja solo.</a:t>
            </a:r>
            <a:endParaRPr lang="en-US" sz="950" dirty="0"/>
          </a:p>
        </p:txBody>
      </p:sp>
      <p:sp>
        <p:nvSpPr>
          <p:cNvPr id="20" name="Text 18"/>
          <p:cNvSpPr/>
          <p:nvPr/>
        </p:nvSpPr>
        <p:spPr>
          <a:xfrm>
            <a:off x="4846320" y="2066544"/>
            <a:ext cx="3931920" cy="347472"/>
          </a:xfrm>
          <a:prstGeom prst="rect">
            <a:avLst/>
          </a:prstGeom>
          <a:noFill/>
          <a:ln/>
        </p:spPr>
        <p:txBody>
          <a:bodyPr wrap="square" rtlCol="0" anchor="ctr"/>
          <a:lstStyle/>
          <a:p>
            <a:pPr marL="0" indent="0">
              <a:buNone/>
            </a:pPr>
            <a:r>
              <a:rPr lang="en-US" sz="950" dirty="0">
                <a:solidFill>
                  <a:srgbClr val="FFFFFF"/>
                </a:solidFill>
              </a:rPr>
              <a:t>Cada datagrama lleva dirección origen y destino.</a:t>
            </a:r>
            <a:endParaRPr lang="en-US" sz="950" dirty="0"/>
          </a:p>
        </p:txBody>
      </p:sp>
      <p:sp>
        <p:nvSpPr>
          <p:cNvPr id="21" name="Text 19"/>
          <p:cNvSpPr/>
          <p:nvPr/>
        </p:nvSpPr>
        <p:spPr>
          <a:xfrm>
            <a:off x="4846320" y="2468880"/>
            <a:ext cx="3931920" cy="347472"/>
          </a:xfrm>
          <a:prstGeom prst="rect">
            <a:avLst/>
          </a:prstGeom>
          <a:noFill/>
          <a:ln/>
        </p:spPr>
        <p:txBody>
          <a:bodyPr wrap="square" rtlCol="0" anchor="ctr"/>
          <a:lstStyle/>
          <a:p>
            <a:pPr marL="0" indent="0">
              <a:buNone/>
            </a:pPr>
            <a:r>
              <a:rPr lang="en-US" sz="950" dirty="0">
                <a:solidFill>
                  <a:srgbClr val="FFFFFF"/>
                </a:solidFill>
              </a:rPr>
              <a:t>Encaminamiento adaptativo: ruta decidida paquete a paquete.</a:t>
            </a:r>
            <a:endParaRPr lang="en-US" sz="950" dirty="0"/>
          </a:p>
        </p:txBody>
      </p:sp>
      <p:sp>
        <p:nvSpPr>
          <p:cNvPr id="22" name="Text 20"/>
          <p:cNvSpPr/>
          <p:nvPr/>
        </p:nvSpPr>
        <p:spPr>
          <a:xfrm>
            <a:off x="4846320" y="2871216"/>
            <a:ext cx="3931920" cy="347472"/>
          </a:xfrm>
          <a:prstGeom prst="rect">
            <a:avLst/>
          </a:prstGeom>
          <a:noFill/>
          <a:ln/>
        </p:spPr>
        <p:txBody>
          <a:bodyPr wrap="square" rtlCol="0" anchor="ctr"/>
          <a:lstStyle/>
          <a:p>
            <a:pPr marL="0" indent="0">
              <a:buNone/>
            </a:pPr>
            <a:r>
              <a:rPr lang="en-US" sz="950" dirty="0">
                <a:solidFill>
                  <a:srgbClr val="FFFFFF"/>
                </a:solidFill>
              </a:rPr>
              <a:t>Si un router falla, otro toma su lugar automáticamente.</a:t>
            </a:r>
            <a:endParaRPr lang="en-US" sz="950" dirty="0"/>
          </a:p>
        </p:txBody>
      </p:sp>
      <p:sp>
        <p:nvSpPr>
          <p:cNvPr id="23" name="Text 21"/>
          <p:cNvSpPr/>
          <p:nvPr/>
        </p:nvSpPr>
        <p:spPr>
          <a:xfrm>
            <a:off x="4846320" y="3273552"/>
            <a:ext cx="3931920" cy="347472"/>
          </a:xfrm>
          <a:prstGeom prst="rect">
            <a:avLst/>
          </a:prstGeom>
          <a:noFill/>
          <a:ln/>
        </p:spPr>
        <p:txBody>
          <a:bodyPr wrap="square" rtlCol="0" anchor="ctr"/>
          <a:lstStyle/>
          <a:p>
            <a:pPr marL="0" indent="0">
              <a:buNone/>
            </a:pPr>
            <a:r>
              <a:rPr lang="en-US" sz="950" dirty="0">
                <a:solidFill>
                  <a:srgbClr val="FFFFFF"/>
                </a:solidFill>
              </a:rPr>
              <a:t>Ventaja: flexible, tolerante a fallos, fácil de escalar.</a:t>
            </a:r>
            <a:endParaRPr lang="en-US" sz="950" dirty="0"/>
          </a:p>
        </p:txBody>
      </p:sp>
      <p:sp>
        <p:nvSpPr>
          <p:cNvPr id="24" name="Text 22"/>
          <p:cNvSpPr/>
          <p:nvPr/>
        </p:nvSpPr>
        <p:spPr>
          <a:xfrm>
            <a:off x="4846320" y="3675888"/>
            <a:ext cx="3931920" cy="347472"/>
          </a:xfrm>
          <a:prstGeom prst="rect">
            <a:avLst/>
          </a:prstGeom>
          <a:noFill/>
          <a:ln/>
        </p:spPr>
        <p:txBody>
          <a:bodyPr wrap="square" rtlCol="0" anchor="ctr"/>
          <a:lstStyle/>
          <a:p>
            <a:pPr marL="0" indent="0">
              <a:buNone/>
            </a:pPr>
            <a:r>
              <a:rPr lang="en-US" sz="950" dirty="0">
                <a:solidFill>
                  <a:srgbClr val="FFFFFF"/>
                </a:solidFill>
              </a:rPr>
              <a:t>Desventaja: paquetes pueden llegar desordenados.</a:t>
            </a:r>
            <a:endParaRPr lang="en-US" sz="950" dirty="0"/>
          </a:p>
        </p:txBody>
      </p:sp>
      <p:sp>
        <p:nvSpPr>
          <p:cNvPr id="25" name="Text 23"/>
          <p:cNvSpPr/>
          <p:nvPr/>
        </p:nvSpPr>
        <p:spPr>
          <a:xfrm>
            <a:off x="4846320" y="4078224"/>
            <a:ext cx="3931920" cy="347472"/>
          </a:xfrm>
          <a:prstGeom prst="rect">
            <a:avLst/>
          </a:prstGeom>
          <a:noFill/>
          <a:ln/>
        </p:spPr>
        <p:txBody>
          <a:bodyPr wrap="square" rtlCol="0" anchor="ctr"/>
          <a:lstStyle/>
          <a:p>
            <a:pPr marL="0" indent="0">
              <a:buNone/>
            </a:pPr>
            <a:r>
              <a:rPr lang="en-US" sz="950" dirty="0">
                <a:solidFill>
                  <a:srgbClr val="FFFFFF"/>
                </a:solidFill>
              </a:rPr>
              <a:t>Usado en: Internet (IP), Ethernet.</a:t>
            </a:r>
            <a:endParaRPr lang="en-US" sz="950" dirty="0"/>
          </a:p>
        </p:txBody>
      </p:sp>
      <p:sp>
        <p:nvSpPr>
          <p:cNvPr id="26" name="Shape 2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7" name="Text 2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err="1">
                <a:solidFill>
                  <a:srgbClr val="6BB8E8"/>
                </a:solidFill>
              </a:rPr>
              <a:t>Pregunta</a:t>
            </a:r>
            <a:r>
              <a:rPr lang="en-US" sz="900" i="1" dirty="0">
                <a:solidFill>
                  <a:srgbClr val="6BB8E8"/>
                </a:solidFill>
              </a:rPr>
              <a:t> de examen es: ¿cuáles son los dos métodos de interconexión? Respuesta: Circuito Virtual y Datagramas. Internet usa Datagramas. Las redes telefónicas clásicas usaban Circuito Virtual.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La Familia de Protocolos Internet</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Servicios provistos sobre las redes subyacentes</a:t>
            </a:r>
            <a:endParaRPr lang="en-US" sz="1300" dirty="0"/>
          </a:p>
        </p:txBody>
      </p:sp>
      <p:sp>
        <p:nvSpPr>
          <p:cNvPr id="6" name="Shape 4"/>
          <p:cNvSpPr/>
          <p:nvPr/>
        </p:nvSpPr>
        <p:spPr>
          <a:xfrm>
            <a:off x="274320" y="1188720"/>
            <a:ext cx="4206240" cy="777240"/>
          </a:xfrm>
          <a:prstGeom prst="rect">
            <a:avLst/>
          </a:prstGeom>
          <a:solidFill>
            <a:srgbClr val="1A2530"/>
          </a:solidFill>
          <a:ln w="12700">
            <a:solidFill>
              <a:srgbClr val="5AA8D8"/>
            </a:solidFill>
            <a:prstDash val="solid"/>
          </a:ln>
        </p:spPr>
        <p:txBody>
          <a:bodyPr/>
          <a:lstStyle/>
          <a:p>
            <a:endParaRPr lang="en-US"/>
          </a:p>
        </p:txBody>
      </p:sp>
      <p:sp>
        <p:nvSpPr>
          <p:cNvPr id="7" name="Shape 5"/>
          <p:cNvSpPr/>
          <p:nvPr/>
        </p:nvSpPr>
        <p:spPr>
          <a:xfrm>
            <a:off x="274320" y="1188720"/>
            <a:ext cx="384048" cy="77724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353312"/>
            <a:ext cx="384048" cy="438912"/>
          </a:xfrm>
          <a:prstGeom prst="rect">
            <a:avLst/>
          </a:prstGeom>
          <a:noFill/>
          <a:ln/>
        </p:spPr>
        <p:txBody>
          <a:bodyPr wrap="square" rtlCol="0" anchor="ctr"/>
          <a:lstStyle/>
          <a:p>
            <a:pPr marL="0" indent="0" algn="ctr">
              <a:buNone/>
            </a:pPr>
            <a:r>
              <a:rPr lang="en-US" sz="1300" b="1" dirty="0">
                <a:solidFill>
                  <a:srgbClr val="FFFFFF"/>
                </a:solidFill>
              </a:rPr>
              <a:t>1</a:t>
            </a:r>
            <a:endParaRPr lang="en-US" sz="1300" dirty="0"/>
          </a:p>
        </p:txBody>
      </p:sp>
      <p:sp>
        <p:nvSpPr>
          <p:cNvPr id="9" name="Text 7"/>
          <p:cNvSpPr/>
          <p:nvPr/>
        </p:nvSpPr>
        <p:spPr>
          <a:xfrm>
            <a:off x="731520" y="1243584"/>
            <a:ext cx="3675888" cy="274320"/>
          </a:xfrm>
          <a:prstGeom prst="rect">
            <a:avLst/>
          </a:prstGeom>
          <a:noFill/>
          <a:ln/>
        </p:spPr>
        <p:txBody>
          <a:bodyPr wrap="square" rtlCol="0" anchor="ctr"/>
          <a:lstStyle/>
          <a:p>
            <a:pPr marL="0" indent="0">
              <a:buNone/>
            </a:pPr>
            <a:r>
              <a:rPr lang="en-US" sz="1100" b="1" dirty="0">
                <a:solidFill>
                  <a:srgbClr val="5AA8D8"/>
                </a:solidFill>
              </a:rPr>
              <a:t>Datagramas</a:t>
            </a:r>
            <a:endParaRPr lang="en-US" sz="1100" dirty="0"/>
          </a:p>
        </p:txBody>
      </p:sp>
      <p:sp>
        <p:nvSpPr>
          <p:cNvPr id="10" name="Text 8"/>
          <p:cNvSpPr/>
          <p:nvPr/>
        </p:nvSpPr>
        <p:spPr>
          <a:xfrm>
            <a:off x="731520" y="1517904"/>
            <a:ext cx="3675888" cy="384048"/>
          </a:xfrm>
          <a:prstGeom prst="rect">
            <a:avLst/>
          </a:prstGeom>
          <a:noFill/>
          <a:ln/>
        </p:spPr>
        <p:txBody>
          <a:bodyPr wrap="square" rtlCol="0" anchor="t"/>
          <a:lstStyle/>
          <a:p>
            <a:pPr marL="0" indent="0">
              <a:buNone/>
            </a:pPr>
            <a:r>
              <a:rPr lang="en-US" sz="950" dirty="0">
                <a:solidFill>
                  <a:srgbClr val="FFFFFF"/>
                </a:solidFill>
              </a:rPr>
              <a:t>Unidad básica de transmisión. Cada datagrama lleva IP origen, IP destino y datos.</a:t>
            </a:r>
            <a:endParaRPr lang="en-US" sz="950" dirty="0"/>
          </a:p>
        </p:txBody>
      </p:sp>
      <p:sp>
        <p:nvSpPr>
          <p:cNvPr id="11" name="Shape 9"/>
          <p:cNvSpPr/>
          <p:nvPr/>
        </p:nvSpPr>
        <p:spPr>
          <a:xfrm>
            <a:off x="274320" y="2084832"/>
            <a:ext cx="4206240" cy="777240"/>
          </a:xfrm>
          <a:prstGeom prst="rect">
            <a:avLst/>
          </a:prstGeom>
          <a:solidFill>
            <a:srgbClr val="1A2530"/>
          </a:solidFill>
          <a:ln w="12700">
            <a:solidFill>
              <a:srgbClr val="3A7BAA"/>
            </a:solidFill>
            <a:prstDash val="solid"/>
          </a:ln>
        </p:spPr>
        <p:txBody>
          <a:bodyPr/>
          <a:lstStyle/>
          <a:p>
            <a:endParaRPr lang="en-US"/>
          </a:p>
        </p:txBody>
      </p:sp>
      <p:sp>
        <p:nvSpPr>
          <p:cNvPr id="12" name="Shape 10"/>
          <p:cNvSpPr/>
          <p:nvPr/>
        </p:nvSpPr>
        <p:spPr>
          <a:xfrm>
            <a:off x="274320" y="2084832"/>
            <a:ext cx="384048" cy="777240"/>
          </a:xfrm>
          <a:prstGeom prst="rect">
            <a:avLst/>
          </a:prstGeom>
          <a:solidFill>
            <a:srgbClr val="3A7BAA"/>
          </a:solidFill>
          <a:ln w="12700">
            <a:solidFill>
              <a:srgbClr val="3A7BAA"/>
            </a:solidFill>
            <a:prstDash val="solid"/>
          </a:ln>
        </p:spPr>
        <p:txBody>
          <a:bodyPr/>
          <a:lstStyle/>
          <a:p>
            <a:endParaRPr lang="en-US"/>
          </a:p>
        </p:txBody>
      </p:sp>
      <p:sp>
        <p:nvSpPr>
          <p:cNvPr id="13" name="Text 11"/>
          <p:cNvSpPr/>
          <p:nvPr/>
        </p:nvSpPr>
        <p:spPr>
          <a:xfrm>
            <a:off x="274320" y="2249424"/>
            <a:ext cx="384048" cy="438912"/>
          </a:xfrm>
          <a:prstGeom prst="rect">
            <a:avLst/>
          </a:prstGeom>
          <a:noFill/>
          <a:ln/>
        </p:spPr>
        <p:txBody>
          <a:bodyPr wrap="square" rtlCol="0" anchor="ctr"/>
          <a:lstStyle/>
          <a:p>
            <a:pPr marL="0" indent="0" algn="ctr">
              <a:buNone/>
            </a:pPr>
            <a:r>
              <a:rPr lang="en-US" sz="1300" b="1" dirty="0">
                <a:solidFill>
                  <a:srgbClr val="FFFFFF"/>
                </a:solidFill>
              </a:rPr>
              <a:t>2</a:t>
            </a:r>
            <a:endParaRPr lang="en-US" sz="1300" dirty="0"/>
          </a:p>
        </p:txBody>
      </p:sp>
      <p:sp>
        <p:nvSpPr>
          <p:cNvPr id="14" name="Text 12"/>
          <p:cNvSpPr/>
          <p:nvPr/>
        </p:nvSpPr>
        <p:spPr>
          <a:xfrm>
            <a:off x="731520" y="2139696"/>
            <a:ext cx="3675888" cy="274320"/>
          </a:xfrm>
          <a:prstGeom prst="rect">
            <a:avLst/>
          </a:prstGeom>
          <a:noFill/>
          <a:ln/>
        </p:spPr>
        <p:txBody>
          <a:bodyPr wrap="square" rtlCol="0" anchor="ctr"/>
          <a:lstStyle/>
          <a:p>
            <a:pPr marL="0" indent="0">
              <a:buNone/>
            </a:pPr>
            <a:r>
              <a:rPr lang="en-US" sz="1100" b="1" dirty="0">
                <a:solidFill>
                  <a:srgbClr val="3A7BAA"/>
                </a:solidFill>
              </a:rPr>
              <a:t>Direccionamiento</a:t>
            </a:r>
            <a:endParaRPr lang="en-US" sz="1100" dirty="0"/>
          </a:p>
        </p:txBody>
      </p:sp>
      <p:sp>
        <p:nvSpPr>
          <p:cNvPr id="15" name="Text 13"/>
          <p:cNvSpPr/>
          <p:nvPr/>
        </p:nvSpPr>
        <p:spPr>
          <a:xfrm>
            <a:off x="731520" y="2414016"/>
            <a:ext cx="3675888" cy="384048"/>
          </a:xfrm>
          <a:prstGeom prst="rect">
            <a:avLst/>
          </a:prstGeom>
          <a:noFill/>
          <a:ln/>
        </p:spPr>
        <p:txBody>
          <a:bodyPr wrap="square" rtlCol="0" anchor="t"/>
          <a:lstStyle/>
          <a:p>
            <a:pPr marL="0" indent="0">
              <a:buNone/>
            </a:pPr>
            <a:r>
              <a:rPr lang="en-US" sz="950" dirty="0">
                <a:solidFill>
                  <a:srgbClr val="FFFFFF"/>
                </a:solidFill>
              </a:rPr>
              <a:t>Formato de dirección IP de 32 bits (red + host). Único e inequívoco en toda Internet.</a:t>
            </a:r>
            <a:endParaRPr lang="en-US" sz="950" dirty="0"/>
          </a:p>
        </p:txBody>
      </p:sp>
      <p:sp>
        <p:nvSpPr>
          <p:cNvPr id="16" name="Shape 14"/>
          <p:cNvSpPr/>
          <p:nvPr/>
        </p:nvSpPr>
        <p:spPr>
          <a:xfrm>
            <a:off x="274320" y="2980944"/>
            <a:ext cx="4206240" cy="777240"/>
          </a:xfrm>
          <a:prstGeom prst="rect">
            <a:avLst/>
          </a:prstGeom>
          <a:solidFill>
            <a:srgbClr val="1A2530"/>
          </a:solidFill>
          <a:ln w="12700">
            <a:solidFill>
              <a:srgbClr val="5A8A3A"/>
            </a:solidFill>
            <a:prstDash val="solid"/>
          </a:ln>
        </p:spPr>
        <p:txBody>
          <a:bodyPr/>
          <a:lstStyle/>
          <a:p>
            <a:endParaRPr lang="en-US"/>
          </a:p>
        </p:txBody>
      </p:sp>
      <p:sp>
        <p:nvSpPr>
          <p:cNvPr id="17" name="Shape 15"/>
          <p:cNvSpPr/>
          <p:nvPr/>
        </p:nvSpPr>
        <p:spPr>
          <a:xfrm>
            <a:off x="274320" y="2980944"/>
            <a:ext cx="384048" cy="777240"/>
          </a:xfrm>
          <a:prstGeom prst="rect">
            <a:avLst/>
          </a:prstGeom>
          <a:solidFill>
            <a:srgbClr val="5A8A3A"/>
          </a:solidFill>
          <a:ln w="12700">
            <a:solidFill>
              <a:srgbClr val="5A8A3A"/>
            </a:solidFill>
            <a:prstDash val="solid"/>
          </a:ln>
        </p:spPr>
        <p:txBody>
          <a:bodyPr/>
          <a:lstStyle/>
          <a:p>
            <a:endParaRPr lang="en-US"/>
          </a:p>
        </p:txBody>
      </p:sp>
      <p:sp>
        <p:nvSpPr>
          <p:cNvPr id="18" name="Text 16"/>
          <p:cNvSpPr/>
          <p:nvPr/>
        </p:nvSpPr>
        <p:spPr>
          <a:xfrm>
            <a:off x="274320" y="3145536"/>
            <a:ext cx="384048" cy="438912"/>
          </a:xfrm>
          <a:prstGeom prst="rect">
            <a:avLst/>
          </a:prstGeom>
          <a:noFill/>
          <a:ln/>
        </p:spPr>
        <p:txBody>
          <a:bodyPr wrap="square" rtlCol="0" anchor="ctr"/>
          <a:lstStyle/>
          <a:p>
            <a:pPr marL="0" indent="0" algn="ctr">
              <a:buNone/>
            </a:pPr>
            <a:r>
              <a:rPr lang="en-US" sz="1300" b="1" dirty="0">
                <a:solidFill>
                  <a:srgbClr val="FFFFFF"/>
                </a:solidFill>
              </a:rPr>
              <a:t>3</a:t>
            </a:r>
            <a:endParaRPr lang="en-US" sz="1300" dirty="0"/>
          </a:p>
        </p:txBody>
      </p:sp>
      <p:sp>
        <p:nvSpPr>
          <p:cNvPr id="19" name="Text 17"/>
          <p:cNvSpPr/>
          <p:nvPr/>
        </p:nvSpPr>
        <p:spPr>
          <a:xfrm>
            <a:off x="731520" y="3035808"/>
            <a:ext cx="3675888" cy="274320"/>
          </a:xfrm>
          <a:prstGeom prst="rect">
            <a:avLst/>
          </a:prstGeom>
          <a:noFill/>
          <a:ln/>
        </p:spPr>
        <p:txBody>
          <a:bodyPr wrap="square" rtlCol="0" anchor="ctr"/>
          <a:lstStyle/>
          <a:p>
            <a:pPr marL="0" indent="0">
              <a:buNone/>
            </a:pPr>
            <a:r>
              <a:rPr lang="en-US" sz="1100" b="1" dirty="0">
                <a:solidFill>
                  <a:srgbClr val="5A8A3A"/>
                </a:solidFill>
              </a:rPr>
              <a:t>Fragmentación / Reensamblado</a:t>
            </a:r>
            <a:endParaRPr lang="en-US" sz="1100" dirty="0"/>
          </a:p>
        </p:txBody>
      </p:sp>
      <p:sp>
        <p:nvSpPr>
          <p:cNvPr id="20" name="Text 18"/>
          <p:cNvSpPr/>
          <p:nvPr/>
        </p:nvSpPr>
        <p:spPr>
          <a:xfrm>
            <a:off x="731520" y="3310128"/>
            <a:ext cx="3675888" cy="384048"/>
          </a:xfrm>
          <a:prstGeom prst="rect">
            <a:avLst/>
          </a:prstGeom>
          <a:noFill/>
          <a:ln/>
        </p:spPr>
        <p:txBody>
          <a:bodyPr wrap="square" rtlCol="0" anchor="t"/>
          <a:lstStyle/>
          <a:p>
            <a:pPr marL="0" indent="0">
              <a:buNone/>
            </a:pPr>
            <a:r>
              <a:rPr lang="en-US" sz="950" dirty="0">
                <a:solidFill>
                  <a:srgbClr val="FFFFFF"/>
                </a:solidFill>
              </a:rPr>
              <a:t>Adapta los datagramas al MTU de cada red. Ya visto en H4.</a:t>
            </a:r>
            <a:endParaRPr lang="en-US" sz="950" dirty="0"/>
          </a:p>
        </p:txBody>
      </p:sp>
      <p:sp>
        <p:nvSpPr>
          <p:cNvPr id="21" name="Shape 19"/>
          <p:cNvSpPr/>
          <p:nvPr/>
        </p:nvSpPr>
        <p:spPr>
          <a:xfrm>
            <a:off x="274320" y="3877056"/>
            <a:ext cx="4206240" cy="777240"/>
          </a:xfrm>
          <a:prstGeom prst="rect">
            <a:avLst/>
          </a:prstGeom>
          <a:solidFill>
            <a:srgbClr val="1A2530"/>
          </a:solidFill>
          <a:ln w="12700">
            <a:solidFill>
              <a:srgbClr val="7A5A9A"/>
            </a:solidFill>
            <a:prstDash val="solid"/>
          </a:ln>
        </p:spPr>
        <p:txBody>
          <a:bodyPr/>
          <a:lstStyle/>
          <a:p>
            <a:endParaRPr lang="en-US"/>
          </a:p>
        </p:txBody>
      </p:sp>
      <p:sp>
        <p:nvSpPr>
          <p:cNvPr id="22" name="Shape 20"/>
          <p:cNvSpPr/>
          <p:nvPr/>
        </p:nvSpPr>
        <p:spPr>
          <a:xfrm>
            <a:off x="274320" y="3877056"/>
            <a:ext cx="384048" cy="777240"/>
          </a:xfrm>
          <a:prstGeom prst="rect">
            <a:avLst/>
          </a:prstGeom>
          <a:solidFill>
            <a:srgbClr val="7A5A9A"/>
          </a:solidFill>
          <a:ln w="12700">
            <a:solidFill>
              <a:srgbClr val="7A5A9A"/>
            </a:solidFill>
            <a:prstDash val="solid"/>
          </a:ln>
        </p:spPr>
        <p:txBody>
          <a:bodyPr/>
          <a:lstStyle/>
          <a:p>
            <a:endParaRPr lang="en-US"/>
          </a:p>
        </p:txBody>
      </p:sp>
      <p:sp>
        <p:nvSpPr>
          <p:cNvPr id="23" name="Text 21"/>
          <p:cNvSpPr/>
          <p:nvPr/>
        </p:nvSpPr>
        <p:spPr>
          <a:xfrm>
            <a:off x="274320" y="4041648"/>
            <a:ext cx="384048" cy="438912"/>
          </a:xfrm>
          <a:prstGeom prst="rect">
            <a:avLst/>
          </a:prstGeom>
          <a:noFill/>
          <a:ln/>
        </p:spPr>
        <p:txBody>
          <a:bodyPr wrap="square" rtlCol="0" anchor="ctr"/>
          <a:lstStyle/>
          <a:p>
            <a:pPr marL="0" indent="0" algn="ctr">
              <a:buNone/>
            </a:pPr>
            <a:r>
              <a:rPr lang="en-US" sz="1300" b="1" dirty="0">
                <a:solidFill>
                  <a:srgbClr val="FFFFFF"/>
                </a:solidFill>
              </a:rPr>
              <a:t>4</a:t>
            </a:r>
            <a:endParaRPr lang="en-US" sz="1300" dirty="0"/>
          </a:p>
        </p:txBody>
      </p:sp>
      <p:sp>
        <p:nvSpPr>
          <p:cNvPr id="24" name="Text 22"/>
          <p:cNvSpPr/>
          <p:nvPr/>
        </p:nvSpPr>
        <p:spPr>
          <a:xfrm>
            <a:off x="731520" y="3931920"/>
            <a:ext cx="3675888" cy="274320"/>
          </a:xfrm>
          <a:prstGeom prst="rect">
            <a:avLst/>
          </a:prstGeom>
          <a:noFill/>
          <a:ln/>
        </p:spPr>
        <p:txBody>
          <a:bodyPr wrap="square" rtlCol="0" anchor="ctr"/>
          <a:lstStyle/>
          <a:p>
            <a:pPr marL="0" indent="0">
              <a:buNone/>
            </a:pPr>
            <a:r>
              <a:rPr lang="en-US" sz="1100" b="1" dirty="0">
                <a:solidFill>
                  <a:srgbClr val="7A5A9A"/>
                </a:solidFill>
              </a:rPr>
              <a:t>Exactitud y Fidelidad</a:t>
            </a:r>
            <a:endParaRPr lang="en-US" sz="1100" dirty="0"/>
          </a:p>
        </p:txBody>
      </p:sp>
      <p:sp>
        <p:nvSpPr>
          <p:cNvPr id="25" name="Text 23"/>
          <p:cNvSpPr/>
          <p:nvPr/>
        </p:nvSpPr>
        <p:spPr>
          <a:xfrm>
            <a:off x="731520" y="4206240"/>
            <a:ext cx="3675888" cy="384048"/>
          </a:xfrm>
          <a:prstGeom prst="rect">
            <a:avLst/>
          </a:prstGeom>
          <a:noFill/>
          <a:ln/>
        </p:spPr>
        <p:txBody>
          <a:bodyPr wrap="square" rtlCol="0" anchor="t"/>
          <a:lstStyle/>
          <a:p>
            <a:pPr marL="0" indent="0">
              <a:buNone/>
            </a:pPr>
            <a:r>
              <a:rPr lang="en-US" sz="950" dirty="0">
                <a:solidFill>
                  <a:srgbClr val="FFFFFF"/>
                </a:solidFill>
              </a:rPr>
              <a:t>TCP asegura entrega sin errores con checksums y reconocimientos positivos (ACK).</a:t>
            </a:r>
            <a:endParaRPr lang="en-US" sz="950" dirty="0"/>
          </a:p>
        </p:txBody>
      </p:sp>
      <p:sp>
        <p:nvSpPr>
          <p:cNvPr id="26" name="Shape 24"/>
          <p:cNvSpPr/>
          <p:nvPr/>
        </p:nvSpPr>
        <p:spPr>
          <a:xfrm>
            <a:off x="4754880" y="1188720"/>
            <a:ext cx="4206240" cy="777240"/>
          </a:xfrm>
          <a:prstGeom prst="rect">
            <a:avLst/>
          </a:prstGeom>
          <a:solidFill>
            <a:srgbClr val="1A2530"/>
          </a:solidFill>
          <a:ln w="12700">
            <a:solidFill>
              <a:srgbClr val="9A5A3A"/>
            </a:solidFill>
            <a:prstDash val="solid"/>
          </a:ln>
        </p:spPr>
        <p:txBody>
          <a:bodyPr/>
          <a:lstStyle/>
          <a:p>
            <a:endParaRPr lang="en-US"/>
          </a:p>
        </p:txBody>
      </p:sp>
      <p:sp>
        <p:nvSpPr>
          <p:cNvPr id="27" name="Shape 25"/>
          <p:cNvSpPr/>
          <p:nvPr/>
        </p:nvSpPr>
        <p:spPr>
          <a:xfrm>
            <a:off x="4754880" y="1188720"/>
            <a:ext cx="384048" cy="777240"/>
          </a:xfrm>
          <a:prstGeom prst="rect">
            <a:avLst/>
          </a:prstGeom>
          <a:solidFill>
            <a:srgbClr val="9A5A3A"/>
          </a:solidFill>
          <a:ln w="12700">
            <a:solidFill>
              <a:srgbClr val="9A5A3A"/>
            </a:solidFill>
            <a:prstDash val="solid"/>
          </a:ln>
        </p:spPr>
        <p:txBody>
          <a:bodyPr/>
          <a:lstStyle/>
          <a:p>
            <a:endParaRPr lang="en-US"/>
          </a:p>
        </p:txBody>
      </p:sp>
      <p:sp>
        <p:nvSpPr>
          <p:cNvPr id="28" name="Text 26"/>
          <p:cNvSpPr/>
          <p:nvPr/>
        </p:nvSpPr>
        <p:spPr>
          <a:xfrm>
            <a:off x="4754880" y="1353312"/>
            <a:ext cx="384048" cy="438912"/>
          </a:xfrm>
          <a:prstGeom prst="rect">
            <a:avLst/>
          </a:prstGeom>
          <a:noFill/>
          <a:ln/>
        </p:spPr>
        <p:txBody>
          <a:bodyPr wrap="square" rtlCol="0" anchor="ctr"/>
          <a:lstStyle/>
          <a:p>
            <a:pPr marL="0" indent="0" algn="ctr">
              <a:buNone/>
            </a:pPr>
            <a:r>
              <a:rPr lang="en-US" sz="1300" b="1" dirty="0">
                <a:solidFill>
                  <a:srgbClr val="FFFFFF"/>
                </a:solidFill>
              </a:rPr>
              <a:t>5</a:t>
            </a:r>
            <a:endParaRPr lang="en-US" sz="1300" dirty="0"/>
          </a:p>
        </p:txBody>
      </p:sp>
      <p:sp>
        <p:nvSpPr>
          <p:cNvPr id="29" name="Text 27"/>
          <p:cNvSpPr/>
          <p:nvPr/>
        </p:nvSpPr>
        <p:spPr>
          <a:xfrm>
            <a:off x="5212080" y="1243584"/>
            <a:ext cx="3675888" cy="274320"/>
          </a:xfrm>
          <a:prstGeom prst="rect">
            <a:avLst/>
          </a:prstGeom>
          <a:noFill/>
          <a:ln/>
        </p:spPr>
        <p:txBody>
          <a:bodyPr wrap="square" rtlCol="0" anchor="ctr"/>
          <a:lstStyle/>
          <a:p>
            <a:pPr marL="0" indent="0">
              <a:buNone/>
            </a:pPr>
            <a:r>
              <a:rPr lang="en-US" sz="1100" b="1" dirty="0">
                <a:solidFill>
                  <a:srgbClr val="9A5A3A"/>
                </a:solidFill>
              </a:rPr>
              <a:t>Secuenciamiento</a:t>
            </a:r>
            <a:endParaRPr lang="en-US" sz="1100" dirty="0"/>
          </a:p>
        </p:txBody>
      </p:sp>
      <p:sp>
        <p:nvSpPr>
          <p:cNvPr id="30" name="Text 28"/>
          <p:cNvSpPr/>
          <p:nvPr/>
        </p:nvSpPr>
        <p:spPr>
          <a:xfrm>
            <a:off x="5212080" y="1517904"/>
            <a:ext cx="3675888" cy="384048"/>
          </a:xfrm>
          <a:prstGeom prst="rect">
            <a:avLst/>
          </a:prstGeom>
          <a:noFill/>
          <a:ln/>
        </p:spPr>
        <p:txBody>
          <a:bodyPr wrap="square" rtlCol="0" anchor="t"/>
          <a:lstStyle/>
          <a:p>
            <a:pPr marL="0" indent="0">
              <a:buNone/>
            </a:pPr>
            <a:r>
              <a:rPr lang="en-US" sz="950" dirty="0">
                <a:solidFill>
                  <a:srgbClr val="FFFFFF"/>
                </a:solidFill>
              </a:rPr>
              <a:t>Los datos llegan en el orden correcto gracias al número de secuencia de TCP.</a:t>
            </a:r>
            <a:endParaRPr lang="en-US" sz="950" dirty="0"/>
          </a:p>
        </p:txBody>
      </p:sp>
      <p:sp>
        <p:nvSpPr>
          <p:cNvPr id="31" name="Shape 29"/>
          <p:cNvSpPr/>
          <p:nvPr/>
        </p:nvSpPr>
        <p:spPr>
          <a:xfrm>
            <a:off x="4754880" y="2084832"/>
            <a:ext cx="4206240" cy="777240"/>
          </a:xfrm>
          <a:prstGeom prst="rect">
            <a:avLst/>
          </a:prstGeom>
          <a:solidFill>
            <a:srgbClr val="1A2530"/>
          </a:solidFill>
          <a:ln w="12700">
            <a:solidFill>
              <a:srgbClr val="3A8A7A"/>
            </a:solidFill>
            <a:prstDash val="solid"/>
          </a:ln>
        </p:spPr>
        <p:txBody>
          <a:bodyPr/>
          <a:lstStyle/>
          <a:p>
            <a:endParaRPr lang="en-US"/>
          </a:p>
        </p:txBody>
      </p:sp>
      <p:sp>
        <p:nvSpPr>
          <p:cNvPr id="32" name="Shape 30"/>
          <p:cNvSpPr/>
          <p:nvPr/>
        </p:nvSpPr>
        <p:spPr>
          <a:xfrm>
            <a:off x="4754880" y="2084832"/>
            <a:ext cx="384048" cy="777240"/>
          </a:xfrm>
          <a:prstGeom prst="rect">
            <a:avLst/>
          </a:prstGeom>
          <a:solidFill>
            <a:srgbClr val="3A8A7A"/>
          </a:solidFill>
          <a:ln w="12700">
            <a:solidFill>
              <a:srgbClr val="3A8A7A"/>
            </a:solidFill>
            <a:prstDash val="solid"/>
          </a:ln>
        </p:spPr>
        <p:txBody>
          <a:bodyPr/>
          <a:lstStyle/>
          <a:p>
            <a:endParaRPr lang="en-US"/>
          </a:p>
        </p:txBody>
      </p:sp>
      <p:sp>
        <p:nvSpPr>
          <p:cNvPr id="33" name="Text 31"/>
          <p:cNvSpPr/>
          <p:nvPr/>
        </p:nvSpPr>
        <p:spPr>
          <a:xfrm>
            <a:off x="4754880" y="2249424"/>
            <a:ext cx="384048" cy="438912"/>
          </a:xfrm>
          <a:prstGeom prst="rect">
            <a:avLst/>
          </a:prstGeom>
          <a:noFill/>
          <a:ln/>
        </p:spPr>
        <p:txBody>
          <a:bodyPr wrap="square" rtlCol="0" anchor="ctr"/>
          <a:lstStyle/>
          <a:p>
            <a:pPr marL="0" indent="0" algn="ctr">
              <a:buNone/>
            </a:pPr>
            <a:r>
              <a:rPr lang="en-US" sz="1300" b="1" dirty="0">
                <a:solidFill>
                  <a:srgbClr val="FFFFFF"/>
                </a:solidFill>
              </a:rPr>
              <a:t>6</a:t>
            </a:r>
            <a:endParaRPr lang="en-US" sz="1300" dirty="0"/>
          </a:p>
        </p:txBody>
      </p:sp>
      <p:sp>
        <p:nvSpPr>
          <p:cNvPr id="34" name="Text 32"/>
          <p:cNvSpPr/>
          <p:nvPr/>
        </p:nvSpPr>
        <p:spPr>
          <a:xfrm>
            <a:off x="5212080" y="2139696"/>
            <a:ext cx="3675888" cy="274320"/>
          </a:xfrm>
          <a:prstGeom prst="rect">
            <a:avLst/>
          </a:prstGeom>
          <a:noFill/>
          <a:ln/>
        </p:spPr>
        <p:txBody>
          <a:bodyPr wrap="square" rtlCol="0" anchor="ctr"/>
          <a:lstStyle/>
          <a:p>
            <a:pPr marL="0" indent="0">
              <a:buNone/>
            </a:pPr>
            <a:r>
              <a:rPr lang="en-US" sz="1100" b="1" dirty="0">
                <a:solidFill>
                  <a:srgbClr val="3A8A7A"/>
                </a:solidFill>
              </a:rPr>
              <a:t>Control de Flujo</a:t>
            </a:r>
            <a:endParaRPr lang="en-US" sz="1100" dirty="0"/>
          </a:p>
        </p:txBody>
      </p:sp>
      <p:sp>
        <p:nvSpPr>
          <p:cNvPr id="35" name="Text 33"/>
          <p:cNvSpPr/>
          <p:nvPr/>
        </p:nvSpPr>
        <p:spPr>
          <a:xfrm>
            <a:off x="5212080" y="2414016"/>
            <a:ext cx="3675888" cy="384048"/>
          </a:xfrm>
          <a:prstGeom prst="rect">
            <a:avLst/>
          </a:prstGeom>
          <a:noFill/>
          <a:ln/>
        </p:spPr>
        <p:txBody>
          <a:bodyPr wrap="square" rtlCol="0" anchor="t"/>
          <a:lstStyle/>
          <a:p>
            <a:pPr marL="0" indent="0">
              <a:buNone/>
            </a:pPr>
            <a:r>
              <a:rPr lang="en-US" sz="950" dirty="0">
                <a:solidFill>
                  <a:srgbClr val="FFFFFF"/>
                </a:solidFill>
              </a:rPr>
              <a:t>El receptor regula la tasa de envío del emisor. Evita desbordamientos de buffer.</a:t>
            </a:r>
            <a:endParaRPr lang="en-US" sz="950" dirty="0"/>
          </a:p>
        </p:txBody>
      </p:sp>
      <p:sp>
        <p:nvSpPr>
          <p:cNvPr id="36" name="Shape 34"/>
          <p:cNvSpPr/>
          <p:nvPr/>
        </p:nvSpPr>
        <p:spPr>
          <a:xfrm>
            <a:off x="4754880" y="2980944"/>
            <a:ext cx="4206240" cy="777240"/>
          </a:xfrm>
          <a:prstGeom prst="rect">
            <a:avLst/>
          </a:prstGeom>
          <a:solidFill>
            <a:srgbClr val="1A2530"/>
          </a:solidFill>
          <a:ln w="12700">
            <a:solidFill>
              <a:srgbClr val="8A3A5A"/>
            </a:solidFill>
            <a:prstDash val="solid"/>
          </a:ln>
        </p:spPr>
        <p:txBody>
          <a:bodyPr/>
          <a:lstStyle/>
          <a:p>
            <a:endParaRPr lang="en-US"/>
          </a:p>
        </p:txBody>
      </p:sp>
      <p:sp>
        <p:nvSpPr>
          <p:cNvPr id="37" name="Shape 35"/>
          <p:cNvSpPr/>
          <p:nvPr/>
        </p:nvSpPr>
        <p:spPr>
          <a:xfrm>
            <a:off x="4754880" y="2980944"/>
            <a:ext cx="384048" cy="777240"/>
          </a:xfrm>
          <a:prstGeom prst="rect">
            <a:avLst/>
          </a:prstGeom>
          <a:solidFill>
            <a:srgbClr val="8A3A5A"/>
          </a:solidFill>
          <a:ln w="12700">
            <a:solidFill>
              <a:srgbClr val="8A3A5A"/>
            </a:solidFill>
            <a:prstDash val="solid"/>
          </a:ln>
        </p:spPr>
        <p:txBody>
          <a:bodyPr/>
          <a:lstStyle/>
          <a:p>
            <a:endParaRPr lang="en-US"/>
          </a:p>
        </p:txBody>
      </p:sp>
      <p:sp>
        <p:nvSpPr>
          <p:cNvPr id="38" name="Text 36"/>
          <p:cNvSpPr/>
          <p:nvPr/>
        </p:nvSpPr>
        <p:spPr>
          <a:xfrm>
            <a:off x="4754880" y="3145536"/>
            <a:ext cx="384048" cy="438912"/>
          </a:xfrm>
          <a:prstGeom prst="rect">
            <a:avLst/>
          </a:prstGeom>
          <a:noFill/>
          <a:ln/>
        </p:spPr>
        <p:txBody>
          <a:bodyPr wrap="square" rtlCol="0" anchor="ctr"/>
          <a:lstStyle/>
          <a:p>
            <a:pPr marL="0" indent="0" algn="ctr">
              <a:buNone/>
            </a:pPr>
            <a:r>
              <a:rPr lang="en-US" sz="1300" b="1" dirty="0">
                <a:solidFill>
                  <a:srgbClr val="FFFFFF"/>
                </a:solidFill>
              </a:rPr>
              <a:t>7</a:t>
            </a:r>
            <a:endParaRPr lang="en-US" sz="1300" dirty="0"/>
          </a:p>
        </p:txBody>
      </p:sp>
      <p:sp>
        <p:nvSpPr>
          <p:cNvPr id="39" name="Text 37"/>
          <p:cNvSpPr/>
          <p:nvPr/>
        </p:nvSpPr>
        <p:spPr>
          <a:xfrm>
            <a:off x="5212080" y="3035808"/>
            <a:ext cx="3675888" cy="274320"/>
          </a:xfrm>
          <a:prstGeom prst="rect">
            <a:avLst/>
          </a:prstGeom>
          <a:noFill/>
          <a:ln/>
        </p:spPr>
        <p:txBody>
          <a:bodyPr wrap="square" rtlCol="0" anchor="ctr"/>
          <a:lstStyle/>
          <a:p>
            <a:pPr marL="0" indent="0">
              <a:buNone/>
            </a:pPr>
            <a:r>
              <a:rPr lang="en-US" sz="1100" b="1" dirty="0">
                <a:solidFill>
                  <a:srgbClr val="8A3A5A"/>
                </a:solidFill>
              </a:rPr>
              <a:t>Conexiones</a:t>
            </a:r>
            <a:endParaRPr lang="en-US" sz="1100" dirty="0"/>
          </a:p>
        </p:txBody>
      </p:sp>
      <p:sp>
        <p:nvSpPr>
          <p:cNvPr id="40" name="Text 38"/>
          <p:cNvSpPr/>
          <p:nvPr/>
        </p:nvSpPr>
        <p:spPr>
          <a:xfrm>
            <a:off x="5212080" y="3310128"/>
            <a:ext cx="3675888" cy="384048"/>
          </a:xfrm>
          <a:prstGeom prst="rect">
            <a:avLst/>
          </a:prstGeom>
          <a:noFill/>
          <a:ln/>
        </p:spPr>
        <p:txBody>
          <a:bodyPr wrap="square" rtlCol="0" anchor="t"/>
          <a:lstStyle/>
          <a:p>
            <a:pPr marL="0" indent="0">
              <a:buNone/>
            </a:pPr>
            <a:r>
              <a:rPr lang="en-US" sz="950" dirty="0">
                <a:solidFill>
                  <a:srgbClr val="FFFFFF"/>
                </a:solidFill>
              </a:rPr>
              <a:t>TCP establece conexiones lógicas (circuitos virtuales) sobre la red de datagramas IP.</a:t>
            </a:r>
            <a:endParaRPr lang="en-US" sz="950" dirty="0"/>
          </a:p>
        </p:txBody>
      </p:sp>
      <p:sp>
        <p:nvSpPr>
          <p:cNvPr id="41" name="Shape 39"/>
          <p:cNvSpPr/>
          <p:nvPr/>
        </p:nvSpPr>
        <p:spPr>
          <a:xfrm>
            <a:off x="4754880" y="3877056"/>
            <a:ext cx="4206240" cy="777240"/>
          </a:xfrm>
          <a:prstGeom prst="rect">
            <a:avLst/>
          </a:prstGeom>
          <a:solidFill>
            <a:srgbClr val="1A2530"/>
          </a:solidFill>
          <a:ln w="12700">
            <a:solidFill>
              <a:srgbClr val="8A3A5A"/>
            </a:solidFill>
            <a:prstDash val="solid"/>
          </a:ln>
        </p:spPr>
        <p:txBody>
          <a:bodyPr/>
          <a:lstStyle/>
          <a:p>
            <a:endParaRPr lang="en-US"/>
          </a:p>
        </p:txBody>
      </p:sp>
      <p:sp>
        <p:nvSpPr>
          <p:cNvPr id="42" name="Shape 40"/>
          <p:cNvSpPr/>
          <p:nvPr/>
        </p:nvSpPr>
        <p:spPr>
          <a:xfrm>
            <a:off x="4754880" y="3877056"/>
            <a:ext cx="384048" cy="777240"/>
          </a:xfrm>
          <a:prstGeom prst="rect">
            <a:avLst/>
          </a:prstGeom>
          <a:solidFill>
            <a:srgbClr val="8A3A5A"/>
          </a:solidFill>
          <a:ln w="12700">
            <a:solidFill>
              <a:srgbClr val="8A3A5A"/>
            </a:solidFill>
            <a:prstDash val="solid"/>
          </a:ln>
        </p:spPr>
        <p:txBody>
          <a:bodyPr/>
          <a:lstStyle/>
          <a:p>
            <a:endParaRPr lang="en-US"/>
          </a:p>
        </p:txBody>
      </p:sp>
      <p:sp>
        <p:nvSpPr>
          <p:cNvPr id="43" name="Text 41"/>
          <p:cNvSpPr/>
          <p:nvPr/>
        </p:nvSpPr>
        <p:spPr>
          <a:xfrm>
            <a:off x="4754880" y="4041648"/>
            <a:ext cx="384048" cy="438912"/>
          </a:xfrm>
          <a:prstGeom prst="rect">
            <a:avLst/>
          </a:prstGeom>
          <a:noFill/>
          <a:ln/>
        </p:spPr>
        <p:txBody>
          <a:bodyPr wrap="square" rtlCol="0" anchor="ctr"/>
          <a:lstStyle/>
          <a:p>
            <a:pPr marL="0" indent="0" algn="ctr">
              <a:buNone/>
            </a:pPr>
            <a:r>
              <a:rPr lang="en-US" sz="1300" b="1" dirty="0">
                <a:solidFill>
                  <a:srgbClr val="FFFFFF"/>
                </a:solidFill>
              </a:rPr>
              <a:t>7</a:t>
            </a:r>
            <a:endParaRPr lang="en-US" sz="1300" dirty="0"/>
          </a:p>
        </p:txBody>
      </p:sp>
      <p:sp>
        <p:nvSpPr>
          <p:cNvPr id="44" name="Text 42"/>
          <p:cNvSpPr/>
          <p:nvPr/>
        </p:nvSpPr>
        <p:spPr>
          <a:xfrm>
            <a:off x="5212080" y="3931920"/>
            <a:ext cx="3675888" cy="274320"/>
          </a:xfrm>
          <a:prstGeom prst="rect">
            <a:avLst/>
          </a:prstGeom>
          <a:noFill/>
          <a:ln/>
        </p:spPr>
        <p:txBody>
          <a:bodyPr wrap="square" rtlCol="0" anchor="ctr"/>
          <a:lstStyle/>
          <a:p>
            <a:pPr marL="0" indent="0">
              <a:buNone/>
            </a:pPr>
            <a:r>
              <a:rPr lang="en-US" sz="1100" b="1" dirty="0">
                <a:solidFill>
                  <a:srgbClr val="CC88CC"/>
                </a:solidFill>
              </a:rPr>
              <a:t>Conexiones</a:t>
            </a:r>
            <a:endParaRPr lang="en-US" sz="1100" dirty="0"/>
          </a:p>
        </p:txBody>
      </p:sp>
      <p:sp>
        <p:nvSpPr>
          <p:cNvPr id="45" name="Text 43"/>
          <p:cNvSpPr/>
          <p:nvPr/>
        </p:nvSpPr>
        <p:spPr>
          <a:xfrm>
            <a:off x="5212080" y="4206240"/>
            <a:ext cx="3675888" cy="384048"/>
          </a:xfrm>
          <a:prstGeom prst="rect">
            <a:avLst/>
          </a:prstGeom>
          <a:noFill/>
          <a:ln/>
        </p:spPr>
        <p:txBody>
          <a:bodyPr wrap="square" rtlCol="0" anchor="t"/>
          <a:lstStyle/>
          <a:p>
            <a:pPr marL="0" indent="0">
              <a:buNone/>
            </a:pPr>
            <a:r>
              <a:rPr lang="en-US" sz="950" dirty="0">
                <a:solidFill>
                  <a:srgbClr val="FFFFFF"/>
                </a:solidFill>
              </a:rPr>
              <a:t>TCP establece conexiones lógicas (circuitos virtuales) sobre la red de datagramas IP.</a:t>
            </a:r>
            <a:endParaRPr lang="en-US" sz="950" dirty="0"/>
          </a:p>
        </p:txBody>
      </p:sp>
      <p:sp>
        <p:nvSpPr>
          <p:cNvPr id="46" name="Shape 4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47" name="Text 4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Estos 7 servicios son los que la familia de protocolos Internet provee 'por encima' de las redes físicas. Cada red subyacente puede carecer de algunos: la familia de protocolos los agrega.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IP y el Encaminamiento de Datagramas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Dos servicios básicos: direccionamiento y fragmentación/reensamblado</a:t>
            </a:r>
            <a:endParaRPr lang="en-US" sz="1300" dirty="0"/>
          </a:p>
        </p:txBody>
      </p:sp>
      <p:sp>
        <p:nvSpPr>
          <p:cNvPr id="6" name="Text 4"/>
          <p:cNvSpPr/>
          <p:nvPr/>
        </p:nvSpPr>
        <p:spPr>
          <a:xfrm>
            <a:off x="274320" y="1170432"/>
            <a:ext cx="5029200" cy="2743200"/>
          </a:xfrm>
          <a:prstGeom prst="rect">
            <a:avLst/>
          </a:prstGeom>
          <a:noFill/>
          <a:ln/>
        </p:spPr>
        <p:txBody>
          <a:bodyPr wrap="square" lIns="101600" tIns="101600" rIns="101600" bIns="101600" rtlCol="0" anchor="ctr"/>
          <a:lstStyle/>
          <a:p>
            <a:pPr marL="0" indent="0">
              <a:buNone/>
            </a:pPr>
            <a:r>
              <a:rPr lang="en-US" sz="1300" b="1" dirty="0">
                <a:solidFill>
                  <a:srgbClr val="2D3030"/>
                </a:solidFill>
              </a:rPr>
              <a:t>El protocolo IP (RFC 791)
</a:t>
            </a:r>
            <a:r>
              <a:rPr lang="en-US" sz="1100" dirty="0">
                <a:solidFill>
                  <a:srgbClr val="404040"/>
                </a:solidFill>
              </a:rPr>
              <a:t>IP es el corazón del modelo TCP/IP. Provee un servicio </a:t>
            </a:r>
            <a:r>
              <a:rPr lang="en-US" sz="1100" b="1" dirty="0">
                <a:solidFill>
                  <a:srgbClr val="C0392B"/>
                </a:solidFill>
              </a:rPr>
              <a:t>inseguro no orientado a conexión</a:t>
            </a:r>
            <a:r>
              <a:rPr lang="en-US" sz="1100" dirty="0">
                <a:solidFill>
                  <a:srgbClr val="404040"/>
                </a:solidFill>
              </a:rPr>
              <a:t>: algunos PDU pueden no llegar, otros pueden arribar fuera de secuencia. TCP se encarga de la confiabilidad.
</a:t>
            </a:r>
            <a:r>
              <a:rPr lang="en-US" sz="1100" b="1" dirty="0">
                <a:solidFill>
                  <a:srgbClr val="2D3030"/>
                </a:solidFill>
              </a:rPr>
              <a:t>Dos tipos de dispositivos en TCP/IP:
</a:t>
            </a:r>
            <a:r>
              <a:rPr lang="en-US" sz="1100" dirty="0">
                <a:solidFill>
                  <a:srgbClr val="404040"/>
                </a:solidFill>
              </a:rPr>
              <a:t>• Gateway / Router: envía paquetes entre redes.
• Host: conectado a una red. Si tiene dos o más NIC (multi-homed), actúa como gateway.</a:t>
            </a:r>
            <a:endParaRPr lang="en-US" sz="1300" dirty="0"/>
          </a:p>
        </p:txBody>
      </p:sp>
      <p:sp>
        <p:nvSpPr>
          <p:cNvPr id="7" name="Shape 5"/>
          <p:cNvSpPr/>
          <p:nvPr/>
        </p:nvSpPr>
        <p:spPr>
          <a:xfrm>
            <a:off x="5577840" y="1143000"/>
            <a:ext cx="3291840" cy="2743200"/>
          </a:xfrm>
          <a:prstGeom prst="rect">
            <a:avLst/>
          </a:prstGeom>
          <a:solidFill>
            <a:srgbClr val="FFFFFF"/>
          </a:solidFill>
          <a:ln w="19050">
            <a:solidFill>
              <a:srgbClr val="5AA8D8"/>
            </a:solidFill>
            <a:prstDash val="solid"/>
          </a:ln>
        </p:spPr>
        <p:txBody>
          <a:bodyPr/>
          <a:lstStyle/>
          <a:p>
            <a:endParaRPr lang="en-US"/>
          </a:p>
        </p:txBody>
      </p:sp>
      <p:sp>
        <p:nvSpPr>
          <p:cNvPr id="8" name="Text 6"/>
          <p:cNvSpPr/>
          <p:nvPr/>
        </p:nvSpPr>
        <p:spPr>
          <a:xfrm>
            <a:off x="5669280" y="1188720"/>
            <a:ext cx="3108960" cy="320040"/>
          </a:xfrm>
          <a:prstGeom prst="rect">
            <a:avLst/>
          </a:prstGeom>
          <a:noFill/>
          <a:ln/>
        </p:spPr>
        <p:txBody>
          <a:bodyPr wrap="square" rtlCol="0" anchor="ctr"/>
          <a:lstStyle/>
          <a:p>
            <a:pPr marL="0" indent="0">
              <a:buNone/>
            </a:pPr>
            <a:r>
              <a:rPr lang="en-US" sz="1100" b="1" dirty="0">
                <a:solidFill>
                  <a:srgbClr val="2D3030"/>
                </a:solidFill>
              </a:rPr>
              <a:t>IP provee 2 servicios básicos:</a:t>
            </a:r>
            <a:endParaRPr lang="en-US" sz="1100" dirty="0"/>
          </a:p>
        </p:txBody>
      </p:sp>
      <p:sp>
        <p:nvSpPr>
          <p:cNvPr id="9" name="Shape 7"/>
          <p:cNvSpPr/>
          <p:nvPr/>
        </p:nvSpPr>
        <p:spPr>
          <a:xfrm>
            <a:off x="5669280" y="1572768"/>
            <a:ext cx="3108960" cy="822960"/>
          </a:xfrm>
          <a:prstGeom prst="rect">
            <a:avLst/>
          </a:prstGeom>
          <a:solidFill>
            <a:srgbClr val="5AA8D8"/>
          </a:solidFill>
          <a:ln w="12700">
            <a:solidFill>
              <a:srgbClr val="FFFFFF"/>
            </a:solidFill>
            <a:prstDash val="solid"/>
          </a:ln>
        </p:spPr>
        <p:txBody>
          <a:bodyPr/>
          <a:lstStyle/>
          <a:p>
            <a:endParaRPr lang="en-US"/>
          </a:p>
        </p:txBody>
      </p:sp>
      <p:sp>
        <p:nvSpPr>
          <p:cNvPr id="10" name="Text 8"/>
          <p:cNvSpPr/>
          <p:nvPr/>
        </p:nvSpPr>
        <p:spPr>
          <a:xfrm>
            <a:off x="5715000" y="1618488"/>
            <a:ext cx="3017520" cy="274320"/>
          </a:xfrm>
          <a:prstGeom prst="rect">
            <a:avLst/>
          </a:prstGeom>
          <a:noFill/>
          <a:ln/>
        </p:spPr>
        <p:txBody>
          <a:bodyPr wrap="square" rtlCol="0" anchor="ctr"/>
          <a:lstStyle/>
          <a:p>
            <a:pPr marL="0" indent="0">
              <a:buNone/>
            </a:pPr>
            <a:r>
              <a:rPr lang="en-US" sz="1100" b="1" dirty="0">
                <a:solidFill>
                  <a:srgbClr val="FFFFFF"/>
                </a:solidFill>
              </a:rPr>
              <a:t>Direccionamiento</a:t>
            </a:r>
            <a:endParaRPr lang="en-US" sz="1100" dirty="0"/>
          </a:p>
        </p:txBody>
      </p:sp>
      <p:sp>
        <p:nvSpPr>
          <p:cNvPr id="11" name="Text 9"/>
          <p:cNvSpPr/>
          <p:nvPr/>
        </p:nvSpPr>
        <p:spPr>
          <a:xfrm>
            <a:off x="5715000" y="1892808"/>
            <a:ext cx="3017520" cy="457200"/>
          </a:xfrm>
          <a:prstGeom prst="rect">
            <a:avLst/>
          </a:prstGeom>
          <a:noFill/>
          <a:ln/>
        </p:spPr>
        <p:txBody>
          <a:bodyPr wrap="square" rtlCol="0" anchor="t"/>
          <a:lstStyle/>
          <a:p>
            <a:pPr marL="0" indent="0">
              <a:buNone/>
            </a:pPr>
            <a:r>
              <a:rPr lang="en-US" sz="950" dirty="0">
                <a:solidFill>
                  <a:srgbClr val="FFFFFF"/>
                </a:solidFill>
              </a:rPr>
              <a:t>Dirección IP de 32 bits. Campo de red + campo de host. Formato común en toda Internet.</a:t>
            </a:r>
            <a:endParaRPr lang="en-US" sz="950" dirty="0"/>
          </a:p>
        </p:txBody>
      </p:sp>
      <p:sp>
        <p:nvSpPr>
          <p:cNvPr id="12" name="Shape 10"/>
          <p:cNvSpPr/>
          <p:nvPr/>
        </p:nvSpPr>
        <p:spPr>
          <a:xfrm>
            <a:off x="5669280" y="2487168"/>
            <a:ext cx="3108960" cy="822960"/>
          </a:xfrm>
          <a:prstGeom prst="rect">
            <a:avLst/>
          </a:prstGeom>
          <a:solidFill>
            <a:srgbClr val="5A8A3A"/>
          </a:solidFill>
          <a:ln w="12700">
            <a:solidFill>
              <a:srgbClr val="FFFFFF"/>
            </a:solidFill>
            <a:prstDash val="solid"/>
          </a:ln>
        </p:spPr>
        <p:txBody>
          <a:bodyPr/>
          <a:lstStyle/>
          <a:p>
            <a:endParaRPr lang="en-US"/>
          </a:p>
        </p:txBody>
      </p:sp>
      <p:sp>
        <p:nvSpPr>
          <p:cNvPr id="13" name="Text 11"/>
          <p:cNvSpPr/>
          <p:nvPr/>
        </p:nvSpPr>
        <p:spPr>
          <a:xfrm>
            <a:off x="5715000" y="2532888"/>
            <a:ext cx="3017520" cy="274320"/>
          </a:xfrm>
          <a:prstGeom prst="rect">
            <a:avLst/>
          </a:prstGeom>
          <a:noFill/>
          <a:ln/>
        </p:spPr>
        <p:txBody>
          <a:bodyPr wrap="square" rtlCol="0" anchor="ctr"/>
          <a:lstStyle/>
          <a:p>
            <a:pPr marL="0" indent="0">
              <a:buNone/>
            </a:pPr>
            <a:r>
              <a:rPr lang="en-US" sz="1100" b="1" dirty="0">
                <a:solidFill>
                  <a:srgbClr val="FFFFFF"/>
                </a:solidFill>
              </a:rPr>
              <a:t>Fragmentación / Reensamblado</a:t>
            </a:r>
            <a:endParaRPr lang="en-US" sz="1100" dirty="0"/>
          </a:p>
        </p:txBody>
      </p:sp>
      <p:sp>
        <p:nvSpPr>
          <p:cNvPr id="14" name="Text 12"/>
          <p:cNvSpPr/>
          <p:nvPr/>
        </p:nvSpPr>
        <p:spPr>
          <a:xfrm>
            <a:off x="5715000" y="2807208"/>
            <a:ext cx="3017520" cy="457200"/>
          </a:xfrm>
          <a:prstGeom prst="rect">
            <a:avLst/>
          </a:prstGeom>
          <a:noFill/>
          <a:ln/>
        </p:spPr>
        <p:txBody>
          <a:bodyPr wrap="square" rtlCol="0" anchor="t"/>
          <a:lstStyle/>
          <a:p>
            <a:pPr marL="0" indent="0">
              <a:buNone/>
            </a:pPr>
            <a:r>
              <a:rPr lang="en-US" sz="950" dirty="0">
                <a:solidFill>
                  <a:srgbClr val="FFFFFF"/>
                </a:solidFill>
              </a:rPr>
              <a:t>Adapta datagramas al MTU de cada red. Los routers fragmentan; el host destino reensambla.</a:t>
            </a:r>
            <a:endParaRPr lang="en-US" sz="950" dirty="0"/>
          </a:p>
        </p:txBody>
      </p:sp>
      <p:sp>
        <p:nvSpPr>
          <p:cNvPr id="15" name="Shape 13"/>
          <p:cNvSpPr/>
          <p:nvPr/>
        </p:nvSpPr>
        <p:spPr>
          <a:xfrm>
            <a:off x="274320" y="4023360"/>
            <a:ext cx="8412480" cy="457200"/>
          </a:xfrm>
          <a:prstGeom prst="rect">
            <a:avLst/>
          </a:prstGeom>
          <a:solidFill>
            <a:srgbClr val="B9DEF8"/>
          </a:solidFill>
          <a:ln w="12700">
            <a:solidFill>
              <a:srgbClr val="5AA8D8"/>
            </a:solidFill>
            <a:prstDash val="solid"/>
          </a:ln>
        </p:spPr>
        <p:txBody>
          <a:bodyPr/>
          <a:lstStyle/>
          <a:p>
            <a:endParaRPr lang="en-US"/>
          </a:p>
        </p:txBody>
      </p:sp>
      <p:sp>
        <p:nvSpPr>
          <p:cNvPr id="16" name="Text 14"/>
          <p:cNvSpPr/>
          <p:nvPr/>
        </p:nvSpPr>
        <p:spPr>
          <a:xfrm>
            <a:off x="411480" y="4041648"/>
            <a:ext cx="8229600" cy="420624"/>
          </a:xfrm>
          <a:prstGeom prst="rect">
            <a:avLst/>
          </a:prstGeom>
          <a:noFill/>
          <a:ln/>
        </p:spPr>
        <p:txBody>
          <a:bodyPr wrap="square" rtlCol="0" anchor="ctr"/>
          <a:lstStyle/>
          <a:p>
            <a:pPr marL="0" indent="0">
              <a:buNone/>
            </a:pPr>
            <a:r>
              <a:rPr lang="en-US" sz="950" dirty="0">
                <a:solidFill>
                  <a:srgbClr val="2D3030"/>
                </a:solidFill>
              </a:rPr>
              <a:t>En TCP/IP los términos 'gateway' y 'router' son indistintos. En la terminología moderna se reserva 'gateway' para dispositivos que además traducen protocolos entre redes de arquitecturas distintas (NAT).</a:t>
            </a:r>
            <a:endParaRPr lang="en-US" sz="950" dirty="0"/>
          </a:p>
        </p:txBody>
      </p:sp>
      <p:sp>
        <p:nvSpPr>
          <p:cNvPr id="17" name="Shape 1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8" name="Text 1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IP es 'inseguro' — no garantiza entrega. TCP agrega esa garantía. La dirección IP tiene dos partes: red y host. El router usa la parte de red para decidir el camino.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Gateway, Router y Multi-Homed Host</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La terminología en el mundo TCP/IP</a:t>
            </a:r>
            <a:endParaRPr lang="en-US" sz="1300" dirty="0"/>
          </a:p>
        </p:txBody>
      </p:sp>
      <p:sp>
        <p:nvSpPr>
          <p:cNvPr id="6" name="Shape 4"/>
          <p:cNvSpPr/>
          <p:nvPr/>
        </p:nvSpPr>
        <p:spPr>
          <a:xfrm>
            <a:off x="274320" y="1188720"/>
            <a:ext cx="2788920" cy="3200400"/>
          </a:xfrm>
          <a:prstGeom prst="rect">
            <a:avLst/>
          </a:prstGeom>
          <a:solidFill>
            <a:srgbClr val="1A2530"/>
          </a:solidFill>
          <a:ln w="25400">
            <a:solidFill>
              <a:srgbClr val="5AA8D8"/>
            </a:solidFill>
            <a:prstDash val="solid"/>
          </a:ln>
        </p:spPr>
        <p:txBody>
          <a:bodyPr/>
          <a:lstStyle/>
          <a:p>
            <a:endParaRPr lang="en-US"/>
          </a:p>
        </p:txBody>
      </p:sp>
      <p:sp>
        <p:nvSpPr>
          <p:cNvPr id="7" name="Shape 5"/>
          <p:cNvSpPr/>
          <p:nvPr/>
        </p:nvSpPr>
        <p:spPr>
          <a:xfrm>
            <a:off x="274320" y="1188720"/>
            <a:ext cx="2788920" cy="45720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347472" y="1207008"/>
            <a:ext cx="2651760" cy="420624"/>
          </a:xfrm>
          <a:prstGeom prst="rect">
            <a:avLst/>
          </a:prstGeom>
          <a:noFill/>
          <a:ln/>
        </p:spPr>
        <p:txBody>
          <a:bodyPr wrap="square" rtlCol="0" anchor="ctr"/>
          <a:lstStyle/>
          <a:p>
            <a:pPr marL="0" indent="0">
              <a:buNone/>
            </a:pPr>
            <a:r>
              <a:rPr lang="en-US" sz="1300" b="1" dirty="0">
                <a:solidFill>
                  <a:srgbClr val="FFFFFF"/>
                </a:solidFill>
              </a:rPr>
              <a:t>ROUTER</a:t>
            </a:r>
            <a:endParaRPr lang="en-US" sz="1300" dirty="0"/>
          </a:p>
        </p:txBody>
      </p:sp>
      <p:sp>
        <p:nvSpPr>
          <p:cNvPr id="9" name="Text 7"/>
          <p:cNvSpPr/>
          <p:nvPr/>
        </p:nvSpPr>
        <p:spPr>
          <a:xfrm>
            <a:off x="365760" y="1691640"/>
            <a:ext cx="2606040" cy="274320"/>
          </a:xfrm>
          <a:prstGeom prst="rect">
            <a:avLst/>
          </a:prstGeom>
          <a:noFill/>
          <a:ln/>
        </p:spPr>
        <p:txBody>
          <a:bodyPr wrap="square" rtlCol="0" anchor="ctr"/>
          <a:lstStyle/>
          <a:p>
            <a:pPr marL="0" indent="0">
              <a:buNone/>
            </a:pPr>
            <a:r>
              <a:rPr lang="en-US" sz="1000" i="1" dirty="0">
                <a:solidFill>
                  <a:srgbClr val="5AA8D8"/>
                </a:solidFill>
              </a:rPr>
              <a:t>Dispositivo especializado</a:t>
            </a:r>
            <a:endParaRPr lang="en-US" sz="1000" dirty="0"/>
          </a:p>
        </p:txBody>
      </p:sp>
      <p:sp>
        <p:nvSpPr>
          <p:cNvPr id="10" name="Text 8"/>
          <p:cNvSpPr/>
          <p:nvPr/>
        </p:nvSpPr>
        <p:spPr>
          <a:xfrm>
            <a:off x="365760" y="1993392"/>
            <a:ext cx="2606040" cy="2240280"/>
          </a:xfrm>
          <a:prstGeom prst="rect">
            <a:avLst/>
          </a:prstGeom>
          <a:noFill/>
          <a:ln/>
        </p:spPr>
        <p:txBody>
          <a:bodyPr wrap="square" lIns="25400" tIns="25400" rIns="25400" bIns="25400" rtlCol="0" anchor="t"/>
          <a:lstStyle/>
          <a:p>
            <a:pPr marL="0" indent="0">
              <a:buNone/>
            </a:pPr>
            <a:r>
              <a:rPr lang="en-US" sz="1000" dirty="0">
                <a:solidFill>
                  <a:srgbClr val="FFFFFF"/>
                </a:solidFill>
              </a:rPr>
              <a:t>Equipo que envía paquetes entre redes. Función primaria: retransmitir datagramas eligiendo el camino correcto (encaminamiento). Puede ser incluso una PC con microprocesador 286 y 1 MB RAM corriendo software de ruteo.</a:t>
            </a:r>
            <a:endParaRPr lang="en-US" sz="1000" dirty="0"/>
          </a:p>
        </p:txBody>
      </p:sp>
      <p:sp>
        <p:nvSpPr>
          <p:cNvPr id="11" name="Shape 9"/>
          <p:cNvSpPr/>
          <p:nvPr/>
        </p:nvSpPr>
        <p:spPr>
          <a:xfrm>
            <a:off x="3200400" y="1188720"/>
            <a:ext cx="2788920" cy="3200400"/>
          </a:xfrm>
          <a:prstGeom prst="rect">
            <a:avLst/>
          </a:prstGeom>
          <a:solidFill>
            <a:srgbClr val="1A2530"/>
          </a:solidFill>
          <a:ln w="25400">
            <a:solidFill>
              <a:srgbClr val="3A7BAA"/>
            </a:solidFill>
            <a:prstDash val="solid"/>
          </a:ln>
        </p:spPr>
        <p:txBody>
          <a:bodyPr/>
          <a:lstStyle/>
          <a:p>
            <a:endParaRPr lang="en-US"/>
          </a:p>
        </p:txBody>
      </p:sp>
      <p:sp>
        <p:nvSpPr>
          <p:cNvPr id="12" name="Shape 10"/>
          <p:cNvSpPr/>
          <p:nvPr/>
        </p:nvSpPr>
        <p:spPr>
          <a:xfrm>
            <a:off x="3200400" y="1188720"/>
            <a:ext cx="2788920" cy="457200"/>
          </a:xfrm>
          <a:prstGeom prst="rect">
            <a:avLst/>
          </a:prstGeom>
          <a:solidFill>
            <a:srgbClr val="3A7BAA"/>
          </a:solidFill>
          <a:ln w="12700">
            <a:solidFill>
              <a:srgbClr val="3A7BAA"/>
            </a:solidFill>
            <a:prstDash val="solid"/>
          </a:ln>
        </p:spPr>
        <p:txBody>
          <a:bodyPr/>
          <a:lstStyle/>
          <a:p>
            <a:endParaRPr lang="en-US"/>
          </a:p>
        </p:txBody>
      </p:sp>
      <p:sp>
        <p:nvSpPr>
          <p:cNvPr id="13" name="Text 11"/>
          <p:cNvSpPr/>
          <p:nvPr/>
        </p:nvSpPr>
        <p:spPr>
          <a:xfrm>
            <a:off x="3273552" y="1207008"/>
            <a:ext cx="2651760" cy="420624"/>
          </a:xfrm>
          <a:prstGeom prst="rect">
            <a:avLst/>
          </a:prstGeom>
          <a:noFill/>
          <a:ln/>
        </p:spPr>
        <p:txBody>
          <a:bodyPr wrap="square" rtlCol="0" anchor="ctr"/>
          <a:lstStyle/>
          <a:p>
            <a:pPr marL="0" indent="0">
              <a:buNone/>
            </a:pPr>
            <a:r>
              <a:rPr lang="en-US" sz="1300" b="1" dirty="0">
                <a:solidFill>
                  <a:srgbClr val="FFFFFF"/>
                </a:solidFill>
              </a:rPr>
              <a:t>GATEWAY</a:t>
            </a:r>
            <a:endParaRPr lang="en-US" sz="1300" dirty="0"/>
          </a:p>
        </p:txBody>
      </p:sp>
      <p:sp>
        <p:nvSpPr>
          <p:cNvPr id="14" name="Text 12"/>
          <p:cNvSpPr/>
          <p:nvPr/>
        </p:nvSpPr>
        <p:spPr>
          <a:xfrm>
            <a:off x="3291840" y="1691640"/>
            <a:ext cx="2606040" cy="274320"/>
          </a:xfrm>
          <a:prstGeom prst="rect">
            <a:avLst/>
          </a:prstGeom>
          <a:noFill/>
          <a:ln/>
        </p:spPr>
        <p:txBody>
          <a:bodyPr wrap="square" rtlCol="0" anchor="ctr"/>
          <a:lstStyle/>
          <a:p>
            <a:pPr marL="0" indent="0">
              <a:buNone/>
            </a:pPr>
            <a:r>
              <a:rPr lang="en-US" sz="1000" i="1" dirty="0">
                <a:solidFill>
                  <a:srgbClr val="3A7BAA"/>
                </a:solidFill>
              </a:rPr>
              <a:t>Puerta de enlace</a:t>
            </a:r>
            <a:endParaRPr lang="en-US" sz="1000" dirty="0"/>
          </a:p>
        </p:txBody>
      </p:sp>
      <p:sp>
        <p:nvSpPr>
          <p:cNvPr id="15" name="Text 13"/>
          <p:cNvSpPr/>
          <p:nvPr/>
        </p:nvSpPr>
        <p:spPr>
          <a:xfrm>
            <a:off x="3291840" y="1993392"/>
            <a:ext cx="2606040" cy="2240280"/>
          </a:xfrm>
          <a:prstGeom prst="rect">
            <a:avLst/>
          </a:prstGeom>
          <a:noFill/>
          <a:ln/>
        </p:spPr>
        <p:txBody>
          <a:bodyPr wrap="square" lIns="25400" tIns="25400" rIns="25400" bIns="25400" rtlCol="0" anchor="t"/>
          <a:lstStyle/>
          <a:p>
            <a:pPr marL="0" indent="0">
              <a:buNone/>
            </a:pPr>
            <a:r>
              <a:rPr lang="en-US" sz="1000" dirty="0">
                <a:solidFill>
                  <a:srgbClr val="FFFFFF"/>
                </a:solidFill>
              </a:rPr>
              <a:t>En TCP/IP, sinónimo de router. En la terminología moderna, se reserva para dispositivos que además traducen protocolos (NAT). El router de tu casa es un 'Default Gateway'.</a:t>
            </a:r>
            <a:endParaRPr lang="en-US" sz="1000" dirty="0"/>
          </a:p>
        </p:txBody>
      </p:sp>
      <p:sp>
        <p:nvSpPr>
          <p:cNvPr id="16" name="Shape 14"/>
          <p:cNvSpPr/>
          <p:nvPr/>
        </p:nvSpPr>
        <p:spPr>
          <a:xfrm>
            <a:off x="6126480" y="1188720"/>
            <a:ext cx="2788920" cy="3200400"/>
          </a:xfrm>
          <a:prstGeom prst="rect">
            <a:avLst/>
          </a:prstGeom>
          <a:solidFill>
            <a:srgbClr val="1A2530"/>
          </a:solidFill>
          <a:ln w="25400">
            <a:solidFill>
              <a:srgbClr val="5A8A3A"/>
            </a:solidFill>
            <a:prstDash val="solid"/>
          </a:ln>
        </p:spPr>
        <p:txBody>
          <a:bodyPr/>
          <a:lstStyle/>
          <a:p>
            <a:endParaRPr lang="en-US"/>
          </a:p>
        </p:txBody>
      </p:sp>
      <p:sp>
        <p:nvSpPr>
          <p:cNvPr id="17" name="Shape 15"/>
          <p:cNvSpPr/>
          <p:nvPr/>
        </p:nvSpPr>
        <p:spPr>
          <a:xfrm>
            <a:off x="6126480" y="1188720"/>
            <a:ext cx="2788920" cy="457200"/>
          </a:xfrm>
          <a:prstGeom prst="rect">
            <a:avLst/>
          </a:prstGeom>
          <a:solidFill>
            <a:srgbClr val="5A8A3A"/>
          </a:solidFill>
          <a:ln w="12700">
            <a:solidFill>
              <a:srgbClr val="5A8A3A"/>
            </a:solidFill>
            <a:prstDash val="solid"/>
          </a:ln>
        </p:spPr>
        <p:txBody>
          <a:bodyPr/>
          <a:lstStyle/>
          <a:p>
            <a:endParaRPr lang="en-US"/>
          </a:p>
        </p:txBody>
      </p:sp>
      <p:sp>
        <p:nvSpPr>
          <p:cNvPr id="18" name="Text 16"/>
          <p:cNvSpPr/>
          <p:nvPr/>
        </p:nvSpPr>
        <p:spPr>
          <a:xfrm>
            <a:off x="6199632" y="1207008"/>
            <a:ext cx="2651760" cy="420624"/>
          </a:xfrm>
          <a:prstGeom prst="rect">
            <a:avLst/>
          </a:prstGeom>
          <a:noFill/>
          <a:ln/>
        </p:spPr>
        <p:txBody>
          <a:bodyPr wrap="square" rtlCol="0" anchor="ctr"/>
          <a:lstStyle/>
          <a:p>
            <a:pPr marL="0" indent="0">
              <a:buNone/>
            </a:pPr>
            <a:r>
              <a:rPr lang="en-US" sz="1300" b="1" dirty="0">
                <a:solidFill>
                  <a:srgbClr val="FFFFFF"/>
                </a:solidFill>
              </a:rPr>
              <a:t>MULTI-HOMED HOST</a:t>
            </a:r>
            <a:endParaRPr lang="en-US" sz="1300" dirty="0"/>
          </a:p>
        </p:txBody>
      </p:sp>
      <p:sp>
        <p:nvSpPr>
          <p:cNvPr id="19" name="Text 17"/>
          <p:cNvSpPr/>
          <p:nvPr/>
        </p:nvSpPr>
        <p:spPr>
          <a:xfrm>
            <a:off x="6217920" y="1691640"/>
            <a:ext cx="2606040" cy="274320"/>
          </a:xfrm>
          <a:prstGeom prst="rect">
            <a:avLst/>
          </a:prstGeom>
          <a:noFill/>
          <a:ln/>
        </p:spPr>
        <p:txBody>
          <a:bodyPr wrap="square" rtlCol="0" anchor="ctr"/>
          <a:lstStyle/>
          <a:p>
            <a:pPr marL="0" indent="0">
              <a:buNone/>
            </a:pPr>
            <a:r>
              <a:rPr lang="en-US" sz="1000" i="1" dirty="0">
                <a:solidFill>
                  <a:srgbClr val="5A8A3A"/>
                </a:solidFill>
              </a:rPr>
              <a:t>Host con múltiples NIC</a:t>
            </a:r>
            <a:endParaRPr lang="en-US" sz="1000" dirty="0"/>
          </a:p>
        </p:txBody>
      </p:sp>
      <p:sp>
        <p:nvSpPr>
          <p:cNvPr id="20" name="Text 18"/>
          <p:cNvSpPr/>
          <p:nvPr/>
        </p:nvSpPr>
        <p:spPr>
          <a:xfrm>
            <a:off x="6217920" y="1993392"/>
            <a:ext cx="2606040" cy="2240280"/>
          </a:xfrm>
          <a:prstGeom prst="rect">
            <a:avLst/>
          </a:prstGeom>
          <a:noFill/>
          <a:ln/>
        </p:spPr>
        <p:txBody>
          <a:bodyPr wrap="square" lIns="25400" tIns="25400" rIns="25400" bIns="25400" rtlCol="0" anchor="t"/>
          <a:lstStyle/>
          <a:p>
            <a:pPr marL="0" indent="0">
              <a:buNone/>
            </a:pPr>
            <a:r>
              <a:rPr lang="en-US" sz="1000" dirty="0">
                <a:solidFill>
                  <a:srgbClr val="FFFFFF"/>
                </a:solidFill>
              </a:rPr>
              <a:t>Un host conectado a más de una red. Cuando envía paquetes entre esas redes, actúa exactamente como un gateway. Ejemplo: un servidor con NIC de LAN y NIC de DMZ.</a:t>
            </a:r>
            <a:endParaRPr lang="en-US" sz="1000" dirty="0"/>
          </a:p>
        </p:txBody>
      </p:sp>
      <p:sp>
        <p:nvSpPr>
          <p:cNvPr id="21" name="Shape 19"/>
          <p:cNvSpPr/>
          <p:nvPr/>
        </p:nvSpPr>
        <p:spPr>
          <a:xfrm>
            <a:off x="274320" y="4507992"/>
            <a:ext cx="8412480" cy="347472"/>
          </a:xfrm>
          <a:prstGeom prst="rect">
            <a:avLst/>
          </a:prstGeom>
          <a:solidFill>
            <a:srgbClr val="1A3A1A"/>
          </a:solidFill>
          <a:ln w="12700">
            <a:solidFill>
              <a:srgbClr val="217346"/>
            </a:solidFill>
            <a:prstDash val="solid"/>
          </a:ln>
        </p:spPr>
        <p:txBody>
          <a:bodyPr/>
          <a:lstStyle/>
          <a:p>
            <a:endParaRPr lang="en-US"/>
          </a:p>
        </p:txBody>
      </p:sp>
      <p:sp>
        <p:nvSpPr>
          <p:cNvPr id="22" name="Text 20"/>
          <p:cNvSpPr/>
          <p:nvPr/>
        </p:nvSpPr>
        <p:spPr>
          <a:xfrm>
            <a:off x="411480" y="4526280"/>
            <a:ext cx="8138160" cy="310896"/>
          </a:xfrm>
          <a:prstGeom prst="rect">
            <a:avLst/>
          </a:prstGeom>
          <a:noFill/>
          <a:ln/>
        </p:spPr>
        <p:txBody>
          <a:bodyPr wrap="square" rtlCol="0" anchor="ctr"/>
          <a:lstStyle/>
          <a:p>
            <a:pPr marL="0" indent="0">
              <a:buNone/>
            </a:pPr>
            <a:r>
              <a:rPr lang="en-US" sz="950" dirty="0">
                <a:solidFill>
                  <a:srgbClr val="90EE90"/>
                </a:solidFill>
              </a:rPr>
              <a:t>Regla: En TCP/IP solo hay dos tipos de dispositivos: router/gateway y host. La distinción entre 'router' y 'gateway' es terminológica, no funcional.</a:t>
            </a:r>
            <a:endParaRPr lang="en-US" sz="950" dirty="0"/>
          </a:p>
        </p:txBody>
      </p:sp>
      <p:sp>
        <p:nvSpPr>
          <p:cNvPr id="23" name="Shape 21"/>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4" name="Text 22"/>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multi-homed host es importante: cualquier PC con dos placas de red puede actuar como router. Esto es la base de las VMs con bridging, los firewalls por software y los routers domésticos.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Múltiples Saltos y Tabla de Enrutamiento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Cómo el router decide el camino para cada datagrama</a:t>
            </a:r>
            <a:endParaRPr lang="en-US" sz="1300" dirty="0"/>
          </a:p>
        </p:txBody>
      </p:sp>
      <p:sp>
        <p:nvSpPr>
          <p:cNvPr id="6" name="Text 4"/>
          <p:cNvSpPr/>
          <p:nvPr/>
        </p:nvSpPr>
        <p:spPr>
          <a:xfrm>
            <a:off x="274320" y="1170432"/>
            <a:ext cx="4937760" cy="1828800"/>
          </a:xfrm>
          <a:prstGeom prst="rect">
            <a:avLst/>
          </a:prstGeom>
          <a:noFill/>
          <a:ln/>
        </p:spPr>
        <p:txBody>
          <a:bodyPr wrap="square" lIns="101600" tIns="101600" rIns="101600" bIns="101600" rtlCol="0" anchor="ctr"/>
          <a:lstStyle/>
          <a:p>
            <a:pPr marL="0" indent="0">
              <a:buNone/>
            </a:pPr>
            <a:r>
              <a:rPr lang="en-US" sz="1300" b="1" dirty="0">
                <a:solidFill>
                  <a:srgbClr val="2D3030"/>
                </a:solidFill>
              </a:rPr>
              <a:t>Procedimiento de encaminamiento
</a:t>
            </a:r>
            <a:r>
              <a:rPr lang="en-US" sz="1100" dirty="0">
                <a:solidFill>
                  <a:srgbClr val="404040"/>
                </a:solidFill>
              </a:rPr>
              <a:t>Para cada datagrama recibido, el router decide:
1. Qué interfaz de red usar para enviar el paquete.
2. Qué dirección destino colocar en el encabezamiento de red local.
El router mantiene una Tabla de Enrutamiento con una entrada por cada red alcanzable.</a:t>
            </a:r>
            <a:endParaRPr lang="en-US" sz="1300" dirty="0"/>
          </a:p>
        </p:txBody>
      </p:sp>
      <p:sp>
        <p:nvSpPr>
          <p:cNvPr id="7" name="Shape 5"/>
          <p:cNvSpPr/>
          <p:nvPr/>
        </p:nvSpPr>
        <p:spPr>
          <a:xfrm>
            <a:off x="274320" y="3063240"/>
            <a:ext cx="4937760" cy="1325880"/>
          </a:xfrm>
          <a:prstGeom prst="rect">
            <a:avLst/>
          </a:prstGeom>
          <a:solidFill>
            <a:srgbClr val="FFFFFF"/>
          </a:solidFill>
          <a:ln w="19050">
            <a:solidFill>
              <a:srgbClr val="5AA8D8"/>
            </a:solidFill>
            <a:prstDash val="solid"/>
          </a:ln>
        </p:spPr>
        <p:txBody>
          <a:bodyPr/>
          <a:lstStyle/>
          <a:p>
            <a:endParaRPr lang="en-US"/>
          </a:p>
        </p:txBody>
      </p:sp>
      <p:sp>
        <p:nvSpPr>
          <p:cNvPr id="8" name="Text 6"/>
          <p:cNvSpPr/>
          <p:nvPr/>
        </p:nvSpPr>
        <p:spPr>
          <a:xfrm>
            <a:off x="365760" y="3108960"/>
            <a:ext cx="4754880" cy="292608"/>
          </a:xfrm>
          <a:prstGeom prst="rect">
            <a:avLst/>
          </a:prstGeom>
          <a:noFill/>
          <a:ln/>
        </p:spPr>
        <p:txBody>
          <a:bodyPr wrap="square" rtlCol="0" anchor="ctr"/>
          <a:lstStyle/>
          <a:p>
            <a:pPr marL="0" indent="0">
              <a:buNone/>
            </a:pPr>
            <a:r>
              <a:rPr lang="en-US" sz="1100" b="1" dirty="0">
                <a:solidFill>
                  <a:srgbClr val="2D3030"/>
                </a:solidFill>
              </a:rPr>
              <a:t>Tabla de Enrutamiento (ejemplo)</a:t>
            </a:r>
            <a:endParaRPr lang="en-US" sz="1100" dirty="0"/>
          </a:p>
        </p:txBody>
      </p:sp>
      <p:sp>
        <p:nvSpPr>
          <p:cNvPr id="9" name="Shape 7"/>
          <p:cNvSpPr/>
          <p:nvPr/>
        </p:nvSpPr>
        <p:spPr>
          <a:xfrm>
            <a:off x="365760" y="3438144"/>
            <a:ext cx="1463040" cy="274320"/>
          </a:xfrm>
          <a:prstGeom prst="rect">
            <a:avLst/>
          </a:prstGeom>
          <a:solidFill>
            <a:srgbClr val="5AA8D8"/>
          </a:solidFill>
          <a:ln w="12700">
            <a:solidFill>
              <a:srgbClr val="BBCCDD"/>
            </a:solidFill>
            <a:prstDash val="solid"/>
          </a:ln>
        </p:spPr>
        <p:txBody>
          <a:bodyPr/>
          <a:lstStyle/>
          <a:p>
            <a:endParaRPr lang="en-US"/>
          </a:p>
        </p:txBody>
      </p:sp>
      <p:sp>
        <p:nvSpPr>
          <p:cNvPr id="10" name="Text 8"/>
          <p:cNvSpPr/>
          <p:nvPr/>
        </p:nvSpPr>
        <p:spPr>
          <a:xfrm>
            <a:off x="411480" y="3438144"/>
            <a:ext cx="1371600" cy="274320"/>
          </a:xfrm>
          <a:prstGeom prst="rect">
            <a:avLst/>
          </a:prstGeom>
          <a:noFill/>
          <a:ln/>
        </p:spPr>
        <p:txBody>
          <a:bodyPr wrap="square" rtlCol="0" anchor="ctr"/>
          <a:lstStyle/>
          <a:p>
            <a:pPr marL="0" indent="0">
              <a:buNone/>
            </a:pPr>
            <a:r>
              <a:rPr lang="en-US" sz="950" b="1" dirty="0">
                <a:solidFill>
                  <a:srgbClr val="FFFFFF"/>
                </a:solidFill>
              </a:rPr>
              <a:t>Red destino</a:t>
            </a:r>
            <a:endParaRPr lang="en-US" sz="950" dirty="0"/>
          </a:p>
        </p:txBody>
      </p:sp>
      <p:sp>
        <p:nvSpPr>
          <p:cNvPr id="11" name="Shape 9"/>
          <p:cNvSpPr/>
          <p:nvPr/>
        </p:nvSpPr>
        <p:spPr>
          <a:xfrm>
            <a:off x="1920240" y="3438144"/>
            <a:ext cx="1463040" cy="274320"/>
          </a:xfrm>
          <a:prstGeom prst="rect">
            <a:avLst/>
          </a:prstGeom>
          <a:solidFill>
            <a:srgbClr val="5AA8D8"/>
          </a:solidFill>
          <a:ln w="12700">
            <a:solidFill>
              <a:srgbClr val="BBCCDD"/>
            </a:solidFill>
            <a:prstDash val="solid"/>
          </a:ln>
        </p:spPr>
        <p:txBody>
          <a:bodyPr/>
          <a:lstStyle/>
          <a:p>
            <a:endParaRPr lang="en-US"/>
          </a:p>
        </p:txBody>
      </p:sp>
      <p:sp>
        <p:nvSpPr>
          <p:cNvPr id="12" name="Text 10"/>
          <p:cNvSpPr/>
          <p:nvPr/>
        </p:nvSpPr>
        <p:spPr>
          <a:xfrm>
            <a:off x="1965960" y="3438144"/>
            <a:ext cx="1371600" cy="274320"/>
          </a:xfrm>
          <a:prstGeom prst="rect">
            <a:avLst/>
          </a:prstGeom>
          <a:noFill/>
          <a:ln/>
        </p:spPr>
        <p:txBody>
          <a:bodyPr wrap="square" rtlCol="0" anchor="ctr"/>
          <a:lstStyle/>
          <a:p>
            <a:pPr marL="0" indent="0">
              <a:buNone/>
            </a:pPr>
            <a:r>
              <a:rPr lang="en-US" sz="950" b="1" dirty="0">
                <a:solidFill>
                  <a:srgbClr val="FFFFFF"/>
                </a:solidFill>
              </a:rPr>
              <a:t>Métrica</a:t>
            </a:r>
            <a:endParaRPr lang="en-US" sz="950" dirty="0"/>
          </a:p>
        </p:txBody>
      </p:sp>
      <p:sp>
        <p:nvSpPr>
          <p:cNvPr id="13" name="Shape 11"/>
          <p:cNvSpPr/>
          <p:nvPr/>
        </p:nvSpPr>
        <p:spPr>
          <a:xfrm>
            <a:off x="3200400" y="3438144"/>
            <a:ext cx="1920240" cy="274320"/>
          </a:xfrm>
          <a:prstGeom prst="rect">
            <a:avLst/>
          </a:prstGeom>
          <a:solidFill>
            <a:srgbClr val="5AA8D8"/>
          </a:solidFill>
          <a:ln w="12700">
            <a:solidFill>
              <a:srgbClr val="BBCCDD"/>
            </a:solidFill>
            <a:prstDash val="solid"/>
          </a:ln>
        </p:spPr>
        <p:txBody>
          <a:bodyPr/>
          <a:lstStyle/>
          <a:p>
            <a:endParaRPr lang="en-US"/>
          </a:p>
        </p:txBody>
      </p:sp>
      <p:sp>
        <p:nvSpPr>
          <p:cNvPr id="14" name="Text 12"/>
          <p:cNvSpPr/>
          <p:nvPr/>
        </p:nvSpPr>
        <p:spPr>
          <a:xfrm>
            <a:off x="3246120" y="3438144"/>
            <a:ext cx="1828800" cy="274320"/>
          </a:xfrm>
          <a:prstGeom prst="rect">
            <a:avLst/>
          </a:prstGeom>
          <a:noFill/>
          <a:ln/>
        </p:spPr>
        <p:txBody>
          <a:bodyPr wrap="square" rtlCol="0" anchor="ctr"/>
          <a:lstStyle/>
          <a:p>
            <a:pPr marL="0" indent="0">
              <a:buNone/>
            </a:pPr>
            <a:r>
              <a:rPr lang="en-US" sz="950" b="1" dirty="0">
                <a:solidFill>
                  <a:srgbClr val="FFFFFF"/>
                </a:solidFill>
              </a:rPr>
              <a:t>Gateway vecino</a:t>
            </a:r>
            <a:endParaRPr lang="en-US" sz="950" dirty="0"/>
          </a:p>
        </p:txBody>
      </p:sp>
      <p:sp>
        <p:nvSpPr>
          <p:cNvPr id="15" name="Shape 13"/>
          <p:cNvSpPr/>
          <p:nvPr/>
        </p:nvSpPr>
        <p:spPr>
          <a:xfrm>
            <a:off x="365760" y="3730752"/>
            <a:ext cx="1463040" cy="274320"/>
          </a:xfrm>
          <a:prstGeom prst="rect">
            <a:avLst/>
          </a:prstGeom>
          <a:solidFill>
            <a:srgbClr val="FFFFFF"/>
          </a:solidFill>
          <a:ln w="12700">
            <a:solidFill>
              <a:srgbClr val="BBCCDD"/>
            </a:solidFill>
            <a:prstDash val="solid"/>
          </a:ln>
        </p:spPr>
        <p:txBody>
          <a:bodyPr/>
          <a:lstStyle/>
          <a:p>
            <a:endParaRPr lang="en-US"/>
          </a:p>
        </p:txBody>
      </p:sp>
      <p:sp>
        <p:nvSpPr>
          <p:cNvPr id="16" name="Text 14"/>
          <p:cNvSpPr/>
          <p:nvPr/>
        </p:nvSpPr>
        <p:spPr>
          <a:xfrm>
            <a:off x="411480" y="3730752"/>
            <a:ext cx="1371600" cy="274320"/>
          </a:xfrm>
          <a:prstGeom prst="rect">
            <a:avLst/>
          </a:prstGeom>
          <a:noFill/>
          <a:ln/>
        </p:spPr>
        <p:txBody>
          <a:bodyPr wrap="square" rtlCol="0" anchor="ctr"/>
          <a:lstStyle/>
          <a:p>
            <a:pPr marL="0" indent="0">
              <a:buNone/>
            </a:pPr>
            <a:r>
              <a:rPr lang="en-US" sz="950" dirty="0">
                <a:solidFill>
                  <a:srgbClr val="2D3030"/>
                </a:solidFill>
              </a:rPr>
              <a:t>192.168.1.0</a:t>
            </a:r>
            <a:endParaRPr lang="en-US" sz="950" dirty="0"/>
          </a:p>
        </p:txBody>
      </p:sp>
      <p:sp>
        <p:nvSpPr>
          <p:cNvPr id="17" name="Shape 15"/>
          <p:cNvSpPr/>
          <p:nvPr/>
        </p:nvSpPr>
        <p:spPr>
          <a:xfrm>
            <a:off x="1920240" y="3730752"/>
            <a:ext cx="1463040" cy="274320"/>
          </a:xfrm>
          <a:prstGeom prst="rect">
            <a:avLst/>
          </a:prstGeom>
          <a:solidFill>
            <a:srgbClr val="FFFFFF"/>
          </a:solidFill>
          <a:ln w="12700">
            <a:solidFill>
              <a:srgbClr val="BBCCDD"/>
            </a:solidFill>
            <a:prstDash val="solid"/>
          </a:ln>
        </p:spPr>
        <p:txBody>
          <a:bodyPr/>
          <a:lstStyle/>
          <a:p>
            <a:endParaRPr lang="en-US"/>
          </a:p>
        </p:txBody>
      </p:sp>
      <p:sp>
        <p:nvSpPr>
          <p:cNvPr id="18" name="Text 16"/>
          <p:cNvSpPr/>
          <p:nvPr/>
        </p:nvSpPr>
        <p:spPr>
          <a:xfrm>
            <a:off x="1965960" y="3730752"/>
            <a:ext cx="1371600" cy="274320"/>
          </a:xfrm>
          <a:prstGeom prst="rect">
            <a:avLst/>
          </a:prstGeom>
          <a:noFill/>
          <a:ln/>
        </p:spPr>
        <p:txBody>
          <a:bodyPr wrap="square" rtlCol="0" anchor="ctr"/>
          <a:lstStyle/>
          <a:p>
            <a:pPr marL="0" indent="0">
              <a:buNone/>
            </a:pPr>
            <a:r>
              <a:rPr lang="en-US" sz="950" dirty="0">
                <a:solidFill>
                  <a:srgbClr val="2D3030"/>
                </a:solidFill>
              </a:rPr>
              <a:t>0 saltos</a:t>
            </a:r>
            <a:endParaRPr lang="en-US" sz="950" dirty="0"/>
          </a:p>
        </p:txBody>
      </p:sp>
      <p:sp>
        <p:nvSpPr>
          <p:cNvPr id="19" name="Shape 17"/>
          <p:cNvSpPr/>
          <p:nvPr/>
        </p:nvSpPr>
        <p:spPr>
          <a:xfrm>
            <a:off x="3200400" y="3730752"/>
            <a:ext cx="1920240" cy="274320"/>
          </a:xfrm>
          <a:prstGeom prst="rect">
            <a:avLst/>
          </a:prstGeom>
          <a:solidFill>
            <a:srgbClr val="FFFFFF"/>
          </a:solidFill>
          <a:ln w="12700">
            <a:solidFill>
              <a:srgbClr val="BBCCDD"/>
            </a:solidFill>
            <a:prstDash val="solid"/>
          </a:ln>
        </p:spPr>
        <p:txBody>
          <a:bodyPr/>
          <a:lstStyle/>
          <a:p>
            <a:endParaRPr lang="en-US"/>
          </a:p>
        </p:txBody>
      </p:sp>
      <p:sp>
        <p:nvSpPr>
          <p:cNvPr id="20" name="Text 18"/>
          <p:cNvSpPr/>
          <p:nvPr/>
        </p:nvSpPr>
        <p:spPr>
          <a:xfrm>
            <a:off x="3246120" y="3730752"/>
            <a:ext cx="1828800" cy="274320"/>
          </a:xfrm>
          <a:prstGeom prst="rect">
            <a:avLst/>
          </a:prstGeom>
          <a:noFill/>
          <a:ln/>
        </p:spPr>
        <p:txBody>
          <a:bodyPr wrap="square" rtlCol="0" anchor="ctr"/>
          <a:lstStyle/>
          <a:p>
            <a:pPr marL="0" indent="0">
              <a:buNone/>
            </a:pPr>
            <a:r>
              <a:rPr lang="en-US" sz="950" dirty="0">
                <a:solidFill>
                  <a:srgbClr val="2D3030"/>
                </a:solidFill>
              </a:rPr>
              <a:t>Directo</a:t>
            </a:r>
            <a:endParaRPr lang="en-US" sz="950" dirty="0"/>
          </a:p>
        </p:txBody>
      </p:sp>
      <p:sp>
        <p:nvSpPr>
          <p:cNvPr id="21" name="Shape 19"/>
          <p:cNvSpPr/>
          <p:nvPr/>
        </p:nvSpPr>
        <p:spPr>
          <a:xfrm>
            <a:off x="365760" y="4023360"/>
            <a:ext cx="1463040" cy="274320"/>
          </a:xfrm>
          <a:prstGeom prst="rect">
            <a:avLst/>
          </a:prstGeom>
          <a:solidFill>
            <a:srgbClr val="F0F7FC"/>
          </a:solidFill>
          <a:ln w="12700">
            <a:solidFill>
              <a:srgbClr val="BBCCDD"/>
            </a:solidFill>
            <a:prstDash val="solid"/>
          </a:ln>
        </p:spPr>
        <p:txBody>
          <a:bodyPr/>
          <a:lstStyle/>
          <a:p>
            <a:endParaRPr lang="en-US"/>
          </a:p>
        </p:txBody>
      </p:sp>
      <p:sp>
        <p:nvSpPr>
          <p:cNvPr id="22" name="Text 20"/>
          <p:cNvSpPr/>
          <p:nvPr/>
        </p:nvSpPr>
        <p:spPr>
          <a:xfrm>
            <a:off x="411480" y="4023360"/>
            <a:ext cx="1371600" cy="274320"/>
          </a:xfrm>
          <a:prstGeom prst="rect">
            <a:avLst/>
          </a:prstGeom>
          <a:noFill/>
          <a:ln/>
        </p:spPr>
        <p:txBody>
          <a:bodyPr wrap="square" rtlCol="0" anchor="ctr"/>
          <a:lstStyle/>
          <a:p>
            <a:pPr marL="0" indent="0">
              <a:buNone/>
            </a:pPr>
            <a:r>
              <a:rPr lang="en-US" sz="950" dirty="0">
                <a:solidFill>
                  <a:srgbClr val="2D3030"/>
                </a:solidFill>
              </a:rPr>
              <a:t>10.0.0.0</a:t>
            </a:r>
            <a:endParaRPr lang="en-US" sz="950" dirty="0"/>
          </a:p>
        </p:txBody>
      </p:sp>
      <p:sp>
        <p:nvSpPr>
          <p:cNvPr id="23" name="Shape 21"/>
          <p:cNvSpPr/>
          <p:nvPr/>
        </p:nvSpPr>
        <p:spPr>
          <a:xfrm>
            <a:off x="1920240" y="4023360"/>
            <a:ext cx="1463040" cy="274320"/>
          </a:xfrm>
          <a:prstGeom prst="rect">
            <a:avLst/>
          </a:prstGeom>
          <a:solidFill>
            <a:srgbClr val="F0F7FC"/>
          </a:solidFill>
          <a:ln w="12700">
            <a:solidFill>
              <a:srgbClr val="BBCCDD"/>
            </a:solidFill>
            <a:prstDash val="solid"/>
          </a:ln>
        </p:spPr>
        <p:txBody>
          <a:bodyPr/>
          <a:lstStyle/>
          <a:p>
            <a:endParaRPr lang="en-US"/>
          </a:p>
        </p:txBody>
      </p:sp>
      <p:sp>
        <p:nvSpPr>
          <p:cNvPr id="24" name="Text 22"/>
          <p:cNvSpPr/>
          <p:nvPr/>
        </p:nvSpPr>
        <p:spPr>
          <a:xfrm>
            <a:off x="1965960" y="4023360"/>
            <a:ext cx="1371600" cy="274320"/>
          </a:xfrm>
          <a:prstGeom prst="rect">
            <a:avLst/>
          </a:prstGeom>
          <a:noFill/>
          <a:ln/>
        </p:spPr>
        <p:txBody>
          <a:bodyPr wrap="square" rtlCol="0" anchor="ctr"/>
          <a:lstStyle/>
          <a:p>
            <a:pPr marL="0" indent="0">
              <a:buNone/>
            </a:pPr>
            <a:r>
              <a:rPr lang="en-US" sz="950" dirty="0">
                <a:solidFill>
                  <a:srgbClr val="2D3030"/>
                </a:solidFill>
              </a:rPr>
              <a:t>1 salto</a:t>
            </a:r>
            <a:endParaRPr lang="en-US" sz="950" dirty="0"/>
          </a:p>
        </p:txBody>
      </p:sp>
      <p:sp>
        <p:nvSpPr>
          <p:cNvPr id="25" name="Shape 23"/>
          <p:cNvSpPr/>
          <p:nvPr/>
        </p:nvSpPr>
        <p:spPr>
          <a:xfrm>
            <a:off x="3200400" y="4023360"/>
            <a:ext cx="1920240" cy="274320"/>
          </a:xfrm>
          <a:prstGeom prst="rect">
            <a:avLst/>
          </a:prstGeom>
          <a:solidFill>
            <a:srgbClr val="F0F7FC"/>
          </a:solidFill>
          <a:ln w="12700">
            <a:solidFill>
              <a:srgbClr val="BBCCDD"/>
            </a:solidFill>
            <a:prstDash val="solid"/>
          </a:ln>
        </p:spPr>
        <p:txBody>
          <a:bodyPr/>
          <a:lstStyle/>
          <a:p>
            <a:endParaRPr lang="en-US"/>
          </a:p>
        </p:txBody>
      </p:sp>
      <p:sp>
        <p:nvSpPr>
          <p:cNvPr id="26" name="Text 24"/>
          <p:cNvSpPr/>
          <p:nvPr/>
        </p:nvSpPr>
        <p:spPr>
          <a:xfrm>
            <a:off x="3246120" y="4023360"/>
            <a:ext cx="1828800" cy="274320"/>
          </a:xfrm>
          <a:prstGeom prst="rect">
            <a:avLst/>
          </a:prstGeom>
          <a:noFill/>
          <a:ln/>
        </p:spPr>
        <p:txBody>
          <a:bodyPr wrap="square" rtlCol="0" anchor="ctr"/>
          <a:lstStyle/>
          <a:p>
            <a:pPr marL="0" indent="0">
              <a:buNone/>
            </a:pPr>
            <a:r>
              <a:rPr lang="en-US" sz="950" dirty="0">
                <a:solidFill>
                  <a:srgbClr val="2D3030"/>
                </a:solidFill>
              </a:rPr>
              <a:t>192.168.1.1</a:t>
            </a:r>
            <a:endParaRPr lang="en-US" sz="950" dirty="0"/>
          </a:p>
        </p:txBody>
      </p:sp>
      <p:sp>
        <p:nvSpPr>
          <p:cNvPr id="27" name="Shape 25"/>
          <p:cNvSpPr/>
          <p:nvPr/>
        </p:nvSpPr>
        <p:spPr>
          <a:xfrm>
            <a:off x="365760" y="4315968"/>
            <a:ext cx="1463040" cy="274320"/>
          </a:xfrm>
          <a:prstGeom prst="rect">
            <a:avLst/>
          </a:prstGeom>
          <a:solidFill>
            <a:srgbClr val="FFFFFF"/>
          </a:solidFill>
          <a:ln w="12700">
            <a:solidFill>
              <a:srgbClr val="BBCCDD"/>
            </a:solidFill>
            <a:prstDash val="solid"/>
          </a:ln>
        </p:spPr>
        <p:txBody>
          <a:bodyPr/>
          <a:lstStyle/>
          <a:p>
            <a:endParaRPr lang="en-US"/>
          </a:p>
        </p:txBody>
      </p:sp>
      <p:sp>
        <p:nvSpPr>
          <p:cNvPr id="28" name="Text 26"/>
          <p:cNvSpPr/>
          <p:nvPr/>
        </p:nvSpPr>
        <p:spPr>
          <a:xfrm>
            <a:off x="411480" y="4315968"/>
            <a:ext cx="1371600" cy="274320"/>
          </a:xfrm>
          <a:prstGeom prst="rect">
            <a:avLst/>
          </a:prstGeom>
          <a:noFill/>
          <a:ln/>
        </p:spPr>
        <p:txBody>
          <a:bodyPr wrap="square" rtlCol="0" anchor="ctr"/>
          <a:lstStyle/>
          <a:p>
            <a:pPr marL="0" indent="0">
              <a:buNone/>
            </a:pPr>
            <a:r>
              <a:rPr lang="en-US" sz="950" dirty="0">
                <a:solidFill>
                  <a:srgbClr val="2D3030"/>
                </a:solidFill>
              </a:rPr>
              <a:t>172.16.0.0</a:t>
            </a:r>
            <a:endParaRPr lang="en-US" sz="950" dirty="0"/>
          </a:p>
        </p:txBody>
      </p:sp>
      <p:sp>
        <p:nvSpPr>
          <p:cNvPr id="29" name="Shape 27"/>
          <p:cNvSpPr/>
          <p:nvPr/>
        </p:nvSpPr>
        <p:spPr>
          <a:xfrm>
            <a:off x="1920240" y="4315968"/>
            <a:ext cx="1463040" cy="274320"/>
          </a:xfrm>
          <a:prstGeom prst="rect">
            <a:avLst/>
          </a:prstGeom>
          <a:solidFill>
            <a:srgbClr val="FFFFFF"/>
          </a:solidFill>
          <a:ln w="12700">
            <a:solidFill>
              <a:srgbClr val="BBCCDD"/>
            </a:solidFill>
            <a:prstDash val="solid"/>
          </a:ln>
        </p:spPr>
        <p:txBody>
          <a:bodyPr/>
          <a:lstStyle/>
          <a:p>
            <a:endParaRPr lang="en-US"/>
          </a:p>
        </p:txBody>
      </p:sp>
      <p:sp>
        <p:nvSpPr>
          <p:cNvPr id="30" name="Text 28"/>
          <p:cNvSpPr/>
          <p:nvPr/>
        </p:nvSpPr>
        <p:spPr>
          <a:xfrm>
            <a:off x="1965960" y="4315968"/>
            <a:ext cx="1371600" cy="274320"/>
          </a:xfrm>
          <a:prstGeom prst="rect">
            <a:avLst/>
          </a:prstGeom>
          <a:noFill/>
          <a:ln/>
        </p:spPr>
        <p:txBody>
          <a:bodyPr wrap="square" rtlCol="0" anchor="ctr"/>
          <a:lstStyle/>
          <a:p>
            <a:pPr marL="0" indent="0">
              <a:buNone/>
            </a:pPr>
            <a:r>
              <a:rPr lang="en-US" sz="950" dirty="0">
                <a:solidFill>
                  <a:srgbClr val="2D3030"/>
                </a:solidFill>
              </a:rPr>
              <a:t>2 saltos</a:t>
            </a:r>
            <a:endParaRPr lang="en-US" sz="950" dirty="0"/>
          </a:p>
        </p:txBody>
      </p:sp>
      <p:sp>
        <p:nvSpPr>
          <p:cNvPr id="31" name="Shape 29"/>
          <p:cNvSpPr/>
          <p:nvPr/>
        </p:nvSpPr>
        <p:spPr>
          <a:xfrm>
            <a:off x="3200400" y="4315968"/>
            <a:ext cx="1920240" cy="274320"/>
          </a:xfrm>
          <a:prstGeom prst="rect">
            <a:avLst/>
          </a:prstGeom>
          <a:solidFill>
            <a:srgbClr val="FFFFFF"/>
          </a:solidFill>
          <a:ln w="12700">
            <a:solidFill>
              <a:srgbClr val="BBCCDD"/>
            </a:solidFill>
            <a:prstDash val="solid"/>
          </a:ln>
        </p:spPr>
        <p:txBody>
          <a:bodyPr/>
          <a:lstStyle/>
          <a:p>
            <a:endParaRPr lang="en-US"/>
          </a:p>
        </p:txBody>
      </p:sp>
      <p:sp>
        <p:nvSpPr>
          <p:cNvPr id="32" name="Text 30"/>
          <p:cNvSpPr/>
          <p:nvPr/>
        </p:nvSpPr>
        <p:spPr>
          <a:xfrm>
            <a:off x="3246120" y="4315968"/>
            <a:ext cx="1828800" cy="274320"/>
          </a:xfrm>
          <a:prstGeom prst="rect">
            <a:avLst/>
          </a:prstGeom>
          <a:noFill/>
          <a:ln/>
        </p:spPr>
        <p:txBody>
          <a:bodyPr wrap="square" rtlCol="0" anchor="ctr"/>
          <a:lstStyle/>
          <a:p>
            <a:pPr marL="0" indent="0">
              <a:buNone/>
            </a:pPr>
            <a:r>
              <a:rPr lang="en-US" sz="950" dirty="0">
                <a:solidFill>
                  <a:srgbClr val="2D3030"/>
                </a:solidFill>
              </a:rPr>
              <a:t>192.168.1.1</a:t>
            </a:r>
            <a:endParaRPr lang="en-US" sz="950" dirty="0"/>
          </a:p>
        </p:txBody>
      </p:sp>
      <p:sp>
        <p:nvSpPr>
          <p:cNvPr id="33" name="Shape 31"/>
          <p:cNvSpPr/>
          <p:nvPr/>
        </p:nvSpPr>
        <p:spPr>
          <a:xfrm>
            <a:off x="5486400" y="1143000"/>
            <a:ext cx="3291840" cy="2011680"/>
          </a:xfrm>
          <a:prstGeom prst="rect">
            <a:avLst/>
          </a:prstGeom>
          <a:solidFill>
            <a:srgbClr val="FFFFFF"/>
          </a:solidFill>
          <a:ln w="19050">
            <a:solidFill>
              <a:srgbClr val="5AA8D8"/>
            </a:solidFill>
            <a:prstDash val="solid"/>
          </a:ln>
        </p:spPr>
        <p:txBody>
          <a:bodyPr/>
          <a:lstStyle/>
          <a:p>
            <a:endParaRPr lang="en-US"/>
          </a:p>
        </p:txBody>
      </p:sp>
      <p:sp>
        <p:nvSpPr>
          <p:cNvPr id="34" name="Text 32"/>
          <p:cNvSpPr/>
          <p:nvPr/>
        </p:nvSpPr>
        <p:spPr>
          <a:xfrm>
            <a:off x="5577840" y="1188720"/>
            <a:ext cx="3108960" cy="292608"/>
          </a:xfrm>
          <a:prstGeom prst="rect">
            <a:avLst/>
          </a:prstGeom>
          <a:noFill/>
          <a:ln/>
        </p:spPr>
        <p:txBody>
          <a:bodyPr wrap="square" rtlCol="0" anchor="ctr"/>
          <a:lstStyle/>
          <a:p>
            <a:pPr marL="0" indent="0">
              <a:buNone/>
            </a:pPr>
            <a:r>
              <a:rPr lang="en-US" sz="1100" b="1" dirty="0">
                <a:solidFill>
                  <a:srgbClr val="2D3030"/>
                </a:solidFill>
              </a:rPr>
              <a:t>Protocolos de enrutamiento:</a:t>
            </a:r>
            <a:endParaRPr lang="en-US" sz="1100" dirty="0"/>
          </a:p>
        </p:txBody>
      </p:sp>
      <p:sp>
        <p:nvSpPr>
          <p:cNvPr id="35" name="Shape 33"/>
          <p:cNvSpPr/>
          <p:nvPr/>
        </p:nvSpPr>
        <p:spPr>
          <a:xfrm>
            <a:off x="5577840" y="1554480"/>
            <a:ext cx="640080" cy="438912"/>
          </a:xfrm>
          <a:prstGeom prst="rect">
            <a:avLst/>
          </a:prstGeom>
          <a:solidFill>
            <a:srgbClr val="5AA8D8"/>
          </a:solidFill>
          <a:ln w="12700">
            <a:solidFill>
              <a:srgbClr val="5AA8D8"/>
            </a:solidFill>
            <a:prstDash val="solid"/>
          </a:ln>
        </p:spPr>
        <p:txBody>
          <a:bodyPr/>
          <a:lstStyle/>
          <a:p>
            <a:endParaRPr lang="en-US"/>
          </a:p>
        </p:txBody>
      </p:sp>
      <p:sp>
        <p:nvSpPr>
          <p:cNvPr id="36" name="Text 34"/>
          <p:cNvSpPr/>
          <p:nvPr/>
        </p:nvSpPr>
        <p:spPr>
          <a:xfrm>
            <a:off x="5577840" y="1554480"/>
            <a:ext cx="640080" cy="438912"/>
          </a:xfrm>
          <a:prstGeom prst="rect">
            <a:avLst/>
          </a:prstGeom>
          <a:noFill/>
          <a:ln/>
        </p:spPr>
        <p:txBody>
          <a:bodyPr wrap="square" rtlCol="0" anchor="ctr"/>
          <a:lstStyle/>
          <a:p>
            <a:pPr marL="0" indent="0" algn="ctr">
              <a:buNone/>
            </a:pPr>
            <a:r>
              <a:rPr lang="en-US" sz="1000" b="1" dirty="0">
                <a:solidFill>
                  <a:srgbClr val="FFFFFF"/>
                </a:solidFill>
              </a:rPr>
              <a:t>RIP</a:t>
            </a:r>
            <a:endParaRPr lang="en-US" sz="1000" dirty="0"/>
          </a:p>
        </p:txBody>
      </p:sp>
      <p:sp>
        <p:nvSpPr>
          <p:cNvPr id="37" name="Text 35"/>
          <p:cNvSpPr/>
          <p:nvPr/>
        </p:nvSpPr>
        <p:spPr>
          <a:xfrm>
            <a:off x="6263640" y="1554480"/>
            <a:ext cx="2423160" cy="438912"/>
          </a:xfrm>
          <a:prstGeom prst="rect">
            <a:avLst/>
          </a:prstGeom>
          <a:noFill/>
          <a:ln/>
        </p:spPr>
        <p:txBody>
          <a:bodyPr wrap="square" rtlCol="0" anchor="ctr"/>
          <a:lstStyle/>
          <a:p>
            <a:pPr marL="0" indent="0">
              <a:buNone/>
            </a:pPr>
            <a:r>
              <a:rPr lang="en-US" sz="950" dirty="0">
                <a:solidFill>
                  <a:srgbClr val="2D3030"/>
                </a:solidFill>
              </a:rPr>
              <a:t>Número de saltos (hop count). Máximo 15 saltos.</a:t>
            </a:r>
            <a:endParaRPr lang="en-US" sz="950" dirty="0"/>
          </a:p>
        </p:txBody>
      </p:sp>
      <p:sp>
        <p:nvSpPr>
          <p:cNvPr id="38" name="Shape 36"/>
          <p:cNvSpPr/>
          <p:nvPr/>
        </p:nvSpPr>
        <p:spPr>
          <a:xfrm>
            <a:off x="5577840" y="2084832"/>
            <a:ext cx="640080" cy="438912"/>
          </a:xfrm>
          <a:prstGeom prst="rect">
            <a:avLst/>
          </a:prstGeom>
          <a:solidFill>
            <a:srgbClr val="3A7BAA"/>
          </a:solidFill>
          <a:ln w="12700">
            <a:solidFill>
              <a:srgbClr val="3A7BAA"/>
            </a:solidFill>
            <a:prstDash val="solid"/>
          </a:ln>
        </p:spPr>
        <p:txBody>
          <a:bodyPr/>
          <a:lstStyle/>
          <a:p>
            <a:endParaRPr lang="en-US"/>
          </a:p>
        </p:txBody>
      </p:sp>
      <p:sp>
        <p:nvSpPr>
          <p:cNvPr id="39" name="Text 37"/>
          <p:cNvSpPr/>
          <p:nvPr/>
        </p:nvSpPr>
        <p:spPr>
          <a:xfrm>
            <a:off x="5577840" y="2084832"/>
            <a:ext cx="640080" cy="438912"/>
          </a:xfrm>
          <a:prstGeom prst="rect">
            <a:avLst/>
          </a:prstGeom>
          <a:noFill/>
          <a:ln/>
        </p:spPr>
        <p:txBody>
          <a:bodyPr wrap="square" rtlCol="0" anchor="ctr"/>
          <a:lstStyle/>
          <a:p>
            <a:pPr marL="0" indent="0" algn="ctr">
              <a:buNone/>
            </a:pPr>
            <a:r>
              <a:rPr lang="en-US" sz="1000" b="1" dirty="0">
                <a:solidFill>
                  <a:srgbClr val="FFFFFF"/>
                </a:solidFill>
              </a:rPr>
              <a:t>IGRP</a:t>
            </a:r>
            <a:endParaRPr lang="en-US" sz="1000" dirty="0"/>
          </a:p>
        </p:txBody>
      </p:sp>
      <p:sp>
        <p:nvSpPr>
          <p:cNvPr id="40" name="Text 38"/>
          <p:cNvSpPr/>
          <p:nvPr/>
        </p:nvSpPr>
        <p:spPr>
          <a:xfrm>
            <a:off x="6263640" y="2084832"/>
            <a:ext cx="2423160" cy="438912"/>
          </a:xfrm>
          <a:prstGeom prst="rect">
            <a:avLst/>
          </a:prstGeom>
          <a:noFill/>
          <a:ln/>
        </p:spPr>
        <p:txBody>
          <a:bodyPr wrap="square" rtlCol="0" anchor="ctr"/>
          <a:lstStyle/>
          <a:p>
            <a:pPr marL="0" indent="0">
              <a:buNone/>
            </a:pPr>
            <a:r>
              <a:rPr lang="en-US" sz="950" dirty="0">
                <a:solidFill>
                  <a:srgbClr val="2D3030"/>
                </a:solidFill>
              </a:rPr>
              <a:t>Métrica compuesta: ancho de banda, retardo, saltos, etc.</a:t>
            </a:r>
            <a:endParaRPr lang="en-US" sz="950" dirty="0"/>
          </a:p>
        </p:txBody>
      </p:sp>
      <p:sp>
        <p:nvSpPr>
          <p:cNvPr id="41" name="Shape 39"/>
          <p:cNvSpPr/>
          <p:nvPr/>
        </p:nvSpPr>
        <p:spPr>
          <a:xfrm>
            <a:off x="5577840" y="2615184"/>
            <a:ext cx="640080" cy="438912"/>
          </a:xfrm>
          <a:prstGeom prst="rect">
            <a:avLst/>
          </a:prstGeom>
          <a:solidFill>
            <a:srgbClr val="5A8A3A"/>
          </a:solidFill>
          <a:ln w="12700">
            <a:solidFill>
              <a:srgbClr val="5A8A3A"/>
            </a:solidFill>
            <a:prstDash val="solid"/>
          </a:ln>
        </p:spPr>
        <p:txBody>
          <a:bodyPr/>
          <a:lstStyle/>
          <a:p>
            <a:endParaRPr lang="en-US"/>
          </a:p>
        </p:txBody>
      </p:sp>
      <p:sp>
        <p:nvSpPr>
          <p:cNvPr id="42" name="Text 40"/>
          <p:cNvSpPr/>
          <p:nvPr/>
        </p:nvSpPr>
        <p:spPr>
          <a:xfrm>
            <a:off x="5577840" y="2615184"/>
            <a:ext cx="640080" cy="438912"/>
          </a:xfrm>
          <a:prstGeom prst="rect">
            <a:avLst/>
          </a:prstGeom>
          <a:noFill/>
          <a:ln/>
        </p:spPr>
        <p:txBody>
          <a:bodyPr wrap="square" rtlCol="0" anchor="ctr"/>
          <a:lstStyle/>
          <a:p>
            <a:pPr marL="0" indent="0" algn="ctr">
              <a:buNone/>
            </a:pPr>
            <a:r>
              <a:rPr lang="en-US" sz="1000" b="1" dirty="0">
                <a:solidFill>
                  <a:srgbClr val="FFFFFF"/>
                </a:solidFill>
              </a:rPr>
              <a:t>OSPF</a:t>
            </a:r>
            <a:endParaRPr lang="en-US" sz="1000" dirty="0"/>
          </a:p>
        </p:txBody>
      </p:sp>
      <p:sp>
        <p:nvSpPr>
          <p:cNvPr id="43" name="Text 41"/>
          <p:cNvSpPr/>
          <p:nvPr/>
        </p:nvSpPr>
        <p:spPr>
          <a:xfrm>
            <a:off x="6263640" y="2615184"/>
            <a:ext cx="2423160" cy="438912"/>
          </a:xfrm>
          <a:prstGeom prst="rect">
            <a:avLst/>
          </a:prstGeom>
          <a:noFill/>
          <a:ln/>
        </p:spPr>
        <p:txBody>
          <a:bodyPr wrap="square" rtlCol="0" anchor="ctr"/>
          <a:lstStyle/>
          <a:p>
            <a:pPr marL="0" indent="0">
              <a:buNone/>
            </a:pPr>
            <a:r>
              <a:rPr lang="en-US" sz="950" dirty="0">
                <a:solidFill>
                  <a:srgbClr val="2D3030"/>
                </a:solidFill>
              </a:rPr>
              <a:t>Estado de enlace. Calcula la ruta más corta (Dijkstra).</a:t>
            </a:r>
            <a:endParaRPr lang="en-US" sz="950" dirty="0"/>
          </a:p>
        </p:txBody>
      </p:sp>
      <p:sp>
        <p:nvSpPr>
          <p:cNvPr id="44" name="Shape 42"/>
          <p:cNvSpPr/>
          <p:nvPr/>
        </p:nvSpPr>
        <p:spPr>
          <a:xfrm>
            <a:off x="5486400" y="3246120"/>
            <a:ext cx="3291840" cy="1143000"/>
          </a:xfrm>
          <a:prstGeom prst="rect">
            <a:avLst/>
          </a:prstGeom>
          <a:solidFill>
            <a:srgbClr val="E8F4FC"/>
          </a:solidFill>
          <a:ln w="12700">
            <a:solidFill>
              <a:srgbClr val="5AA8D8"/>
            </a:solidFill>
            <a:prstDash val="solid"/>
          </a:ln>
        </p:spPr>
        <p:txBody>
          <a:bodyPr/>
          <a:lstStyle/>
          <a:p>
            <a:endParaRPr lang="en-US"/>
          </a:p>
        </p:txBody>
      </p:sp>
      <p:sp>
        <p:nvSpPr>
          <p:cNvPr id="45" name="Text 43"/>
          <p:cNvSpPr/>
          <p:nvPr/>
        </p:nvSpPr>
        <p:spPr>
          <a:xfrm>
            <a:off x="5577840" y="3291840"/>
            <a:ext cx="3108960" cy="292608"/>
          </a:xfrm>
          <a:prstGeom prst="rect">
            <a:avLst/>
          </a:prstGeom>
          <a:noFill/>
          <a:ln/>
        </p:spPr>
        <p:txBody>
          <a:bodyPr wrap="square" rtlCol="0" anchor="ctr"/>
          <a:lstStyle/>
          <a:p>
            <a:pPr marL="0" indent="0">
              <a:buNone/>
            </a:pPr>
            <a:r>
              <a:rPr lang="en-US" sz="1050" b="1" dirty="0">
                <a:solidFill>
                  <a:srgbClr val="2D3030"/>
                </a:solidFill>
              </a:rPr>
              <a:t>¿Qué pasa si la red destino no está en la tabla?</a:t>
            </a:r>
            <a:endParaRPr lang="en-US" sz="1050" dirty="0"/>
          </a:p>
        </p:txBody>
      </p:sp>
      <p:sp>
        <p:nvSpPr>
          <p:cNvPr id="46" name="Text 44"/>
          <p:cNvSpPr/>
          <p:nvPr/>
        </p:nvSpPr>
        <p:spPr>
          <a:xfrm>
            <a:off x="5577840" y="3593592"/>
            <a:ext cx="3108960" cy="731520"/>
          </a:xfrm>
          <a:prstGeom prst="rect">
            <a:avLst/>
          </a:prstGeom>
          <a:noFill/>
          <a:ln/>
        </p:spPr>
        <p:txBody>
          <a:bodyPr wrap="square" rtlCol="0" anchor="t"/>
          <a:lstStyle/>
          <a:p>
            <a:pPr marL="0" indent="0">
              <a:buNone/>
            </a:pPr>
            <a:r>
              <a:rPr lang="en-US" sz="1000" dirty="0">
                <a:solidFill>
                  <a:srgbClr val="404040"/>
                </a:solidFill>
              </a:rPr>
              <a:t>El datagrama se DESTRUYE y se envía un paquete ICMP al origen informando del error.</a:t>
            </a:r>
            <a:endParaRPr lang="en-US" sz="1000" dirty="0"/>
          </a:p>
        </p:txBody>
      </p:sp>
      <p:sp>
        <p:nvSpPr>
          <p:cNvPr id="47" name="Shape 4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48" name="Text 4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RIP usa 'número de saltos': un salto = un router. El router X tiene 0 saltos a sus redes directas, 1 salto a las redes del vecino, etc. Si la red no está en la tabla, el datagrama se descarta y ICMP avisa al emisor.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El Camino Correcto y el Camino Alternativo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Resiliencia del encaminamiento adaptativo en Internet</a:t>
            </a:r>
            <a:endParaRPr lang="en-US" sz="1300" dirty="0"/>
          </a:p>
        </p:txBody>
      </p:sp>
      <p:sp>
        <p:nvSpPr>
          <p:cNvPr id="6" name="Shape 4"/>
          <p:cNvSpPr/>
          <p:nvPr/>
        </p:nvSpPr>
        <p:spPr>
          <a:xfrm>
            <a:off x="228600" y="1170432"/>
            <a:ext cx="4114800" cy="3337560"/>
          </a:xfrm>
          <a:prstGeom prst="rect">
            <a:avLst/>
          </a:prstGeom>
          <a:solidFill>
            <a:srgbClr val="1A2530"/>
          </a:solidFill>
          <a:ln w="19050">
            <a:solidFill>
              <a:srgbClr val="5AA8D8"/>
            </a:solidFill>
            <a:prstDash val="solid"/>
          </a:ln>
        </p:spPr>
        <p:txBody>
          <a:bodyPr/>
          <a:lstStyle/>
          <a:p>
            <a:endParaRPr lang="en-US"/>
          </a:p>
        </p:txBody>
      </p:sp>
      <p:sp>
        <p:nvSpPr>
          <p:cNvPr id="7" name="Shape 5"/>
          <p:cNvSpPr/>
          <p:nvPr/>
        </p:nvSpPr>
        <p:spPr>
          <a:xfrm>
            <a:off x="228600" y="1170432"/>
            <a:ext cx="4114800" cy="41148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170432"/>
            <a:ext cx="4023360" cy="411480"/>
          </a:xfrm>
          <a:prstGeom prst="rect">
            <a:avLst/>
          </a:prstGeom>
          <a:noFill/>
          <a:ln/>
        </p:spPr>
        <p:txBody>
          <a:bodyPr wrap="square" rtlCol="0" anchor="ctr"/>
          <a:lstStyle/>
          <a:p>
            <a:pPr marL="0" indent="0" algn="ctr">
              <a:buNone/>
            </a:pPr>
            <a:r>
              <a:rPr lang="en-US" sz="1200" b="1" dirty="0">
                <a:solidFill>
                  <a:srgbClr val="FFFFFF"/>
                </a:solidFill>
              </a:rPr>
              <a:t>EL CAMINO CORRECTO</a:t>
            </a:r>
            <a:endParaRPr lang="en-US" sz="1200" dirty="0"/>
          </a:p>
        </p:txBody>
      </p:sp>
      <p:sp>
        <p:nvSpPr>
          <p:cNvPr id="9" name="Text 7"/>
          <p:cNvSpPr/>
          <p:nvPr/>
        </p:nvSpPr>
        <p:spPr>
          <a:xfrm>
            <a:off x="320040" y="1627632"/>
            <a:ext cx="3931920" cy="320040"/>
          </a:xfrm>
          <a:prstGeom prst="rect">
            <a:avLst/>
          </a:prstGeom>
          <a:noFill/>
          <a:ln/>
        </p:spPr>
        <p:txBody>
          <a:bodyPr wrap="square" rtlCol="0" anchor="ctr"/>
          <a:lstStyle/>
          <a:p>
            <a:pPr marL="0" indent="0">
              <a:buNone/>
            </a:pPr>
            <a:r>
              <a:rPr lang="en-US" sz="1000" b="1" dirty="0">
                <a:solidFill>
                  <a:srgbClr val="5AA8D8"/>
                </a:solidFill>
              </a:rPr>
              <a:t>El gateway IP usa protocolos de enrutamiento para 4 funciones:</a:t>
            </a:r>
            <a:endParaRPr lang="en-US" sz="1000" dirty="0"/>
          </a:p>
        </p:txBody>
      </p:sp>
      <p:sp>
        <p:nvSpPr>
          <p:cNvPr id="10" name="Text 8"/>
          <p:cNvSpPr/>
          <p:nvPr/>
        </p:nvSpPr>
        <p:spPr>
          <a:xfrm>
            <a:off x="320040" y="1975104"/>
            <a:ext cx="3931920" cy="502920"/>
          </a:xfrm>
          <a:prstGeom prst="rect">
            <a:avLst/>
          </a:prstGeom>
          <a:noFill/>
          <a:ln/>
        </p:spPr>
        <p:txBody>
          <a:bodyPr wrap="square" lIns="38100" tIns="38100" rIns="38100" bIns="38100" rtlCol="0" anchor="t"/>
          <a:lstStyle/>
          <a:p>
            <a:pPr marL="0" indent="0">
              <a:buNone/>
            </a:pPr>
            <a:r>
              <a:rPr lang="en-US" sz="1050" dirty="0">
                <a:solidFill>
                  <a:srgbClr val="FFFFFF"/>
                </a:solidFill>
              </a:rPr>
              <a:t>1. Determinar operatividad de la interfaz de red.</a:t>
            </a:r>
            <a:endParaRPr lang="en-US" sz="1050" dirty="0"/>
          </a:p>
        </p:txBody>
      </p:sp>
      <p:sp>
        <p:nvSpPr>
          <p:cNvPr id="11" name="Text 9"/>
          <p:cNvSpPr/>
          <p:nvPr/>
        </p:nvSpPr>
        <p:spPr>
          <a:xfrm>
            <a:off x="320040" y="2542032"/>
            <a:ext cx="3931920" cy="502920"/>
          </a:xfrm>
          <a:prstGeom prst="rect">
            <a:avLst/>
          </a:prstGeom>
          <a:noFill/>
          <a:ln/>
        </p:spPr>
        <p:txBody>
          <a:bodyPr wrap="square" lIns="38100" tIns="38100" rIns="38100" bIns="38100" rtlCol="0" anchor="t"/>
          <a:lstStyle/>
          <a:p>
            <a:pPr marL="0" indent="0">
              <a:buNone/>
            </a:pPr>
            <a:r>
              <a:rPr lang="en-US" sz="1050" dirty="0">
                <a:solidFill>
                  <a:srgbClr val="FFFFFF"/>
                </a:solidFill>
              </a:rPr>
              <a:t>2. Determinar si el router vecino está operacional.</a:t>
            </a:r>
            <a:endParaRPr lang="en-US" sz="1050" dirty="0"/>
          </a:p>
        </p:txBody>
      </p:sp>
      <p:sp>
        <p:nvSpPr>
          <p:cNvPr id="12" name="Text 10"/>
          <p:cNvSpPr/>
          <p:nvPr/>
        </p:nvSpPr>
        <p:spPr>
          <a:xfrm>
            <a:off x="320040" y="3108960"/>
            <a:ext cx="3931920" cy="502920"/>
          </a:xfrm>
          <a:prstGeom prst="rect">
            <a:avLst/>
          </a:prstGeom>
          <a:noFill/>
          <a:ln/>
        </p:spPr>
        <p:txBody>
          <a:bodyPr wrap="square" lIns="38100" tIns="38100" rIns="38100" bIns="38100" rtlCol="0" anchor="t"/>
          <a:lstStyle/>
          <a:p>
            <a:pPr marL="0" indent="0">
              <a:buNone/>
            </a:pPr>
            <a:r>
              <a:rPr lang="en-US" sz="1050" dirty="0">
                <a:solidFill>
                  <a:srgbClr val="FFFFFF"/>
                </a:solidFill>
              </a:rPr>
              <a:t>3. Construir tabla de enrutamiento para redes alcanzables vía gateways vecinos.</a:t>
            </a:r>
            <a:endParaRPr lang="en-US" sz="1050" dirty="0"/>
          </a:p>
        </p:txBody>
      </p:sp>
      <p:sp>
        <p:nvSpPr>
          <p:cNvPr id="13" name="Text 11"/>
          <p:cNvSpPr/>
          <p:nvPr/>
        </p:nvSpPr>
        <p:spPr>
          <a:xfrm>
            <a:off x="320040" y="3675888"/>
            <a:ext cx="3931920" cy="502920"/>
          </a:xfrm>
          <a:prstGeom prst="rect">
            <a:avLst/>
          </a:prstGeom>
          <a:noFill/>
          <a:ln/>
        </p:spPr>
        <p:txBody>
          <a:bodyPr wrap="square" lIns="38100" tIns="38100" rIns="38100" bIns="38100" rtlCol="0" anchor="t"/>
          <a:lstStyle/>
          <a:p>
            <a:pPr marL="0" indent="0">
              <a:buNone/>
            </a:pPr>
            <a:r>
              <a:rPr lang="en-US" sz="1050" dirty="0">
                <a:solidFill>
                  <a:srgbClr val="FFFFFF"/>
                </a:solidFill>
              </a:rPr>
              <a:t>4. Agregar nuevo router vecino y nueva red a la tabla.</a:t>
            </a:r>
            <a:endParaRPr lang="en-US" sz="1050" dirty="0"/>
          </a:p>
        </p:txBody>
      </p:sp>
      <p:sp>
        <p:nvSpPr>
          <p:cNvPr id="14" name="Shape 12"/>
          <p:cNvSpPr/>
          <p:nvPr/>
        </p:nvSpPr>
        <p:spPr>
          <a:xfrm>
            <a:off x="320040" y="3822192"/>
            <a:ext cx="3931920" cy="566928"/>
          </a:xfrm>
          <a:prstGeom prst="rect">
            <a:avLst/>
          </a:prstGeom>
          <a:solidFill>
            <a:srgbClr val="1A3A1A"/>
          </a:solidFill>
          <a:ln w="12700">
            <a:solidFill>
              <a:srgbClr val="217346"/>
            </a:solidFill>
            <a:prstDash val="solid"/>
          </a:ln>
        </p:spPr>
        <p:txBody>
          <a:bodyPr/>
          <a:lstStyle/>
          <a:p>
            <a:endParaRPr lang="en-US"/>
          </a:p>
        </p:txBody>
      </p:sp>
      <p:sp>
        <p:nvSpPr>
          <p:cNvPr id="15" name="Text 13"/>
          <p:cNvSpPr/>
          <p:nvPr/>
        </p:nvSpPr>
        <p:spPr>
          <a:xfrm>
            <a:off x="411480" y="3849624"/>
            <a:ext cx="3749040" cy="512064"/>
          </a:xfrm>
          <a:prstGeom prst="rect">
            <a:avLst/>
          </a:prstGeom>
          <a:noFill/>
          <a:ln/>
        </p:spPr>
        <p:txBody>
          <a:bodyPr wrap="square" rtlCol="0" anchor="ctr"/>
          <a:lstStyle/>
          <a:p>
            <a:pPr marL="0" indent="0">
              <a:buNone/>
            </a:pPr>
            <a:r>
              <a:rPr lang="en-US" sz="950" dirty="0">
                <a:solidFill>
                  <a:srgbClr val="90EE90"/>
                </a:solidFill>
              </a:rPr>
              <a:t>Actualizaciones periódicas: cada router informa a sus vecinos las redes alcanzables y sus distancias.</a:t>
            </a:r>
            <a:endParaRPr lang="en-US" sz="950" dirty="0"/>
          </a:p>
        </p:txBody>
      </p:sp>
      <p:sp>
        <p:nvSpPr>
          <p:cNvPr id="16" name="Shape 14"/>
          <p:cNvSpPr/>
          <p:nvPr/>
        </p:nvSpPr>
        <p:spPr>
          <a:xfrm>
            <a:off x="4754880" y="1170432"/>
            <a:ext cx="4114800" cy="3337560"/>
          </a:xfrm>
          <a:prstGeom prst="rect">
            <a:avLst/>
          </a:prstGeom>
          <a:solidFill>
            <a:srgbClr val="1A2530"/>
          </a:solidFill>
          <a:ln w="19050">
            <a:solidFill>
              <a:srgbClr val="C06000"/>
            </a:solidFill>
            <a:prstDash val="solid"/>
          </a:ln>
        </p:spPr>
        <p:txBody>
          <a:bodyPr/>
          <a:lstStyle/>
          <a:p>
            <a:endParaRPr lang="en-US"/>
          </a:p>
        </p:txBody>
      </p:sp>
      <p:sp>
        <p:nvSpPr>
          <p:cNvPr id="17" name="Shape 15"/>
          <p:cNvSpPr/>
          <p:nvPr/>
        </p:nvSpPr>
        <p:spPr>
          <a:xfrm>
            <a:off x="4754880" y="1170432"/>
            <a:ext cx="4114800" cy="411480"/>
          </a:xfrm>
          <a:prstGeom prst="rect">
            <a:avLst/>
          </a:prstGeom>
          <a:solidFill>
            <a:srgbClr val="C06000"/>
          </a:solidFill>
          <a:ln w="12700">
            <a:solidFill>
              <a:srgbClr val="C06000"/>
            </a:solidFill>
            <a:prstDash val="solid"/>
          </a:ln>
        </p:spPr>
        <p:txBody>
          <a:bodyPr/>
          <a:lstStyle/>
          <a:p>
            <a:endParaRPr lang="en-US"/>
          </a:p>
        </p:txBody>
      </p:sp>
      <p:sp>
        <p:nvSpPr>
          <p:cNvPr id="18" name="Text 16"/>
          <p:cNvSpPr/>
          <p:nvPr/>
        </p:nvSpPr>
        <p:spPr>
          <a:xfrm>
            <a:off x="4800600" y="1170432"/>
            <a:ext cx="4023360" cy="411480"/>
          </a:xfrm>
          <a:prstGeom prst="rect">
            <a:avLst/>
          </a:prstGeom>
          <a:noFill/>
          <a:ln/>
        </p:spPr>
        <p:txBody>
          <a:bodyPr wrap="square" rtlCol="0" anchor="ctr"/>
          <a:lstStyle/>
          <a:p>
            <a:pPr marL="0" indent="0" algn="ctr">
              <a:buNone/>
            </a:pPr>
            <a:r>
              <a:rPr lang="en-US" sz="1200" b="1" dirty="0">
                <a:solidFill>
                  <a:srgbClr val="FFFFFF"/>
                </a:solidFill>
              </a:rPr>
              <a:t>EL CAMINO ALTERNATIVO</a:t>
            </a:r>
            <a:endParaRPr lang="en-US" sz="1200" dirty="0"/>
          </a:p>
        </p:txBody>
      </p:sp>
      <p:sp>
        <p:nvSpPr>
          <p:cNvPr id="19" name="Text 17"/>
          <p:cNvSpPr/>
          <p:nvPr/>
        </p:nvSpPr>
        <p:spPr>
          <a:xfrm>
            <a:off x="4846320" y="1627632"/>
            <a:ext cx="3931920" cy="320040"/>
          </a:xfrm>
          <a:prstGeom prst="rect">
            <a:avLst/>
          </a:prstGeom>
          <a:noFill/>
          <a:ln/>
        </p:spPr>
        <p:txBody>
          <a:bodyPr wrap="square" rtlCol="0" anchor="ctr"/>
          <a:lstStyle/>
          <a:p>
            <a:pPr marL="0" indent="0">
              <a:buNone/>
            </a:pPr>
            <a:r>
              <a:rPr lang="en-US" sz="1000" b="1" dirty="0">
                <a:solidFill>
                  <a:srgbClr val="FFA040"/>
                </a:solidFill>
              </a:rPr>
              <a:t>Escenario: hay dos routers X e Y para alcanzar la red A.</a:t>
            </a:r>
            <a:endParaRPr lang="en-US" sz="1000" dirty="0"/>
          </a:p>
        </p:txBody>
      </p:sp>
      <p:sp>
        <p:nvSpPr>
          <p:cNvPr id="20" name="Text 18"/>
          <p:cNvSpPr/>
          <p:nvPr/>
        </p:nvSpPr>
        <p:spPr>
          <a:xfrm>
            <a:off x="4846320" y="1993392"/>
            <a:ext cx="3931920" cy="457200"/>
          </a:xfrm>
          <a:prstGeom prst="rect">
            <a:avLst/>
          </a:prstGeom>
          <a:noFill/>
          <a:ln/>
        </p:spPr>
        <p:txBody>
          <a:bodyPr wrap="square" lIns="38100" tIns="38100" rIns="38100" bIns="38100" rtlCol="0" anchor="t"/>
          <a:lstStyle/>
          <a:p>
            <a:pPr marL="0" indent="0">
              <a:buNone/>
            </a:pPr>
            <a:r>
              <a:rPr lang="en-US" sz="1050" dirty="0">
                <a:solidFill>
                  <a:srgbClr val="FFFFFF"/>
                </a:solidFill>
              </a:rPr>
              <a:t>1. Router X se cae.</a:t>
            </a:r>
            <a:endParaRPr lang="en-US" sz="1050" dirty="0"/>
          </a:p>
        </p:txBody>
      </p:sp>
      <p:sp>
        <p:nvSpPr>
          <p:cNvPr id="21" name="Text 19"/>
          <p:cNvSpPr/>
          <p:nvPr/>
        </p:nvSpPr>
        <p:spPr>
          <a:xfrm>
            <a:off x="4846320" y="2523744"/>
            <a:ext cx="3931920" cy="457200"/>
          </a:xfrm>
          <a:prstGeom prst="rect">
            <a:avLst/>
          </a:prstGeom>
          <a:noFill/>
          <a:ln/>
        </p:spPr>
        <p:txBody>
          <a:bodyPr wrap="square" lIns="38100" tIns="38100" rIns="38100" bIns="38100" rtlCol="0" anchor="t"/>
          <a:lstStyle/>
          <a:p>
            <a:pPr marL="0" indent="0">
              <a:buNone/>
            </a:pPr>
            <a:r>
              <a:rPr lang="en-US" sz="1050" dirty="0">
                <a:solidFill>
                  <a:srgbClr val="FFFFFF"/>
                </a:solidFill>
              </a:rPr>
              <a:t>2. Los vecinos de X envían actualización: la red A no es alcanzable vía X.</a:t>
            </a:r>
            <a:endParaRPr lang="en-US" sz="1050" dirty="0"/>
          </a:p>
        </p:txBody>
      </p:sp>
      <p:sp>
        <p:nvSpPr>
          <p:cNvPr id="22" name="Text 20"/>
          <p:cNvSpPr/>
          <p:nvPr/>
        </p:nvSpPr>
        <p:spPr>
          <a:xfrm>
            <a:off x="4846320" y="3054096"/>
            <a:ext cx="3931920" cy="457200"/>
          </a:xfrm>
          <a:prstGeom prst="rect">
            <a:avLst/>
          </a:prstGeom>
          <a:noFill/>
          <a:ln/>
        </p:spPr>
        <p:txBody>
          <a:bodyPr wrap="square" lIns="38100" tIns="38100" rIns="38100" bIns="38100" rtlCol="0" anchor="t"/>
          <a:lstStyle/>
          <a:p>
            <a:pPr marL="0" indent="0">
              <a:buNone/>
            </a:pPr>
            <a:r>
              <a:rPr lang="en-US" sz="1050" dirty="0">
                <a:solidFill>
                  <a:srgbClr val="FFFFFF"/>
                </a:solidFill>
              </a:rPr>
              <a:t>3. Cada router recalcula su Tabla de Enrutamiento.</a:t>
            </a:r>
            <a:endParaRPr lang="en-US" sz="1050" dirty="0"/>
          </a:p>
        </p:txBody>
      </p:sp>
      <p:sp>
        <p:nvSpPr>
          <p:cNvPr id="23" name="Text 21"/>
          <p:cNvSpPr/>
          <p:nvPr/>
        </p:nvSpPr>
        <p:spPr>
          <a:xfrm>
            <a:off x="4846320" y="3584448"/>
            <a:ext cx="3931920" cy="457200"/>
          </a:xfrm>
          <a:prstGeom prst="rect">
            <a:avLst/>
          </a:prstGeom>
          <a:noFill/>
          <a:ln/>
        </p:spPr>
        <p:txBody>
          <a:bodyPr wrap="square" lIns="38100" tIns="38100" rIns="38100" bIns="38100" rtlCol="0" anchor="t"/>
          <a:lstStyle/>
          <a:p>
            <a:pPr marL="0" indent="0">
              <a:buNone/>
            </a:pPr>
            <a:r>
              <a:rPr lang="en-US" sz="1050" dirty="0">
                <a:solidFill>
                  <a:srgbClr val="FFFFFF"/>
                </a:solidFill>
              </a:rPr>
              <a:t>4. El camino pasa ahora por el gateway Y.</a:t>
            </a:r>
            <a:endParaRPr lang="en-US" sz="1050" dirty="0"/>
          </a:p>
        </p:txBody>
      </p:sp>
      <p:sp>
        <p:nvSpPr>
          <p:cNvPr id="24" name="Text 22"/>
          <p:cNvSpPr/>
          <p:nvPr/>
        </p:nvSpPr>
        <p:spPr>
          <a:xfrm>
            <a:off x="4846320" y="4114800"/>
            <a:ext cx="3931920" cy="457200"/>
          </a:xfrm>
          <a:prstGeom prst="rect">
            <a:avLst/>
          </a:prstGeom>
          <a:noFill/>
          <a:ln/>
        </p:spPr>
        <p:txBody>
          <a:bodyPr wrap="square" lIns="38100" tIns="38100" rIns="38100" bIns="38100" rtlCol="0" anchor="t"/>
          <a:lstStyle/>
          <a:p>
            <a:pPr marL="0" indent="0">
              <a:buNone/>
            </a:pPr>
            <a:r>
              <a:rPr lang="en-US" sz="1050" dirty="0">
                <a:solidFill>
                  <a:srgbClr val="FFFFFF"/>
                </a:solidFill>
              </a:rPr>
              <a:t>5. La conexión entre hosts se mantiene SIN INTERRUMPIR.</a:t>
            </a:r>
            <a:endParaRPr lang="en-US" sz="1050" dirty="0"/>
          </a:p>
        </p:txBody>
      </p:sp>
      <p:sp>
        <p:nvSpPr>
          <p:cNvPr id="25" name="Shape 23"/>
          <p:cNvSpPr/>
          <p:nvPr/>
        </p:nvSpPr>
        <p:spPr>
          <a:xfrm>
            <a:off x="4846320" y="3822192"/>
            <a:ext cx="3931920" cy="566928"/>
          </a:xfrm>
          <a:prstGeom prst="rect">
            <a:avLst/>
          </a:prstGeom>
          <a:solidFill>
            <a:srgbClr val="2A1A10"/>
          </a:solidFill>
          <a:ln w="12700">
            <a:solidFill>
              <a:srgbClr val="C06000"/>
            </a:solidFill>
            <a:prstDash val="solid"/>
          </a:ln>
        </p:spPr>
        <p:txBody>
          <a:bodyPr/>
          <a:lstStyle/>
          <a:p>
            <a:endParaRPr lang="en-US"/>
          </a:p>
        </p:txBody>
      </p:sp>
      <p:sp>
        <p:nvSpPr>
          <p:cNvPr id="26" name="Text 24"/>
          <p:cNvSpPr/>
          <p:nvPr/>
        </p:nvSpPr>
        <p:spPr>
          <a:xfrm>
            <a:off x="4937760" y="3849624"/>
            <a:ext cx="3749040" cy="512064"/>
          </a:xfrm>
          <a:prstGeom prst="rect">
            <a:avLst/>
          </a:prstGeom>
          <a:noFill/>
          <a:ln/>
        </p:spPr>
        <p:txBody>
          <a:bodyPr wrap="square" rtlCol="0" anchor="ctr"/>
          <a:lstStyle/>
          <a:p>
            <a:pPr marL="0" indent="0">
              <a:buNone/>
            </a:pPr>
            <a:r>
              <a:rPr lang="en-US" sz="950" dirty="0">
                <a:solidFill>
                  <a:srgbClr val="FFA040"/>
                </a:solidFill>
              </a:rPr>
              <a:t>Clave: el encaminamiento adaptativo garantiza tolerancia a fallos. No hay un único punto de falla.</a:t>
            </a:r>
            <a:endParaRPr lang="en-US" sz="950" dirty="0"/>
          </a:p>
        </p:txBody>
      </p:sp>
      <p:sp>
        <p:nvSpPr>
          <p:cNvPr id="27" name="Shape 2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8" name="Text 2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Esta es la fortaleza de Internet frente al modelo de circuito virtual. Si un enlace cae, los paquetes buscan otro camino automáticamente. Por eso Internet sobrevive fallos parciales sin que el usuario lo note.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ICMP — Internet Control Message Protocol</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RFC 792: protocolo de control y mensajes de error de IP</a:t>
            </a:r>
            <a:endParaRPr lang="en-US" sz="1300" dirty="0"/>
          </a:p>
        </p:txBody>
      </p:sp>
      <p:sp>
        <p:nvSpPr>
          <p:cNvPr id="6" name="Text 4"/>
          <p:cNvSpPr/>
          <p:nvPr/>
        </p:nvSpPr>
        <p:spPr>
          <a:xfrm>
            <a:off x="274320" y="1170432"/>
            <a:ext cx="8412480" cy="411480"/>
          </a:xfrm>
          <a:prstGeom prst="rect">
            <a:avLst/>
          </a:prstGeom>
          <a:noFill/>
          <a:ln/>
        </p:spPr>
        <p:txBody>
          <a:bodyPr wrap="square" rtlCol="0" anchor="ctr"/>
          <a:lstStyle/>
          <a:p>
            <a:pPr marL="0" indent="0">
              <a:buNone/>
            </a:pPr>
            <a:r>
              <a:rPr lang="en-US" sz="1100" dirty="0">
                <a:solidFill>
                  <a:srgbClr val="404040"/>
                </a:solidFill>
              </a:rPr>
              <a:t>ICMP es parte de la Capa Internet. Usa la entrega de datagramas IP para enviar mensajes de control, errores y estado.</a:t>
            </a:r>
            <a:endParaRPr lang="en-US" sz="1100" dirty="0"/>
          </a:p>
        </p:txBody>
      </p:sp>
      <p:sp>
        <p:nvSpPr>
          <p:cNvPr id="7" name="Shape 5"/>
          <p:cNvSpPr/>
          <p:nvPr/>
        </p:nvSpPr>
        <p:spPr>
          <a:xfrm>
            <a:off x="274320" y="1691640"/>
            <a:ext cx="4160520" cy="1261872"/>
          </a:xfrm>
          <a:prstGeom prst="rect">
            <a:avLst/>
          </a:prstGeom>
          <a:solidFill>
            <a:srgbClr val="FFFFFF"/>
          </a:solidFill>
          <a:ln w="25400">
            <a:solidFill>
              <a:srgbClr val="5AA8D8"/>
            </a:solidFill>
            <a:prstDash val="solid"/>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274320" y="1691640"/>
            <a:ext cx="4160520" cy="384048"/>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347472" y="1737360"/>
            <a:ext cx="2377440" cy="292608"/>
          </a:xfrm>
          <a:prstGeom prst="rect">
            <a:avLst/>
          </a:prstGeom>
          <a:noFill/>
          <a:ln/>
        </p:spPr>
        <p:txBody>
          <a:bodyPr wrap="square" rtlCol="0" anchor="ctr"/>
          <a:lstStyle/>
          <a:p>
            <a:pPr marL="0" indent="0">
              <a:buNone/>
            </a:pPr>
            <a:r>
              <a:rPr lang="en-US" sz="1100" b="1" dirty="0">
                <a:solidFill>
                  <a:srgbClr val="FFFFFF"/>
                </a:solidFill>
              </a:rPr>
              <a:t>Control de Flujo</a:t>
            </a:r>
            <a:endParaRPr lang="en-US" sz="1100" dirty="0"/>
          </a:p>
        </p:txBody>
      </p:sp>
      <p:sp>
        <p:nvSpPr>
          <p:cNvPr id="10" name="Shape 8"/>
          <p:cNvSpPr/>
          <p:nvPr/>
        </p:nvSpPr>
        <p:spPr>
          <a:xfrm>
            <a:off x="2788920" y="1737360"/>
            <a:ext cx="1554480" cy="274320"/>
          </a:xfrm>
          <a:prstGeom prst="rect">
            <a:avLst/>
          </a:prstGeom>
          <a:solidFill>
            <a:srgbClr val="000000"/>
          </a:solidFill>
          <a:ln w="12700">
            <a:solidFill>
              <a:srgbClr val="FFFFFF"/>
            </a:solidFill>
            <a:prstDash val="solid"/>
          </a:ln>
        </p:spPr>
        <p:txBody>
          <a:bodyPr/>
          <a:lstStyle/>
          <a:p>
            <a:endParaRPr lang="en-US"/>
          </a:p>
        </p:txBody>
      </p:sp>
      <p:sp>
        <p:nvSpPr>
          <p:cNvPr id="11" name="Text 9"/>
          <p:cNvSpPr/>
          <p:nvPr/>
        </p:nvSpPr>
        <p:spPr>
          <a:xfrm>
            <a:off x="2788920" y="1737360"/>
            <a:ext cx="1554480" cy="274320"/>
          </a:xfrm>
          <a:prstGeom prst="rect">
            <a:avLst/>
          </a:prstGeom>
          <a:noFill/>
          <a:ln/>
        </p:spPr>
        <p:txBody>
          <a:bodyPr wrap="square" rtlCol="0" anchor="ctr"/>
          <a:lstStyle/>
          <a:p>
            <a:pPr marL="0" indent="0" algn="ctr">
              <a:buNone/>
            </a:pPr>
            <a:r>
              <a:rPr lang="en-US" sz="850" i="1" dirty="0">
                <a:solidFill>
                  <a:srgbClr val="FFFFFF"/>
                </a:solidFill>
              </a:rPr>
              <a:t>ICMP Source Quench</a:t>
            </a:r>
            <a:endParaRPr lang="en-US" sz="850" dirty="0"/>
          </a:p>
        </p:txBody>
      </p:sp>
      <p:sp>
        <p:nvSpPr>
          <p:cNvPr id="12" name="Text 10"/>
          <p:cNvSpPr/>
          <p:nvPr/>
        </p:nvSpPr>
        <p:spPr>
          <a:xfrm>
            <a:off x="365760" y="2130552"/>
            <a:ext cx="3977640" cy="749808"/>
          </a:xfrm>
          <a:prstGeom prst="rect">
            <a:avLst/>
          </a:prstGeom>
          <a:noFill/>
          <a:ln/>
        </p:spPr>
        <p:txBody>
          <a:bodyPr wrap="square" lIns="25400" tIns="25400" rIns="25400" bIns="25400" rtlCol="0" anchor="t"/>
          <a:lstStyle/>
          <a:p>
            <a:pPr marL="0" indent="0">
              <a:buNone/>
            </a:pPr>
            <a:r>
              <a:rPr lang="en-US" sz="1000" dirty="0">
                <a:solidFill>
                  <a:srgbClr val="404040"/>
                </a:solidFill>
              </a:rPr>
              <a:t>Los paquetes llegan demasiado rápido. El host destino o router envía Source Quench para que el emisor reduzca la velocidad.</a:t>
            </a:r>
            <a:endParaRPr lang="en-US" sz="1000" dirty="0"/>
          </a:p>
        </p:txBody>
      </p:sp>
      <p:sp>
        <p:nvSpPr>
          <p:cNvPr id="13" name="Shape 11"/>
          <p:cNvSpPr/>
          <p:nvPr/>
        </p:nvSpPr>
        <p:spPr>
          <a:xfrm>
            <a:off x="4709160" y="1691640"/>
            <a:ext cx="4160520" cy="1261872"/>
          </a:xfrm>
          <a:prstGeom prst="rect">
            <a:avLst/>
          </a:prstGeom>
          <a:solidFill>
            <a:srgbClr val="FFFFFF"/>
          </a:solidFill>
          <a:ln w="25400">
            <a:solidFill>
              <a:srgbClr val="C0392B"/>
            </a:solidFill>
            <a:prstDash val="solid"/>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4709160" y="1691640"/>
            <a:ext cx="4160520" cy="384048"/>
          </a:xfrm>
          <a:prstGeom prst="rect">
            <a:avLst/>
          </a:prstGeom>
          <a:solidFill>
            <a:srgbClr val="C0392B"/>
          </a:solidFill>
          <a:ln w="12700">
            <a:solidFill>
              <a:srgbClr val="C0392B"/>
            </a:solidFill>
            <a:prstDash val="solid"/>
          </a:ln>
        </p:spPr>
        <p:txBody>
          <a:bodyPr/>
          <a:lstStyle/>
          <a:p>
            <a:endParaRPr lang="en-US"/>
          </a:p>
        </p:txBody>
      </p:sp>
      <p:sp>
        <p:nvSpPr>
          <p:cNvPr id="15" name="Text 13"/>
          <p:cNvSpPr/>
          <p:nvPr/>
        </p:nvSpPr>
        <p:spPr>
          <a:xfrm>
            <a:off x="4782312" y="1737360"/>
            <a:ext cx="2377440" cy="292608"/>
          </a:xfrm>
          <a:prstGeom prst="rect">
            <a:avLst/>
          </a:prstGeom>
          <a:noFill/>
          <a:ln/>
        </p:spPr>
        <p:txBody>
          <a:bodyPr wrap="square" rtlCol="0" anchor="ctr"/>
          <a:lstStyle/>
          <a:p>
            <a:pPr marL="0" indent="0">
              <a:buNone/>
            </a:pPr>
            <a:r>
              <a:rPr lang="en-US" sz="1100" b="1" dirty="0">
                <a:solidFill>
                  <a:srgbClr val="FFFFFF"/>
                </a:solidFill>
              </a:rPr>
              <a:t>Destino Inalcanzable</a:t>
            </a:r>
            <a:endParaRPr lang="en-US" sz="1100" dirty="0"/>
          </a:p>
        </p:txBody>
      </p:sp>
      <p:sp>
        <p:nvSpPr>
          <p:cNvPr id="16" name="Shape 14"/>
          <p:cNvSpPr/>
          <p:nvPr/>
        </p:nvSpPr>
        <p:spPr>
          <a:xfrm>
            <a:off x="7223760" y="1737360"/>
            <a:ext cx="1554480" cy="274320"/>
          </a:xfrm>
          <a:prstGeom prst="rect">
            <a:avLst/>
          </a:prstGeom>
          <a:solidFill>
            <a:srgbClr val="000000"/>
          </a:solidFill>
          <a:ln w="12700">
            <a:solidFill>
              <a:srgbClr val="FFFFFF"/>
            </a:solidFill>
            <a:prstDash val="solid"/>
          </a:ln>
        </p:spPr>
        <p:txBody>
          <a:bodyPr/>
          <a:lstStyle/>
          <a:p>
            <a:endParaRPr lang="en-US"/>
          </a:p>
        </p:txBody>
      </p:sp>
      <p:sp>
        <p:nvSpPr>
          <p:cNvPr id="17" name="Text 15"/>
          <p:cNvSpPr/>
          <p:nvPr/>
        </p:nvSpPr>
        <p:spPr>
          <a:xfrm>
            <a:off x="7223760" y="1737360"/>
            <a:ext cx="1554480" cy="274320"/>
          </a:xfrm>
          <a:prstGeom prst="rect">
            <a:avLst/>
          </a:prstGeom>
          <a:noFill/>
          <a:ln/>
        </p:spPr>
        <p:txBody>
          <a:bodyPr wrap="square" rtlCol="0" anchor="ctr"/>
          <a:lstStyle/>
          <a:p>
            <a:pPr marL="0" indent="0" algn="ctr">
              <a:buNone/>
            </a:pPr>
            <a:r>
              <a:rPr lang="en-US" sz="850" i="1" dirty="0">
                <a:solidFill>
                  <a:srgbClr val="FFFFFF"/>
                </a:solidFill>
              </a:rPr>
              <a:t>Destination Unreachable</a:t>
            </a:r>
            <a:endParaRPr lang="en-US" sz="850" dirty="0"/>
          </a:p>
        </p:txBody>
      </p:sp>
      <p:sp>
        <p:nvSpPr>
          <p:cNvPr id="18" name="Text 16"/>
          <p:cNvSpPr/>
          <p:nvPr/>
        </p:nvSpPr>
        <p:spPr>
          <a:xfrm>
            <a:off x="4800600" y="2130552"/>
            <a:ext cx="3977640" cy="749808"/>
          </a:xfrm>
          <a:prstGeom prst="rect">
            <a:avLst/>
          </a:prstGeom>
          <a:noFill/>
          <a:ln/>
        </p:spPr>
        <p:txBody>
          <a:bodyPr wrap="square" lIns="25400" tIns="25400" rIns="25400" bIns="25400" rtlCol="0" anchor="t"/>
          <a:lstStyle/>
          <a:p>
            <a:pPr marL="0" indent="0">
              <a:buNone/>
            </a:pPr>
            <a:r>
              <a:rPr lang="en-US" sz="1000" dirty="0">
                <a:solidFill>
                  <a:srgbClr val="404040"/>
                </a:solidFill>
              </a:rPr>
              <a:t>El destino no puede alcanzarse. Si es red u host: lo envía un router intermedio. Si es puerto: lo envía el host destino.</a:t>
            </a:r>
            <a:endParaRPr lang="en-US" sz="1000" dirty="0"/>
          </a:p>
        </p:txBody>
      </p:sp>
      <p:sp>
        <p:nvSpPr>
          <p:cNvPr id="19" name="Shape 17"/>
          <p:cNvSpPr/>
          <p:nvPr/>
        </p:nvSpPr>
        <p:spPr>
          <a:xfrm>
            <a:off x="274320" y="3081528"/>
            <a:ext cx="4160520" cy="1261872"/>
          </a:xfrm>
          <a:prstGeom prst="rect">
            <a:avLst/>
          </a:prstGeom>
          <a:solidFill>
            <a:srgbClr val="FFFFFF"/>
          </a:solidFill>
          <a:ln w="25400">
            <a:solidFill>
              <a:srgbClr val="C06000"/>
            </a:solidFill>
            <a:prstDash val="solid"/>
          </a:ln>
          <a:effectLst>
            <a:outerShdw blurRad="50800" dist="25400" dir="8100000" algn="bl" rotWithShape="0">
              <a:srgbClr val="000000">
                <a:alpha val="10000"/>
              </a:srgbClr>
            </a:outerShdw>
          </a:effectLst>
        </p:spPr>
        <p:txBody>
          <a:bodyPr/>
          <a:lstStyle/>
          <a:p>
            <a:endParaRPr lang="en-US"/>
          </a:p>
        </p:txBody>
      </p:sp>
      <p:sp>
        <p:nvSpPr>
          <p:cNvPr id="20" name="Shape 18"/>
          <p:cNvSpPr/>
          <p:nvPr/>
        </p:nvSpPr>
        <p:spPr>
          <a:xfrm>
            <a:off x="274320" y="3081528"/>
            <a:ext cx="4160520" cy="384048"/>
          </a:xfrm>
          <a:prstGeom prst="rect">
            <a:avLst/>
          </a:prstGeom>
          <a:solidFill>
            <a:srgbClr val="C06000"/>
          </a:solidFill>
          <a:ln w="12700">
            <a:solidFill>
              <a:srgbClr val="C06000"/>
            </a:solidFill>
            <a:prstDash val="solid"/>
          </a:ln>
        </p:spPr>
        <p:txBody>
          <a:bodyPr/>
          <a:lstStyle/>
          <a:p>
            <a:endParaRPr lang="en-US"/>
          </a:p>
        </p:txBody>
      </p:sp>
      <p:sp>
        <p:nvSpPr>
          <p:cNvPr id="21" name="Text 19"/>
          <p:cNvSpPr/>
          <p:nvPr/>
        </p:nvSpPr>
        <p:spPr>
          <a:xfrm>
            <a:off x="347472" y="3127248"/>
            <a:ext cx="2377440" cy="292608"/>
          </a:xfrm>
          <a:prstGeom prst="rect">
            <a:avLst/>
          </a:prstGeom>
          <a:noFill/>
          <a:ln/>
        </p:spPr>
        <p:txBody>
          <a:bodyPr wrap="square" rtlCol="0" anchor="ctr"/>
          <a:lstStyle/>
          <a:p>
            <a:pPr marL="0" indent="0">
              <a:buNone/>
            </a:pPr>
            <a:r>
              <a:rPr lang="en-US" sz="1100" b="1" dirty="0">
                <a:solidFill>
                  <a:srgbClr val="FFFFFF"/>
                </a:solidFill>
              </a:rPr>
              <a:t>Redirección de Rutas</a:t>
            </a:r>
            <a:endParaRPr lang="en-US" sz="1100" dirty="0"/>
          </a:p>
        </p:txBody>
      </p:sp>
      <p:sp>
        <p:nvSpPr>
          <p:cNvPr id="22" name="Shape 20"/>
          <p:cNvSpPr/>
          <p:nvPr/>
        </p:nvSpPr>
        <p:spPr>
          <a:xfrm>
            <a:off x="2788920" y="3127248"/>
            <a:ext cx="1554480" cy="274320"/>
          </a:xfrm>
          <a:prstGeom prst="rect">
            <a:avLst/>
          </a:prstGeom>
          <a:solidFill>
            <a:srgbClr val="000000"/>
          </a:solidFill>
          <a:ln w="12700">
            <a:solidFill>
              <a:srgbClr val="FFFFFF"/>
            </a:solidFill>
            <a:prstDash val="solid"/>
          </a:ln>
        </p:spPr>
        <p:txBody>
          <a:bodyPr/>
          <a:lstStyle/>
          <a:p>
            <a:endParaRPr lang="en-US"/>
          </a:p>
        </p:txBody>
      </p:sp>
      <p:sp>
        <p:nvSpPr>
          <p:cNvPr id="23" name="Text 21"/>
          <p:cNvSpPr/>
          <p:nvPr/>
        </p:nvSpPr>
        <p:spPr>
          <a:xfrm>
            <a:off x="2788920" y="3127248"/>
            <a:ext cx="1554480" cy="274320"/>
          </a:xfrm>
          <a:prstGeom prst="rect">
            <a:avLst/>
          </a:prstGeom>
          <a:noFill/>
          <a:ln/>
        </p:spPr>
        <p:txBody>
          <a:bodyPr wrap="square" rtlCol="0" anchor="ctr"/>
          <a:lstStyle/>
          <a:p>
            <a:pPr marL="0" indent="0" algn="ctr">
              <a:buNone/>
            </a:pPr>
            <a:r>
              <a:rPr lang="en-US" sz="850" i="1" dirty="0">
                <a:solidFill>
                  <a:srgbClr val="FFFFFF"/>
                </a:solidFill>
              </a:rPr>
              <a:t>ICMP Redirect</a:t>
            </a:r>
            <a:endParaRPr lang="en-US" sz="850" dirty="0"/>
          </a:p>
        </p:txBody>
      </p:sp>
      <p:sp>
        <p:nvSpPr>
          <p:cNvPr id="24" name="Text 22"/>
          <p:cNvSpPr/>
          <p:nvPr/>
        </p:nvSpPr>
        <p:spPr>
          <a:xfrm>
            <a:off x="365760" y="3520440"/>
            <a:ext cx="3977640" cy="749808"/>
          </a:xfrm>
          <a:prstGeom prst="rect">
            <a:avLst/>
          </a:prstGeom>
          <a:noFill/>
          <a:ln/>
        </p:spPr>
        <p:txBody>
          <a:bodyPr wrap="square" lIns="25400" tIns="25400" rIns="25400" bIns="25400" rtlCol="0" anchor="t"/>
          <a:lstStyle/>
          <a:p>
            <a:pPr marL="0" indent="0">
              <a:buNone/>
            </a:pPr>
            <a:r>
              <a:rPr lang="en-US" sz="1000" dirty="0">
                <a:solidFill>
                  <a:srgbClr val="404040"/>
                </a:solidFill>
              </a:rPr>
              <a:t>Un router informa al host que use otro router mejor. Solo usable cuando el host origen está en la misma red.</a:t>
            </a:r>
            <a:endParaRPr lang="en-US" sz="1000" dirty="0"/>
          </a:p>
        </p:txBody>
      </p:sp>
      <p:sp>
        <p:nvSpPr>
          <p:cNvPr id="25" name="Shape 23"/>
          <p:cNvSpPr/>
          <p:nvPr/>
        </p:nvSpPr>
        <p:spPr>
          <a:xfrm>
            <a:off x="4709160" y="3081528"/>
            <a:ext cx="4160520" cy="1261872"/>
          </a:xfrm>
          <a:prstGeom prst="rect">
            <a:avLst/>
          </a:prstGeom>
          <a:solidFill>
            <a:srgbClr val="FFFFFF"/>
          </a:solidFill>
          <a:ln w="25400">
            <a:solidFill>
              <a:srgbClr val="217346"/>
            </a:solidFill>
            <a:prstDash val="solid"/>
          </a:ln>
          <a:effectLst>
            <a:outerShdw blurRad="50800" dist="25400" dir="8100000" algn="bl" rotWithShape="0">
              <a:srgbClr val="000000">
                <a:alpha val="10000"/>
              </a:srgbClr>
            </a:outerShdw>
          </a:effectLst>
        </p:spPr>
        <p:txBody>
          <a:bodyPr/>
          <a:lstStyle/>
          <a:p>
            <a:endParaRPr lang="en-US"/>
          </a:p>
        </p:txBody>
      </p:sp>
      <p:sp>
        <p:nvSpPr>
          <p:cNvPr id="26" name="Shape 24"/>
          <p:cNvSpPr/>
          <p:nvPr/>
        </p:nvSpPr>
        <p:spPr>
          <a:xfrm>
            <a:off x="4709160" y="3081528"/>
            <a:ext cx="4160520" cy="384048"/>
          </a:xfrm>
          <a:prstGeom prst="rect">
            <a:avLst/>
          </a:prstGeom>
          <a:solidFill>
            <a:srgbClr val="217346"/>
          </a:solidFill>
          <a:ln w="12700">
            <a:solidFill>
              <a:srgbClr val="217346"/>
            </a:solidFill>
            <a:prstDash val="solid"/>
          </a:ln>
        </p:spPr>
        <p:txBody>
          <a:bodyPr/>
          <a:lstStyle/>
          <a:p>
            <a:endParaRPr lang="en-US"/>
          </a:p>
        </p:txBody>
      </p:sp>
      <p:sp>
        <p:nvSpPr>
          <p:cNvPr id="27" name="Text 25"/>
          <p:cNvSpPr/>
          <p:nvPr/>
        </p:nvSpPr>
        <p:spPr>
          <a:xfrm>
            <a:off x="4782312" y="3127248"/>
            <a:ext cx="2377440" cy="292608"/>
          </a:xfrm>
          <a:prstGeom prst="rect">
            <a:avLst/>
          </a:prstGeom>
          <a:noFill/>
          <a:ln/>
        </p:spPr>
        <p:txBody>
          <a:bodyPr wrap="square" rtlCol="0" anchor="ctr"/>
          <a:lstStyle/>
          <a:p>
            <a:pPr marL="0" indent="0">
              <a:buNone/>
            </a:pPr>
            <a:r>
              <a:rPr lang="en-US" sz="1100" b="1" dirty="0">
                <a:solidFill>
                  <a:srgbClr val="FFFFFF"/>
                </a:solidFill>
              </a:rPr>
              <a:t>Chequeo de Host Remotos</a:t>
            </a:r>
            <a:endParaRPr lang="en-US" sz="1100" dirty="0"/>
          </a:p>
        </p:txBody>
      </p:sp>
      <p:sp>
        <p:nvSpPr>
          <p:cNvPr id="28" name="Shape 26"/>
          <p:cNvSpPr/>
          <p:nvPr/>
        </p:nvSpPr>
        <p:spPr>
          <a:xfrm>
            <a:off x="7223760" y="3127248"/>
            <a:ext cx="1554480" cy="274320"/>
          </a:xfrm>
          <a:prstGeom prst="rect">
            <a:avLst/>
          </a:prstGeom>
          <a:solidFill>
            <a:srgbClr val="000000"/>
          </a:solidFill>
          <a:ln w="12700">
            <a:solidFill>
              <a:srgbClr val="FFFFFF"/>
            </a:solidFill>
            <a:prstDash val="solid"/>
          </a:ln>
        </p:spPr>
        <p:txBody>
          <a:bodyPr/>
          <a:lstStyle/>
          <a:p>
            <a:endParaRPr lang="en-US"/>
          </a:p>
        </p:txBody>
      </p:sp>
      <p:sp>
        <p:nvSpPr>
          <p:cNvPr id="29" name="Text 27"/>
          <p:cNvSpPr/>
          <p:nvPr/>
        </p:nvSpPr>
        <p:spPr>
          <a:xfrm>
            <a:off x="7223760" y="3127248"/>
            <a:ext cx="1554480" cy="274320"/>
          </a:xfrm>
          <a:prstGeom prst="rect">
            <a:avLst/>
          </a:prstGeom>
          <a:noFill/>
          <a:ln/>
        </p:spPr>
        <p:txBody>
          <a:bodyPr wrap="square" rtlCol="0" anchor="ctr"/>
          <a:lstStyle/>
          <a:p>
            <a:pPr marL="0" indent="0" algn="ctr">
              <a:buNone/>
            </a:pPr>
            <a:r>
              <a:rPr lang="en-US" sz="850" i="1" dirty="0">
                <a:solidFill>
                  <a:srgbClr val="FFFFFF"/>
                </a:solidFill>
              </a:rPr>
              <a:t>ICMP Echo (PING)</a:t>
            </a:r>
            <a:endParaRPr lang="en-US" sz="850" dirty="0"/>
          </a:p>
        </p:txBody>
      </p:sp>
      <p:sp>
        <p:nvSpPr>
          <p:cNvPr id="30" name="Text 28"/>
          <p:cNvSpPr/>
          <p:nvPr/>
        </p:nvSpPr>
        <p:spPr>
          <a:xfrm>
            <a:off x="4800600" y="3520440"/>
            <a:ext cx="3977640" cy="749808"/>
          </a:xfrm>
          <a:prstGeom prst="rect">
            <a:avLst/>
          </a:prstGeom>
          <a:noFill/>
          <a:ln/>
        </p:spPr>
        <p:txBody>
          <a:bodyPr wrap="square" lIns="25400" tIns="25400" rIns="25400" bIns="25400" rtlCol="0" anchor="t"/>
          <a:lstStyle/>
          <a:p>
            <a:pPr marL="0" indent="0">
              <a:buNone/>
            </a:pPr>
            <a:r>
              <a:rPr lang="en-US" sz="1000" dirty="0">
                <a:solidFill>
                  <a:srgbClr val="404040"/>
                </a:solidFill>
              </a:rPr>
              <a:t>Un host envía Echo Message para verificar si un sistema remoto está operacional. El destino devuelve el mismo paquete.</a:t>
            </a:r>
            <a:endParaRPr lang="en-US" sz="1000" dirty="0"/>
          </a:p>
        </p:txBody>
      </p:sp>
      <p:sp>
        <p:nvSpPr>
          <p:cNvPr id="31" name="Shape 29"/>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2" name="Text 30"/>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PING usa ICMP Echo. Cuando hacemos 'ping 8.8.8.8', enviamos un ICMP Echo Request; Google responde con ICMP Echo Reply. TRACERT también usa ICMP para mostrar el camino salto a salto.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ICMP en la Práctica — PING y TRACERT</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Herramientas de diagnóstico basadas en ICMP</a:t>
            </a:r>
            <a:endParaRPr lang="en-US" sz="1300" dirty="0"/>
          </a:p>
        </p:txBody>
      </p:sp>
      <p:sp>
        <p:nvSpPr>
          <p:cNvPr id="6" name="Text 4"/>
          <p:cNvSpPr/>
          <p:nvPr/>
        </p:nvSpPr>
        <p:spPr>
          <a:xfrm>
            <a:off x="274320" y="1188720"/>
            <a:ext cx="4206240" cy="320040"/>
          </a:xfrm>
          <a:prstGeom prst="rect">
            <a:avLst/>
          </a:prstGeom>
          <a:noFill/>
          <a:ln/>
        </p:spPr>
        <p:txBody>
          <a:bodyPr wrap="square" rtlCol="0" anchor="ctr"/>
          <a:lstStyle/>
          <a:p>
            <a:pPr marL="0" indent="0">
              <a:buNone/>
            </a:pPr>
            <a:r>
              <a:rPr lang="en-US" sz="1200" b="1" dirty="0">
                <a:solidFill>
                  <a:srgbClr val="5AA8D8"/>
                </a:solidFill>
              </a:rPr>
              <a:t>PING — Verificar conectividad</a:t>
            </a:r>
            <a:endParaRPr lang="en-US" sz="1200" dirty="0"/>
          </a:p>
        </p:txBody>
      </p:sp>
      <p:sp>
        <p:nvSpPr>
          <p:cNvPr id="7" name="Shape 5"/>
          <p:cNvSpPr/>
          <p:nvPr/>
        </p:nvSpPr>
        <p:spPr>
          <a:xfrm>
            <a:off x="274320" y="1536192"/>
            <a:ext cx="4206240" cy="1371600"/>
          </a:xfrm>
          <a:prstGeom prst="rect">
            <a:avLst/>
          </a:prstGeom>
          <a:solidFill>
            <a:srgbClr val="1E2126"/>
          </a:solidFill>
          <a:ln w="12700">
            <a:solidFill>
              <a:srgbClr val="217346"/>
            </a:solidFill>
            <a:prstDash val="solid"/>
          </a:ln>
        </p:spPr>
        <p:txBody>
          <a:bodyPr/>
          <a:lstStyle/>
          <a:p>
            <a:endParaRPr lang="en-US"/>
          </a:p>
        </p:txBody>
      </p:sp>
      <p:sp>
        <p:nvSpPr>
          <p:cNvPr id="8" name="Text 6"/>
          <p:cNvSpPr/>
          <p:nvPr/>
        </p:nvSpPr>
        <p:spPr>
          <a:xfrm>
            <a:off x="384048" y="1600200"/>
            <a:ext cx="3986784" cy="1234440"/>
          </a:xfrm>
          <a:prstGeom prst="rect">
            <a:avLst/>
          </a:prstGeom>
          <a:noFill/>
          <a:ln/>
        </p:spPr>
        <p:txBody>
          <a:bodyPr wrap="square" lIns="50800" tIns="50800" rIns="50800" bIns="50800" rtlCol="0" anchor="ctr"/>
          <a:lstStyle/>
          <a:p>
            <a:pPr marL="0" indent="0">
              <a:buNone/>
            </a:pPr>
            <a:r>
              <a:rPr lang="en-US" sz="1050" dirty="0">
                <a:solidFill>
                  <a:srgbClr val="5AA8D8"/>
                </a:solidFill>
              </a:rPr>
              <a:t>ping 8.8.8.8
</a:t>
            </a:r>
            <a:r>
              <a:rPr lang="en-US" sz="950" dirty="0">
                <a:solidFill>
                  <a:srgbClr val="FFFFFF"/>
                </a:solidFill>
              </a:rPr>
              <a:t>Haciendo ping a 8.8.8.8 con 32 bytes de datos:
</a:t>
            </a:r>
            <a:r>
              <a:rPr lang="en-US" sz="950" dirty="0">
                <a:solidFill>
                  <a:srgbClr val="90EE90"/>
                </a:solidFill>
              </a:rPr>
              <a:t>Respuesta desde 8.8.8.8: bytes=32 tiempo=15ms TTL=118
Respuesta desde 8.8.8.8: bytes=32 tiempo=14ms TTL=118
Estadísticas: enviados=4, recibidos=4, perdidos=0</a:t>
            </a:r>
            <a:endParaRPr lang="en-US" sz="1050" dirty="0"/>
          </a:p>
        </p:txBody>
      </p:sp>
      <p:sp>
        <p:nvSpPr>
          <p:cNvPr id="9" name="Text 7"/>
          <p:cNvSpPr/>
          <p:nvPr/>
        </p:nvSpPr>
        <p:spPr>
          <a:xfrm>
            <a:off x="274320" y="3017520"/>
            <a:ext cx="4206240" cy="320040"/>
          </a:xfrm>
          <a:prstGeom prst="rect">
            <a:avLst/>
          </a:prstGeom>
          <a:noFill/>
          <a:ln/>
        </p:spPr>
        <p:txBody>
          <a:bodyPr wrap="square" rtlCol="0" anchor="ctr"/>
          <a:lstStyle/>
          <a:p>
            <a:pPr marL="0" indent="0">
              <a:buNone/>
            </a:pPr>
            <a:r>
              <a:rPr lang="en-US" sz="1200" b="1" dirty="0">
                <a:solidFill>
                  <a:srgbClr val="C06000"/>
                </a:solidFill>
              </a:rPr>
              <a:t>TRACERT / TRACEROUTE — Ver el camino</a:t>
            </a:r>
            <a:endParaRPr lang="en-US" sz="1200" dirty="0"/>
          </a:p>
        </p:txBody>
      </p:sp>
      <p:sp>
        <p:nvSpPr>
          <p:cNvPr id="10" name="Shape 8"/>
          <p:cNvSpPr/>
          <p:nvPr/>
        </p:nvSpPr>
        <p:spPr>
          <a:xfrm>
            <a:off x="274320" y="3364992"/>
            <a:ext cx="4206240" cy="1051560"/>
          </a:xfrm>
          <a:prstGeom prst="rect">
            <a:avLst/>
          </a:prstGeom>
          <a:solidFill>
            <a:srgbClr val="1E2126"/>
          </a:solidFill>
          <a:ln w="12700">
            <a:solidFill>
              <a:srgbClr val="C06000"/>
            </a:solidFill>
            <a:prstDash val="solid"/>
          </a:ln>
        </p:spPr>
        <p:txBody>
          <a:bodyPr/>
          <a:lstStyle/>
          <a:p>
            <a:endParaRPr lang="en-US"/>
          </a:p>
        </p:txBody>
      </p:sp>
      <p:sp>
        <p:nvSpPr>
          <p:cNvPr id="11" name="Text 9"/>
          <p:cNvSpPr/>
          <p:nvPr/>
        </p:nvSpPr>
        <p:spPr>
          <a:xfrm>
            <a:off x="384048" y="3429000"/>
            <a:ext cx="3986784" cy="914400"/>
          </a:xfrm>
          <a:prstGeom prst="rect">
            <a:avLst/>
          </a:prstGeom>
          <a:noFill/>
          <a:ln/>
        </p:spPr>
        <p:txBody>
          <a:bodyPr wrap="square" lIns="50800" tIns="50800" rIns="50800" bIns="50800" rtlCol="0" anchor="ctr"/>
          <a:lstStyle/>
          <a:p>
            <a:pPr marL="0" indent="0">
              <a:buNone/>
            </a:pPr>
            <a:r>
              <a:rPr lang="en-US" sz="1000" dirty="0">
                <a:solidFill>
                  <a:srgbClr val="5AA8D8"/>
                </a:solidFill>
              </a:rPr>
              <a:t>tracert www.google.com
</a:t>
            </a:r>
            <a:r>
              <a:rPr lang="en-US" sz="950" dirty="0">
                <a:solidFill>
                  <a:srgbClr val="FFA040"/>
                </a:solidFill>
              </a:rPr>
              <a:t>1  192.168.1.1  1ms  (Router local)
2  10.0.0.1    8ms  (ISP)
</a:t>
            </a:r>
            <a:r>
              <a:rPr lang="en-US" sz="950" dirty="0">
                <a:solidFill>
                  <a:srgbClr val="808080"/>
                </a:solidFill>
              </a:rPr>
              <a:t>3  ...
</a:t>
            </a:r>
            <a:r>
              <a:rPr lang="en-US" sz="950" dirty="0">
                <a:solidFill>
                  <a:srgbClr val="90EE90"/>
                </a:solidFill>
              </a:rPr>
              <a:t>n  216.58.x.x  15ms (Google)</a:t>
            </a:r>
            <a:endParaRPr lang="en-US" sz="1000" dirty="0"/>
          </a:p>
        </p:txBody>
      </p:sp>
      <p:sp>
        <p:nvSpPr>
          <p:cNvPr id="12" name="Shape 10"/>
          <p:cNvSpPr/>
          <p:nvPr/>
        </p:nvSpPr>
        <p:spPr>
          <a:xfrm>
            <a:off x="4754880" y="1170432"/>
            <a:ext cx="4114800" cy="3291840"/>
          </a:xfrm>
          <a:prstGeom prst="rect">
            <a:avLst/>
          </a:prstGeom>
          <a:solidFill>
            <a:srgbClr val="1A2530"/>
          </a:solidFill>
          <a:ln w="12700">
            <a:solidFill>
              <a:srgbClr val="5AA8D8"/>
            </a:solidFill>
            <a:prstDash val="solid"/>
          </a:ln>
        </p:spPr>
        <p:txBody>
          <a:bodyPr/>
          <a:lstStyle/>
          <a:p>
            <a:endParaRPr lang="en-US"/>
          </a:p>
        </p:txBody>
      </p:sp>
      <p:sp>
        <p:nvSpPr>
          <p:cNvPr id="13" name="Text 11"/>
          <p:cNvSpPr/>
          <p:nvPr/>
        </p:nvSpPr>
        <p:spPr>
          <a:xfrm>
            <a:off x="4846320" y="1216152"/>
            <a:ext cx="3931920" cy="320040"/>
          </a:xfrm>
          <a:prstGeom prst="rect">
            <a:avLst/>
          </a:prstGeom>
          <a:noFill/>
          <a:ln/>
        </p:spPr>
        <p:txBody>
          <a:bodyPr wrap="square" rtlCol="0" anchor="ctr"/>
          <a:lstStyle/>
          <a:p>
            <a:pPr marL="0" indent="0">
              <a:buNone/>
            </a:pPr>
            <a:r>
              <a:rPr lang="en-US" sz="1200" b="1" dirty="0">
                <a:solidFill>
                  <a:srgbClr val="5AA8D8"/>
                </a:solidFill>
              </a:rPr>
              <a:t>¿Qué información nos dan?</a:t>
            </a:r>
            <a:endParaRPr lang="en-US" sz="1200" dirty="0"/>
          </a:p>
        </p:txBody>
      </p:sp>
      <p:sp>
        <p:nvSpPr>
          <p:cNvPr id="14" name="Text 12"/>
          <p:cNvSpPr/>
          <p:nvPr/>
        </p:nvSpPr>
        <p:spPr>
          <a:xfrm>
            <a:off x="4846320" y="1600200"/>
            <a:ext cx="3931920" cy="274320"/>
          </a:xfrm>
          <a:prstGeom prst="rect">
            <a:avLst/>
          </a:prstGeom>
          <a:noFill/>
          <a:ln/>
        </p:spPr>
        <p:txBody>
          <a:bodyPr wrap="square" rtlCol="0" anchor="ctr"/>
          <a:lstStyle/>
          <a:p>
            <a:pPr marL="0" indent="0">
              <a:buNone/>
            </a:pPr>
            <a:r>
              <a:rPr lang="en-US" sz="1100" b="1" dirty="0">
                <a:solidFill>
                  <a:srgbClr val="5AA8D8"/>
                </a:solidFill>
              </a:rPr>
              <a:t>PING nos dice:</a:t>
            </a:r>
            <a:endParaRPr lang="en-US" sz="1100" dirty="0"/>
          </a:p>
        </p:txBody>
      </p:sp>
      <p:sp>
        <p:nvSpPr>
          <p:cNvPr id="15" name="Text 13"/>
          <p:cNvSpPr/>
          <p:nvPr/>
        </p:nvSpPr>
        <p:spPr>
          <a:xfrm>
            <a:off x="4892040" y="1892808"/>
            <a:ext cx="3840480" cy="274320"/>
          </a:xfrm>
          <a:prstGeom prst="rect">
            <a:avLst/>
          </a:prstGeom>
          <a:noFill/>
          <a:ln/>
        </p:spPr>
        <p:txBody>
          <a:bodyPr wrap="square" rtlCol="0" anchor="ctr"/>
          <a:lstStyle/>
          <a:p>
            <a:pPr marL="0" indent="0">
              <a:buNone/>
            </a:pPr>
            <a:r>
              <a:rPr lang="en-US" sz="1000" dirty="0">
                <a:solidFill>
                  <a:srgbClr val="FFFFFF"/>
                </a:solidFill>
              </a:rPr>
              <a:t>▸  Si el host remoto está activo (operacional).</a:t>
            </a:r>
            <a:endParaRPr lang="en-US" sz="1000" dirty="0"/>
          </a:p>
        </p:txBody>
      </p:sp>
      <p:sp>
        <p:nvSpPr>
          <p:cNvPr id="16" name="Text 14"/>
          <p:cNvSpPr/>
          <p:nvPr/>
        </p:nvSpPr>
        <p:spPr>
          <a:xfrm>
            <a:off x="4892040" y="2185416"/>
            <a:ext cx="3840480" cy="274320"/>
          </a:xfrm>
          <a:prstGeom prst="rect">
            <a:avLst/>
          </a:prstGeom>
          <a:noFill/>
          <a:ln/>
        </p:spPr>
        <p:txBody>
          <a:bodyPr wrap="square" rtlCol="0" anchor="ctr"/>
          <a:lstStyle/>
          <a:p>
            <a:pPr marL="0" indent="0">
              <a:buNone/>
            </a:pPr>
            <a:r>
              <a:rPr lang="en-US" sz="1000" dirty="0">
                <a:solidFill>
                  <a:srgbClr val="FFFFFF"/>
                </a:solidFill>
              </a:rPr>
              <a:t>▸  El tiempo de ida y vuelta (RTT) en ms.</a:t>
            </a:r>
            <a:endParaRPr lang="en-US" sz="1000" dirty="0"/>
          </a:p>
        </p:txBody>
      </p:sp>
      <p:sp>
        <p:nvSpPr>
          <p:cNvPr id="17" name="Text 15"/>
          <p:cNvSpPr/>
          <p:nvPr/>
        </p:nvSpPr>
        <p:spPr>
          <a:xfrm>
            <a:off x="4892040" y="2478024"/>
            <a:ext cx="3840480" cy="274320"/>
          </a:xfrm>
          <a:prstGeom prst="rect">
            <a:avLst/>
          </a:prstGeom>
          <a:noFill/>
          <a:ln/>
        </p:spPr>
        <p:txBody>
          <a:bodyPr wrap="square" rtlCol="0" anchor="ctr"/>
          <a:lstStyle/>
          <a:p>
            <a:pPr marL="0" indent="0">
              <a:buNone/>
            </a:pPr>
            <a:r>
              <a:rPr lang="en-US" sz="1000" dirty="0">
                <a:solidFill>
                  <a:srgbClr val="FFFFFF"/>
                </a:solidFill>
              </a:rPr>
              <a:t>▸  El porcentaje de paquetes perdidos.</a:t>
            </a:r>
            <a:endParaRPr lang="en-US" sz="1000" dirty="0"/>
          </a:p>
        </p:txBody>
      </p:sp>
      <p:sp>
        <p:nvSpPr>
          <p:cNvPr id="18" name="Text 16"/>
          <p:cNvSpPr/>
          <p:nvPr/>
        </p:nvSpPr>
        <p:spPr>
          <a:xfrm>
            <a:off x="4892040" y="2770632"/>
            <a:ext cx="3840480" cy="274320"/>
          </a:xfrm>
          <a:prstGeom prst="rect">
            <a:avLst/>
          </a:prstGeom>
          <a:noFill/>
          <a:ln/>
        </p:spPr>
        <p:txBody>
          <a:bodyPr wrap="square" rtlCol="0" anchor="ctr"/>
          <a:lstStyle/>
          <a:p>
            <a:pPr marL="0" indent="0">
              <a:buNone/>
            </a:pPr>
            <a:r>
              <a:rPr lang="en-US" sz="1000" dirty="0">
                <a:solidFill>
                  <a:srgbClr val="FFFFFF"/>
                </a:solidFill>
              </a:rPr>
              <a:t>▸  El TTL (Time to Live) restante.</a:t>
            </a:r>
            <a:endParaRPr lang="en-US" sz="1000" dirty="0"/>
          </a:p>
        </p:txBody>
      </p:sp>
      <p:sp>
        <p:nvSpPr>
          <p:cNvPr id="19" name="Text 17"/>
          <p:cNvSpPr/>
          <p:nvPr/>
        </p:nvSpPr>
        <p:spPr>
          <a:xfrm>
            <a:off x="4846320" y="3154680"/>
            <a:ext cx="3931920" cy="274320"/>
          </a:xfrm>
          <a:prstGeom prst="rect">
            <a:avLst/>
          </a:prstGeom>
          <a:noFill/>
          <a:ln/>
        </p:spPr>
        <p:txBody>
          <a:bodyPr wrap="square" rtlCol="0" anchor="ctr"/>
          <a:lstStyle/>
          <a:p>
            <a:pPr marL="0" indent="0">
              <a:buNone/>
            </a:pPr>
            <a:r>
              <a:rPr lang="en-US" sz="1100" b="1" dirty="0">
                <a:solidFill>
                  <a:srgbClr val="5AA8D8"/>
                </a:solidFill>
              </a:rPr>
              <a:t>TRACERT nos dice:</a:t>
            </a:r>
            <a:endParaRPr lang="en-US" sz="1100" dirty="0"/>
          </a:p>
        </p:txBody>
      </p:sp>
      <p:sp>
        <p:nvSpPr>
          <p:cNvPr id="20" name="Text 18"/>
          <p:cNvSpPr/>
          <p:nvPr/>
        </p:nvSpPr>
        <p:spPr>
          <a:xfrm>
            <a:off x="4892040" y="3447288"/>
            <a:ext cx="3840480" cy="274320"/>
          </a:xfrm>
          <a:prstGeom prst="rect">
            <a:avLst/>
          </a:prstGeom>
          <a:noFill/>
          <a:ln/>
        </p:spPr>
        <p:txBody>
          <a:bodyPr wrap="square" rtlCol="0" anchor="ctr"/>
          <a:lstStyle/>
          <a:p>
            <a:pPr marL="0" indent="0">
              <a:buNone/>
            </a:pPr>
            <a:r>
              <a:rPr lang="en-US" sz="1000" dirty="0">
                <a:solidFill>
                  <a:srgbClr val="FFFFFF"/>
                </a:solidFill>
              </a:rPr>
              <a:t>▸  La ruta completa salto a salto.</a:t>
            </a:r>
            <a:endParaRPr lang="en-US" sz="1000" dirty="0"/>
          </a:p>
        </p:txBody>
      </p:sp>
      <p:sp>
        <p:nvSpPr>
          <p:cNvPr id="21" name="Text 19"/>
          <p:cNvSpPr/>
          <p:nvPr/>
        </p:nvSpPr>
        <p:spPr>
          <a:xfrm>
            <a:off x="4892040" y="3739896"/>
            <a:ext cx="3840480" cy="274320"/>
          </a:xfrm>
          <a:prstGeom prst="rect">
            <a:avLst/>
          </a:prstGeom>
          <a:noFill/>
          <a:ln/>
        </p:spPr>
        <p:txBody>
          <a:bodyPr wrap="square" rtlCol="0" anchor="ctr"/>
          <a:lstStyle/>
          <a:p>
            <a:pPr marL="0" indent="0">
              <a:buNone/>
            </a:pPr>
            <a:r>
              <a:rPr lang="en-US" sz="1000" dirty="0">
                <a:solidFill>
                  <a:srgbClr val="FFFFFF"/>
                </a:solidFill>
              </a:rPr>
              <a:t>▸  La IP de cada router en el camino.</a:t>
            </a:r>
            <a:endParaRPr lang="en-US" sz="1000" dirty="0"/>
          </a:p>
        </p:txBody>
      </p:sp>
      <p:sp>
        <p:nvSpPr>
          <p:cNvPr id="22" name="Text 20"/>
          <p:cNvSpPr/>
          <p:nvPr/>
        </p:nvSpPr>
        <p:spPr>
          <a:xfrm>
            <a:off x="4892040" y="4032504"/>
            <a:ext cx="3840480" cy="274320"/>
          </a:xfrm>
          <a:prstGeom prst="rect">
            <a:avLst/>
          </a:prstGeom>
          <a:noFill/>
          <a:ln/>
        </p:spPr>
        <p:txBody>
          <a:bodyPr wrap="square" rtlCol="0" anchor="ctr"/>
          <a:lstStyle/>
          <a:p>
            <a:pPr marL="0" indent="0">
              <a:buNone/>
            </a:pPr>
            <a:r>
              <a:rPr lang="en-US" sz="1000" dirty="0">
                <a:solidFill>
                  <a:srgbClr val="FFFFFF"/>
                </a:solidFill>
              </a:rPr>
              <a:t>▸  El tiempo en cada salto.</a:t>
            </a:r>
            <a:endParaRPr lang="en-US" sz="1000" dirty="0"/>
          </a:p>
        </p:txBody>
      </p:sp>
      <p:sp>
        <p:nvSpPr>
          <p:cNvPr id="23" name="Text 21"/>
          <p:cNvSpPr/>
          <p:nvPr/>
        </p:nvSpPr>
        <p:spPr>
          <a:xfrm>
            <a:off x="4892040" y="4325112"/>
            <a:ext cx="3840480" cy="274320"/>
          </a:xfrm>
          <a:prstGeom prst="rect">
            <a:avLst/>
          </a:prstGeom>
          <a:noFill/>
          <a:ln/>
        </p:spPr>
        <p:txBody>
          <a:bodyPr wrap="square" rtlCol="0" anchor="ctr"/>
          <a:lstStyle/>
          <a:p>
            <a:pPr marL="0" indent="0">
              <a:buNone/>
            </a:pPr>
            <a:r>
              <a:rPr lang="en-US" sz="1000" dirty="0">
                <a:solidFill>
                  <a:srgbClr val="FFFFFF"/>
                </a:solidFill>
              </a:rPr>
              <a:t>▸  Dónde ocurre la congestión o el fallo.</a:t>
            </a:r>
            <a:endParaRPr lang="en-US" sz="1000" dirty="0"/>
          </a:p>
        </p:txBody>
      </p:sp>
      <p:sp>
        <p:nvSpPr>
          <p:cNvPr id="24" name="Shape 22"/>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5" name="Text 23"/>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PING y TRACERT son las dos herramientas de diagnóstico más usadas en redes. En celulares hay apps equivalentes (Network Analyzer, Fing). TRACERT usa el campo TTL del encabezado IP para rastrear los saltos.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Armado de una LAN — Paso a Paso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De la red física a la red lógica: NIC, TCP/IP, recursos compartidos</a:t>
            </a:r>
            <a:endParaRPr lang="en-US" sz="1300" dirty="0"/>
          </a:p>
        </p:txBody>
      </p:sp>
      <p:sp>
        <p:nvSpPr>
          <p:cNvPr id="6" name="Text 4"/>
          <p:cNvSpPr/>
          <p:nvPr/>
        </p:nvSpPr>
        <p:spPr>
          <a:xfrm>
            <a:off x="274320" y="1170432"/>
            <a:ext cx="8412480" cy="320040"/>
          </a:xfrm>
          <a:prstGeom prst="rect">
            <a:avLst/>
          </a:prstGeom>
          <a:noFill/>
          <a:ln/>
        </p:spPr>
        <p:txBody>
          <a:bodyPr wrap="square" rtlCol="0" anchor="ctr"/>
          <a:lstStyle/>
          <a:p>
            <a:pPr marL="0" indent="0">
              <a:buNone/>
            </a:pPr>
            <a:r>
              <a:rPr lang="en-US" sz="1200" b="1" dirty="0">
                <a:solidFill>
                  <a:srgbClr val="2D3030"/>
                </a:solidFill>
              </a:rPr>
              <a:t>Para construir una LAN se necesitan 5 pasos:</a:t>
            </a:r>
            <a:endParaRPr lang="en-US" sz="1200" dirty="0"/>
          </a:p>
        </p:txBody>
      </p:sp>
      <p:sp>
        <p:nvSpPr>
          <p:cNvPr id="7" name="Shape 5"/>
          <p:cNvSpPr/>
          <p:nvPr/>
        </p:nvSpPr>
        <p:spPr>
          <a:xfrm>
            <a:off x="274320" y="1572768"/>
            <a:ext cx="4160520" cy="868680"/>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8" name="Shape 6"/>
          <p:cNvSpPr/>
          <p:nvPr/>
        </p:nvSpPr>
        <p:spPr>
          <a:xfrm>
            <a:off x="274320" y="1572768"/>
            <a:ext cx="411480" cy="86868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274320" y="1755648"/>
            <a:ext cx="411480" cy="502920"/>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10" name="Text 8"/>
          <p:cNvSpPr/>
          <p:nvPr/>
        </p:nvSpPr>
        <p:spPr>
          <a:xfrm>
            <a:off x="749808" y="1618488"/>
            <a:ext cx="3611880" cy="274320"/>
          </a:xfrm>
          <a:prstGeom prst="rect">
            <a:avLst/>
          </a:prstGeom>
          <a:noFill/>
          <a:ln/>
        </p:spPr>
        <p:txBody>
          <a:bodyPr wrap="square" rtlCol="0" anchor="ctr"/>
          <a:lstStyle/>
          <a:p>
            <a:pPr marL="0" indent="0">
              <a:buNone/>
            </a:pPr>
            <a:r>
              <a:rPr lang="en-US" sz="1100" b="1" dirty="0">
                <a:solidFill>
                  <a:srgbClr val="2D3030"/>
                </a:solidFill>
              </a:rPr>
              <a:t>Instalar las Placas de Red (NIC)</a:t>
            </a:r>
            <a:endParaRPr lang="en-US" sz="1100" dirty="0"/>
          </a:p>
        </p:txBody>
      </p:sp>
      <p:sp>
        <p:nvSpPr>
          <p:cNvPr id="11" name="Text 9"/>
          <p:cNvSpPr/>
          <p:nvPr/>
        </p:nvSpPr>
        <p:spPr>
          <a:xfrm>
            <a:off x="749808" y="1901952"/>
            <a:ext cx="3611880" cy="475488"/>
          </a:xfrm>
          <a:prstGeom prst="rect">
            <a:avLst/>
          </a:prstGeom>
          <a:noFill/>
          <a:ln/>
        </p:spPr>
        <p:txBody>
          <a:bodyPr wrap="square" rtlCol="0" anchor="t"/>
          <a:lstStyle/>
          <a:p>
            <a:pPr marL="0" indent="0">
              <a:buNone/>
            </a:pPr>
            <a:r>
              <a:rPr lang="en-US" sz="950" dirty="0">
                <a:solidFill>
                  <a:srgbClr val="404040"/>
                </a:solidFill>
              </a:rPr>
              <a:t>Física: instalar la NIC en el slot PCI. Lógica: instalar drivers, verificar en Administrador de Dispositivos (sin indicador amarillo = sin conflicto).</a:t>
            </a:r>
            <a:endParaRPr lang="en-US" sz="950" dirty="0"/>
          </a:p>
        </p:txBody>
      </p:sp>
      <p:sp>
        <p:nvSpPr>
          <p:cNvPr id="12" name="Shape 10"/>
          <p:cNvSpPr/>
          <p:nvPr/>
        </p:nvSpPr>
        <p:spPr>
          <a:xfrm>
            <a:off x="274320" y="2578608"/>
            <a:ext cx="4160520" cy="868680"/>
          </a:xfrm>
          <a:prstGeom prst="rect">
            <a:avLst/>
          </a:prstGeom>
          <a:solidFill>
            <a:srgbClr val="FFFFFF"/>
          </a:solidFill>
          <a:ln w="19050">
            <a:solidFill>
              <a:srgbClr val="3A7BAA"/>
            </a:solidFill>
            <a:prstDash val="solid"/>
          </a:ln>
          <a:effectLst>
            <a:outerShdw blurRad="38100" dist="25400" dir="8100000" algn="bl" rotWithShape="0">
              <a:srgbClr val="000000">
                <a:alpha val="10000"/>
              </a:srgbClr>
            </a:outerShdw>
          </a:effectLst>
        </p:spPr>
        <p:txBody>
          <a:bodyPr/>
          <a:lstStyle/>
          <a:p>
            <a:endParaRPr lang="en-US"/>
          </a:p>
        </p:txBody>
      </p:sp>
      <p:sp>
        <p:nvSpPr>
          <p:cNvPr id="13" name="Shape 11"/>
          <p:cNvSpPr/>
          <p:nvPr/>
        </p:nvSpPr>
        <p:spPr>
          <a:xfrm>
            <a:off x="274320" y="2578608"/>
            <a:ext cx="411480" cy="868680"/>
          </a:xfrm>
          <a:prstGeom prst="rect">
            <a:avLst/>
          </a:prstGeom>
          <a:solidFill>
            <a:srgbClr val="3A7BAA"/>
          </a:solidFill>
          <a:ln w="12700">
            <a:solidFill>
              <a:srgbClr val="3A7BAA"/>
            </a:solidFill>
            <a:prstDash val="solid"/>
          </a:ln>
        </p:spPr>
        <p:txBody>
          <a:bodyPr/>
          <a:lstStyle/>
          <a:p>
            <a:endParaRPr lang="en-US"/>
          </a:p>
        </p:txBody>
      </p:sp>
      <p:sp>
        <p:nvSpPr>
          <p:cNvPr id="14" name="Text 12"/>
          <p:cNvSpPr/>
          <p:nvPr/>
        </p:nvSpPr>
        <p:spPr>
          <a:xfrm>
            <a:off x="274320" y="2761488"/>
            <a:ext cx="411480" cy="502920"/>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5" name="Text 13"/>
          <p:cNvSpPr/>
          <p:nvPr/>
        </p:nvSpPr>
        <p:spPr>
          <a:xfrm>
            <a:off x="749808" y="2624328"/>
            <a:ext cx="3611880" cy="274320"/>
          </a:xfrm>
          <a:prstGeom prst="rect">
            <a:avLst/>
          </a:prstGeom>
          <a:noFill/>
          <a:ln/>
        </p:spPr>
        <p:txBody>
          <a:bodyPr wrap="square" rtlCol="0" anchor="ctr"/>
          <a:lstStyle/>
          <a:p>
            <a:pPr marL="0" indent="0">
              <a:buNone/>
            </a:pPr>
            <a:r>
              <a:rPr lang="en-US" sz="1100" b="1" dirty="0">
                <a:solidFill>
                  <a:srgbClr val="2D3030"/>
                </a:solidFill>
              </a:rPr>
              <a:t>Asignar nombres y grupos</a:t>
            </a:r>
            <a:endParaRPr lang="en-US" sz="1100" dirty="0"/>
          </a:p>
        </p:txBody>
      </p:sp>
      <p:sp>
        <p:nvSpPr>
          <p:cNvPr id="16" name="Text 14"/>
          <p:cNvSpPr/>
          <p:nvPr/>
        </p:nvSpPr>
        <p:spPr>
          <a:xfrm>
            <a:off x="749808" y="2907792"/>
            <a:ext cx="3611880" cy="475488"/>
          </a:xfrm>
          <a:prstGeom prst="rect">
            <a:avLst/>
          </a:prstGeom>
          <a:noFill/>
          <a:ln/>
        </p:spPr>
        <p:txBody>
          <a:bodyPr wrap="square" rtlCol="0" anchor="t"/>
          <a:lstStyle/>
          <a:p>
            <a:pPr marL="0" indent="0">
              <a:buNone/>
            </a:pPr>
            <a:r>
              <a:rPr lang="en-US" sz="950" dirty="0">
                <a:solidFill>
                  <a:srgbClr val="404040"/>
                </a:solidFill>
              </a:rPr>
              <a:t>Panel de Control &gt; Sistema &gt; Nombre del Equipo. El nombre identifica la PC frente a los demás usuarios. Todos deben estar en el mismo Grupo de Trabajo.</a:t>
            </a:r>
            <a:endParaRPr lang="en-US" sz="950" dirty="0"/>
          </a:p>
        </p:txBody>
      </p:sp>
      <p:sp>
        <p:nvSpPr>
          <p:cNvPr id="17" name="Shape 15"/>
          <p:cNvSpPr/>
          <p:nvPr/>
        </p:nvSpPr>
        <p:spPr>
          <a:xfrm>
            <a:off x="274320" y="3584448"/>
            <a:ext cx="4160520" cy="868680"/>
          </a:xfrm>
          <a:prstGeom prst="rect">
            <a:avLst/>
          </a:prstGeom>
          <a:solidFill>
            <a:srgbClr val="FFFFFF"/>
          </a:solidFill>
          <a:ln w="19050">
            <a:solidFill>
              <a:srgbClr val="5A8A3A"/>
            </a:solidFill>
            <a:prstDash val="solid"/>
          </a:ln>
          <a:effectLst>
            <a:outerShdw blurRad="38100" dist="25400" dir="8100000" algn="bl" rotWithShape="0">
              <a:srgbClr val="000000">
                <a:alpha val="10000"/>
              </a:srgbClr>
            </a:outerShdw>
          </a:effectLst>
        </p:spPr>
        <p:txBody>
          <a:bodyPr/>
          <a:lstStyle/>
          <a:p>
            <a:endParaRPr lang="en-US"/>
          </a:p>
        </p:txBody>
      </p:sp>
      <p:sp>
        <p:nvSpPr>
          <p:cNvPr id="18" name="Shape 16"/>
          <p:cNvSpPr/>
          <p:nvPr/>
        </p:nvSpPr>
        <p:spPr>
          <a:xfrm>
            <a:off x="274320" y="3584448"/>
            <a:ext cx="411480" cy="868680"/>
          </a:xfrm>
          <a:prstGeom prst="rect">
            <a:avLst/>
          </a:prstGeom>
          <a:solidFill>
            <a:srgbClr val="5A8A3A"/>
          </a:solidFill>
          <a:ln w="12700">
            <a:solidFill>
              <a:srgbClr val="5A8A3A"/>
            </a:solidFill>
            <a:prstDash val="solid"/>
          </a:ln>
        </p:spPr>
        <p:txBody>
          <a:bodyPr/>
          <a:lstStyle/>
          <a:p>
            <a:endParaRPr lang="en-US"/>
          </a:p>
        </p:txBody>
      </p:sp>
      <p:sp>
        <p:nvSpPr>
          <p:cNvPr id="19" name="Text 17"/>
          <p:cNvSpPr/>
          <p:nvPr/>
        </p:nvSpPr>
        <p:spPr>
          <a:xfrm>
            <a:off x="274320" y="3767328"/>
            <a:ext cx="411480" cy="502920"/>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20" name="Text 18"/>
          <p:cNvSpPr/>
          <p:nvPr/>
        </p:nvSpPr>
        <p:spPr>
          <a:xfrm>
            <a:off x="749808" y="3630168"/>
            <a:ext cx="3611880" cy="274320"/>
          </a:xfrm>
          <a:prstGeom prst="rect">
            <a:avLst/>
          </a:prstGeom>
          <a:noFill/>
          <a:ln/>
        </p:spPr>
        <p:txBody>
          <a:bodyPr wrap="square" rtlCol="0" anchor="ctr"/>
          <a:lstStyle/>
          <a:p>
            <a:pPr marL="0" indent="0">
              <a:buNone/>
            </a:pPr>
            <a:r>
              <a:rPr lang="en-US" sz="1100" b="1" dirty="0">
                <a:solidFill>
                  <a:srgbClr val="2D3030"/>
                </a:solidFill>
              </a:rPr>
              <a:t>Definir recursos compartidos</a:t>
            </a:r>
            <a:endParaRPr lang="en-US" sz="1100" dirty="0"/>
          </a:p>
        </p:txBody>
      </p:sp>
      <p:sp>
        <p:nvSpPr>
          <p:cNvPr id="21" name="Text 19"/>
          <p:cNvSpPr/>
          <p:nvPr/>
        </p:nvSpPr>
        <p:spPr>
          <a:xfrm>
            <a:off x="749808" y="3913632"/>
            <a:ext cx="3611880" cy="475488"/>
          </a:xfrm>
          <a:prstGeom prst="rect">
            <a:avLst/>
          </a:prstGeom>
          <a:noFill/>
          <a:ln/>
        </p:spPr>
        <p:txBody>
          <a:bodyPr wrap="square" rtlCol="0" anchor="t"/>
          <a:lstStyle/>
          <a:p>
            <a:pPr marL="0" indent="0">
              <a:buNone/>
            </a:pPr>
            <a:r>
              <a:rPr lang="en-US" sz="950" dirty="0">
                <a:solidFill>
                  <a:srgbClr val="404040"/>
                </a:solidFill>
              </a:rPr>
              <a:t>Botón derecho sobre cualquier carpeta o dispositivo → Compartir. Definir permisos de acceso (lectura, escritura, control total).</a:t>
            </a:r>
            <a:endParaRPr lang="en-US" sz="950" dirty="0"/>
          </a:p>
        </p:txBody>
      </p:sp>
      <p:sp>
        <p:nvSpPr>
          <p:cNvPr id="22" name="Shape 20"/>
          <p:cNvSpPr/>
          <p:nvPr/>
        </p:nvSpPr>
        <p:spPr>
          <a:xfrm>
            <a:off x="4754880" y="1572768"/>
            <a:ext cx="4160520" cy="868680"/>
          </a:xfrm>
          <a:prstGeom prst="rect">
            <a:avLst/>
          </a:prstGeom>
          <a:solidFill>
            <a:srgbClr val="FFFFFF"/>
          </a:solidFill>
          <a:ln w="19050">
            <a:solidFill>
              <a:srgbClr val="7A5A9A"/>
            </a:solidFill>
            <a:prstDash val="solid"/>
          </a:ln>
          <a:effectLst>
            <a:outerShdw blurRad="38100" dist="25400" dir="8100000" algn="bl" rotWithShape="0">
              <a:srgbClr val="000000">
                <a:alpha val="10000"/>
              </a:srgbClr>
            </a:outerShdw>
          </a:effectLst>
        </p:spPr>
        <p:txBody>
          <a:bodyPr/>
          <a:lstStyle/>
          <a:p>
            <a:endParaRPr lang="en-US"/>
          </a:p>
        </p:txBody>
      </p:sp>
      <p:sp>
        <p:nvSpPr>
          <p:cNvPr id="23" name="Shape 21"/>
          <p:cNvSpPr/>
          <p:nvPr/>
        </p:nvSpPr>
        <p:spPr>
          <a:xfrm>
            <a:off x="4754880" y="1572768"/>
            <a:ext cx="411480" cy="868680"/>
          </a:xfrm>
          <a:prstGeom prst="rect">
            <a:avLst/>
          </a:prstGeom>
          <a:solidFill>
            <a:srgbClr val="7A5A9A"/>
          </a:solidFill>
          <a:ln w="12700">
            <a:solidFill>
              <a:srgbClr val="7A5A9A"/>
            </a:solidFill>
            <a:prstDash val="solid"/>
          </a:ln>
        </p:spPr>
        <p:txBody>
          <a:bodyPr/>
          <a:lstStyle/>
          <a:p>
            <a:endParaRPr lang="en-US"/>
          </a:p>
        </p:txBody>
      </p:sp>
      <p:sp>
        <p:nvSpPr>
          <p:cNvPr id="24" name="Text 22"/>
          <p:cNvSpPr/>
          <p:nvPr/>
        </p:nvSpPr>
        <p:spPr>
          <a:xfrm>
            <a:off x="4754880" y="1755648"/>
            <a:ext cx="411480" cy="502920"/>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25" name="Text 23"/>
          <p:cNvSpPr/>
          <p:nvPr/>
        </p:nvSpPr>
        <p:spPr>
          <a:xfrm>
            <a:off x="5230368" y="1618488"/>
            <a:ext cx="3611880" cy="274320"/>
          </a:xfrm>
          <a:prstGeom prst="rect">
            <a:avLst/>
          </a:prstGeom>
          <a:noFill/>
          <a:ln/>
        </p:spPr>
        <p:txBody>
          <a:bodyPr wrap="square" rtlCol="0" anchor="ctr"/>
          <a:lstStyle/>
          <a:p>
            <a:pPr marL="0" indent="0">
              <a:buNone/>
            </a:pPr>
            <a:r>
              <a:rPr lang="en-US" sz="1100" b="1" dirty="0">
                <a:solidFill>
                  <a:srgbClr val="2D3030"/>
                </a:solidFill>
              </a:rPr>
              <a:t>Instalar el cableado</a:t>
            </a:r>
            <a:endParaRPr lang="en-US" sz="1100" dirty="0"/>
          </a:p>
        </p:txBody>
      </p:sp>
      <p:sp>
        <p:nvSpPr>
          <p:cNvPr id="26" name="Text 24"/>
          <p:cNvSpPr/>
          <p:nvPr/>
        </p:nvSpPr>
        <p:spPr>
          <a:xfrm>
            <a:off x="5230368" y="1901952"/>
            <a:ext cx="3611880" cy="475488"/>
          </a:xfrm>
          <a:prstGeom prst="rect">
            <a:avLst/>
          </a:prstGeom>
          <a:noFill/>
          <a:ln/>
        </p:spPr>
        <p:txBody>
          <a:bodyPr wrap="square" rtlCol="0" anchor="t"/>
          <a:lstStyle/>
          <a:p>
            <a:pPr marL="0" indent="0">
              <a:buNone/>
            </a:pPr>
            <a:r>
              <a:rPr lang="en-US" sz="950" dirty="0">
                <a:solidFill>
                  <a:srgbClr val="404040"/>
                </a:solidFill>
              </a:rPr>
              <a:t>Cables directos (PC a switch) o cruzados (PC a PC). Estándar T568A o T568B. Analizador de cables (LAN-tester) para verificar.</a:t>
            </a:r>
            <a:endParaRPr lang="en-US" sz="950" dirty="0"/>
          </a:p>
        </p:txBody>
      </p:sp>
      <p:sp>
        <p:nvSpPr>
          <p:cNvPr id="27" name="Shape 25"/>
          <p:cNvSpPr/>
          <p:nvPr/>
        </p:nvSpPr>
        <p:spPr>
          <a:xfrm>
            <a:off x="4754880" y="2578608"/>
            <a:ext cx="4160520" cy="868680"/>
          </a:xfrm>
          <a:prstGeom prst="rect">
            <a:avLst/>
          </a:prstGeom>
          <a:solidFill>
            <a:srgbClr val="FFFFFF"/>
          </a:solidFill>
          <a:ln w="19050">
            <a:solidFill>
              <a:srgbClr val="C06000"/>
            </a:solidFill>
            <a:prstDash val="solid"/>
          </a:ln>
          <a:effectLst>
            <a:outerShdw blurRad="38100" dist="25400" dir="8100000" algn="bl" rotWithShape="0">
              <a:srgbClr val="000000">
                <a:alpha val="10000"/>
              </a:srgbClr>
            </a:outerShdw>
          </a:effectLst>
        </p:spPr>
        <p:txBody>
          <a:bodyPr/>
          <a:lstStyle/>
          <a:p>
            <a:endParaRPr lang="en-US"/>
          </a:p>
        </p:txBody>
      </p:sp>
      <p:sp>
        <p:nvSpPr>
          <p:cNvPr id="28" name="Shape 26"/>
          <p:cNvSpPr/>
          <p:nvPr/>
        </p:nvSpPr>
        <p:spPr>
          <a:xfrm>
            <a:off x="4754880" y="2578608"/>
            <a:ext cx="411480" cy="868680"/>
          </a:xfrm>
          <a:prstGeom prst="rect">
            <a:avLst/>
          </a:prstGeom>
          <a:solidFill>
            <a:srgbClr val="C06000"/>
          </a:solidFill>
          <a:ln w="12700">
            <a:solidFill>
              <a:srgbClr val="C06000"/>
            </a:solidFill>
            <a:prstDash val="solid"/>
          </a:ln>
        </p:spPr>
        <p:txBody>
          <a:bodyPr/>
          <a:lstStyle/>
          <a:p>
            <a:endParaRPr lang="en-US"/>
          </a:p>
        </p:txBody>
      </p:sp>
      <p:sp>
        <p:nvSpPr>
          <p:cNvPr id="29" name="Text 27"/>
          <p:cNvSpPr/>
          <p:nvPr/>
        </p:nvSpPr>
        <p:spPr>
          <a:xfrm>
            <a:off x="4754880" y="2761488"/>
            <a:ext cx="411480" cy="502920"/>
          </a:xfrm>
          <a:prstGeom prst="rect">
            <a:avLst/>
          </a:prstGeom>
          <a:noFill/>
          <a:ln/>
        </p:spPr>
        <p:txBody>
          <a:bodyPr wrap="square" rtlCol="0" anchor="ctr"/>
          <a:lstStyle/>
          <a:p>
            <a:pPr marL="0" indent="0" algn="ctr">
              <a:buNone/>
            </a:pPr>
            <a:r>
              <a:rPr lang="en-US" sz="1500" b="1" dirty="0">
                <a:solidFill>
                  <a:srgbClr val="FFFFFF"/>
                </a:solidFill>
              </a:rPr>
              <a:t>5</a:t>
            </a:r>
            <a:endParaRPr lang="en-US" sz="1500" dirty="0"/>
          </a:p>
        </p:txBody>
      </p:sp>
      <p:sp>
        <p:nvSpPr>
          <p:cNvPr id="30" name="Text 28"/>
          <p:cNvSpPr/>
          <p:nvPr/>
        </p:nvSpPr>
        <p:spPr>
          <a:xfrm>
            <a:off x="5230368" y="2624328"/>
            <a:ext cx="3611880" cy="274320"/>
          </a:xfrm>
          <a:prstGeom prst="rect">
            <a:avLst/>
          </a:prstGeom>
          <a:noFill/>
          <a:ln/>
        </p:spPr>
        <p:txBody>
          <a:bodyPr wrap="square" rtlCol="0" anchor="ctr"/>
          <a:lstStyle/>
          <a:p>
            <a:pPr marL="0" indent="0">
              <a:buNone/>
            </a:pPr>
            <a:r>
              <a:rPr lang="en-US" sz="1100" b="1" dirty="0">
                <a:solidFill>
                  <a:srgbClr val="2D3030"/>
                </a:solidFill>
              </a:rPr>
              <a:t>Instalar el concentrador</a:t>
            </a:r>
            <a:endParaRPr lang="en-US" sz="1100" dirty="0"/>
          </a:p>
        </p:txBody>
      </p:sp>
      <p:sp>
        <p:nvSpPr>
          <p:cNvPr id="31" name="Text 29"/>
          <p:cNvSpPr/>
          <p:nvPr/>
        </p:nvSpPr>
        <p:spPr>
          <a:xfrm>
            <a:off x="5230368" y="2907792"/>
            <a:ext cx="3611880" cy="475488"/>
          </a:xfrm>
          <a:prstGeom prst="rect">
            <a:avLst/>
          </a:prstGeom>
          <a:noFill/>
          <a:ln/>
        </p:spPr>
        <p:txBody>
          <a:bodyPr wrap="square" rtlCol="0" anchor="t"/>
          <a:lstStyle/>
          <a:p>
            <a:pPr marL="0" indent="0">
              <a:buNone/>
            </a:pPr>
            <a:r>
              <a:rPr lang="en-US" sz="950" dirty="0">
                <a:solidFill>
                  <a:srgbClr val="404040"/>
                </a:solidFill>
              </a:rPr>
              <a:t>El switch es más eficiente que el hub (envía cada trama solo al destino). Conectar todas las PCs al switch con cables directos.</a:t>
            </a:r>
            <a:endParaRPr lang="en-US" sz="950" dirty="0"/>
          </a:p>
        </p:txBody>
      </p:sp>
      <p:sp>
        <p:nvSpPr>
          <p:cNvPr id="32" name="Shape 30"/>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3" name="Text 31"/>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Este es el ejercicio resuelto del H5. Con </a:t>
            </a:r>
            <a:r>
              <a:rPr lang="en-US" sz="900" i="1" dirty="0" err="1">
                <a:solidFill>
                  <a:srgbClr val="6BB8E8"/>
                </a:solidFill>
              </a:rPr>
              <a:t>esto</a:t>
            </a:r>
            <a:r>
              <a:rPr lang="en-US" sz="900" i="1" dirty="0">
                <a:solidFill>
                  <a:srgbClr val="6BB8E8"/>
                </a:solidFill>
              </a:rPr>
              <a:t> se debe poder armar una LAN completa siguiendo estos 5 pasos.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Configurar TCP/IP en Windows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Asignar el protocolo de comunicación a la placa de red</a:t>
            </a:r>
            <a:endParaRPr lang="en-US" sz="1300" dirty="0"/>
          </a:p>
        </p:txBody>
      </p:sp>
      <p:sp>
        <p:nvSpPr>
          <p:cNvPr id="6" name="Shape 4"/>
          <p:cNvSpPr/>
          <p:nvPr/>
        </p:nvSpPr>
        <p:spPr>
          <a:xfrm>
            <a:off x="274320" y="1143000"/>
            <a:ext cx="4389120" cy="338328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365760" y="1188720"/>
            <a:ext cx="4206240" cy="292608"/>
          </a:xfrm>
          <a:prstGeom prst="rect">
            <a:avLst/>
          </a:prstGeom>
          <a:noFill/>
          <a:ln/>
        </p:spPr>
        <p:txBody>
          <a:bodyPr wrap="square" rtlCol="0" anchor="ctr"/>
          <a:lstStyle/>
          <a:p>
            <a:pPr marL="0" indent="0">
              <a:buNone/>
            </a:pPr>
            <a:r>
              <a:rPr lang="en-US" sz="1100" b="1" dirty="0">
                <a:solidFill>
                  <a:srgbClr val="5AA8D8"/>
                </a:solidFill>
              </a:rPr>
              <a:t>Ruta de acceso en Windows:</a:t>
            </a:r>
            <a:endParaRPr lang="en-US" sz="1100" dirty="0"/>
          </a:p>
        </p:txBody>
      </p:sp>
      <p:sp>
        <p:nvSpPr>
          <p:cNvPr id="8" name="Shape 6"/>
          <p:cNvSpPr/>
          <p:nvPr/>
        </p:nvSpPr>
        <p:spPr>
          <a:xfrm>
            <a:off x="365760" y="1536192"/>
            <a:ext cx="256032" cy="27432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365760" y="1536192"/>
            <a:ext cx="256032" cy="274320"/>
          </a:xfrm>
          <a:prstGeom prst="rect">
            <a:avLst/>
          </a:prstGeom>
          <a:noFill/>
          <a:ln/>
        </p:spPr>
        <p:txBody>
          <a:bodyPr wrap="square" rtlCol="0" anchor="ctr"/>
          <a:lstStyle/>
          <a:p>
            <a:pPr marL="0" indent="0" algn="ctr">
              <a:buNone/>
            </a:pPr>
            <a:r>
              <a:rPr lang="en-US" sz="850" b="1" dirty="0">
                <a:solidFill>
                  <a:srgbClr val="FFFFFF"/>
                </a:solidFill>
              </a:rPr>
              <a:t>1</a:t>
            </a:r>
            <a:endParaRPr lang="en-US" sz="850" dirty="0"/>
          </a:p>
        </p:txBody>
      </p:sp>
      <p:sp>
        <p:nvSpPr>
          <p:cNvPr id="10" name="Text 8"/>
          <p:cNvSpPr/>
          <p:nvPr/>
        </p:nvSpPr>
        <p:spPr>
          <a:xfrm>
            <a:off x="658368" y="1536192"/>
            <a:ext cx="3913632" cy="274320"/>
          </a:xfrm>
          <a:prstGeom prst="rect">
            <a:avLst/>
          </a:prstGeom>
          <a:noFill/>
          <a:ln/>
        </p:spPr>
        <p:txBody>
          <a:bodyPr wrap="square" rtlCol="0" anchor="ctr"/>
          <a:lstStyle/>
          <a:p>
            <a:pPr marL="0" indent="0">
              <a:buNone/>
            </a:pPr>
            <a:r>
              <a:rPr lang="en-US" sz="950" dirty="0">
                <a:solidFill>
                  <a:srgbClr val="FFFFFF"/>
                </a:solidFill>
              </a:rPr>
              <a:t>Panel de Control</a:t>
            </a:r>
            <a:endParaRPr lang="en-US" sz="950" dirty="0"/>
          </a:p>
        </p:txBody>
      </p:sp>
      <p:sp>
        <p:nvSpPr>
          <p:cNvPr id="11" name="Shape 9"/>
          <p:cNvSpPr/>
          <p:nvPr/>
        </p:nvSpPr>
        <p:spPr>
          <a:xfrm>
            <a:off x="365760" y="1883664"/>
            <a:ext cx="256032" cy="274320"/>
          </a:xfrm>
          <a:prstGeom prst="rect">
            <a:avLst/>
          </a:prstGeom>
          <a:solidFill>
            <a:srgbClr val="5AA8D8"/>
          </a:solidFill>
          <a:ln w="12700">
            <a:solidFill>
              <a:srgbClr val="5AA8D8"/>
            </a:solidFill>
            <a:prstDash val="solid"/>
          </a:ln>
        </p:spPr>
        <p:txBody>
          <a:bodyPr/>
          <a:lstStyle/>
          <a:p>
            <a:endParaRPr lang="en-US"/>
          </a:p>
        </p:txBody>
      </p:sp>
      <p:sp>
        <p:nvSpPr>
          <p:cNvPr id="12" name="Text 10"/>
          <p:cNvSpPr/>
          <p:nvPr/>
        </p:nvSpPr>
        <p:spPr>
          <a:xfrm>
            <a:off x="365760" y="1883664"/>
            <a:ext cx="256032" cy="274320"/>
          </a:xfrm>
          <a:prstGeom prst="rect">
            <a:avLst/>
          </a:prstGeom>
          <a:noFill/>
          <a:ln/>
        </p:spPr>
        <p:txBody>
          <a:bodyPr wrap="square" rtlCol="0" anchor="ctr"/>
          <a:lstStyle/>
          <a:p>
            <a:pPr marL="0" indent="0" algn="ctr">
              <a:buNone/>
            </a:pPr>
            <a:r>
              <a:rPr lang="en-US" sz="850" b="1" dirty="0">
                <a:solidFill>
                  <a:srgbClr val="FFFFFF"/>
                </a:solidFill>
              </a:rPr>
              <a:t>2</a:t>
            </a:r>
            <a:endParaRPr lang="en-US" sz="850" dirty="0"/>
          </a:p>
        </p:txBody>
      </p:sp>
      <p:sp>
        <p:nvSpPr>
          <p:cNvPr id="13" name="Text 11"/>
          <p:cNvSpPr/>
          <p:nvPr/>
        </p:nvSpPr>
        <p:spPr>
          <a:xfrm>
            <a:off x="658368" y="1883664"/>
            <a:ext cx="3913632" cy="274320"/>
          </a:xfrm>
          <a:prstGeom prst="rect">
            <a:avLst/>
          </a:prstGeom>
          <a:noFill/>
          <a:ln/>
        </p:spPr>
        <p:txBody>
          <a:bodyPr wrap="square" rtlCol="0" anchor="ctr"/>
          <a:lstStyle/>
          <a:p>
            <a:pPr marL="0" indent="0">
              <a:buNone/>
            </a:pPr>
            <a:r>
              <a:rPr lang="en-US" sz="950" dirty="0">
                <a:solidFill>
                  <a:srgbClr val="FFFFFF"/>
                </a:solidFill>
              </a:rPr>
              <a:t>Redes e Internet</a:t>
            </a:r>
            <a:endParaRPr lang="en-US" sz="950" dirty="0"/>
          </a:p>
        </p:txBody>
      </p:sp>
      <p:sp>
        <p:nvSpPr>
          <p:cNvPr id="14" name="Shape 12"/>
          <p:cNvSpPr/>
          <p:nvPr/>
        </p:nvSpPr>
        <p:spPr>
          <a:xfrm>
            <a:off x="365760" y="2231136"/>
            <a:ext cx="256032" cy="274320"/>
          </a:xfrm>
          <a:prstGeom prst="rect">
            <a:avLst/>
          </a:prstGeom>
          <a:solidFill>
            <a:srgbClr val="5AA8D8"/>
          </a:solidFill>
          <a:ln w="12700">
            <a:solidFill>
              <a:srgbClr val="5AA8D8"/>
            </a:solidFill>
            <a:prstDash val="solid"/>
          </a:ln>
        </p:spPr>
        <p:txBody>
          <a:bodyPr/>
          <a:lstStyle/>
          <a:p>
            <a:endParaRPr lang="en-US"/>
          </a:p>
        </p:txBody>
      </p:sp>
      <p:sp>
        <p:nvSpPr>
          <p:cNvPr id="15" name="Text 13"/>
          <p:cNvSpPr/>
          <p:nvPr/>
        </p:nvSpPr>
        <p:spPr>
          <a:xfrm>
            <a:off x="365760" y="2231136"/>
            <a:ext cx="256032" cy="274320"/>
          </a:xfrm>
          <a:prstGeom prst="rect">
            <a:avLst/>
          </a:prstGeom>
          <a:noFill/>
          <a:ln/>
        </p:spPr>
        <p:txBody>
          <a:bodyPr wrap="square" rtlCol="0" anchor="ctr"/>
          <a:lstStyle/>
          <a:p>
            <a:pPr marL="0" indent="0" algn="ctr">
              <a:buNone/>
            </a:pPr>
            <a:r>
              <a:rPr lang="en-US" sz="850" b="1" dirty="0">
                <a:solidFill>
                  <a:srgbClr val="FFFFFF"/>
                </a:solidFill>
              </a:rPr>
              <a:t>3</a:t>
            </a:r>
            <a:endParaRPr lang="en-US" sz="850" dirty="0"/>
          </a:p>
        </p:txBody>
      </p:sp>
      <p:sp>
        <p:nvSpPr>
          <p:cNvPr id="16" name="Text 14"/>
          <p:cNvSpPr/>
          <p:nvPr/>
        </p:nvSpPr>
        <p:spPr>
          <a:xfrm>
            <a:off x="658368" y="2231136"/>
            <a:ext cx="3913632" cy="274320"/>
          </a:xfrm>
          <a:prstGeom prst="rect">
            <a:avLst/>
          </a:prstGeom>
          <a:noFill/>
          <a:ln/>
        </p:spPr>
        <p:txBody>
          <a:bodyPr wrap="square" rtlCol="0" anchor="ctr"/>
          <a:lstStyle/>
          <a:p>
            <a:pPr marL="0" indent="0">
              <a:buNone/>
            </a:pPr>
            <a:r>
              <a:rPr lang="en-US" sz="950" dirty="0">
                <a:solidFill>
                  <a:srgbClr val="FFFFFF"/>
                </a:solidFill>
              </a:rPr>
              <a:t>Conexiones de Red</a:t>
            </a:r>
            <a:endParaRPr lang="en-US" sz="950" dirty="0"/>
          </a:p>
        </p:txBody>
      </p:sp>
      <p:sp>
        <p:nvSpPr>
          <p:cNvPr id="17" name="Shape 15"/>
          <p:cNvSpPr/>
          <p:nvPr/>
        </p:nvSpPr>
        <p:spPr>
          <a:xfrm>
            <a:off x="365760" y="2578608"/>
            <a:ext cx="256032" cy="274320"/>
          </a:xfrm>
          <a:prstGeom prst="rect">
            <a:avLst/>
          </a:prstGeom>
          <a:solidFill>
            <a:srgbClr val="5AA8D8"/>
          </a:solidFill>
          <a:ln w="12700">
            <a:solidFill>
              <a:srgbClr val="5AA8D8"/>
            </a:solidFill>
            <a:prstDash val="solid"/>
          </a:ln>
        </p:spPr>
        <p:txBody>
          <a:bodyPr/>
          <a:lstStyle/>
          <a:p>
            <a:endParaRPr lang="en-US"/>
          </a:p>
        </p:txBody>
      </p:sp>
      <p:sp>
        <p:nvSpPr>
          <p:cNvPr id="18" name="Text 16"/>
          <p:cNvSpPr/>
          <p:nvPr/>
        </p:nvSpPr>
        <p:spPr>
          <a:xfrm>
            <a:off x="365760" y="2578608"/>
            <a:ext cx="256032" cy="274320"/>
          </a:xfrm>
          <a:prstGeom prst="rect">
            <a:avLst/>
          </a:prstGeom>
          <a:noFill/>
          <a:ln/>
        </p:spPr>
        <p:txBody>
          <a:bodyPr wrap="square" rtlCol="0" anchor="ctr"/>
          <a:lstStyle/>
          <a:p>
            <a:pPr marL="0" indent="0" algn="ctr">
              <a:buNone/>
            </a:pPr>
            <a:r>
              <a:rPr lang="en-US" sz="850" b="1" dirty="0">
                <a:solidFill>
                  <a:srgbClr val="FFFFFF"/>
                </a:solidFill>
              </a:rPr>
              <a:t>4</a:t>
            </a:r>
            <a:endParaRPr lang="en-US" sz="850" dirty="0"/>
          </a:p>
        </p:txBody>
      </p:sp>
      <p:sp>
        <p:nvSpPr>
          <p:cNvPr id="19" name="Text 17"/>
          <p:cNvSpPr/>
          <p:nvPr/>
        </p:nvSpPr>
        <p:spPr>
          <a:xfrm>
            <a:off x="658368" y="2578608"/>
            <a:ext cx="3913632" cy="274320"/>
          </a:xfrm>
          <a:prstGeom prst="rect">
            <a:avLst/>
          </a:prstGeom>
          <a:noFill/>
          <a:ln/>
        </p:spPr>
        <p:txBody>
          <a:bodyPr wrap="square" rtlCol="0" anchor="ctr"/>
          <a:lstStyle/>
          <a:p>
            <a:pPr marL="0" indent="0">
              <a:buNone/>
            </a:pPr>
            <a:r>
              <a:rPr lang="en-US" sz="950" dirty="0">
                <a:solidFill>
                  <a:srgbClr val="FFFFFF"/>
                </a:solidFill>
              </a:rPr>
              <a:t>Centro de Redes y Recursos Compartidos</a:t>
            </a:r>
            <a:endParaRPr lang="en-US" sz="950" dirty="0"/>
          </a:p>
        </p:txBody>
      </p:sp>
      <p:sp>
        <p:nvSpPr>
          <p:cNvPr id="20" name="Shape 18"/>
          <p:cNvSpPr/>
          <p:nvPr/>
        </p:nvSpPr>
        <p:spPr>
          <a:xfrm>
            <a:off x="365760" y="2926080"/>
            <a:ext cx="256032" cy="274320"/>
          </a:xfrm>
          <a:prstGeom prst="rect">
            <a:avLst/>
          </a:prstGeom>
          <a:solidFill>
            <a:srgbClr val="5AA8D8"/>
          </a:solidFill>
          <a:ln w="12700">
            <a:solidFill>
              <a:srgbClr val="5AA8D8"/>
            </a:solidFill>
            <a:prstDash val="solid"/>
          </a:ln>
        </p:spPr>
        <p:txBody>
          <a:bodyPr/>
          <a:lstStyle/>
          <a:p>
            <a:endParaRPr lang="en-US"/>
          </a:p>
        </p:txBody>
      </p:sp>
      <p:sp>
        <p:nvSpPr>
          <p:cNvPr id="21" name="Text 19"/>
          <p:cNvSpPr/>
          <p:nvPr/>
        </p:nvSpPr>
        <p:spPr>
          <a:xfrm>
            <a:off x="365760" y="2926080"/>
            <a:ext cx="256032" cy="274320"/>
          </a:xfrm>
          <a:prstGeom prst="rect">
            <a:avLst/>
          </a:prstGeom>
          <a:noFill/>
          <a:ln/>
        </p:spPr>
        <p:txBody>
          <a:bodyPr wrap="square" rtlCol="0" anchor="ctr"/>
          <a:lstStyle/>
          <a:p>
            <a:pPr marL="0" indent="0" algn="ctr">
              <a:buNone/>
            </a:pPr>
            <a:r>
              <a:rPr lang="en-US" sz="850" b="1" dirty="0">
                <a:solidFill>
                  <a:srgbClr val="FFFFFF"/>
                </a:solidFill>
              </a:rPr>
              <a:t>5</a:t>
            </a:r>
            <a:endParaRPr lang="en-US" sz="850" dirty="0"/>
          </a:p>
        </p:txBody>
      </p:sp>
      <p:sp>
        <p:nvSpPr>
          <p:cNvPr id="22" name="Text 20"/>
          <p:cNvSpPr/>
          <p:nvPr/>
        </p:nvSpPr>
        <p:spPr>
          <a:xfrm>
            <a:off x="658368" y="2926080"/>
            <a:ext cx="3913632" cy="274320"/>
          </a:xfrm>
          <a:prstGeom prst="rect">
            <a:avLst/>
          </a:prstGeom>
          <a:noFill/>
          <a:ln/>
        </p:spPr>
        <p:txBody>
          <a:bodyPr wrap="square" rtlCol="0" anchor="ctr"/>
          <a:lstStyle/>
          <a:p>
            <a:pPr marL="0" indent="0">
              <a:buNone/>
            </a:pPr>
            <a:r>
              <a:rPr lang="en-US" sz="950" dirty="0">
                <a:solidFill>
                  <a:srgbClr val="FFFFFF"/>
                </a:solidFill>
              </a:rPr>
              <a:t>Cambiar configuración del Adaptador</a:t>
            </a:r>
            <a:endParaRPr lang="en-US" sz="950" dirty="0"/>
          </a:p>
        </p:txBody>
      </p:sp>
      <p:sp>
        <p:nvSpPr>
          <p:cNvPr id="23" name="Shape 21"/>
          <p:cNvSpPr/>
          <p:nvPr/>
        </p:nvSpPr>
        <p:spPr>
          <a:xfrm>
            <a:off x="365760" y="3273552"/>
            <a:ext cx="256032" cy="274320"/>
          </a:xfrm>
          <a:prstGeom prst="rect">
            <a:avLst/>
          </a:prstGeom>
          <a:solidFill>
            <a:srgbClr val="5AA8D8"/>
          </a:solidFill>
          <a:ln w="12700">
            <a:solidFill>
              <a:srgbClr val="5AA8D8"/>
            </a:solidFill>
            <a:prstDash val="solid"/>
          </a:ln>
        </p:spPr>
        <p:txBody>
          <a:bodyPr/>
          <a:lstStyle/>
          <a:p>
            <a:endParaRPr lang="en-US"/>
          </a:p>
        </p:txBody>
      </p:sp>
      <p:sp>
        <p:nvSpPr>
          <p:cNvPr id="24" name="Text 22"/>
          <p:cNvSpPr/>
          <p:nvPr/>
        </p:nvSpPr>
        <p:spPr>
          <a:xfrm>
            <a:off x="365760" y="3273552"/>
            <a:ext cx="256032" cy="274320"/>
          </a:xfrm>
          <a:prstGeom prst="rect">
            <a:avLst/>
          </a:prstGeom>
          <a:noFill/>
          <a:ln/>
        </p:spPr>
        <p:txBody>
          <a:bodyPr wrap="square" rtlCol="0" anchor="ctr"/>
          <a:lstStyle/>
          <a:p>
            <a:pPr marL="0" indent="0" algn="ctr">
              <a:buNone/>
            </a:pPr>
            <a:r>
              <a:rPr lang="en-US" sz="850" b="1" dirty="0">
                <a:solidFill>
                  <a:srgbClr val="FFFFFF"/>
                </a:solidFill>
              </a:rPr>
              <a:t>6</a:t>
            </a:r>
            <a:endParaRPr lang="en-US" sz="850" dirty="0"/>
          </a:p>
        </p:txBody>
      </p:sp>
      <p:sp>
        <p:nvSpPr>
          <p:cNvPr id="25" name="Text 23"/>
          <p:cNvSpPr/>
          <p:nvPr/>
        </p:nvSpPr>
        <p:spPr>
          <a:xfrm>
            <a:off x="658368" y="3273552"/>
            <a:ext cx="3913632" cy="274320"/>
          </a:xfrm>
          <a:prstGeom prst="rect">
            <a:avLst/>
          </a:prstGeom>
          <a:noFill/>
          <a:ln/>
        </p:spPr>
        <p:txBody>
          <a:bodyPr wrap="square" rtlCol="0" anchor="ctr"/>
          <a:lstStyle/>
          <a:p>
            <a:pPr marL="0" indent="0">
              <a:buNone/>
            </a:pPr>
            <a:r>
              <a:rPr lang="en-US" sz="950" dirty="0">
                <a:solidFill>
                  <a:srgbClr val="FFFFFF"/>
                </a:solidFill>
              </a:rPr>
              <a:t>Clic derecho en Conexión de área local</a:t>
            </a:r>
            <a:endParaRPr lang="en-US" sz="950" dirty="0"/>
          </a:p>
        </p:txBody>
      </p:sp>
      <p:sp>
        <p:nvSpPr>
          <p:cNvPr id="26" name="Shape 24"/>
          <p:cNvSpPr/>
          <p:nvPr/>
        </p:nvSpPr>
        <p:spPr>
          <a:xfrm>
            <a:off x="365760" y="3621024"/>
            <a:ext cx="256032" cy="274320"/>
          </a:xfrm>
          <a:prstGeom prst="rect">
            <a:avLst/>
          </a:prstGeom>
          <a:solidFill>
            <a:srgbClr val="5AA8D8"/>
          </a:solidFill>
          <a:ln w="12700">
            <a:solidFill>
              <a:srgbClr val="5AA8D8"/>
            </a:solidFill>
            <a:prstDash val="solid"/>
          </a:ln>
        </p:spPr>
        <p:txBody>
          <a:bodyPr/>
          <a:lstStyle/>
          <a:p>
            <a:endParaRPr lang="en-US"/>
          </a:p>
        </p:txBody>
      </p:sp>
      <p:sp>
        <p:nvSpPr>
          <p:cNvPr id="27" name="Text 25"/>
          <p:cNvSpPr/>
          <p:nvPr/>
        </p:nvSpPr>
        <p:spPr>
          <a:xfrm>
            <a:off x="365760" y="3621024"/>
            <a:ext cx="256032" cy="274320"/>
          </a:xfrm>
          <a:prstGeom prst="rect">
            <a:avLst/>
          </a:prstGeom>
          <a:noFill/>
          <a:ln/>
        </p:spPr>
        <p:txBody>
          <a:bodyPr wrap="square" rtlCol="0" anchor="ctr"/>
          <a:lstStyle/>
          <a:p>
            <a:pPr marL="0" indent="0" algn="ctr">
              <a:buNone/>
            </a:pPr>
            <a:r>
              <a:rPr lang="en-US" sz="850" b="1" dirty="0">
                <a:solidFill>
                  <a:srgbClr val="FFFFFF"/>
                </a:solidFill>
              </a:rPr>
              <a:t>7</a:t>
            </a:r>
            <a:endParaRPr lang="en-US" sz="850" dirty="0"/>
          </a:p>
        </p:txBody>
      </p:sp>
      <p:sp>
        <p:nvSpPr>
          <p:cNvPr id="28" name="Text 26"/>
          <p:cNvSpPr/>
          <p:nvPr/>
        </p:nvSpPr>
        <p:spPr>
          <a:xfrm>
            <a:off x="658368" y="3621024"/>
            <a:ext cx="3913632" cy="274320"/>
          </a:xfrm>
          <a:prstGeom prst="rect">
            <a:avLst/>
          </a:prstGeom>
          <a:noFill/>
          <a:ln/>
        </p:spPr>
        <p:txBody>
          <a:bodyPr wrap="square" rtlCol="0" anchor="ctr"/>
          <a:lstStyle/>
          <a:p>
            <a:pPr marL="0" indent="0">
              <a:buNone/>
            </a:pPr>
            <a:r>
              <a:rPr lang="en-US" sz="950" dirty="0">
                <a:solidFill>
                  <a:srgbClr val="FFFFFF"/>
                </a:solidFill>
              </a:rPr>
              <a:t>Propiedades</a:t>
            </a:r>
            <a:endParaRPr lang="en-US" sz="950" dirty="0"/>
          </a:p>
        </p:txBody>
      </p:sp>
      <p:sp>
        <p:nvSpPr>
          <p:cNvPr id="29" name="Shape 27"/>
          <p:cNvSpPr/>
          <p:nvPr/>
        </p:nvSpPr>
        <p:spPr>
          <a:xfrm>
            <a:off x="365760" y="3968496"/>
            <a:ext cx="256032" cy="274320"/>
          </a:xfrm>
          <a:prstGeom prst="rect">
            <a:avLst/>
          </a:prstGeom>
          <a:solidFill>
            <a:srgbClr val="5AA8D8"/>
          </a:solidFill>
          <a:ln w="12700">
            <a:solidFill>
              <a:srgbClr val="5AA8D8"/>
            </a:solidFill>
            <a:prstDash val="solid"/>
          </a:ln>
        </p:spPr>
        <p:txBody>
          <a:bodyPr/>
          <a:lstStyle/>
          <a:p>
            <a:endParaRPr lang="en-US"/>
          </a:p>
        </p:txBody>
      </p:sp>
      <p:sp>
        <p:nvSpPr>
          <p:cNvPr id="30" name="Text 28"/>
          <p:cNvSpPr/>
          <p:nvPr/>
        </p:nvSpPr>
        <p:spPr>
          <a:xfrm>
            <a:off x="365760" y="3968496"/>
            <a:ext cx="256032" cy="274320"/>
          </a:xfrm>
          <a:prstGeom prst="rect">
            <a:avLst/>
          </a:prstGeom>
          <a:noFill/>
          <a:ln/>
        </p:spPr>
        <p:txBody>
          <a:bodyPr wrap="square" rtlCol="0" anchor="ctr"/>
          <a:lstStyle/>
          <a:p>
            <a:pPr marL="0" indent="0" algn="ctr">
              <a:buNone/>
            </a:pPr>
            <a:r>
              <a:rPr lang="en-US" sz="850" b="1" dirty="0">
                <a:solidFill>
                  <a:srgbClr val="FFFFFF"/>
                </a:solidFill>
              </a:rPr>
              <a:t>8</a:t>
            </a:r>
            <a:endParaRPr lang="en-US" sz="850" dirty="0"/>
          </a:p>
        </p:txBody>
      </p:sp>
      <p:sp>
        <p:nvSpPr>
          <p:cNvPr id="31" name="Text 29"/>
          <p:cNvSpPr/>
          <p:nvPr/>
        </p:nvSpPr>
        <p:spPr>
          <a:xfrm>
            <a:off x="658368" y="3968496"/>
            <a:ext cx="3913632" cy="274320"/>
          </a:xfrm>
          <a:prstGeom prst="rect">
            <a:avLst/>
          </a:prstGeom>
          <a:noFill/>
          <a:ln/>
        </p:spPr>
        <p:txBody>
          <a:bodyPr wrap="square" rtlCol="0" anchor="ctr"/>
          <a:lstStyle/>
          <a:p>
            <a:pPr marL="0" indent="0">
              <a:buNone/>
            </a:pPr>
            <a:r>
              <a:rPr lang="en-US" sz="950" dirty="0">
                <a:solidFill>
                  <a:srgbClr val="FFFFFF"/>
                </a:solidFill>
              </a:rPr>
              <a:t>Protocolo de Internet versión 4 (TCP/IPv4)</a:t>
            </a:r>
            <a:endParaRPr lang="en-US" sz="950" dirty="0"/>
          </a:p>
        </p:txBody>
      </p:sp>
      <p:sp>
        <p:nvSpPr>
          <p:cNvPr id="32" name="Shape 30"/>
          <p:cNvSpPr/>
          <p:nvPr/>
        </p:nvSpPr>
        <p:spPr>
          <a:xfrm>
            <a:off x="365760" y="4315968"/>
            <a:ext cx="256032" cy="274320"/>
          </a:xfrm>
          <a:prstGeom prst="rect">
            <a:avLst/>
          </a:prstGeom>
          <a:solidFill>
            <a:srgbClr val="217346"/>
          </a:solidFill>
          <a:ln w="12700">
            <a:solidFill>
              <a:srgbClr val="217346"/>
            </a:solidFill>
            <a:prstDash val="solid"/>
          </a:ln>
        </p:spPr>
        <p:txBody>
          <a:bodyPr/>
          <a:lstStyle/>
          <a:p>
            <a:endParaRPr lang="en-US"/>
          </a:p>
        </p:txBody>
      </p:sp>
      <p:sp>
        <p:nvSpPr>
          <p:cNvPr id="33" name="Text 31"/>
          <p:cNvSpPr/>
          <p:nvPr/>
        </p:nvSpPr>
        <p:spPr>
          <a:xfrm>
            <a:off x="365760" y="4315968"/>
            <a:ext cx="256032" cy="274320"/>
          </a:xfrm>
          <a:prstGeom prst="rect">
            <a:avLst/>
          </a:prstGeom>
          <a:noFill/>
          <a:ln/>
        </p:spPr>
        <p:txBody>
          <a:bodyPr wrap="square" rtlCol="0" anchor="ctr"/>
          <a:lstStyle/>
          <a:p>
            <a:pPr marL="0" indent="0" algn="ctr">
              <a:buNone/>
            </a:pPr>
            <a:r>
              <a:rPr lang="en-US" sz="850" b="1" dirty="0">
                <a:solidFill>
                  <a:srgbClr val="FFFFFF"/>
                </a:solidFill>
              </a:rPr>
              <a:t>9</a:t>
            </a:r>
            <a:endParaRPr lang="en-US" sz="850" dirty="0"/>
          </a:p>
        </p:txBody>
      </p:sp>
      <p:sp>
        <p:nvSpPr>
          <p:cNvPr id="34" name="Text 32"/>
          <p:cNvSpPr/>
          <p:nvPr/>
        </p:nvSpPr>
        <p:spPr>
          <a:xfrm>
            <a:off x="658368" y="4315968"/>
            <a:ext cx="3913632" cy="274320"/>
          </a:xfrm>
          <a:prstGeom prst="rect">
            <a:avLst/>
          </a:prstGeom>
          <a:noFill/>
          <a:ln/>
        </p:spPr>
        <p:txBody>
          <a:bodyPr wrap="square" rtlCol="0" anchor="ctr"/>
          <a:lstStyle/>
          <a:p>
            <a:pPr marL="0" indent="0">
              <a:buNone/>
            </a:pPr>
            <a:r>
              <a:rPr lang="en-US" sz="950" b="1" dirty="0">
                <a:solidFill>
                  <a:srgbClr val="90EE90"/>
                </a:solidFill>
              </a:rPr>
              <a:t>Propiedades → Asignar IP o usar DHCP</a:t>
            </a:r>
            <a:endParaRPr lang="en-US" sz="950" dirty="0"/>
          </a:p>
        </p:txBody>
      </p:sp>
      <p:sp>
        <p:nvSpPr>
          <p:cNvPr id="35" name="Shape 33"/>
          <p:cNvSpPr/>
          <p:nvPr/>
        </p:nvSpPr>
        <p:spPr>
          <a:xfrm>
            <a:off x="4937760" y="1143000"/>
            <a:ext cx="3840480" cy="3383280"/>
          </a:xfrm>
          <a:prstGeom prst="rect">
            <a:avLst/>
          </a:prstGeom>
          <a:solidFill>
            <a:srgbClr val="1A2530"/>
          </a:solidFill>
          <a:ln w="12700">
            <a:solidFill>
              <a:srgbClr val="5A8A3A"/>
            </a:solidFill>
            <a:prstDash val="solid"/>
          </a:ln>
        </p:spPr>
        <p:txBody>
          <a:bodyPr/>
          <a:lstStyle/>
          <a:p>
            <a:endParaRPr lang="en-US"/>
          </a:p>
        </p:txBody>
      </p:sp>
      <p:sp>
        <p:nvSpPr>
          <p:cNvPr id="36" name="Text 34"/>
          <p:cNvSpPr/>
          <p:nvPr/>
        </p:nvSpPr>
        <p:spPr>
          <a:xfrm>
            <a:off x="5029200" y="1188720"/>
            <a:ext cx="3657600" cy="292608"/>
          </a:xfrm>
          <a:prstGeom prst="rect">
            <a:avLst/>
          </a:prstGeom>
          <a:noFill/>
          <a:ln/>
        </p:spPr>
        <p:txBody>
          <a:bodyPr wrap="square" rtlCol="0" anchor="ctr"/>
          <a:lstStyle/>
          <a:p>
            <a:pPr marL="0" indent="0">
              <a:buNone/>
            </a:pPr>
            <a:r>
              <a:rPr lang="en-US" sz="1100" b="1" dirty="0">
                <a:solidFill>
                  <a:srgbClr val="5AA8D8"/>
                </a:solidFill>
              </a:rPr>
              <a:t>Parámetros TCP/IP:</a:t>
            </a:r>
            <a:endParaRPr lang="en-US" sz="1100" dirty="0"/>
          </a:p>
        </p:txBody>
      </p:sp>
      <p:sp>
        <p:nvSpPr>
          <p:cNvPr id="37" name="Shape 35"/>
          <p:cNvSpPr/>
          <p:nvPr/>
        </p:nvSpPr>
        <p:spPr>
          <a:xfrm>
            <a:off x="5029200" y="1554480"/>
            <a:ext cx="3657600" cy="493776"/>
          </a:xfrm>
          <a:prstGeom prst="rect">
            <a:avLst/>
          </a:prstGeom>
          <a:solidFill>
            <a:srgbClr val="1E3A2A"/>
          </a:solidFill>
          <a:ln w="12700">
            <a:solidFill>
              <a:srgbClr val="3A7A5A"/>
            </a:solidFill>
            <a:prstDash val="solid"/>
          </a:ln>
        </p:spPr>
        <p:txBody>
          <a:bodyPr/>
          <a:lstStyle/>
          <a:p>
            <a:endParaRPr lang="en-US"/>
          </a:p>
        </p:txBody>
      </p:sp>
      <p:sp>
        <p:nvSpPr>
          <p:cNvPr id="38" name="Text 36"/>
          <p:cNvSpPr/>
          <p:nvPr/>
        </p:nvSpPr>
        <p:spPr>
          <a:xfrm>
            <a:off x="5120640" y="1581912"/>
            <a:ext cx="3657600" cy="219456"/>
          </a:xfrm>
          <a:prstGeom prst="rect">
            <a:avLst/>
          </a:prstGeom>
          <a:noFill/>
          <a:ln/>
        </p:spPr>
        <p:txBody>
          <a:bodyPr wrap="square" rtlCol="0" anchor="ctr"/>
          <a:lstStyle/>
          <a:p>
            <a:pPr marL="0" indent="0">
              <a:buNone/>
            </a:pPr>
            <a:r>
              <a:rPr lang="en-US" sz="1000" b="1" dirty="0">
                <a:solidFill>
                  <a:srgbClr val="90EE90"/>
                </a:solidFill>
              </a:rPr>
              <a:t>Dirección IP</a:t>
            </a:r>
            <a:endParaRPr lang="en-US" sz="1000" dirty="0"/>
          </a:p>
        </p:txBody>
      </p:sp>
      <p:sp>
        <p:nvSpPr>
          <p:cNvPr id="39" name="Text 37"/>
          <p:cNvSpPr/>
          <p:nvPr/>
        </p:nvSpPr>
        <p:spPr>
          <a:xfrm>
            <a:off x="5120640" y="1801368"/>
            <a:ext cx="3474720" cy="219456"/>
          </a:xfrm>
          <a:prstGeom prst="rect">
            <a:avLst/>
          </a:prstGeom>
          <a:noFill/>
          <a:ln/>
        </p:spPr>
        <p:txBody>
          <a:bodyPr wrap="square" rtlCol="0" anchor="ctr"/>
          <a:lstStyle/>
          <a:p>
            <a:pPr marL="0" indent="0">
              <a:buNone/>
            </a:pPr>
            <a:r>
              <a:rPr lang="en-US" sz="900" dirty="0">
                <a:solidFill>
                  <a:srgbClr val="FFFFFF"/>
                </a:solidFill>
              </a:rPr>
              <a:t>192.168.1.X (única en la red)  (Identifica el host)</a:t>
            </a:r>
            <a:endParaRPr lang="en-US" sz="900" dirty="0"/>
          </a:p>
        </p:txBody>
      </p:sp>
      <p:sp>
        <p:nvSpPr>
          <p:cNvPr id="40" name="Shape 38"/>
          <p:cNvSpPr/>
          <p:nvPr/>
        </p:nvSpPr>
        <p:spPr>
          <a:xfrm>
            <a:off x="5029200" y="2103120"/>
            <a:ext cx="3657600" cy="493776"/>
          </a:xfrm>
          <a:prstGeom prst="rect">
            <a:avLst/>
          </a:prstGeom>
          <a:solidFill>
            <a:srgbClr val="162A1E"/>
          </a:solidFill>
          <a:ln w="12700">
            <a:solidFill>
              <a:srgbClr val="3A7A5A"/>
            </a:solidFill>
            <a:prstDash val="solid"/>
          </a:ln>
        </p:spPr>
        <p:txBody>
          <a:bodyPr/>
          <a:lstStyle/>
          <a:p>
            <a:endParaRPr lang="en-US"/>
          </a:p>
        </p:txBody>
      </p:sp>
      <p:sp>
        <p:nvSpPr>
          <p:cNvPr id="41" name="Text 39"/>
          <p:cNvSpPr/>
          <p:nvPr/>
        </p:nvSpPr>
        <p:spPr>
          <a:xfrm>
            <a:off x="5120640" y="2130552"/>
            <a:ext cx="3657600" cy="219456"/>
          </a:xfrm>
          <a:prstGeom prst="rect">
            <a:avLst/>
          </a:prstGeom>
          <a:noFill/>
          <a:ln/>
        </p:spPr>
        <p:txBody>
          <a:bodyPr wrap="square" rtlCol="0" anchor="ctr"/>
          <a:lstStyle/>
          <a:p>
            <a:pPr marL="0" indent="0">
              <a:buNone/>
            </a:pPr>
            <a:r>
              <a:rPr lang="en-US" sz="1000" b="1" dirty="0">
                <a:solidFill>
                  <a:srgbClr val="90EE90"/>
                </a:solidFill>
              </a:rPr>
              <a:t>Máscara de subred</a:t>
            </a:r>
            <a:endParaRPr lang="en-US" sz="1000" dirty="0"/>
          </a:p>
        </p:txBody>
      </p:sp>
      <p:sp>
        <p:nvSpPr>
          <p:cNvPr id="42" name="Text 40"/>
          <p:cNvSpPr/>
          <p:nvPr/>
        </p:nvSpPr>
        <p:spPr>
          <a:xfrm>
            <a:off x="5120640" y="2350008"/>
            <a:ext cx="3474720" cy="219456"/>
          </a:xfrm>
          <a:prstGeom prst="rect">
            <a:avLst/>
          </a:prstGeom>
          <a:noFill/>
          <a:ln/>
        </p:spPr>
        <p:txBody>
          <a:bodyPr wrap="square" rtlCol="0" anchor="ctr"/>
          <a:lstStyle/>
          <a:p>
            <a:pPr marL="0" indent="0">
              <a:buNone/>
            </a:pPr>
            <a:r>
              <a:rPr lang="en-US" sz="900" dirty="0">
                <a:solidFill>
                  <a:srgbClr val="FFFFFF"/>
                </a:solidFill>
              </a:rPr>
              <a:t>255.255.255.0 (típica)  (Define la red local)</a:t>
            </a:r>
            <a:endParaRPr lang="en-US" sz="900" dirty="0"/>
          </a:p>
        </p:txBody>
      </p:sp>
      <p:sp>
        <p:nvSpPr>
          <p:cNvPr id="43" name="Shape 41"/>
          <p:cNvSpPr/>
          <p:nvPr/>
        </p:nvSpPr>
        <p:spPr>
          <a:xfrm>
            <a:off x="5029200" y="2651760"/>
            <a:ext cx="3657600" cy="493776"/>
          </a:xfrm>
          <a:prstGeom prst="rect">
            <a:avLst/>
          </a:prstGeom>
          <a:solidFill>
            <a:srgbClr val="1E3A2A"/>
          </a:solidFill>
          <a:ln w="12700">
            <a:solidFill>
              <a:srgbClr val="3A7A5A"/>
            </a:solidFill>
            <a:prstDash val="solid"/>
          </a:ln>
        </p:spPr>
        <p:txBody>
          <a:bodyPr/>
          <a:lstStyle/>
          <a:p>
            <a:endParaRPr lang="en-US"/>
          </a:p>
        </p:txBody>
      </p:sp>
      <p:sp>
        <p:nvSpPr>
          <p:cNvPr id="44" name="Text 42"/>
          <p:cNvSpPr/>
          <p:nvPr/>
        </p:nvSpPr>
        <p:spPr>
          <a:xfrm>
            <a:off x="5120640" y="2679192"/>
            <a:ext cx="3657600" cy="219456"/>
          </a:xfrm>
          <a:prstGeom prst="rect">
            <a:avLst/>
          </a:prstGeom>
          <a:noFill/>
          <a:ln/>
        </p:spPr>
        <p:txBody>
          <a:bodyPr wrap="square" rtlCol="0" anchor="ctr"/>
          <a:lstStyle/>
          <a:p>
            <a:pPr marL="0" indent="0">
              <a:buNone/>
            </a:pPr>
            <a:r>
              <a:rPr lang="en-US" sz="1000" b="1" dirty="0">
                <a:solidFill>
                  <a:srgbClr val="90EE90"/>
                </a:solidFill>
              </a:rPr>
              <a:t>Puerta de enlace</a:t>
            </a:r>
            <a:endParaRPr lang="en-US" sz="1000" dirty="0"/>
          </a:p>
        </p:txBody>
      </p:sp>
      <p:sp>
        <p:nvSpPr>
          <p:cNvPr id="45" name="Text 43"/>
          <p:cNvSpPr/>
          <p:nvPr/>
        </p:nvSpPr>
        <p:spPr>
          <a:xfrm>
            <a:off x="5120640" y="2898648"/>
            <a:ext cx="3474720" cy="219456"/>
          </a:xfrm>
          <a:prstGeom prst="rect">
            <a:avLst/>
          </a:prstGeom>
          <a:noFill/>
          <a:ln/>
        </p:spPr>
        <p:txBody>
          <a:bodyPr wrap="square" rtlCol="0" anchor="ctr"/>
          <a:lstStyle/>
          <a:p>
            <a:pPr marL="0" indent="0">
              <a:buNone/>
            </a:pPr>
            <a:r>
              <a:rPr lang="en-US" sz="900" dirty="0">
                <a:solidFill>
                  <a:srgbClr val="FFFFFF"/>
                </a:solidFill>
              </a:rPr>
              <a:t>192.168.1.1 (el router)  (Default Gateway)</a:t>
            </a:r>
            <a:endParaRPr lang="en-US" sz="900" dirty="0"/>
          </a:p>
        </p:txBody>
      </p:sp>
      <p:sp>
        <p:nvSpPr>
          <p:cNvPr id="46" name="Shape 44"/>
          <p:cNvSpPr/>
          <p:nvPr/>
        </p:nvSpPr>
        <p:spPr>
          <a:xfrm>
            <a:off x="5029200" y="3200400"/>
            <a:ext cx="3657600" cy="493776"/>
          </a:xfrm>
          <a:prstGeom prst="rect">
            <a:avLst/>
          </a:prstGeom>
          <a:solidFill>
            <a:srgbClr val="162A1E"/>
          </a:solidFill>
          <a:ln w="12700">
            <a:solidFill>
              <a:srgbClr val="3A7A5A"/>
            </a:solidFill>
            <a:prstDash val="solid"/>
          </a:ln>
        </p:spPr>
        <p:txBody>
          <a:bodyPr/>
          <a:lstStyle/>
          <a:p>
            <a:endParaRPr lang="en-US"/>
          </a:p>
        </p:txBody>
      </p:sp>
      <p:sp>
        <p:nvSpPr>
          <p:cNvPr id="47" name="Text 45"/>
          <p:cNvSpPr/>
          <p:nvPr/>
        </p:nvSpPr>
        <p:spPr>
          <a:xfrm>
            <a:off x="5120640" y="3227832"/>
            <a:ext cx="3657600" cy="219456"/>
          </a:xfrm>
          <a:prstGeom prst="rect">
            <a:avLst/>
          </a:prstGeom>
          <a:noFill/>
          <a:ln/>
        </p:spPr>
        <p:txBody>
          <a:bodyPr wrap="square" rtlCol="0" anchor="ctr"/>
          <a:lstStyle/>
          <a:p>
            <a:pPr marL="0" indent="0">
              <a:buNone/>
            </a:pPr>
            <a:r>
              <a:rPr lang="en-US" sz="1000" b="1" dirty="0">
                <a:solidFill>
                  <a:srgbClr val="90EE90"/>
                </a:solidFill>
              </a:rPr>
              <a:t>DNS Preferido</a:t>
            </a:r>
            <a:endParaRPr lang="en-US" sz="1000" dirty="0"/>
          </a:p>
        </p:txBody>
      </p:sp>
      <p:sp>
        <p:nvSpPr>
          <p:cNvPr id="48" name="Text 46"/>
          <p:cNvSpPr/>
          <p:nvPr/>
        </p:nvSpPr>
        <p:spPr>
          <a:xfrm>
            <a:off x="5120640" y="3447288"/>
            <a:ext cx="3474720" cy="219456"/>
          </a:xfrm>
          <a:prstGeom prst="rect">
            <a:avLst/>
          </a:prstGeom>
          <a:noFill/>
          <a:ln/>
        </p:spPr>
        <p:txBody>
          <a:bodyPr wrap="square" rtlCol="0" anchor="ctr"/>
          <a:lstStyle/>
          <a:p>
            <a:pPr marL="0" indent="0">
              <a:buNone/>
            </a:pPr>
            <a:r>
              <a:rPr lang="en-US" sz="900" dirty="0">
                <a:solidFill>
                  <a:srgbClr val="FFFFFF"/>
                </a:solidFill>
              </a:rPr>
              <a:t>8.8.8.8 (Google DNS)  (Resolución de nombres)</a:t>
            </a:r>
            <a:endParaRPr lang="en-US" sz="900" dirty="0"/>
          </a:p>
        </p:txBody>
      </p:sp>
      <p:sp>
        <p:nvSpPr>
          <p:cNvPr id="49" name="Shape 47"/>
          <p:cNvSpPr/>
          <p:nvPr/>
        </p:nvSpPr>
        <p:spPr>
          <a:xfrm>
            <a:off x="5029200" y="3749040"/>
            <a:ext cx="3657600" cy="493776"/>
          </a:xfrm>
          <a:prstGeom prst="rect">
            <a:avLst/>
          </a:prstGeom>
          <a:solidFill>
            <a:srgbClr val="1E3A2A"/>
          </a:solidFill>
          <a:ln w="12700">
            <a:solidFill>
              <a:srgbClr val="3A7A5A"/>
            </a:solidFill>
            <a:prstDash val="solid"/>
          </a:ln>
        </p:spPr>
        <p:txBody>
          <a:bodyPr/>
          <a:lstStyle/>
          <a:p>
            <a:endParaRPr lang="en-US"/>
          </a:p>
        </p:txBody>
      </p:sp>
      <p:sp>
        <p:nvSpPr>
          <p:cNvPr id="50" name="Text 48"/>
          <p:cNvSpPr/>
          <p:nvPr/>
        </p:nvSpPr>
        <p:spPr>
          <a:xfrm>
            <a:off x="5120640" y="3776472"/>
            <a:ext cx="3657600" cy="219456"/>
          </a:xfrm>
          <a:prstGeom prst="rect">
            <a:avLst/>
          </a:prstGeom>
          <a:noFill/>
          <a:ln/>
        </p:spPr>
        <p:txBody>
          <a:bodyPr wrap="square" rtlCol="0" anchor="ctr"/>
          <a:lstStyle/>
          <a:p>
            <a:pPr marL="0" indent="0">
              <a:buNone/>
            </a:pPr>
            <a:r>
              <a:rPr lang="en-US" sz="1000" b="1" dirty="0">
                <a:solidFill>
                  <a:srgbClr val="90EE90"/>
                </a:solidFill>
              </a:rPr>
              <a:t>Método</a:t>
            </a:r>
            <a:endParaRPr lang="en-US" sz="1000" dirty="0"/>
          </a:p>
        </p:txBody>
      </p:sp>
      <p:sp>
        <p:nvSpPr>
          <p:cNvPr id="51" name="Text 49"/>
          <p:cNvSpPr/>
          <p:nvPr/>
        </p:nvSpPr>
        <p:spPr>
          <a:xfrm>
            <a:off x="5120640" y="3995928"/>
            <a:ext cx="3474720" cy="219456"/>
          </a:xfrm>
          <a:prstGeom prst="rect">
            <a:avLst/>
          </a:prstGeom>
          <a:noFill/>
          <a:ln/>
        </p:spPr>
        <p:txBody>
          <a:bodyPr wrap="square" rtlCol="0" anchor="ctr"/>
          <a:lstStyle/>
          <a:p>
            <a:pPr marL="0" indent="0">
              <a:buNone/>
            </a:pPr>
            <a:r>
              <a:rPr lang="en-US" sz="900" dirty="0">
                <a:solidFill>
                  <a:srgbClr val="FFFFFF"/>
                </a:solidFill>
              </a:rPr>
              <a:t>Manual (estático) o DHCP  (DHCP asigna auto)</a:t>
            </a:r>
            <a:endParaRPr lang="en-US" sz="900" dirty="0"/>
          </a:p>
        </p:txBody>
      </p:sp>
      <p:sp>
        <p:nvSpPr>
          <p:cNvPr id="52" name="Shape 50"/>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53" name="Text 51"/>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Importante: todas las PCs de la red deben tener el mismo protocolo (TCP/IP), la misma máscara de subred y la misma red (192.168.1.X). Si alguna tiene IP diferente, no podrá comunicarse.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Interconexión de Redes en la Era Moderna</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Datagramas, ICMP y encaminamiento en redes actuales</a:t>
            </a:r>
            <a:endParaRPr lang="en-US" sz="1300" dirty="0"/>
          </a:p>
        </p:txBody>
      </p:sp>
      <p:sp>
        <p:nvSpPr>
          <p:cNvPr id="6" name="Shape 4"/>
          <p:cNvSpPr/>
          <p:nvPr/>
        </p:nvSpPr>
        <p:spPr>
          <a:xfrm>
            <a:off x="274320" y="1188720"/>
            <a:ext cx="4160520" cy="1051560"/>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7" name="Shape 5"/>
          <p:cNvSpPr/>
          <p:nvPr/>
        </p:nvSpPr>
        <p:spPr>
          <a:xfrm>
            <a:off x="274320" y="1188720"/>
            <a:ext cx="384048" cy="105156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463040"/>
            <a:ext cx="384048" cy="45720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9" name="Text 7"/>
          <p:cNvSpPr/>
          <p:nvPr/>
        </p:nvSpPr>
        <p:spPr>
          <a:xfrm>
            <a:off x="731520" y="1234440"/>
            <a:ext cx="3630168" cy="274320"/>
          </a:xfrm>
          <a:prstGeom prst="rect">
            <a:avLst/>
          </a:prstGeom>
          <a:noFill/>
          <a:ln/>
        </p:spPr>
        <p:txBody>
          <a:bodyPr wrap="square" rtlCol="0" anchor="ctr"/>
          <a:lstStyle/>
          <a:p>
            <a:pPr marL="0" indent="0">
              <a:buNone/>
            </a:pPr>
            <a:r>
              <a:rPr lang="en-US" sz="1050" b="1" dirty="0">
                <a:solidFill>
                  <a:srgbClr val="5AA8D8"/>
                </a:solidFill>
              </a:rPr>
              <a:t>BGP: el protocolo de Internet</a:t>
            </a:r>
            <a:endParaRPr lang="en-US" sz="1050" dirty="0"/>
          </a:p>
        </p:txBody>
      </p:sp>
      <p:sp>
        <p:nvSpPr>
          <p:cNvPr id="10" name="Text 8"/>
          <p:cNvSpPr/>
          <p:nvPr/>
        </p:nvSpPr>
        <p:spPr>
          <a:xfrm>
            <a:off x="731520" y="1527048"/>
            <a:ext cx="3630168" cy="640080"/>
          </a:xfrm>
          <a:prstGeom prst="rect">
            <a:avLst/>
          </a:prstGeom>
          <a:noFill/>
          <a:ln/>
        </p:spPr>
        <p:txBody>
          <a:bodyPr wrap="square" rtlCol="0" anchor="t"/>
          <a:lstStyle/>
          <a:p>
            <a:pPr marL="0" indent="0">
              <a:buNone/>
            </a:pPr>
            <a:r>
              <a:rPr lang="en-US" sz="950" dirty="0">
                <a:solidFill>
                  <a:srgbClr val="404040"/>
                </a:solidFill>
              </a:rPr>
              <a:t>Border Gateway Protocol es el protocolo de encaminamiento que usa Internet entre ISPs. Es el 'mapamundi' de rutas de Internet. Opera con datagramas y encaminamiento adaptativo.</a:t>
            </a:r>
            <a:endParaRPr lang="en-US" sz="950" dirty="0"/>
          </a:p>
        </p:txBody>
      </p:sp>
      <p:sp>
        <p:nvSpPr>
          <p:cNvPr id="11" name="Shape 9"/>
          <p:cNvSpPr/>
          <p:nvPr/>
        </p:nvSpPr>
        <p:spPr>
          <a:xfrm>
            <a:off x="4754880" y="1188720"/>
            <a:ext cx="4160520" cy="1051560"/>
          </a:xfrm>
          <a:prstGeom prst="rect">
            <a:avLst/>
          </a:prstGeom>
          <a:solidFill>
            <a:srgbClr val="FFFFFF"/>
          </a:solidFill>
          <a:ln w="19050">
            <a:solidFill>
              <a:srgbClr val="3A7BAA"/>
            </a:solidFill>
            <a:prstDash val="solid"/>
          </a:ln>
          <a:effectLst>
            <a:outerShdw blurRad="38100" dist="25400" dir="8100000" algn="bl" rotWithShape="0">
              <a:srgbClr val="000000">
                <a:alpha val="10000"/>
              </a:srgbClr>
            </a:outerShdw>
          </a:effectLst>
        </p:spPr>
        <p:txBody>
          <a:bodyPr/>
          <a:lstStyle/>
          <a:p>
            <a:endParaRPr lang="en-US"/>
          </a:p>
        </p:txBody>
      </p:sp>
      <p:sp>
        <p:nvSpPr>
          <p:cNvPr id="12" name="Shape 10"/>
          <p:cNvSpPr/>
          <p:nvPr/>
        </p:nvSpPr>
        <p:spPr>
          <a:xfrm>
            <a:off x="4754880" y="1188720"/>
            <a:ext cx="384048" cy="1051560"/>
          </a:xfrm>
          <a:prstGeom prst="rect">
            <a:avLst/>
          </a:prstGeom>
          <a:solidFill>
            <a:srgbClr val="3A7BAA"/>
          </a:solidFill>
          <a:ln w="12700">
            <a:solidFill>
              <a:srgbClr val="3A7BAA"/>
            </a:solidFill>
            <a:prstDash val="solid"/>
          </a:ln>
        </p:spPr>
        <p:txBody>
          <a:bodyPr/>
          <a:lstStyle/>
          <a:p>
            <a:endParaRPr lang="en-US"/>
          </a:p>
        </p:txBody>
      </p:sp>
      <p:sp>
        <p:nvSpPr>
          <p:cNvPr id="13" name="Text 11"/>
          <p:cNvSpPr/>
          <p:nvPr/>
        </p:nvSpPr>
        <p:spPr>
          <a:xfrm>
            <a:off x="4754880" y="1463040"/>
            <a:ext cx="384048" cy="45720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4" name="Text 12"/>
          <p:cNvSpPr/>
          <p:nvPr/>
        </p:nvSpPr>
        <p:spPr>
          <a:xfrm>
            <a:off x="5212080" y="1234440"/>
            <a:ext cx="3630168" cy="274320"/>
          </a:xfrm>
          <a:prstGeom prst="rect">
            <a:avLst/>
          </a:prstGeom>
          <a:noFill/>
          <a:ln/>
        </p:spPr>
        <p:txBody>
          <a:bodyPr wrap="square" rtlCol="0" anchor="ctr"/>
          <a:lstStyle/>
          <a:p>
            <a:pPr marL="0" indent="0">
              <a:buNone/>
            </a:pPr>
            <a:r>
              <a:rPr lang="en-US" sz="1050" b="1" dirty="0">
                <a:solidFill>
                  <a:srgbClr val="3A7BAA"/>
                </a:solidFill>
              </a:rPr>
              <a:t>SDN: redes definidas por software</a:t>
            </a:r>
            <a:endParaRPr lang="en-US" sz="1050" dirty="0"/>
          </a:p>
        </p:txBody>
      </p:sp>
      <p:sp>
        <p:nvSpPr>
          <p:cNvPr id="15" name="Text 13"/>
          <p:cNvSpPr/>
          <p:nvPr/>
        </p:nvSpPr>
        <p:spPr>
          <a:xfrm>
            <a:off x="5212080" y="1527048"/>
            <a:ext cx="3630168" cy="640080"/>
          </a:xfrm>
          <a:prstGeom prst="rect">
            <a:avLst/>
          </a:prstGeom>
          <a:noFill/>
          <a:ln/>
        </p:spPr>
        <p:txBody>
          <a:bodyPr wrap="square" rtlCol="0" anchor="t"/>
          <a:lstStyle/>
          <a:p>
            <a:pPr marL="0" indent="0">
              <a:buNone/>
            </a:pPr>
            <a:r>
              <a:rPr lang="en-US" sz="950" dirty="0">
                <a:solidFill>
                  <a:srgbClr val="404040"/>
                </a:solidFill>
              </a:rPr>
              <a:t>Las redes modernas separan el plano de datos (forwarding) del plano de control (routing). El router ya no decide solo: hay un controlador central que programa las tablas.</a:t>
            </a:r>
            <a:endParaRPr lang="en-US" sz="950" dirty="0"/>
          </a:p>
        </p:txBody>
      </p:sp>
      <p:sp>
        <p:nvSpPr>
          <p:cNvPr id="16" name="Shape 14"/>
          <p:cNvSpPr/>
          <p:nvPr/>
        </p:nvSpPr>
        <p:spPr>
          <a:xfrm>
            <a:off x="274320" y="2377440"/>
            <a:ext cx="4160520" cy="1051560"/>
          </a:xfrm>
          <a:prstGeom prst="rect">
            <a:avLst/>
          </a:prstGeom>
          <a:solidFill>
            <a:srgbClr val="FFFFFF"/>
          </a:solidFill>
          <a:ln w="19050">
            <a:solidFill>
              <a:srgbClr val="5A8A3A"/>
            </a:solidFill>
            <a:prstDash val="solid"/>
          </a:ln>
          <a:effectLst>
            <a:outerShdw blurRad="38100" dist="25400" dir="8100000" algn="bl" rotWithShape="0">
              <a:srgbClr val="000000">
                <a:alpha val="10000"/>
              </a:srgbClr>
            </a:outerShdw>
          </a:effectLst>
        </p:spPr>
        <p:txBody>
          <a:bodyPr/>
          <a:lstStyle/>
          <a:p>
            <a:endParaRPr lang="en-US"/>
          </a:p>
        </p:txBody>
      </p:sp>
      <p:sp>
        <p:nvSpPr>
          <p:cNvPr id="17" name="Shape 15"/>
          <p:cNvSpPr/>
          <p:nvPr/>
        </p:nvSpPr>
        <p:spPr>
          <a:xfrm>
            <a:off x="274320" y="2377440"/>
            <a:ext cx="384048" cy="1051560"/>
          </a:xfrm>
          <a:prstGeom prst="rect">
            <a:avLst/>
          </a:prstGeom>
          <a:solidFill>
            <a:srgbClr val="5A8A3A"/>
          </a:solidFill>
          <a:ln w="12700">
            <a:solidFill>
              <a:srgbClr val="5A8A3A"/>
            </a:solidFill>
            <a:prstDash val="solid"/>
          </a:ln>
        </p:spPr>
        <p:txBody>
          <a:bodyPr/>
          <a:lstStyle/>
          <a:p>
            <a:endParaRPr lang="en-US"/>
          </a:p>
        </p:txBody>
      </p:sp>
      <p:sp>
        <p:nvSpPr>
          <p:cNvPr id="18" name="Text 16"/>
          <p:cNvSpPr/>
          <p:nvPr/>
        </p:nvSpPr>
        <p:spPr>
          <a:xfrm>
            <a:off x="274320" y="2651760"/>
            <a:ext cx="384048" cy="45720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731520" y="2423160"/>
            <a:ext cx="3630168" cy="274320"/>
          </a:xfrm>
          <a:prstGeom prst="rect">
            <a:avLst/>
          </a:prstGeom>
          <a:noFill/>
          <a:ln/>
        </p:spPr>
        <p:txBody>
          <a:bodyPr wrap="square" rtlCol="0" anchor="ctr"/>
          <a:lstStyle/>
          <a:p>
            <a:pPr marL="0" indent="0">
              <a:buNone/>
            </a:pPr>
            <a:r>
              <a:rPr lang="en-US" sz="1050" b="1" dirty="0">
                <a:solidFill>
                  <a:srgbClr val="5A8A3A"/>
                </a:solidFill>
              </a:rPr>
              <a:t>ICMP en celulares</a:t>
            </a:r>
            <a:endParaRPr lang="en-US" sz="1050" dirty="0"/>
          </a:p>
        </p:txBody>
      </p:sp>
      <p:sp>
        <p:nvSpPr>
          <p:cNvPr id="20" name="Text 18"/>
          <p:cNvSpPr/>
          <p:nvPr/>
        </p:nvSpPr>
        <p:spPr>
          <a:xfrm>
            <a:off x="731520" y="2715768"/>
            <a:ext cx="3630168" cy="640080"/>
          </a:xfrm>
          <a:prstGeom prst="rect">
            <a:avLst/>
          </a:prstGeom>
          <a:noFill/>
          <a:ln/>
        </p:spPr>
        <p:txBody>
          <a:bodyPr wrap="square" rtlCol="0" anchor="t"/>
          <a:lstStyle/>
          <a:p>
            <a:pPr marL="0" indent="0">
              <a:buNone/>
            </a:pPr>
            <a:r>
              <a:rPr lang="en-US" sz="950" dirty="0">
                <a:solidFill>
                  <a:srgbClr val="404040"/>
                </a:solidFill>
              </a:rPr>
              <a:t>Las apps de diagnóstico de red en Android/iOS usan ICMP internamente. Fing, Network Analyzer, iNetTools: todas hacen PING y TRACEROUTE sobre las mismas bases teóricas del H5.</a:t>
            </a:r>
            <a:endParaRPr lang="en-US" sz="950" dirty="0"/>
          </a:p>
        </p:txBody>
      </p:sp>
      <p:sp>
        <p:nvSpPr>
          <p:cNvPr id="21" name="Shape 19"/>
          <p:cNvSpPr/>
          <p:nvPr/>
        </p:nvSpPr>
        <p:spPr>
          <a:xfrm>
            <a:off x="4754880" y="2377440"/>
            <a:ext cx="4160520" cy="1051560"/>
          </a:xfrm>
          <a:prstGeom prst="rect">
            <a:avLst/>
          </a:prstGeom>
          <a:solidFill>
            <a:srgbClr val="FFFFFF"/>
          </a:solidFill>
          <a:ln w="19050">
            <a:solidFill>
              <a:srgbClr val="7A5A9A"/>
            </a:solidFill>
            <a:prstDash val="solid"/>
          </a:ln>
          <a:effectLst>
            <a:outerShdw blurRad="38100" dist="25400" dir="8100000" algn="bl" rotWithShape="0">
              <a:srgbClr val="000000">
                <a:alpha val="10000"/>
              </a:srgbClr>
            </a:outerShdw>
          </a:effectLst>
        </p:spPr>
        <p:txBody>
          <a:bodyPr/>
          <a:lstStyle/>
          <a:p>
            <a:endParaRPr lang="en-US"/>
          </a:p>
        </p:txBody>
      </p:sp>
      <p:sp>
        <p:nvSpPr>
          <p:cNvPr id="22" name="Shape 20"/>
          <p:cNvSpPr/>
          <p:nvPr/>
        </p:nvSpPr>
        <p:spPr>
          <a:xfrm>
            <a:off x="4754880" y="2377440"/>
            <a:ext cx="384048" cy="1051560"/>
          </a:xfrm>
          <a:prstGeom prst="rect">
            <a:avLst/>
          </a:prstGeom>
          <a:solidFill>
            <a:srgbClr val="7A5A9A"/>
          </a:solidFill>
          <a:ln w="12700">
            <a:solidFill>
              <a:srgbClr val="7A5A9A"/>
            </a:solidFill>
            <a:prstDash val="solid"/>
          </a:ln>
        </p:spPr>
        <p:txBody>
          <a:bodyPr/>
          <a:lstStyle/>
          <a:p>
            <a:endParaRPr lang="en-US"/>
          </a:p>
        </p:txBody>
      </p:sp>
      <p:sp>
        <p:nvSpPr>
          <p:cNvPr id="23" name="Text 21"/>
          <p:cNvSpPr/>
          <p:nvPr/>
        </p:nvSpPr>
        <p:spPr>
          <a:xfrm>
            <a:off x="4754880" y="2651760"/>
            <a:ext cx="384048" cy="45720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4" name="Text 22"/>
          <p:cNvSpPr/>
          <p:nvPr/>
        </p:nvSpPr>
        <p:spPr>
          <a:xfrm>
            <a:off x="5212080" y="2423160"/>
            <a:ext cx="3630168" cy="274320"/>
          </a:xfrm>
          <a:prstGeom prst="rect">
            <a:avLst/>
          </a:prstGeom>
          <a:noFill/>
          <a:ln/>
        </p:spPr>
        <p:txBody>
          <a:bodyPr wrap="square" rtlCol="0" anchor="ctr"/>
          <a:lstStyle/>
          <a:p>
            <a:pPr marL="0" indent="0">
              <a:buNone/>
            </a:pPr>
            <a:r>
              <a:rPr lang="en-US" sz="1050" b="1" dirty="0">
                <a:solidFill>
                  <a:srgbClr val="7A5A9A"/>
                </a:solidFill>
              </a:rPr>
              <a:t>IPv6 y el nuevo espacio de direcciones</a:t>
            </a:r>
            <a:endParaRPr lang="en-US" sz="1050" dirty="0"/>
          </a:p>
        </p:txBody>
      </p:sp>
      <p:sp>
        <p:nvSpPr>
          <p:cNvPr id="25" name="Text 23"/>
          <p:cNvSpPr/>
          <p:nvPr/>
        </p:nvSpPr>
        <p:spPr>
          <a:xfrm>
            <a:off x="5212080" y="2715768"/>
            <a:ext cx="3630168" cy="640080"/>
          </a:xfrm>
          <a:prstGeom prst="rect">
            <a:avLst/>
          </a:prstGeom>
          <a:noFill/>
          <a:ln/>
        </p:spPr>
        <p:txBody>
          <a:bodyPr wrap="square" rtlCol="0" anchor="t"/>
          <a:lstStyle/>
          <a:p>
            <a:pPr marL="0" indent="0">
              <a:buNone/>
            </a:pPr>
            <a:r>
              <a:rPr lang="en-US" sz="950" dirty="0">
                <a:solidFill>
                  <a:srgbClr val="404040"/>
                </a:solidFill>
              </a:rPr>
              <a:t>IPv6 usa direcciones de 128 bits. La familia de protocolos Internet se mantiene: datagramas, ICMP v6, encaminamiento adaptativo. Solo cambia el tamaño de la dirección.</a:t>
            </a:r>
            <a:endParaRPr lang="en-US" sz="950" dirty="0"/>
          </a:p>
        </p:txBody>
      </p:sp>
      <p:sp>
        <p:nvSpPr>
          <p:cNvPr id="26" name="Shape 24"/>
          <p:cNvSpPr/>
          <p:nvPr/>
        </p:nvSpPr>
        <p:spPr>
          <a:xfrm>
            <a:off x="274320" y="3566160"/>
            <a:ext cx="4160520" cy="1051560"/>
          </a:xfrm>
          <a:prstGeom prst="rect">
            <a:avLst/>
          </a:prstGeom>
          <a:solidFill>
            <a:srgbClr val="FFFFFF"/>
          </a:solidFill>
          <a:ln w="19050">
            <a:solidFill>
              <a:srgbClr val="9A5A3A"/>
            </a:solidFill>
            <a:prstDash val="solid"/>
          </a:ln>
          <a:effectLst>
            <a:outerShdw blurRad="38100" dist="25400" dir="8100000" algn="bl" rotWithShape="0">
              <a:srgbClr val="000000">
                <a:alpha val="10000"/>
              </a:srgbClr>
            </a:outerShdw>
          </a:effectLst>
        </p:spPr>
        <p:txBody>
          <a:bodyPr/>
          <a:lstStyle/>
          <a:p>
            <a:endParaRPr lang="en-US"/>
          </a:p>
        </p:txBody>
      </p:sp>
      <p:sp>
        <p:nvSpPr>
          <p:cNvPr id="27" name="Shape 25"/>
          <p:cNvSpPr/>
          <p:nvPr/>
        </p:nvSpPr>
        <p:spPr>
          <a:xfrm>
            <a:off x="274320" y="3566160"/>
            <a:ext cx="384048" cy="1051560"/>
          </a:xfrm>
          <a:prstGeom prst="rect">
            <a:avLst/>
          </a:prstGeom>
          <a:solidFill>
            <a:srgbClr val="9A5A3A"/>
          </a:solidFill>
          <a:ln w="12700">
            <a:solidFill>
              <a:srgbClr val="9A5A3A"/>
            </a:solidFill>
            <a:prstDash val="solid"/>
          </a:ln>
        </p:spPr>
        <p:txBody>
          <a:bodyPr/>
          <a:lstStyle/>
          <a:p>
            <a:endParaRPr lang="en-US"/>
          </a:p>
        </p:txBody>
      </p:sp>
      <p:sp>
        <p:nvSpPr>
          <p:cNvPr id="28" name="Text 26"/>
          <p:cNvSpPr/>
          <p:nvPr/>
        </p:nvSpPr>
        <p:spPr>
          <a:xfrm>
            <a:off x="274320" y="3840480"/>
            <a:ext cx="384048" cy="45720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29" name="Text 27"/>
          <p:cNvSpPr/>
          <p:nvPr/>
        </p:nvSpPr>
        <p:spPr>
          <a:xfrm>
            <a:off x="731520" y="3611880"/>
            <a:ext cx="3630168" cy="274320"/>
          </a:xfrm>
          <a:prstGeom prst="rect">
            <a:avLst/>
          </a:prstGeom>
          <a:noFill/>
          <a:ln/>
        </p:spPr>
        <p:txBody>
          <a:bodyPr wrap="square" rtlCol="0" anchor="ctr"/>
          <a:lstStyle/>
          <a:p>
            <a:pPr marL="0" indent="0">
              <a:buNone/>
            </a:pPr>
            <a:r>
              <a:rPr lang="en-US" sz="1050" b="1" dirty="0">
                <a:solidFill>
                  <a:srgbClr val="9A5A3A"/>
                </a:solidFill>
              </a:rPr>
              <a:t>Wi-Fi 6 / 5G como capa de acceso</a:t>
            </a:r>
            <a:endParaRPr lang="en-US" sz="1050" dirty="0"/>
          </a:p>
        </p:txBody>
      </p:sp>
      <p:sp>
        <p:nvSpPr>
          <p:cNvPr id="30" name="Text 28"/>
          <p:cNvSpPr/>
          <p:nvPr/>
        </p:nvSpPr>
        <p:spPr>
          <a:xfrm>
            <a:off x="731520" y="3904488"/>
            <a:ext cx="3630168" cy="640080"/>
          </a:xfrm>
          <a:prstGeom prst="rect">
            <a:avLst/>
          </a:prstGeom>
          <a:noFill/>
          <a:ln/>
        </p:spPr>
        <p:txBody>
          <a:bodyPr wrap="square" rtlCol="0" anchor="t"/>
          <a:lstStyle/>
          <a:p>
            <a:pPr marL="0" indent="0">
              <a:buNone/>
            </a:pPr>
            <a:r>
              <a:rPr lang="en-US" sz="950" dirty="0">
                <a:solidFill>
                  <a:srgbClr val="404040"/>
                </a:solidFill>
              </a:rPr>
              <a:t>El modelo sigue igual: las capas superiores (IP, TCP, UDP, aplicación) son independientes de la capa de acceso. Wi-Fi 6 y 5G son solo nuevas capas de acceso a la red.</a:t>
            </a:r>
            <a:endParaRPr lang="en-US" sz="950" dirty="0"/>
          </a:p>
        </p:txBody>
      </p:sp>
      <p:sp>
        <p:nvSpPr>
          <p:cNvPr id="31" name="Shape 29"/>
          <p:cNvSpPr/>
          <p:nvPr/>
        </p:nvSpPr>
        <p:spPr>
          <a:xfrm>
            <a:off x="4754880" y="3566160"/>
            <a:ext cx="4160520" cy="1051560"/>
          </a:xfrm>
          <a:prstGeom prst="rect">
            <a:avLst/>
          </a:prstGeom>
          <a:solidFill>
            <a:srgbClr val="FFFFFF"/>
          </a:solidFill>
          <a:ln w="19050">
            <a:solidFill>
              <a:srgbClr val="3A8A7A"/>
            </a:solidFill>
            <a:prstDash val="solid"/>
          </a:ln>
          <a:effectLst>
            <a:outerShdw blurRad="38100" dist="25400" dir="8100000" algn="bl" rotWithShape="0">
              <a:srgbClr val="000000">
                <a:alpha val="10000"/>
              </a:srgbClr>
            </a:outerShdw>
          </a:effectLst>
        </p:spPr>
        <p:txBody>
          <a:bodyPr/>
          <a:lstStyle/>
          <a:p>
            <a:endParaRPr lang="en-US"/>
          </a:p>
        </p:txBody>
      </p:sp>
      <p:sp>
        <p:nvSpPr>
          <p:cNvPr id="32" name="Shape 30"/>
          <p:cNvSpPr/>
          <p:nvPr/>
        </p:nvSpPr>
        <p:spPr>
          <a:xfrm>
            <a:off x="4754880" y="3566160"/>
            <a:ext cx="384048" cy="1051560"/>
          </a:xfrm>
          <a:prstGeom prst="rect">
            <a:avLst/>
          </a:prstGeom>
          <a:solidFill>
            <a:srgbClr val="3A8A7A"/>
          </a:solidFill>
          <a:ln w="12700">
            <a:solidFill>
              <a:srgbClr val="3A8A7A"/>
            </a:solidFill>
            <a:prstDash val="solid"/>
          </a:ln>
        </p:spPr>
        <p:txBody>
          <a:bodyPr/>
          <a:lstStyle/>
          <a:p>
            <a:endParaRPr lang="en-US"/>
          </a:p>
        </p:txBody>
      </p:sp>
      <p:sp>
        <p:nvSpPr>
          <p:cNvPr id="33" name="Text 31"/>
          <p:cNvSpPr/>
          <p:nvPr/>
        </p:nvSpPr>
        <p:spPr>
          <a:xfrm>
            <a:off x="4754880" y="3840480"/>
            <a:ext cx="384048" cy="457200"/>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34" name="Text 32"/>
          <p:cNvSpPr/>
          <p:nvPr/>
        </p:nvSpPr>
        <p:spPr>
          <a:xfrm>
            <a:off x="5212080" y="3611880"/>
            <a:ext cx="3630168" cy="274320"/>
          </a:xfrm>
          <a:prstGeom prst="rect">
            <a:avLst/>
          </a:prstGeom>
          <a:noFill/>
          <a:ln/>
        </p:spPr>
        <p:txBody>
          <a:bodyPr wrap="square" rtlCol="0" anchor="ctr"/>
          <a:lstStyle/>
          <a:p>
            <a:pPr marL="0" indent="0">
              <a:buNone/>
            </a:pPr>
            <a:r>
              <a:rPr lang="en-US" sz="1050" b="1" dirty="0">
                <a:solidFill>
                  <a:srgbClr val="3A8A7A"/>
                </a:solidFill>
              </a:rPr>
              <a:t>Cloud y multi-homed hosts</a:t>
            </a:r>
            <a:endParaRPr lang="en-US" sz="1050" dirty="0"/>
          </a:p>
        </p:txBody>
      </p:sp>
      <p:sp>
        <p:nvSpPr>
          <p:cNvPr id="35" name="Text 33"/>
          <p:cNvSpPr/>
          <p:nvPr/>
        </p:nvSpPr>
        <p:spPr>
          <a:xfrm>
            <a:off x="5212080" y="3904488"/>
            <a:ext cx="3630168" cy="640080"/>
          </a:xfrm>
          <a:prstGeom prst="rect">
            <a:avLst/>
          </a:prstGeom>
          <a:noFill/>
          <a:ln/>
        </p:spPr>
        <p:txBody>
          <a:bodyPr wrap="square" rtlCol="0" anchor="t"/>
          <a:lstStyle/>
          <a:p>
            <a:pPr marL="0" indent="0">
              <a:buNone/>
            </a:pPr>
            <a:r>
              <a:rPr lang="en-US" sz="950" dirty="0">
                <a:solidFill>
                  <a:srgbClr val="404040"/>
                </a:solidFill>
              </a:rPr>
              <a:t>Los servidores en la nube son multi-homed: tienen múltiples NICs virtuales conectadas a distintas redes. Actúan como gateways entre la red pública y las redes internas.</a:t>
            </a:r>
            <a:endParaRPr lang="en-US" sz="950" dirty="0"/>
          </a:p>
        </p:txBody>
      </p:sp>
      <p:sp>
        <p:nvSpPr>
          <p:cNvPr id="36" name="Shape 3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7" name="Text 3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BGP es el protocolo que 'sostiene' Internet a nivel global. Sin él, ningún ISP sabría cómo llegar a otro. SDN es la evolución: separa la inteligencia de los routers y la centraliza en software.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1</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700" i="1" dirty="0">
                <a:solidFill>
                  <a:srgbClr val="FFFFFF"/>
                </a:solidFill>
              </a:rPr>
              <a:t>"La red Internet usa un esquema de encaminamiento adaptativo que permite que, si un router falla, otro gateway sea usado automáticamente sin interrumpir la conexión entre hosts."</a:t>
            </a:r>
            <a:endParaRPr lang="en-US" sz="17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1</a:t>
            </a:r>
            <a:endParaRPr lang="en-US" sz="1600" dirty="0"/>
          </a:p>
        </p:txBody>
      </p:sp>
      <p:sp>
        <p:nvSpPr>
          <p:cNvPr id="4" name="Shape 2"/>
          <p:cNvSpPr/>
          <p:nvPr/>
        </p:nvSpPr>
        <p:spPr>
          <a:xfrm>
            <a:off x="1371600" y="822960"/>
            <a:ext cx="6400800" cy="640080"/>
          </a:xfrm>
          <a:prstGeom prst="rect">
            <a:avLst/>
          </a:prstGeom>
          <a:solidFill>
            <a:srgbClr val="1A4A1A"/>
          </a:solidFill>
          <a:ln w="25400">
            <a:solidFill>
              <a:srgbClr val="4A9A4A"/>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4AE04A"/>
                </a:solidFill>
              </a:rPr>
              <a:t>✓  VERDADERO</a:t>
            </a:r>
            <a:endParaRPr lang="en-US" sz="2600" dirty="0"/>
          </a:p>
        </p:txBody>
      </p:sp>
      <p:sp>
        <p:nvSpPr>
          <p:cNvPr id="6" name="Shape 4"/>
          <p:cNvSpPr/>
          <p:nvPr/>
        </p:nvSpPr>
        <p:spPr>
          <a:xfrm>
            <a:off x="457200" y="1600200"/>
            <a:ext cx="8229600" cy="233172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FFFFFF"/>
                </a:solidFill>
              </a:rPr>
              <a:t>Correcto. Esta es la ventaja fundamental del encaminamiento adaptativo de Internet (modelo de datagramas). A diferencia del circuito virtual (ITU-T) donde un fallo corta la comunicación, Internet usa múltiples rutas distribuidas. El router recalcula la Tabla de Enrutamiento automáticamente usando las actualizaciones de sus vecinos y redirige el tráfico por el gateway alternativo disponible.</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Esta es la ventaja clave del modelo de datagramas vs circuito virtual. Internet sobrevive fallos porque tiene múltiples rutas y encaminamiento dinámico. El circuito virtual, si se corta, interrumpe la comunicación.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2D3030"/>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2</a:t>
            </a:r>
            <a:endParaRPr lang="en-US" sz="1400" dirty="0"/>
          </a:p>
        </p:txBody>
      </p:sp>
      <p:sp>
        <p:nvSpPr>
          <p:cNvPr id="6" name="Shape 4"/>
          <p:cNvSpPr/>
          <p:nvPr/>
        </p:nvSpPr>
        <p:spPr>
          <a:xfrm>
            <a:off x="914400" y="1325880"/>
            <a:ext cx="7315200" cy="2011680"/>
          </a:xfrm>
          <a:prstGeom prst="rect">
            <a:avLst/>
          </a:prstGeom>
          <a:solidFill>
            <a:srgbClr val="E8F4FC"/>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700" i="1" dirty="0">
                <a:solidFill>
                  <a:srgbClr val="2D3030"/>
                </a:solidFill>
              </a:rPr>
              <a:t>"El protocolo ICMP es parte de la Capa Internet y usa datagramas IP para enviar mensajes de control. El comando PING usa ICMP Echo para verificar si un host remoto está operacional."</a:t>
            </a:r>
            <a:endParaRPr lang="en-US" sz="17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2D3030"/>
                </a:solidFill>
              </a:rPr>
              <a:t>¿Verdadero o Falso?</a:t>
            </a:r>
            <a:endParaRPr lang="en-US" sz="1800" dirty="0"/>
          </a:p>
        </p:txBody>
      </p:sp>
      <p:sp>
        <p:nvSpPr>
          <p:cNvPr id="9" name="Shape 7"/>
          <p:cNvSpPr/>
          <p:nvPr/>
        </p:nvSpPr>
        <p:spPr>
          <a:xfrm>
            <a:off x="1371600" y="4023360"/>
            <a:ext cx="2743200" cy="594360"/>
          </a:xfrm>
          <a:prstGeom prst="rect">
            <a:avLst/>
          </a:prstGeom>
          <a:solidFill>
            <a:srgbClr val="B9DEF8"/>
          </a:solidFill>
          <a:ln w="25400">
            <a:solidFill>
              <a:srgbClr val="5AA8D8"/>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2D3030"/>
                </a:solidFill>
              </a:rPr>
              <a:t>VERDADERO</a:t>
            </a:r>
            <a:endParaRPr lang="en-US" sz="1600" dirty="0"/>
          </a:p>
        </p:txBody>
      </p:sp>
      <p:sp>
        <p:nvSpPr>
          <p:cNvPr id="11" name="Shape 9"/>
          <p:cNvSpPr/>
          <p:nvPr/>
        </p:nvSpPr>
        <p:spPr>
          <a:xfrm>
            <a:off x="5029200" y="4023360"/>
            <a:ext cx="2743200" cy="594360"/>
          </a:xfrm>
          <a:prstGeom prst="rect">
            <a:avLst/>
          </a:prstGeom>
          <a:solidFill>
            <a:srgbClr val="F0E0E0"/>
          </a:solidFill>
          <a:ln w="25400">
            <a:solidFill>
              <a:srgbClr val="CCA0A0"/>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808080"/>
                </a:solidFill>
              </a:rPr>
              <a:t>FALSO</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2D3030"/>
                </a:solidFill>
              </a:rPr>
              <a:t>Respuesta — Pregunta 2</a:t>
            </a:r>
            <a:endParaRPr lang="en-US" sz="1600" dirty="0"/>
          </a:p>
        </p:txBody>
      </p:sp>
      <p:sp>
        <p:nvSpPr>
          <p:cNvPr id="4" name="Shape 2"/>
          <p:cNvSpPr/>
          <p:nvPr/>
        </p:nvSpPr>
        <p:spPr>
          <a:xfrm>
            <a:off x="1371600" y="822960"/>
            <a:ext cx="6400800" cy="640080"/>
          </a:xfrm>
          <a:prstGeom prst="rect">
            <a:avLst/>
          </a:prstGeom>
          <a:solidFill>
            <a:srgbClr val="D6EAD6"/>
          </a:solidFill>
          <a:ln w="25400">
            <a:solidFill>
              <a:srgbClr val="217346"/>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217346"/>
                </a:solidFill>
              </a:rPr>
              <a:t>✓  VERDADERO</a:t>
            </a:r>
            <a:endParaRPr lang="en-US" sz="2600" dirty="0"/>
          </a:p>
        </p:txBody>
      </p:sp>
      <p:sp>
        <p:nvSpPr>
          <p:cNvPr id="6" name="Shape 4"/>
          <p:cNvSpPr/>
          <p:nvPr/>
        </p:nvSpPr>
        <p:spPr>
          <a:xfrm>
            <a:off x="457200" y="1600200"/>
            <a:ext cx="8229600" cy="2331720"/>
          </a:xfrm>
          <a:prstGeom prst="rect">
            <a:avLst/>
          </a:prstGeom>
          <a:solidFill>
            <a:srgbClr val="E8F4FC"/>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2D3030"/>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404040"/>
                </a:solidFill>
              </a:rPr>
              <a:t>Correcto. ICMP (definido en RFC 792) es parte integral de la Capa Internet (misma capa que IP). Usa datagramas IP para enviar sus mensajes de control. El comando PING efectivamente usa ICMP Echo Message (solicitud) e ICMP Echo Reply (respuesta). TRACERT también usa ICMP: manipula el campo TTL del encabezado IP para obtener respuestas ICMP Time Exceeded de cada router en el camino.</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ICMP está en la misma capa que IP, no en la capa de transporte. PING es la herramienta de diagnóstico más usada en el mundo: todos los sistemas operativos la incluyen. TRACERT.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3</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800" i="1" dirty="0">
                <a:solidFill>
                  <a:srgbClr val="FFFFFF"/>
                </a:solidFill>
              </a:rPr>
              <a:t>"En TCP/IP, los términos gateway y router son indistintos. Un multi-homed host (conectado a más de una red) actúa como gateway cuando envía paquetes entre esas redes."</a:t>
            </a:r>
            <a:endParaRPr lang="en-US" sz="18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3</a:t>
            </a:r>
            <a:endParaRPr lang="en-US" sz="1600" dirty="0"/>
          </a:p>
        </p:txBody>
      </p:sp>
      <p:sp>
        <p:nvSpPr>
          <p:cNvPr id="4" name="Shape 2"/>
          <p:cNvSpPr/>
          <p:nvPr/>
        </p:nvSpPr>
        <p:spPr>
          <a:xfrm>
            <a:off x="1371600" y="822960"/>
            <a:ext cx="6400800" cy="640080"/>
          </a:xfrm>
          <a:prstGeom prst="rect">
            <a:avLst/>
          </a:prstGeom>
          <a:solidFill>
            <a:srgbClr val="1A4A1A"/>
          </a:solidFill>
          <a:ln w="25400">
            <a:solidFill>
              <a:srgbClr val="4A9A4A"/>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4AE04A"/>
                </a:solidFill>
              </a:rPr>
              <a:t>✓  VERDADERO</a:t>
            </a:r>
            <a:endParaRPr lang="en-US" sz="2600" dirty="0"/>
          </a:p>
        </p:txBody>
      </p:sp>
      <p:sp>
        <p:nvSpPr>
          <p:cNvPr id="6" name="Shape 4"/>
          <p:cNvSpPr/>
          <p:nvPr/>
        </p:nvSpPr>
        <p:spPr>
          <a:xfrm>
            <a:off x="457200" y="1600200"/>
            <a:ext cx="8229600" cy="233172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FFFFFF"/>
                </a:solidFill>
              </a:rPr>
              <a:t>Correcto en ambas partes. En la jerga TCP/IP, gateway y router son sinónimos. Un multi-homed host (con dos o más NIC conectadas a diferentes redes) puede reenviar paquetes entre esas redes, actuando exactamente como un gateway. Ejemplo: un servidor Linux con eth0 en la LAN y eth1 en la WAN puede hacer NAT y routing entre ambas redes. El router doméstico es técnicamente un multi-homed host con software de routing.</a:t>
            </a:r>
            <a:endParaRPr lang="en-US" sz="1100" dirty="0"/>
          </a:p>
        </p:txBody>
      </p:sp>
      <p:sp>
        <p:nvSpPr>
          <p:cNvPr id="9" name="Shape 7"/>
          <p:cNvSpPr/>
          <p:nvPr/>
        </p:nvSpPr>
        <p:spPr>
          <a:xfrm>
            <a:off x="-28575" y="464058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multi-homed host es importante en la práctica: cualquier PC Linux con dos placas de red puede configurarse como router. VMs con bridging también son multi-homed. El concepto es simple: si tenés dos interfaces de red y reenviás paquetes, sos un gateway.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2926080" y="201168"/>
            <a:ext cx="3291840" cy="475488"/>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926080" y="201168"/>
            <a:ext cx="3291840" cy="475488"/>
          </a:xfrm>
          <a:prstGeom prst="rect">
            <a:avLst/>
          </a:prstGeom>
          <a:noFill/>
          <a:ln/>
        </p:spPr>
        <p:txBody>
          <a:bodyPr wrap="square" rtlCol="0" anchor="ctr"/>
          <a:lstStyle/>
          <a:p>
            <a:pPr marL="0" indent="0" algn="ctr">
              <a:buNone/>
            </a:pPr>
            <a:r>
              <a:rPr lang="en-US" sz="1400" b="1" dirty="0">
                <a:solidFill>
                  <a:srgbClr val="FFFFFF"/>
                </a:solidFill>
              </a:rPr>
              <a:t>IDEAS CLAVE</a:t>
            </a:r>
            <a:endParaRPr lang="en-US" sz="1400" dirty="0"/>
          </a:p>
        </p:txBody>
      </p:sp>
      <p:sp>
        <p:nvSpPr>
          <p:cNvPr id="5" name="Text 3"/>
          <p:cNvSpPr/>
          <p:nvPr/>
        </p:nvSpPr>
        <p:spPr>
          <a:xfrm>
            <a:off x="0" y="749808"/>
            <a:ext cx="9144000" cy="320040"/>
          </a:xfrm>
          <a:prstGeom prst="rect">
            <a:avLst/>
          </a:prstGeom>
          <a:noFill/>
          <a:ln/>
        </p:spPr>
        <p:txBody>
          <a:bodyPr wrap="square" rtlCol="0" anchor="ctr"/>
          <a:lstStyle/>
          <a:p>
            <a:pPr marL="0" indent="0" algn="ctr">
              <a:buNone/>
            </a:pPr>
            <a:r>
              <a:rPr lang="en-US" sz="1200" dirty="0">
                <a:solidFill>
                  <a:srgbClr val="808080"/>
                </a:solidFill>
              </a:rPr>
              <a:t>SP6 / H5 — Diferentes Tipos de Interconexión</a:t>
            </a:r>
            <a:endParaRPr lang="en-US" sz="1200" dirty="0"/>
          </a:p>
        </p:txBody>
      </p:sp>
      <p:sp>
        <p:nvSpPr>
          <p:cNvPr id="6" name="Shape 4"/>
          <p:cNvSpPr/>
          <p:nvPr/>
        </p:nvSpPr>
        <p:spPr>
          <a:xfrm>
            <a:off x="274320" y="1207008"/>
            <a:ext cx="4160520" cy="987552"/>
          </a:xfrm>
          <a:prstGeom prst="rect">
            <a:avLst/>
          </a:prstGeom>
          <a:solidFill>
            <a:srgbClr val="1A2530"/>
          </a:solidFill>
          <a:ln w="12700">
            <a:solidFill>
              <a:srgbClr val="5AA8D8"/>
            </a:solidFill>
            <a:prstDash val="solid"/>
          </a:ln>
        </p:spPr>
        <p:txBody>
          <a:bodyPr/>
          <a:lstStyle/>
          <a:p>
            <a:endParaRPr lang="en-US"/>
          </a:p>
        </p:txBody>
      </p:sp>
      <p:sp>
        <p:nvSpPr>
          <p:cNvPr id="7" name="Shape 5"/>
          <p:cNvSpPr/>
          <p:nvPr/>
        </p:nvSpPr>
        <p:spPr>
          <a:xfrm>
            <a:off x="274320" y="1207008"/>
            <a:ext cx="411480" cy="987552"/>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207008"/>
            <a:ext cx="411480" cy="987552"/>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749808" y="129844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Los dos métodos de interconexión: Circuito Virtual (ITU-T) y Datagramas (Internet).</a:t>
            </a:r>
            <a:endParaRPr lang="en-US" sz="1050" dirty="0"/>
          </a:p>
        </p:txBody>
      </p:sp>
      <p:sp>
        <p:nvSpPr>
          <p:cNvPr id="10" name="Shape 8"/>
          <p:cNvSpPr/>
          <p:nvPr/>
        </p:nvSpPr>
        <p:spPr>
          <a:xfrm>
            <a:off x="4754880" y="1207008"/>
            <a:ext cx="4160520" cy="987552"/>
          </a:xfrm>
          <a:prstGeom prst="rect">
            <a:avLst/>
          </a:prstGeom>
          <a:solidFill>
            <a:srgbClr val="1A2530"/>
          </a:solidFill>
          <a:ln w="12700">
            <a:solidFill>
              <a:srgbClr val="5AA8D8"/>
            </a:solidFill>
            <a:prstDash val="solid"/>
          </a:ln>
        </p:spPr>
        <p:txBody>
          <a:bodyPr/>
          <a:lstStyle/>
          <a:p>
            <a:endParaRPr lang="en-US"/>
          </a:p>
        </p:txBody>
      </p:sp>
      <p:sp>
        <p:nvSpPr>
          <p:cNvPr id="11" name="Shape 9"/>
          <p:cNvSpPr/>
          <p:nvPr/>
        </p:nvSpPr>
        <p:spPr>
          <a:xfrm>
            <a:off x="4754880" y="1207008"/>
            <a:ext cx="411480" cy="987552"/>
          </a:xfrm>
          <a:prstGeom prst="rect">
            <a:avLst/>
          </a:prstGeom>
          <a:solidFill>
            <a:srgbClr val="5AA8D8"/>
          </a:solidFill>
          <a:ln w="12700">
            <a:solidFill>
              <a:srgbClr val="5AA8D8"/>
            </a:solidFill>
            <a:prstDash val="solid"/>
          </a:ln>
        </p:spPr>
        <p:txBody>
          <a:bodyPr/>
          <a:lstStyle/>
          <a:p>
            <a:endParaRPr lang="en-US"/>
          </a:p>
        </p:txBody>
      </p:sp>
      <p:sp>
        <p:nvSpPr>
          <p:cNvPr id="12" name="Text 10"/>
          <p:cNvSpPr/>
          <p:nvPr/>
        </p:nvSpPr>
        <p:spPr>
          <a:xfrm>
            <a:off x="4754880" y="1207008"/>
            <a:ext cx="411480" cy="987552"/>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5230368" y="129844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Internet usa datagramas + encaminamiento adaptativo: si un router falla, el tráfico se redirige automáticamente.</a:t>
            </a:r>
            <a:endParaRPr lang="en-US" sz="1050" dirty="0"/>
          </a:p>
        </p:txBody>
      </p:sp>
      <p:sp>
        <p:nvSpPr>
          <p:cNvPr id="14" name="Shape 12"/>
          <p:cNvSpPr/>
          <p:nvPr/>
        </p:nvSpPr>
        <p:spPr>
          <a:xfrm>
            <a:off x="274320" y="2304288"/>
            <a:ext cx="4160520" cy="987552"/>
          </a:xfrm>
          <a:prstGeom prst="rect">
            <a:avLst/>
          </a:prstGeom>
          <a:solidFill>
            <a:srgbClr val="1A2530"/>
          </a:solidFill>
          <a:ln w="12700">
            <a:solidFill>
              <a:srgbClr val="5AA8D8"/>
            </a:solidFill>
            <a:prstDash val="solid"/>
          </a:ln>
        </p:spPr>
        <p:txBody>
          <a:bodyPr/>
          <a:lstStyle/>
          <a:p>
            <a:endParaRPr lang="en-US"/>
          </a:p>
        </p:txBody>
      </p:sp>
      <p:sp>
        <p:nvSpPr>
          <p:cNvPr id="15" name="Shape 13"/>
          <p:cNvSpPr/>
          <p:nvPr/>
        </p:nvSpPr>
        <p:spPr>
          <a:xfrm>
            <a:off x="274320" y="2304288"/>
            <a:ext cx="411480" cy="987552"/>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274320" y="2304288"/>
            <a:ext cx="411480" cy="987552"/>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749808" y="239572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IP provee dos servicios básicos: Direccionamiento y Fragmentación/Reensamblado.</a:t>
            </a:r>
            <a:endParaRPr lang="en-US" sz="1050" dirty="0"/>
          </a:p>
        </p:txBody>
      </p:sp>
      <p:sp>
        <p:nvSpPr>
          <p:cNvPr id="18" name="Shape 16"/>
          <p:cNvSpPr/>
          <p:nvPr/>
        </p:nvSpPr>
        <p:spPr>
          <a:xfrm>
            <a:off x="4754880" y="2304288"/>
            <a:ext cx="4160520" cy="987552"/>
          </a:xfrm>
          <a:prstGeom prst="rect">
            <a:avLst/>
          </a:prstGeom>
          <a:solidFill>
            <a:srgbClr val="1A2530"/>
          </a:solidFill>
          <a:ln w="12700">
            <a:solidFill>
              <a:srgbClr val="5AA8D8"/>
            </a:solidFill>
            <a:prstDash val="solid"/>
          </a:ln>
        </p:spPr>
        <p:txBody>
          <a:bodyPr/>
          <a:lstStyle/>
          <a:p>
            <a:endParaRPr lang="en-US"/>
          </a:p>
        </p:txBody>
      </p:sp>
      <p:sp>
        <p:nvSpPr>
          <p:cNvPr id="19" name="Shape 17"/>
          <p:cNvSpPr/>
          <p:nvPr/>
        </p:nvSpPr>
        <p:spPr>
          <a:xfrm>
            <a:off x="4754880" y="2304288"/>
            <a:ext cx="411480" cy="987552"/>
          </a:xfrm>
          <a:prstGeom prst="rect">
            <a:avLst/>
          </a:prstGeom>
          <a:solidFill>
            <a:srgbClr val="5AA8D8"/>
          </a:solidFill>
          <a:ln w="12700">
            <a:solidFill>
              <a:srgbClr val="5AA8D8"/>
            </a:solidFill>
            <a:prstDash val="solid"/>
          </a:ln>
        </p:spPr>
        <p:txBody>
          <a:bodyPr/>
          <a:lstStyle/>
          <a:p>
            <a:endParaRPr lang="en-US"/>
          </a:p>
        </p:txBody>
      </p:sp>
      <p:sp>
        <p:nvSpPr>
          <p:cNvPr id="20" name="Text 18"/>
          <p:cNvSpPr/>
          <p:nvPr/>
        </p:nvSpPr>
        <p:spPr>
          <a:xfrm>
            <a:off x="4754880" y="2304288"/>
            <a:ext cx="411480" cy="987552"/>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5230368" y="239572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En TCP/IP, gateway y router son sinónimos. Un multi-homed host actúa como gateway.</a:t>
            </a:r>
            <a:endParaRPr lang="en-US" sz="1050" dirty="0"/>
          </a:p>
        </p:txBody>
      </p:sp>
      <p:sp>
        <p:nvSpPr>
          <p:cNvPr id="22" name="Shape 20"/>
          <p:cNvSpPr/>
          <p:nvPr/>
        </p:nvSpPr>
        <p:spPr>
          <a:xfrm>
            <a:off x="274320" y="3401568"/>
            <a:ext cx="4160520" cy="987552"/>
          </a:xfrm>
          <a:prstGeom prst="rect">
            <a:avLst/>
          </a:prstGeom>
          <a:solidFill>
            <a:srgbClr val="1A2530"/>
          </a:solidFill>
          <a:ln w="12700">
            <a:solidFill>
              <a:srgbClr val="5AA8D8"/>
            </a:solidFill>
            <a:prstDash val="solid"/>
          </a:ln>
        </p:spPr>
        <p:txBody>
          <a:bodyPr/>
          <a:lstStyle/>
          <a:p>
            <a:endParaRPr lang="en-US"/>
          </a:p>
        </p:txBody>
      </p:sp>
      <p:sp>
        <p:nvSpPr>
          <p:cNvPr id="23" name="Shape 21"/>
          <p:cNvSpPr/>
          <p:nvPr/>
        </p:nvSpPr>
        <p:spPr>
          <a:xfrm>
            <a:off x="274320" y="3401568"/>
            <a:ext cx="411480" cy="987552"/>
          </a:xfrm>
          <a:prstGeom prst="rect">
            <a:avLst/>
          </a:prstGeom>
          <a:solidFill>
            <a:srgbClr val="5AA8D8"/>
          </a:solidFill>
          <a:ln w="12700">
            <a:solidFill>
              <a:srgbClr val="5AA8D8"/>
            </a:solidFill>
            <a:prstDash val="solid"/>
          </a:ln>
        </p:spPr>
        <p:txBody>
          <a:bodyPr/>
          <a:lstStyle/>
          <a:p>
            <a:endParaRPr lang="en-US"/>
          </a:p>
        </p:txBody>
      </p:sp>
      <p:sp>
        <p:nvSpPr>
          <p:cNvPr id="24" name="Text 22"/>
          <p:cNvSpPr/>
          <p:nvPr/>
        </p:nvSpPr>
        <p:spPr>
          <a:xfrm>
            <a:off x="274320" y="3401568"/>
            <a:ext cx="411480" cy="987552"/>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5" name="Text 23"/>
          <p:cNvSpPr/>
          <p:nvPr/>
        </p:nvSpPr>
        <p:spPr>
          <a:xfrm>
            <a:off x="749808" y="349300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ICMP (RFC 792): Control de Flujo, Destino Inalcanzable, Redirección y PING (Echo).</a:t>
            </a:r>
            <a:endParaRPr lang="en-US" sz="1050" dirty="0"/>
          </a:p>
        </p:txBody>
      </p:sp>
      <p:sp>
        <p:nvSpPr>
          <p:cNvPr id="26" name="Shape 24"/>
          <p:cNvSpPr/>
          <p:nvPr/>
        </p:nvSpPr>
        <p:spPr>
          <a:xfrm>
            <a:off x="4754880" y="3401568"/>
            <a:ext cx="4160520" cy="987552"/>
          </a:xfrm>
          <a:prstGeom prst="rect">
            <a:avLst/>
          </a:prstGeom>
          <a:solidFill>
            <a:srgbClr val="1A2530"/>
          </a:solidFill>
          <a:ln w="12700">
            <a:solidFill>
              <a:srgbClr val="5AA8D8"/>
            </a:solidFill>
            <a:prstDash val="solid"/>
          </a:ln>
        </p:spPr>
        <p:txBody>
          <a:bodyPr/>
          <a:lstStyle/>
          <a:p>
            <a:endParaRPr lang="en-US"/>
          </a:p>
        </p:txBody>
      </p:sp>
      <p:sp>
        <p:nvSpPr>
          <p:cNvPr id="27" name="Shape 25"/>
          <p:cNvSpPr/>
          <p:nvPr/>
        </p:nvSpPr>
        <p:spPr>
          <a:xfrm>
            <a:off x="4754880" y="3401568"/>
            <a:ext cx="411480" cy="987552"/>
          </a:xfrm>
          <a:prstGeom prst="rect">
            <a:avLst/>
          </a:prstGeom>
          <a:solidFill>
            <a:srgbClr val="5AA8D8"/>
          </a:solidFill>
          <a:ln w="12700">
            <a:solidFill>
              <a:srgbClr val="5AA8D8"/>
            </a:solidFill>
            <a:prstDash val="solid"/>
          </a:ln>
        </p:spPr>
        <p:txBody>
          <a:bodyPr/>
          <a:lstStyle/>
          <a:p>
            <a:endParaRPr lang="en-US"/>
          </a:p>
        </p:txBody>
      </p:sp>
      <p:sp>
        <p:nvSpPr>
          <p:cNvPr id="28" name="Text 26"/>
          <p:cNvSpPr/>
          <p:nvPr/>
        </p:nvSpPr>
        <p:spPr>
          <a:xfrm>
            <a:off x="4754880" y="3401568"/>
            <a:ext cx="411480" cy="987552"/>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29" name="Text 27"/>
          <p:cNvSpPr/>
          <p:nvPr/>
        </p:nvSpPr>
        <p:spPr>
          <a:xfrm>
            <a:off x="5230368" y="3493008"/>
            <a:ext cx="3630168" cy="804672"/>
          </a:xfrm>
          <a:prstGeom prst="rect">
            <a:avLst/>
          </a:prstGeom>
          <a:noFill/>
          <a:ln/>
        </p:spPr>
        <p:txBody>
          <a:bodyPr wrap="square" lIns="50800" tIns="50800" rIns="50800" bIns="50800" rtlCol="0" anchor="ctr"/>
          <a:lstStyle/>
          <a:p>
            <a:pPr marL="0" indent="0">
              <a:buNone/>
            </a:pPr>
            <a:r>
              <a:rPr lang="en-US" sz="1050" dirty="0">
                <a:solidFill>
                  <a:srgbClr val="FFFFFF"/>
                </a:solidFill>
              </a:rPr>
              <a:t>Para armar una LAN: NIC (física+lógica) → TCP/IP → nombre de equipo → recursos compartidos → cableado → switch.</a:t>
            </a:r>
            <a:endParaRPr lang="en-US" sz="1050" dirty="0"/>
          </a:p>
        </p:txBody>
      </p:sp>
      <p:sp>
        <p:nvSpPr>
          <p:cNvPr id="30" name="Text 28"/>
          <p:cNvSpPr/>
          <p:nvPr/>
        </p:nvSpPr>
        <p:spPr>
          <a:xfrm>
            <a:off x="457200" y="4498848"/>
            <a:ext cx="8229600" cy="32004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31" name="Shape 29"/>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3085</Words>
  <Application>Microsoft Office PowerPoint</Application>
  <PresentationFormat>Presentación en pantalla (16:9)</PresentationFormat>
  <Paragraphs>299</Paragraphs>
  <Slides>19</Slides>
  <Notes>19</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19</vt:i4>
      </vt:variant>
    </vt:vector>
  </HeadingPairs>
  <TitlesOfParts>
    <vt:vector size="21"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SP6/H5 - Tipos de Interconexión</dc:title>
  <dc:subject>PptxGenJS Presentation</dc:subject>
  <dc:creator>PptxGenJS</dc:creator>
  <cp:lastModifiedBy>user</cp:lastModifiedBy>
  <cp:revision>3</cp:revision>
  <dcterms:created xsi:type="dcterms:W3CDTF">2026-05-12T22:42:40Z</dcterms:created>
  <dcterms:modified xsi:type="dcterms:W3CDTF">2026-05-14T08:22:04Z</dcterms:modified>
</cp:coreProperties>
</file>