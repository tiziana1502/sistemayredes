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161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201168"/>
            <a:ext cx="3474720" cy="411480"/>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457200" y="201168"/>
            <a:ext cx="3474720" cy="411480"/>
          </a:xfrm>
          <a:prstGeom prst="rect">
            <a:avLst/>
          </a:prstGeom>
          <a:noFill/>
          <a:ln/>
        </p:spPr>
        <p:txBody>
          <a:bodyPr wrap="square" rtlCol="0" anchor="ctr"/>
          <a:lstStyle/>
          <a:p>
            <a:pPr marL="0" indent="0" algn="ctr">
              <a:buNone/>
            </a:pPr>
            <a:r>
              <a:rPr lang="en-US" sz="1200" b="1" dirty="0">
                <a:solidFill>
                  <a:srgbClr val="FFFFFF"/>
                </a:solidFill>
              </a:rPr>
              <a:t>Redes y Comunicaciones</a:t>
            </a:r>
            <a:endParaRPr lang="en-US" sz="1200" dirty="0"/>
          </a:p>
        </p:txBody>
      </p:sp>
      <p:sp>
        <p:nvSpPr>
          <p:cNvPr id="5" name="Shape 3"/>
          <p:cNvSpPr/>
          <p:nvPr/>
        </p:nvSpPr>
        <p:spPr>
          <a:xfrm>
            <a:off x="4114800" y="201168"/>
            <a:ext cx="1828800" cy="411480"/>
          </a:xfrm>
          <a:prstGeom prst="rect">
            <a:avLst/>
          </a:prstGeom>
          <a:solidFill>
            <a:srgbClr val="3A7BAA"/>
          </a:solidFill>
          <a:ln w="12700">
            <a:solidFill>
              <a:srgbClr val="5AA8D8"/>
            </a:solidFill>
            <a:prstDash val="solid"/>
          </a:ln>
        </p:spPr>
        <p:txBody>
          <a:bodyPr/>
          <a:lstStyle/>
          <a:p>
            <a:endParaRPr lang="en-US"/>
          </a:p>
        </p:txBody>
      </p:sp>
      <p:sp>
        <p:nvSpPr>
          <p:cNvPr id="6" name="Text 4"/>
          <p:cNvSpPr/>
          <p:nvPr/>
        </p:nvSpPr>
        <p:spPr>
          <a:xfrm>
            <a:off x="4114800" y="201168"/>
            <a:ext cx="1828800" cy="411480"/>
          </a:xfrm>
          <a:prstGeom prst="rect">
            <a:avLst/>
          </a:prstGeom>
          <a:noFill/>
          <a:ln/>
        </p:spPr>
        <p:txBody>
          <a:bodyPr wrap="square" rtlCol="0" anchor="ctr"/>
          <a:lstStyle/>
          <a:p>
            <a:pPr marL="0" indent="0" algn="ctr">
              <a:buNone/>
            </a:pPr>
            <a:r>
              <a:rPr lang="en-US" sz="1200" b="1" dirty="0">
                <a:solidFill>
                  <a:srgbClr val="FFFFFF"/>
                </a:solidFill>
              </a:rPr>
              <a:t>SP6 / H3</a:t>
            </a:r>
            <a:endParaRPr lang="en-US" sz="1200" dirty="0"/>
          </a:p>
        </p:txBody>
      </p:sp>
      <p:sp>
        <p:nvSpPr>
          <p:cNvPr id="7" name="Text 5"/>
          <p:cNvSpPr/>
          <p:nvPr/>
        </p:nvSpPr>
        <p:spPr>
          <a:xfrm>
            <a:off x="457200" y="914400"/>
            <a:ext cx="8229600" cy="1645920"/>
          </a:xfrm>
          <a:prstGeom prst="rect">
            <a:avLst/>
          </a:prstGeom>
          <a:noFill/>
          <a:ln/>
        </p:spPr>
        <p:txBody>
          <a:bodyPr wrap="square"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Capas de Transporte</a:t>
            </a:r>
            <a:endParaRPr lang="en-US" sz="4000" dirty="0"/>
          </a:p>
          <a:p>
            <a:pPr marL="0" indent="0" algn="ctr">
              <a:buNone/>
            </a:pPr>
            <a:r>
              <a:rPr lang="en-US" sz="4000" b="1" dirty="0">
                <a:solidFill>
                  <a:srgbClr val="FFFFFF"/>
                </a:solidFill>
                <a:latin typeface="Arial" pitchFamily="34" charset="0"/>
                <a:ea typeface="Arial" pitchFamily="34" charset="-122"/>
                <a:cs typeface="Arial" pitchFamily="34" charset="-120"/>
              </a:rPr>
              <a:t>y Aplicación</a:t>
            </a:r>
            <a:endParaRPr lang="en-US" sz="4000" dirty="0"/>
          </a:p>
        </p:txBody>
      </p:sp>
      <p:sp>
        <p:nvSpPr>
          <p:cNvPr id="8" name="Text 6"/>
          <p:cNvSpPr/>
          <p:nvPr/>
        </p:nvSpPr>
        <p:spPr>
          <a:xfrm>
            <a:off x="457200" y="2606040"/>
            <a:ext cx="8229600" cy="457200"/>
          </a:xfrm>
          <a:prstGeom prst="rect">
            <a:avLst/>
          </a:prstGeom>
          <a:noFill/>
          <a:ln/>
        </p:spPr>
        <p:txBody>
          <a:bodyPr wrap="square" rtlCol="0" anchor="ctr"/>
          <a:lstStyle/>
          <a:p>
            <a:pPr marL="0" indent="0" algn="ctr">
              <a:buNone/>
            </a:pPr>
            <a:r>
              <a:rPr lang="en-US" sz="1600" i="1" dirty="0">
                <a:solidFill>
                  <a:srgbClr val="5AA8D8"/>
                </a:solidFill>
              </a:rPr>
              <a:t>TCP · UDP · FTP · SMTP · TELNET · HTTP</a:t>
            </a:r>
            <a:endParaRPr lang="en-US" sz="1600" dirty="0"/>
          </a:p>
        </p:txBody>
      </p:sp>
      <p:sp>
        <p:nvSpPr>
          <p:cNvPr id="9" name="Shape 7"/>
          <p:cNvSpPr/>
          <p:nvPr/>
        </p:nvSpPr>
        <p:spPr>
          <a:xfrm>
            <a:off x="2286000" y="3154680"/>
            <a:ext cx="4572000" cy="54864"/>
          </a:xfrm>
          <a:prstGeom prst="rect">
            <a:avLst/>
          </a:prstGeom>
          <a:solidFill>
            <a:srgbClr val="5AA8D8"/>
          </a:solidFill>
          <a:ln w="12700">
            <a:solidFill>
              <a:srgbClr val="5AA8D8"/>
            </a:solidFill>
            <a:prstDash val="solid"/>
          </a:ln>
        </p:spPr>
        <p:txBody>
          <a:bodyPr/>
          <a:lstStyle/>
          <a:p>
            <a:endParaRPr lang="en-US"/>
          </a:p>
        </p:txBody>
      </p:sp>
      <p:sp>
        <p:nvSpPr>
          <p:cNvPr id="10" name="Shape 8"/>
          <p:cNvSpPr/>
          <p:nvPr/>
        </p:nvSpPr>
        <p:spPr>
          <a:xfrm>
            <a:off x="5486400" y="3291840"/>
            <a:ext cx="3200400" cy="310896"/>
          </a:xfrm>
          <a:prstGeom prst="rect">
            <a:avLst/>
          </a:prstGeom>
          <a:solidFill>
            <a:srgbClr val="5AA8D8"/>
          </a:solidFill>
          <a:ln w="12700">
            <a:solidFill>
              <a:srgbClr val="FFFFFF"/>
            </a:solidFill>
            <a:prstDash val="solid"/>
          </a:ln>
        </p:spPr>
        <p:txBody>
          <a:bodyPr/>
          <a:lstStyle/>
          <a:p>
            <a:endParaRPr lang="en-US"/>
          </a:p>
        </p:txBody>
      </p:sp>
      <p:sp>
        <p:nvSpPr>
          <p:cNvPr id="11" name="Text 9"/>
          <p:cNvSpPr/>
          <p:nvPr/>
        </p:nvSpPr>
        <p:spPr>
          <a:xfrm>
            <a:off x="5486400" y="3291840"/>
            <a:ext cx="3200400" cy="310896"/>
          </a:xfrm>
          <a:prstGeom prst="rect">
            <a:avLst/>
          </a:prstGeom>
          <a:noFill/>
          <a:ln/>
        </p:spPr>
        <p:txBody>
          <a:bodyPr wrap="square" rtlCol="0" anchor="ctr"/>
          <a:lstStyle/>
          <a:p>
            <a:pPr marL="0" indent="0" algn="ctr">
              <a:buNone/>
            </a:pPr>
            <a:r>
              <a:rPr lang="en-US" sz="850" b="1" dirty="0">
                <a:solidFill>
                  <a:srgbClr val="FFFFFF"/>
                </a:solidFill>
              </a:rPr>
              <a:t>APLICACIÓN</a:t>
            </a:r>
            <a:endParaRPr lang="en-US" sz="850" dirty="0"/>
          </a:p>
        </p:txBody>
      </p:sp>
      <p:sp>
        <p:nvSpPr>
          <p:cNvPr id="12" name="Shape 10"/>
          <p:cNvSpPr/>
          <p:nvPr/>
        </p:nvSpPr>
        <p:spPr>
          <a:xfrm>
            <a:off x="5486400" y="3639312"/>
            <a:ext cx="3200400" cy="310896"/>
          </a:xfrm>
          <a:prstGeom prst="rect">
            <a:avLst/>
          </a:prstGeom>
          <a:solidFill>
            <a:srgbClr val="3A7BAA"/>
          </a:solidFill>
          <a:ln w="12700">
            <a:solidFill>
              <a:srgbClr val="FFFFFF"/>
            </a:solidFill>
            <a:prstDash val="solid"/>
          </a:ln>
        </p:spPr>
        <p:txBody>
          <a:bodyPr/>
          <a:lstStyle/>
          <a:p>
            <a:endParaRPr lang="en-US"/>
          </a:p>
        </p:txBody>
      </p:sp>
      <p:sp>
        <p:nvSpPr>
          <p:cNvPr id="13" name="Text 11"/>
          <p:cNvSpPr/>
          <p:nvPr/>
        </p:nvSpPr>
        <p:spPr>
          <a:xfrm>
            <a:off x="5486400" y="3639312"/>
            <a:ext cx="3200400" cy="310896"/>
          </a:xfrm>
          <a:prstGeom prst="rect">
            <a:avLst/>
          </a:prstGeom>
          <a:noFill/>
          <a:ln/>
        </p:spPr>
        <p:txBody>
          <a:bodyPr wrap="square" rtlCol="0" anchor="ctr"/>
          <a:lstStyle/>
          <a:p>
            <a:pPr marL="0" indent="0" algn="ctr">
              <a:buNone/>
            </a:pPr>
            <a:r>
              <a:rPr lang="en-US" sz="850" b="1" dirty="0">
                <a:solidFill>
                  <a:srgbClr val="FFFFFF"/>
                </a:solidFill>
              </a:rPr>
              <a:t>TRANSPORTE (TCP/UDP)</a:t>
            </a:r>
            <a:endParaRPr lang="en-US" sz="850" dirty="0"/>
          </a:p>
        </p:txBody>
      </p:sp>
      <p:sp>
        <p:nvSpPr>
          <p:cNvPr id="14" name="Shape 12"/>
          <p:cNvSpPr/>
          <p:nvPr/>
        </p:nvSpPr>
        <p:spPr>
          <a:xfrm>
            <a:off x="5486400" y="3986784"/>
            <a:ext cx="3200400" cy="310896"/>
          </a:xfrm>
          <a:prstGeom prst="rect">
            <a:avLst/>
          </a:prstGeom>
          <a:solidFill>
            <a:srgbClr val="3A5A7A"/>
          </a:solidFill>
          <a:ln w="12700">
            <a:solidFill>
              <a:srgbClr val="FFFFFF"/>
            </a:solidFill>
            <a:prstDash val="solid"/>
          </a:ln>
        </p:spPr>
        <p:txBody>
          <a:bodyPr/>
          <a:lstStyle/>
          <a:p>
            <a:endParaRPr lang="en-US"/>
          </a:p>
        </p:txBody>
      </p:sp>
      <p:sp>
        <p:nvSpPr>
          <p:cNvPr id="15" name="Text 13"/>
          <p:cNvSpPr/>
          <p:nvPr/>
        </p:nvSpPr>
        <p:spPr>
          <a:xfrm>
            <a:off x="5486400" y="3986784"/>
            <a:ext cx="3200400" cy="310896"/>
          </a:xfrm>
          <a:prstGeom prst="rect">
            <a:avLst/>
          </a:prstGeom>
          <a:noFill/>
          <a:ln/>
        </p:spPr>
        <p:txBody>
          <a:bodyPr wrap="square" rtlCol="0" anchor="ctr"/>
          <a:lstStyle/>
          <a:p>
            <a:pPr marL="0" indent="0" algn="ctr">
              <a:buNone/>
            </a:pPr>
            <a:r>
              <a:rPr lang="en-US" sz="850" b="1" dirty="0">
                <a:solidFill>
                  <a:srgbClr val="FFFFFF"/>
                </a:solidFill>
              </a:rPr>
              <a:t>INTERNET (IP)</a:t>
            </a:r>
            <a:endParaRPr lang="en-US" sz="850" dirty="0"/>
          </a:p>
        </p:txBody>
      </p:sp>
      <p:sp>
        <p:nvSpPr>
          <p:cNvPr id="16" name="Shape 14"/>
          <p:cNvSpPr/>
          <p:nvPr/>
        </p:nvSpPr>
        <p:spPr>
          <a:xfrm>
            <a:off x="5486400" y="4334256"/>
            <a:ext cx="3200400" cy="310896"/>
          </a:xfrm>
          <a:prstGeom prst="rect">
            <a:avLst/>
          </a:prstGeom>
          <a:solidFill>
            <a:srgbClr val="2D4A5E"/>
          </a:solidFill>
          <a:ln w="12700">
            <a:solidFill>
              <a:srgbClr val="FFFFFF"/>
            </a:solidFill>
            <a:prstDash val="solid"/>
          </a:ln>
        </p:spPr>
        <p:txBody>
          <a:bodyPr/>
          <a:lstStyle/>
          <a:p>
            <a:endParaRPr lang="en-US"/>
          </a:p>
        </p:txBody>
      </p:sp>
      <p:sp>
        <p:nvSpPr>
          <p:cNvPr id="17" name="Text 15"/>
          <p:cNvSpPr/>
          <p:nvPr/>
        </p:nvSpPr>
        <p:spPr>
          <a:xfrm>
            <a:off x="5486400" y="4334256"/>
            <a:ext cx="3200400" cy="310896"/>
          </a:xfrm>
          <a:prstGeom prst="rect">
            <a:avLst/>
          </a:prstGeom>
          <a:noFill/>
          <a:ln/>
        </p:spPr>
        <p:txBody>
          <a:bodyPr wrap="square" rtlCol="0" anchor="ctr"/>
          <a:lstStyle/>
          <a:p>
            <a:pPr marL="0" indent="0" algn="ctr">
              <a:buNone/>
            </a:pPr>
            <a:r>
              <a:rPr lang="en-US" sz="850" b="1" dirty="0">
                <a:solidFill>
                  <a:srgbClr val="FFFFFF"/>
                </a:solidFill>
              </a:rPr>
              <a:t>ACCESO A LA RED</a:t>
            </a:r>
            <a:endParaRPr lang="en-US" sz="850" dirty="0"/>
          </a:p>
        </p:txBody>
      </p:sp>
      <p:sp>
        <p:nvSpPr>
          <p:cNvPr id="18" name="Text 16"/>
          <p:cNvSpPr/>
          <p:nvPr/>
        </p:nvSpPr>
        <p:spPr>
          <a:xfrm>
            <a:off x="457200" y="4480560"/>
            <a:ext cx="8229600" cy="365760"/>
          </a:xfrm>
          <a:prstGeom prst="rect">
            <a:avLst/>
          </a:prstGeom>
          <a:noFill/>
          <a:ln/>
        </p:spPr>
        <p:txBody>
          <a:bodyPr wrap="square" rtlCol="0" anchor="ctr"/>
          <a:lstStyle/>
          <a:p>
            <a:pPr marL="0" indent="0" algn="ctr">
              <a:buNone/>
            </a:pPr>
            <a:r>
              <a:rPr lang="en-US" sz="1100" i="1" dirty="0">
                <a:solidFill>
                  <a:srgbClr val="808080"/>
                </a:solidFill>
              </a:rPr>
              <a:t>Prof: Ing. Antonio Víctor Pérez Españón</a:t>
            </a:r>
            <a:endParaRPr lang="en-US" sz="1100" dirty="0"/>
          </a:p>
        </p:txBody>
      </p:sp>
      <p:sp>
        <p:nvSpPr>
          <p:cNvPr id="19" name="Shape 17"/>
          <p:cNvSpPr/>
          <p:nvPr/>
        </p:nvSpPr>
        <p:spPr>
          <a:xfrm>
            <a:off x="0" y="5029200"/>
            <a:ext cx="9144000" cy="109728"/>
          </a:xfrm>
          <a:prstGeom prst="rect">
            <a:avLst/>
          </a:prstGeom>
          <a:solidFill>
            <a:srgbClr val="5AA8D8"/>
          </a:solidFill>
          <a:ln w="12700">
            <a:solidFill>
              <a:srgbClr val="5AA8D8"/>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La Capa de Transporte</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Host-to-Host: garantizando la entrega confiable</a:t>
            </a:r>
            <a:endParaRPr lang="en-US" sz="1300" dirty="0"/>
          </a:p>
        </p:txBody>
      </p:sp>
      <p:sp>
        <p:nvSpPr>
          <p:cNvPr id="6" name="Text 4"/>
          <p:cNvSpPr/>
          <p:nvPr/>
        </p:nvSpPr>
        <p:spPr>
          <a:xfrm>
            <a:off x="365760" y="1143000"/>
            <a:ext cx="5120640" cy="1371600"/>
          </a:xfrm>
          <a:prstGeom prst="rect">
            <a:avLst/>
          </a:prstGeom>
          <a:noFill/>
          <a:ln/>
        </p:spPr>
        <p:txBody>
          <a:bodyPr wrap="square" lIns="101600" tIns="101600" rIns="101600" bIns="101600" rtlCol="0" anchor="ctr"/>
          <a:lstStyle/>
          <a:p>
            <a:pPr marL="0" indent="0">
              <a:buNone/>
            </a:pPr>
            <a:r>
              <a:rPr lang="en-US" sz="1300" b="1" dirty="0">
                <a:solidFill>
                  <a:srgbClr val="2D3030"/>
                </a:solidFill>
              </a:rPr>
              <a:t>¿Qué es la Capa de Transporte?</a:t>
            </a:r>
            <a:endParaRPr lang="en-US" sz="1300" dirty="0"/>
          </a:p>
          <a:p>
            <a:pPr marL="0" indent="0">
              <a:buNone/>
            </a:pPr>
            <a:r>
              <a:rPr lang="en-US" sz="1200" dirty="0">
                <a:solidFill>
                  <a:srgbClr val="404040"/>
                </a:solidFill>
              </a:rPr>
              <a:t>Es la capa que garantiza el intercambio confiable de datos entre procesos, independientemente de la naturaleza de la aplicación.</a:t>
            </a:r>
            <a:endParaRPr lang="en-US" sz="1300" dirty="0"/>
          </a:p>
          <a:p>
            <a:pPr marL="0" indent="0">
              <a:buNone/>
            </a:pPr>
            <a:r>
              <a:rPr lang="en-US" sz="1300" dirty="0">
                <a:solidFill>
                  <a:srgbClr val="000000"/>
                </a:solidFill>
              </a:rPr>
              <a:t> </a:t>
            </a:r>
            <a:endParaRPr lang="en-US" sz="1300" dirty="0"/>
          </a:p>
          <a:p>
            <a:pPr marL="0" indent="0">
              <a:buNone/>
            </a:pPr>
            <a:r>
              <a:rPr lang="en-US" sz="1200" dirty="0">
                <a:solidFill>
                  <a:srgbClr val="404040"/>
                </a:solidFill>
              </a:rPr>
              <a:t>El mecanismo de entrega confiable es común a todos los procesos → se centraliza en una única capa compartida.</a:t>
            </a:r>
            <a:endParaRPr lang="en-US" sz="1300" dirty="0"/>
          </a:p>
        </p:txBody>
      </p:sp>
      <p:sp>
        <p:nvSpPr>
          <p:cNvPr id="7" name="Shape 5"/>
          <p:cNvSpPr/>
          <p:nvPr/>
        </p:nvSpPr>
        <p:spPr>
          <a:xfrm>
            <a:off x="274320" y="2651760"/>
            <a:ext cx="4023360" cy="1737360"/>
          </a:xfrm>
          <a:prstGeom prst="rect">
            <a:avLst/>
          </a:prstGeom>
          <a:solidFill>
            <a:srgbClr val="5AA8D8"/>
          </a:solidFill>
          <a:ln w="12700">
            <a:solidFill>
              <a:srgbClr val="FFFFFF"/>
            </a:solidFill>
            <a:prstDash val="solid"/>
          </a:ln>
        </p:spPr>
        <p:txBody>
          <a:bodyPr/>
          <a:lstStyle/>
          <a:p>
            <a:endParaRPr lang="en-US"/>
          </a:p>
        </p:txBody>
      </p:sp>
      <p:sp>
        <p:nvSpPr>
          <p:cNvPr id="8" name="Text 6"/>
          <p:cNvSpPr/>
          <p:nvPr/>
        </p:nvSpPr>
        <p:spPr>
          <a:xfrm>
            <a:off x="365760" y="2697480"/>
            <a:ext cx="3840480" cy="411480"/>
          </a:xfrm>
          <a:prstGeom prst="rect">
            <a:avLst/>
          </a:prstGeom>
          <a:noFill/>
          <a:ln/>
        </p:spPr>
        <p:txBody>
          <a:bodyPr wrap="square" rtlCol="0" anchor="ctr"/>
          <a:lstStyle/>
          <a:p>
            <a:pPr marL="0" indent="0" algn="ctr">
              <a:buNone/>
            </a:pPr>
            <a:r>
              <a:rPr lang="en-US" sz="2000" b="1" dirty="0">
                <a:solidFill>
                  <a:srgbClr val="FFFFFF"/>
                </a:solidFill>
              </a:rPr>
              <a:t>TCP</a:t>
            </a:r>
            <a:endParaRPr lang="en-US" sz="2000" dirty="0"/>
          </a:p>
        </p:txBody>
      </p:sp>
      <p:sp>
        <p:nvSpPr>
          <p:cNvPr id="9" name="Text 7"/>
          <p:cNvSpPr/>
          <p:nvPr/>
        </p:nvSpPr>
        <p:spPr>
          <a:xfrm>
            <a:off x="365760" y="3090672"/>
            <a:ext cx="3840480" cy="274320"/>
          </a:xfrm>
          <a:prstGeom prst="rect">
            <a:avLst/>
          </a:prstGeom>
          <a:noFill/>
          <a:ln/>
        </p:spPr>
        <p:txBody>
          <a:bodyPr wrap="square" rtlCol="0" anchor="ctr"/>
          <a:lstStyle/>
          <a:p>
            <a:pPr marL="0" indent="0" algn="ctr">
              <a:buNone/>
            </a:pPr>
            <a:r>
              <a:rPr lang="en-US" sz="950" i="1" dirty="0">
                <a:solidFill>
                  <a:srgbClr val="B9DEF8"/>
                </a:solidFill>
              </a:rPr>
              <a:t>Transmission Control Protocol</a:t>
            </a:r>
            <a:endParaRPr lang="en-US" sz="950" dirty="0"/>
          </a:p>
        </p:txBody>
      </p:sp>
      <p:sp>
        <p:nvSpPr>
          <p:cNvPr id="10" name="Text 8"/>
          <p:cNvSpPr/>
          <p:nvPr/>
        </p:nvSpPr>
        <p:spPr>
          <a:xfrm>
            <a:off x="411480" y="3364992"/>
            <a:ext cx="3749040" cy="868680"/>
          </a:xfrm>
          <a:prstGeom prst="rect">
            <a:avLst/>
          </a:prstGeom>
          <a:noFill/>
          <a:ln/>
        </p:spPr>
        <p:txBody>
          <a:bodyPr wrap="square" lIns="50800" tIns="50800" rIns="50800" bIns="50800" rtlCol="0" anchor="t"/>
          <a:lstStyle/>
          <a:p>
            <a:pPr marL="0" indent="0" algn="l">
              <a:buNone/>
            </a:pPr>
            <a:r>
              <a:rPr lang="en-US" sz="1050" dirty="0">
                <a:solidFill>
                  <a:srgbClr val="FFFFFF"/>
                </a:solidFill>
              </a:rPr>
              <a:t>Entrega segura con detección de errores extremo a extremo. Orientado a conexión.</a:t>
            </a:r>
            <a:endParaRPr lang="en-US" sz="1050" dirty="0"/>
          </a:p>
        </p:txBody>
      </p:sp>
      <p:sp>
        <p:nvSpPr>
          <p:cNvPr id="11" name="Shape 9"/>
          <p:cNvSpPr/>
          <p:nvPr/>
        </p:nvSpPr>
        <p:spPr>
          <a:xfrm>
            <a:off x="4754880" y="2651760"/>
            <a:ext cx="4023360" cy="1737360"/>
          </a:xfrm>
          <a:prstGeom prst="rect">
            <a:avLst/>
          </a:prstGeom>
          <a:solidFill>
            <a:srgbClr val="3A7BAA"/>
          </a:solidFill>
          <a:ln w="12700">
            <a:solidFill>
              <a:srgbClr val="FFFFFF"/>
            </a:solidFill>
            <a:prstDash val="solid"/>
          </a:ln>
        </p:spPr>
        <p:txBody>
          <a:bodyPr/>
          <a:lstStyle/>
          <a:p>
            <a:endParaRPr lang="en-US"/>
          </a:p>
        </p:txBody>
      </p:sp>
      <p:sp>
        <p:nvSpPr>
          <p:cNvPr id="12" name="Text 10"/>
          <p:cNvSpPr/>
          <p:nvPr/>
        </p:nvSpPr>
        <p:spPr>
          <a:xfrm>
            <a:off x="4846320" y="2697480"/>
            <a:ext cx="3840480" cy="411480"/>
          </a:xfrm>
          <a:prstGeom prst="rect">
            <a:avLst/>
          </a:prstGeom>
          <a:noFill/>
          <a:ln/>
        </p:spPr>
        <p:txBody>
          <a:bodyPr wrap="square" rtlCol="0" anchor="ctr"/>
          <a:lstStyle/>
          <a:p>
            <a:pPr marL="0" indent="0" algn="ctr">
              <a:buNone/>
            </a:pPr>
            <a:r>
              <a:rPr lang="en-US" sz="2000" b="1" dirty="0">
                <a:solidFill>
                  <a:srgbClr val="FFFFFF"/>
                </a:solidFill>
              </a:rPr>
              <a:t>UDP</a:t>
            </a:r>
            <a:endParaRPr lang="en-US" sz="2000" dirty="0"/>
          </a:p>
        </p:txBody>
      </p:sp>
      <p:sp>
        <p:nvSpPr>
          <p:cNvPr id="13" name="Text 11"/>
          <p:cNvSpPr/>
          <p:nvPr/>
        </p:nvSpPr>
        <p:spPr>
          <a:xfrm>
            <a:off x="4846320" y="3090672"/>
            <a:ext cx="3840480" cy="274320"/>
          </a:xfrm>
          <a:prstGeom prst="rect">
            <a:avLst/>
          </a:prstGeom>
          <a:noFill/>
          <a:ln/>
        </p:spPr>
        <p:txBody>
          <a:bodyPr wrap="square" rtlCol="0" anchor="ctr"/>
          <a:lstStyle/>
          <a:p>
            <a:pPr marL="0" indent="0" algn="ctr">
              <a:buNone/>
            </a:pPr>
            <a:r>
              <a:rPr lang="en-US" sz="950" i="1" dirty="0">
                <a:solidFill>
                  <a:srgbClr val="B9DEF8"/>
                </a:solidFill>
              </a:rPr>
              <a:t>User Datagram Protocol</a:t>
            </a:r>
            <a:endParaRPr lang="en-US" sz="950" dirty="0"/>
          </a:p>
        </p:txBody>
      </p:sp>
      <p:sp>
        <p:nvSpPr>
          <p:cNvPr id="14" name="Text 12"/>
          <p:cNvSpPr/>
          <p:nvPr/>
        </p:nvSpPr>
        <p:spPr>
          <a:xfrm>
            <a:off x="4892040" y="3364992"/>
            <a:ext cx="3749040" cy="868680"/>
          </a:xfrm>
          <a:prstGeom prst="rect">
            <a:avLst/>
          </a:prstGeom>
          <a:noFill/>
          <a:ln/>
        </p:spPr>
        <p:txBody>
          <a:bodyPr wrap="square" lIns="50800" tIns="50800" rIns="50800" bIns="50800" rtlCol="0" anchor="t"/>
          <a:lstStyle/>
          <a:p>
            <a:pPr marL="0" indent="0" algn="l">
              <a:buNone/>
            </a:pPr>
            <a:r>
              <a:rPr lang="en-US" sz="1050" dirty="0">
                <a:solidFill>
                  <a:srgbClr val="FFFFFF"/>
                </a:solidFill>
              </a:rPr>
              <a:t>Entrega de datagramas de baja sobrecarga. No orientado a conexión.</a:t>
            </a:r>
            <a:endParaRPr lang="en-US" sz="1050" dirty="0"/>
          </a:p>
        </p:txBody>
      </p:sp>
      <p:sp>
        <p:nvSpPr>
          <p:cNvPr id="15" name="Shape 13"/>
          <p:cNvSpPr/>
          <p:nvPr/>
        </p:nvSpPr>
        <p:spPr>
          <a:xfrm>
            <a:off x="5760720" y="1097280"/>
            <a:ext cx="3063240" cy="1417320"/>
          </a:xfrm>
          <a:prstGeom prst="rect">
            <a:avLst/>
          </a:prstGeom>
          <a:solidFill>
            <a:srgbClr val="E8F4FC"/>
          </a:solidFill>
          <a:ln w="19050">
            <a:solidFill>
              <a:srgbClr val="5AA8D8"/>
            </a:solidFill>
            <a:prstDash val="solid"/>
          </a:ln>
        </p:spPr>
        <p:txBody>
          <a:bodyPr/>
          <a:lstStyle/>
          <a:p>
            <a:endParaRPr lang="en-US"/>
          </a:p>
        </p:txBody>
      </p:sp>
      <p:sp>
        <p:nvSpPr>
          <p:cNvPr id="16" name="Text 14"/>
          <p:cNvSpPr/>
          <p:nvPr/>
        </p:nvSpPr>
        <p:spPr>
          <a:xfrm>
            <a:off x="5806440" y="1115568"/>
            <a:ext cx="2971800" cy="320040"/>
          </a:xfrm>
          <a:prstGeom prst="rect">
            <a:avLst/>
          </a:prstGeom>
          <a:noFill/>
          <a:ln/>
        </p:spPr>
        <p:txBody>
          <a:bodyPr wrap="square" rtlCol="0" anchor="ctr"/>
          <a:lstStyle/>
          <a:p>
            <a:pPr marL="0" indent="0">
              <a:buNone/>
            </a:pPr>
            <a:r>
              <a:rPr lang="en-US" sz="1000" b="1" dirty="0">
                <a:solidFill>
                  <a:srgbClr val="3A7BAA"/>
                </a:solidFill>
              </a:rPr>
              <a:t>📌 Posición en el modelo TCP/IP</a:t>
            </a:r>
            <a:endParaRPr lang="en-US" sz="1000" dirty="0"/>
          </a:p>
        </p:txBody>
      </p:sp>
      <p:sp>
        <p:nvSpPr>
          <p:cNvPr id="17" name="Text 15"/>
          <p:cNvSpPr/>
          <p:nvPr/>
        </p:nvSpPr>
        <p:spPr>
          <a:xfrm>
            <a:off x="5806440" y="1417320"/>
            <a:ext cx="2971800" cy="1005840"/>
          </a:xfrm>
          <a:prstGeom prst="rect">
            <a:avLst/>
          </a:prstGeom>
          <a:noFill/>
          <a:ln/>
        </p:spPr>
        <p:txBody>
          <a:bodyPr wrap="square" lIns="50800" tIns="50800" rIns="50800" bIns="50800" rtlCol="0" anchor="ctr"/>
          <a:lstStyle/>
          <a:p>
            <a:pPr marL="0" indent="0">
              <a:buNone/>
            </a:pPr>
            <a:r>
              <a:rPr lang="en-US" sz="1000" b="1" dirty="0">
                <a:solidFill>
                  <a:srgbClr val="2D3030"/>
                </a:solidFill>
              </a:rPr>
              <a:t>Por encima de: </a:t>
            </a:r>
            <a:r>
              <a:rPr lang="en-US" sz="1000" dirty="0">
                <a:solidFill>
                  <a:srgbClr val="2D3030"/>
                </a:solidFill>
              </a:rPr>
              <a:t>Capa Internet (IP)
</a:t>
            </a:r>
            <a:r>
              <a:rPr lang="en-US" sz="1000" b="1" dirty="0">
                <a:solidFill>
                  <a:srgbClr val="2D3030"/>
                </a:solidFill>
              </a:rPr>
              <a:t>Por debajo de: </a:t>
            </a:r>
            <a:r>
              <a:rPr lang="en-US" sz="1000" dirty="0">
                <a:solidFill>
                  <a:srgbClr val="2D3030"/>
                </a:solidFill>
              </a:rPr>
              <a:t>Capa de Aplicación
</a:t>
            </a:r>
            <a:r>
              <a:rPr lang="en-US" sz="1000" b="1" dirty="0">
                <a:solidFill>
                  <a:srgbClr val="2D3030"/>
                </a:solidFill>
              </a:rPr>
              <a:t>Protocolos: </a:t>
            </a:r>
            <a:r>
              <a:rPr lang="en-US" sz="1000" dirty="0">
                <a:solidFill>
                  <a:srgbClr val="2D3030"/>
                </a:solidFill>
              </a:rPr>
              <a:t>TCP y UDP</a:t>
            </a:r>
            <a:endParaRPr lang="en-US" sz="1000" dirty="0"/>
          </a:p>
        </p:txBody>
      </p:sp>
      <p:sp>
        <p:nvSpPr>
          <p:cNvPr id="18" name="Shape 16"/>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9" name="Text 17"/>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La capa de transporte es el "árbitro" que asegura que los datos llegan correctamente, sin importar qué aplicación los usa. Destaque que TCP y UDP son los dos protagonistas de esta capa.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UDP — User Datagram Protocol</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Rápido, liviano, sin garantía de entrega</a:t>
            </a:r>
            <a:endParaRPr lang="en-US" sz="1300" dirty="0"/>
          </a:p>
        </p:txBody>
      </p:sp>
      <p:sp>
        <p:nvSpPr>
          <p:cNvPr id="6" name="Text 4"/>
          <p:cNvSpPr/>
          <p:nvPr/>
        </p:nvSpPr>
        <p:spPr>
          <a:xfrm>
            <a:off x="274320" y="1188720"/>
            <a:ext cx="4114800" cy="2286000"/>
          </a:xfrm>
          <a:prstGeom prst="rect">
            <a:avLst/>
          </a:prstGeom>
          <a:noFill/>
          <a:ln/>
        </p:spPr>
        <p:txBody>
          <a:bodyPr wrap="square" lIns="76200" tIns="76200" rIns="76200" bIns="76200" rtlCol="0" anchor="ctr"/>
          <a:lstStyle/>
          <a:p>
            <a:pPr marL="0" indent="0">
              <a:buNone/>
            </a:pPr>
            <a:r>
              <a:rPr lang="en-US" sz="1300" b="1" dirty="0">
                <a:solidFill>
                  <a:srgbClr val="5AA8D8"/>
                </a:solidFill>
              </a:rPr>
              <a:t>Características principales</a:t>
            </a:r>
            <a:endParaRPr lang="en-US" sz="1300" dirty="0"/>
          </a:p>
          <a:p>
            <a:pPr marL="0" indent="0">
              <a:buNone/>
            </a:pPr>
            <a:r>
              <a:rPr lang="en-US" sz="1100" dirty="0">
                <a:solidFill>
                  <a:srgbClr val="FFFFFF"/>
                </a:solidFill>
              </a:rPr>
              <a:t>✗  No orientado a conexión</a:t>
            </a:r>
            <a:endParaRPr lang="en-US" sz="1300" dirty="0"/>
          </a:p>
          <a:p>
            <a:pPr marL="0" indent="0">
              <a:buNone/>
            </a:pPr>
            <a:r>
              <a:rPr lang="en-US" sz="1100" dirty="0">
                <a:solidFill>
                  <a:srgbClr val="FFFFFF"/>
                </a:solidFill>
              </a:rPr>
              <a:t>✗  Sin verificación de entrega</a:t>
            </a:r>
            <a:endParaRPr lang="en-US" sz="1300" dirty="0"/>
          </a:p>
          <a:p>
            <a:pPr marL="0" indent="0">
              <a:buNone/>
            </a:pPr>
            <a:r>
              <a:rPr lang="en-US" sz="1100" dirty="0">
                <a:solidFill>
                  <a:srgbClr val="FFFFFF"/>
                </a:solidFill>
              </a:rPr>
              <a:t>✗  Sin reordenamiento de paquetes</a:t>
            </a:r>
            <a:endParaRPr lang="en-US" sz="1300" dirty="0"/>
          </a:p>
          <a:p>
            <a:pPr marL="0" indent="0">
              <a:buNone/>
            </a:pPr>
            <a:r>
              <a:rPr lang="en-US" sz="1100" dirty="0">
                <a:solidFill>
                  <a:srgbClr val="90EE90"/>
                </a:solidFill>
              </a:rPr>
              <a:t>✓  Baja sobrecarga (overhead mínimo)</a:t>
            </a:r>
            <a:endParaRPr lang="en-US" sz="1300" dirty="0"/>
          </a:p>
          <a:p>
            <a:pPr marL="0" indent="0">
              <a:buNone/>
            </a:pPr>
            <a:r>
              <a:rPr lang="en-US" sz="1100" dirty="0">
                <a:solidFill>
                  <a:srgbClr val="90EE90"/>
                </a:solidFill>
              </a:rPr>
              <a:t>✓  Alta velocidad de transmisión</a:t>
            </a:r>
            <a:endParaRPr lang="en-US" sz="1300" dirty="0"/>
          </a:p>
          <a:p>
            <a:pPr marL="0" indent="0">
              <a:buNone/>
            </a:pPr>
            <a:r>
              <a:rPr lang="en-US" sz="1100" dirty="0">
                <a:solidFill>
                  <a:srgbClr val="90EE90"/>
                </a:solidFill>
              </a:rPr>
              <a:t>✓  Acceso directo a servicios IP</a:t>
            </a:r>
            <a:endParaRPr lang="en-US" sz="1300" dirty="0"/>
          </a:p>
        </p:txBody>
      </p:sp>
      <p:sp>
        <p:nvSpPr>
          <p:cNvPr id="7" name="Shape 5"/>
          <p:cNvSpPr/>
          <p:nvPr/>
        </p:nvSpPr>
        <p:spPr>
          <a:xfrm>
            <a:off x="4572000" y="1097280"/>
            <a:ext cx="4206240" cy="347472"/>
          </a:xfrm>
          <a:prstGeom prst="rect">
            <a:avLst/>
          </a:prstGeom>
          <a:solidFill>
            <a:srgbClr val="3A7BAA"/>
          </a:solidFill>
          <a:ln w="12700">
            <a:solidFill>
              <a:srgbClr val="5AA8D8"/>
            </a:solidFill>
            <a:prstDash val="solid"/>
          </a:ln>
        </p:spPr>
        <p:txBody>
          <a:bodyPr/>
          <a:lstStyle/>
          <a:p>
            <a:endParaRPr lang="en-US"/>
          </a:p>
        </p:txBody>
      </p:sp>
      <p:sp>
        <p:nvSpPr>
          <p:cNvPr id="8" name="Text 6"/>
          <p:cNvSpPr/>
          <p:nvPr/>
        </p:nvSpPr>
        <p:spPr>
          <a:xfrm>
            <a:off x="4572000" y="1097280"/>
            <a:ext cx="4206240" cy="347472"/>
          </a:xfrm>
          <a:prstGeom prst="rect">
            <a:avLst/>
          </a:prstGeom>
          <a:noFill/>
          <a:ln/>
        </p:spPr>
        <p:txBody>
          <a:bodyPr wrap="square" rtlCol="0" anchor="ctr"/>
          <a:lstStyle/>
          <a:p>
            <a:pPr marL="0" indent="0" algn="ctr">
              <a:buNone/>
            </a:pPr>
            <a:r>
              <a:rPr lang="en-US" sz="1000" b="1" dirty="0">
                <a:solidFill>
                  <a:srgbClr val="FFFFFF"/>
                </a:solidFill>
              </a:rPr>
              <a:t>Encabezado UDP (32 bits)</a:t>
            </a:r>
            <a:endParaRPr lang="en-US" sz="1000" dirty="0"/>
          </a:p>
        </p:txBody>
      </p:sp>
      <p:sp>
        <p:nvSpPr>
          <p:cNvPr id="9" name="Shape 7"/>
          <p:cNvSpPr/>
          <p:nvPr/>
        </p:nvSpPr>
        <p:spPr>
          <a:xfrm>
            <a:off x="4572000" y="1444752"/>
            <a:ext cx="2103120" cy="384048"/>
          </a:xfrm>
          <a:prstGeom prst="rect">
            <a:avLst/>
          </a:prstGeom>
          <a:solidFill>
            <a:srgbClr val="3A4A5A"/>
          </a:solidFill>
          <a:ln w="12700">
            <a:solidFill>
              <a:srgbClr val="5AA8D8"/>
            </a:solidFill>
            <a:prstDash val="solid"/>
          </a:ln>
        </p:spPr>
        <p:txBody>
          <a:bodyPr/>
          <a:lstStyle/>
          <a:p>
            <a:endParaRPr lang="en-US"/>
          </a:p>
        </p:txBody>
      </p:sp>
      <p:sp>
        <p:nvSpPr>
          <p:cNvPr id="10" name="Text 8"/>
          <p:cNvSpPr/>
          <p:nvPr/>
        </p:nvSpPr>
        <p:spPr>
          <a:xfrm>
            <a:off x="4572000" y="1444752"/>
            <a:ext cx="2103120" cy="384048"/>
          </a:xfrm>
          <a:prstGeom prst="rect">
            <a:avLst/>
          </a:prstGeom>
          <a:noFill/>
          <a:ln/>
        </p:spPr>
        <p:txBody>
          <a:bodyPr wrap="square" rtlCol="0" anchor="ctr"/>
          <a:lstStyle/>
          <a:p>
            <a:pPr marL="0" indent="0" algn="ctr">
              <a:buNone/>
            </a:pPr>
            <a:r>
              <a:rPr lang="en-US" sz="900" dirty="0">
                <a:solidFill>
                  <a:srgbClr val="FFFFFF"/>
                </a:solidFill>
              </a:rPr>
              <a:t>Puerto Origen (16 bits)</a:t>
            </a:r>
            <a:endParaRPr lang="en-US" sz="900" dirty="0"/>
          </a:p>
        </p:txBody>
      </p:sp>
      <p:sp>
        <p:nvSpPr>
          <p:cNvPr id="11" name="Shape 9"/>
          <p:cNvSpPr/>
          <p:nvPr/>
        </p:nvSpPr>
        <p:spPr>
          <a:xfrm>
            <a:off x="6675120" y="1444752"/>
            <a:ext cx="2103120" cy="384048"/>
          </a:xfrm>
          <a:prstGeom prst="rect">
            <a:avLst/>
          </a:prstGeom>
          <a:solidFill>
            <a:srgbClr val="3A4A5A"/>
          </a:solidFill>
          <a:ln w="12700">
            <a:solidFill>
              <a:srgbClr val="5AA8D8"/>
            </a:solidFill>
            <a:prstDash val="solid"/>
          </a:ln>
        </p:spPr>
        <p:txBody>
          <a:bodyPr/>
          <a:lstStyle/>
          <a:p>
            <a:endParaRPr lang="en-US"/>
          </a:p>
        </p:txBody>
      </p:sp>
      <p:sp>
        <p:nvSpPr>
          <p:cNvPr id="12" name="Text 10"/>
          <p:cNvSpPr/>
          <p:nvPr/>
        </p:nvSpPr>
        <p:spPr>
          <a:xfrm>
            <a:off x="6675120" y="1444752"/>
            <a:ext cx="2103120" cy="384048"/>
          </a:xfrm>
          <a:prstGeom prst="rect">
            <a:avLst/>
          </a:prstGeom>
          <a:noFill/>
          <a:ln/>
        </p:spPr>
        <p:txBody>
          <a:bodyPr wrap="square" rtlCol="0" anchor="ctr"/>
          <a:lstStyle/>
          <a:p>
            <a:pPr marL="0" indent="0" algn="ctr">
              <a:buNone/>
            </a:pPr>
            <a:r>
              <a:rPr lang="en-US" sz="900" dirty="0">
                <a:solidFill>
                  <a:srgbClr val="FFFFFF"/>
                </a:solidFill>
              </a:rPr>
              <a:t>Puerto Destino (16 bits)</a:t>
            </a:r>
            <a:endParaRPr lang="en-US" sz="900" dirty="0"/>
          </a:p>
        </p:txBody>
      </p:sp>
      <p:sp>
        <p:nvSpPr>
          <p:cNvPr id="13" name="Shape 11"/>
          <p:cNvSpPr/>
          <p:nvPr/>
        </p:nvSpPr>
        <p:spPr>
          <a:xfrm>
            <a:off x="4572000" y="1856232"/>
            <a:ext cx="2103120" cy="384048"/>
          </a:xfrm>
          <a:prstGeom prst="rect">
            <a:avLst/>
          </a:prstGeom>
          <a:solidFill>
            <a:srgbClr val="3A4A5A"/>
          </a:solidFill>
          <a:ln w="12700">
            <a:solidFill>
              <a:srgbClr val="5AA8D8"/>
            </a:solidFill>
            <a:prstDash val="solid"/>
          </a:ln>
        </p:spPr>
        <p:txBody>
          <a:bodyPr/>
          <a:lstStyle/>
          <a:p>
            <a:endParaRPr lang="en-US"/>
          </a:p>
        </p:txBody>
      </p:sp>
      <p:sp>
        <p:nvSpPr>
          <p:cNvPr id="14" name="Text 12"/>
          <p:cNvSpPr/>
          <p:nvPr/>
        </p:nvSpPr>
        <p:spPr>
          <a:xfrm>
            <a:off x="4572000" y="1856232"/>
            <a:ext cx="2103120" cy="384048"/>
          </a:xfrm>
          <a:prstGeom prst="rect">
            <a:avLst/>
          </a:prstGeom>
          <a:noFill/>
          <a:ln/>
        </p:spPr>
        <p:txBody>
          <a:bodyPr wrap="square" rtlCol="0" anchor="ctr"/>
          <a:lstStyle/>
          <a:p>
            <a:pPr marL="0" indent="0" algn="ctr">
              <a:buNone/>
            </a:pPr>
            <a:r>
              <a:rPr lang="en-US" sz="900" dirty="0">
                <a:solidFill>
                  <a:srgbClr val="FFFFFF"/>
                </a:solidFill>
              </a:rPr>
              <a:t>Longitud del mensaje</a:t>
            </a:r>
            <a:endParaRPr lang="en-US" sz="900" dirty="0"/>
          </a:p>
        </p:txBody>
      </p:sp>
      <p:sp>
        <p:nvSpPr>
          <p:cNvPr id="15" name="Shape 13"/>
          <p:cNvSpPr/>
          <p:nvPr/>
        </p:nvSpPr>
        <p:spPr>
          <a:xfrm>
            <a:off x="6675120" y="1856232"/>
            <a:ext cx="2103120" cy="384048"/>
          </a:xfrm>
          <a:prstGeom prst="rect">
            <a:avLst/>
          </a:prstGeom>
          <a:solidFill>
            <a:srgbClr val="3A4A5A"/>
          </a:solidFill>
          <a:ln w="12700">
            <a:solidFill>
              <a:srgbClr val="5AA8D8"/>
            </a:solidFill>
            <a:prstDash val="solid"/>
          </a:ln>
        </p:spPr>
        <p:txBody>
          <a:bodyPr/>
          <a:lstStyle/>
          <a:p>
            <a:endParaRPr lang="en-US"/>
          </a:p>
        </p:txBody>
      </p:sp>
      <p:sp>
        <p:nvSpPr>
          <p:cNvPr id="16" name="Text 14"/>
          <p:cNvSpPr/>
          <p:nvPr/>
        </p:nvSpPr>
        <p:spPr>
          <a:xfrm>
            <a:off x="6675120" y="1856232"/>
            <a:ext cx="2103120" cy="384048"/>
          </a:xfrm>
          <a:prstGeom prst="rect">
            <a:avLst/>
          </a:prstGeom>
          <a:noFill/>
          <a:ln/>
        </p:spPr>
        <p:txBody>
          <a:bodyPr wrap="square" rtlCol="0" anchor="ctr"/>
          <a:lstStyle/>
          <a:p>
            <a:pPr marL="0" indent="0" algn="ctr">
              <a:buNone/>
            </a:pPr>
            <a:r>
              <a:rPr lang="en-US" sz="900" dirty="0">
                <a:solidFill>
                  <a:srgbClr val="FFFFFF"/>
                </a:solidFill>
              </a:rPr>
              <a:t>Checksum</a:t>
            </a:r>
            <a:endParaRPr lang="en-US" sz="900" dirty="0"/>
          </a:p>
        </p:txBody>
      </p:sp>
      <p:sp>
        <p:nvSpPr>
          <p:cNvPr id="17" name="Shape 15"/>
          <p:cNvSpPr/>
          <p:nvPr/>
        </p:nvSpPr>
        <p:spPr>
          <a:xfrm>
            <a:off x="274320" y="2743200"/>
            <a:ext cx="8412480" cy="1645920"/>
          </a:xfrm>
          <a:prstGeom prst="rect">
            <a:avLst/>
          </a:prstGeom>
          <a:solidFill>
            <a:srgbClr val="1A2530"/>
          </a:solidFill>
          <a:ln w="12700">
            <a:solidFill>
              <a:srgbClr val="5AA8D8"/>
            </a:solidFill>
            <a:prstDash val="solid"/>
          </a:ln>
        </p:spPr>
        <p:txBody>
          <a:bodyPr/>
          <a:lstStyle/>
          <a:p>
            <a:endParaRPr lang="en-US"/>
          </a:p>
        </p:txBody>
      </p:sp>
      <p:sp>
        <p:nvSpPr>
          <p:cNvPr id="18" name="Text 16"/>
          <p:cNvSpPr/>
          <p:nvPr/>
        </p:nvSpPr>
        <p:spPr>
          <a:xfrm>
            <a:off x="365760" y="2788920"/>
            <a:ext cx="8229600" cy="320040"/>
          </a:xfrm>
          <a:prstGeom prst="rect">
            <a:avLst/>
          </a:prstGeom>
          <a:noFill/>
          <a:ln/>
        </p:spPr>
        <p:txBody>
          <a:bodyPr wrap="square" rtlCol="0" anchor="ctr"/>
          <a:lstStyle/>
          <a:p>
            <a:pPr marL="0" indent="0">
              <a:buNone/>
            </a:pPr>
            <a:r>
              <a:rPr lang="en-US" sz="1100" b="1" dirty="0">
                <a:solidFill>
                  <a:srgbClr val="5AA8D8"/>
                </a:solidFill>
              </a:rPr>
              <a:t>¿Cuándo se usa UDP? — Casos de uso en celulares y redes modernas</a:t>
            </a:r>
            <a:endParaRPr lang="en-US" sz="1100" dirty="0"/>
          </a:p>
        </p:txBody>
      </p:sp>
      <p:sp>
        <p:nvSpPr>
          <p:cNvPr id="19" name="Text 17"/>
          <p:cNvSpPr/>
          <p:nvPr/>
        </p:nvSpPr>
        <p:spPr>
          <a:xfrm>
            <a:off x="365760" y="3127248"/>
            <a:ext cx="4114800" cy="292608"/>
          </a:xfrm>
          <a:prstGeom prst="rect">
            <a:avLst/>
          </a:prstGeom>
          <a:noFill/>
          <a:ln/>
        </p:spPr>
        <p:txBody>
          <a:bodyPr wrap="square" rtlCol="0" anchor="ctr"/>
          <a:lstStyle/>
          <a:p>
            <a:pPr marL="0" indent="0">
              <a:buNone/>
            </a:pPr>
            <a:r>
              <a:rPr lang="en-US" sz="1000" dirty="0">
                <a:solidFill>
                  <a:srgbClr val="FFFFFF"/>
                </a:solidFill>
              </a:rPr>
              <a:t>🎮  Gaming online / juegos móviles</a:t>
            </a:r>
            <a:endParaRPr lang="en-US" sz="1000" dirty="0"/>
          </a:p>
        </p:txBody>
      </p:sp>
      <p:sp>
        <p:nvSpPr>
          <p:cNvPr id="20" name="Text 18"/>
          <p:cNvSpPr/>
          <p:nvPr/>
        </p:nvSpPr>
        <p:spPr>
          <a:xfrm>
            <a:off x="365760" y="3447288"/>
            <a:ext cx="4114800" cy="292608"/>
          </a:xfrm>
          <a:prstGeom prst="rect">
            <a:avLst/>
          </a:prstGeom>
          <a:noFill/>
          <a:ln/>
        </p:spPr>
        <p:txBody>
          <a:bodyPr wrap="square" rtlCol="0" anchor="ctr"/>
          <a:lstStyle/>
          <a:p>
            <a:pPr marL="0" indent="0">
              <a:buNone/>
            </a:pPr>
            <a:r>
              <a:rPr lang="en-US" sz="1000" dirty="0">
                <a:solidFill>
                  <a:srgbClr val="FFFFFF"/>
                </a:solidFill>
              </a:rPr>
              <a:t>📹  Videollamadas (WhatsApp, FaceTime, Zoom)</a:t>
            </a:r>
            <a:endParaRPr lang="en-US" sz="1000" dirty="0"/>
          </a:p>
        </p:txBody>
      </p:sp>
      <p:sp>
        <p:nvSpPr>
          <p:cNvPr id="21" name="Text 19"/>
          <p:cNvSpPr/>
          <p:nvPr/>
        </p:nvSpPr>
        <p:spPr>
          <a:xfrm>
            <a:off x="365760" y="3767328"/>
            <a:ext cx="4114800" cy="292608"/>
          </a:xfrm>
          <a:prstGeom prst="rect">
            <a:avLst/>
          </a:prstGeom>
          <a:noFill/>
          <a:ln/>
        </p:spPr>
        <p:txBody>
          <a:bodyPr wrap="square" rtlCol="0" anchor="ctr"/>
          <a:lstStyle/>
          <a:p>
            <a:pPr marL="0" indent="0">
              <a:buNone/>
            </a:pPr>
            <a:r>
              <a:rPr lang="en-US" sz="1000" dirty="0">
                <a:solidFill>
                  <a:srgbClr val="FFFFFF"/>
                </a:solidFill>
              </a:rPr>
              <a:t>📡  Streaming en vivo (YouTube Live, TikTok)</a:t>
            </a:r>
            <a:endParaRPr lang="en-US" sz="1000" dirty="0"/>
          </a:p>
        </p:txBody>
      </p:sp>
      <p:sp>
        <p:nvSpPr>
          <p:cNvPr id="22" name="Text 20"/>
          <p:cNvSpPr/>
          <p:nvPr/>
        </p:nvSpPr>
        <p:spPr>
          <a:xfrm>
            <a:off x="4572000" y="3127248"/>
            <a:ext cx="4114800" cy="292608"/>
          </a:xfrm>
          <a:prstGeom prst="rect">
            <a:avLst/>
          </a:prstGeom>
          <a:noFill/>
          <a:ln/>
        </p:spPr>
        <p:txBody>
          <a:bodyPr wrap="square" rtlCol="0" anchor="ctr"/>
          <a:lstStyle/>
          <a:p>
            <a:pPr marL="0" indent="0">
              <a:buNone/>
            </a:pPr>
            <a:r>
              <a:rPr lang="en-US" sz="1000" dirty="0">
                <a:solidFill>
                  <a:srgbClr val="FFFFFF"/>
                </a:solidFill>
              </a:rPr>
              <a:t>🌐  DNS (resolución de nombres de dominio)</a:t>
            </a:r>
            <a:endParaRPr lang="en-US" sz="1000" dirty="0"/>
          </a:p>
        </p:txBody>
      </p:sp>
      <p:sp>
        <p:nvSpPr>
          <p:cNvPr id="23" name="Text 21"/>
          <p:cNvSpPr/>
          <p:nvPr/>
        </p:nvSpPr>
        <p:spPr>
          <a:xfrm>
            <a:off x="4572000" y="3447288"/>
            <a:ext cx="4114800" cy="292608"/>
          </a:xfrm>
          <a:prstGeom prst="rect">
            <a:avLst/>
          </a:prstGeom>
          <a:noFill/>
          <a:ln/>
        </p:spPr>
        <p:txBody>
          <a:bodyPr wrap="square" rtlCol="0" anchor="ctr"/>
          <a:lstStyle/>
          <a:p>
            <a:pPr marL="0" indent="0">
              <a:buNone/>
            </a:pPr>
            <a:r>
              <a:rPr lang="en-US" sz="1000" dirty="0">
                <a:solidFill>
                  <a:srgbClr val="FFFFFF"/>
                </a:solidFill>
              </a:rPr>
              <a:t>📻  Transmisión de audio/video en tiempo real</a:t>
            </a:r>
            <a:endParaRPr lang="en-US" sz="1000" dirty="0"/>
          </a:p>
        </p:txBody>
      </p:sp>
      <p:sp>
        <p:nvSpPr>
          <p:cNvPr id="24" name="Shape 22"/>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5" name="Text 23"/>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Analogía: UDP es como mandar una carta sin certificado. Rápido y barato, pero no sabés si llegó. En tu celular, cuando jugás online o hacés videollamadas, se usa UDP para no perder tiempo.</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TCP — Transmission Control Protocol</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Confiable, orientado a conexión, por trenes de bytes</a:t>
            </a:r>
            <a:endParaRPr lang="en-US" sz="1300" dirty="0"/>
          </a:p>
        </p:txBody>
      </p:sp>
      <p:sp>
        <p:nvSpPr>
          <p:cNvPr id="6" name="Shape 4"/>
          <p:cNvSpPr/>
          <p:nvPr/>
        </p:nvSpPr>
        <p:spPr>
          <a:xfrm>
            <a:off x="274320" y="1188720"/>
            <a:ext cx="4114800" cy="1234440"/>
          </a:xfrm>
          <a:prstGeom prst="rect">
            <a:avLst/>
          </a:prstGeom>
          <a:solidFill>
            <a:srgbClr val="FFFFFF"/>
          </a:solidFill>
          <a:ln w="19050">
            <a:solidFill>
              <a:srgbClr val="5AA8D8"/>
            </a:solidFill>
            <a:prstDash val="solid"/>
          </a:ln>
          <a:effectLst>
            <a:outerShdw blurRad="50800" dist="25400" dir="8100000" algn="bl" rotWithShape="0">
              <a:srgbClr val="000000">
                <a:alpha val="12000"/>
              </a:srgbClr>
            </a:outerShdw>
          </a:effectLst>
        </p:spPr>
        <p:txBody>
          <a:bodyPr/>
          <a:lstStyle/>
          <a:p>
            <a:endParaRPr lang="en-US"/>
          </a:p>
        </p:txBody>
      </p:sp>
      <p:sp>
        <p:nvSpPr>
          <p:cNvPr id="7" name="Shape 5"/>
          <p:cNvSpPr/>
          <p:nvPr/>
        </p:nvSpPr>
        <p:spPr>
          <a:xfrm>
            <a:off x="274320" y="1188720"/>
            <a:ext cx="384048" cy="1234440"/>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274320" y="1371600"/>
            <a:ext cx="384048" cy="45720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9" name="Text 7"/>
          <p:cNvSpPr/>
          <p:nvPr/>
        </p:nvSpPr>
        <p:spPr>
          <a:xfrm>
            <a:off x="713232" y="1280160"/>
            <a:ext cx="3621024" cy="347472"/>
          </a:xfrm>
          <a:prstGeom prst="rect">
            <a:avLst/>
          </a:prstGeom>
          <a:noFill/>
          <a:ln/>
        </p:spPr>
        <p:txBody>
          <a:bodyPr wrap="square" rtlCol="0" anchor="ctr"/>
          <a:lstStyle/>
          <a:p>
            <a:pPr marL="0" indent="0">
              <a:buNone/>
            </a:pPr>
            <a:r>
              <a:rPr lang="en-US" sz="1200" b="1" dirty="0">
                <a:solidFill>
                  <a:srgbClr val="2D3030"/>
                </a:solidFill>
              </a:rPr>
              <a:t>Seguro (Reliable)</a:t>
            </a:r>
            <a:endParaRPr lang="en-US" sz="1200" dirty="0"/>
          </a:p>
        </p:txBody>
      </p:sp>
      <p:sp>
        <p:nvSpPr>
          <p:cNvPr id="10" name="Text 8"/>
          <p:cNvSpPr/>
          <p:nvPr/>
        </p:nvSpPr>
        <p:spPr>
          <a:xfrm>
            <a:off x="713232" y="1627632"/>
            <a:ext cx="3621024" cy="685800"/>
          </a:xfrm>
          <a:prstGeom prst="rect">
            <a:avLst/>
          </a:prstGeom>
          <a:noFill/>
          <a:ln/>
        </p:spPr>
        <p:txBody>
          <a:bodyPr wrap="square" lIns="25400" tIns="25400" rIns="25400" bIns="25400" rtlCol="0" anchor="t"/>
          <a:lstStyle/>
          <a:p>
            <a:pPr marL="0" indent="0">
              <a:buNone/>
            </a:pPr>
            <a:r>
              <a:rPr lang="en-US" sz="1050" dirty="0">
                <a:solidFill>
                  <a:srgbClr val="404040"/>
                </a:solidFill>
              </a:rPr>
              <a:t>Entrega libre de errores, en secuencia, sin pérdidas ni duplicación.</a:t>
            </a:r>
            <a:endParaRPr lang="en-US" sz="1050" dirty="0"/>
          </a:p>
        </p:txBody>
      </p:sp>
      <p:sp>
        <p:nvSpPr>
          <p:cNvPr id="11" name="Shape 9"/>
          <p:cNvSpPr/>
          <p:nvPr/>
        </p:nvSpPr>
        <p:spPr>
          <a:xfrm>
            <a:off x="4709160" y="1188720"/>
            <a:ext cx="4114800" cy="1234440"/>
          </a:xfrm>
          <a:prstGeom prst="rect">
            <a:avLst/>
          </a:prstGeom>
          <a:solidFill>
            <a:srgbClr val="FFFFFF"/>
          </a:solidFill>
          <a:ln w="19050">
            <a:solidFill>
              <a:srgbClr val="5AA8D8"/>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4709160" y="1188720"/>
            <a:ext cx="384048" cy="1234440"/>
          </a:xfrm>
          <a:prstGeom prst="rect">
            <a:avLst/>
          </a:prstGeom>
          <a:solidFill>
            <a:srgbClr val="5AA8D8"/>
          </a:solidFill>
          <a:ln w="12700">
            <a:solidFill>
              <a:srgbClr val="5AA8D8"/>
            </a:solidFill>
            <a:prstDash val="solid"/>
          </a:ln>
        </p:spPr>
        <p:txBody>
          <a:bodyPr/>
          <a:lstStyle/>
          <a:p>
            <a:endParaRPr lang="en-US"/>
          </a:p>
        </p:txBody>
      </p:sp>
      <p:sp>
        <p:nvSpPr>
          <p:cNvPr id="13" name="Text 11"/>
          <p:cNvSpPr/>
          <p:nvPr/>
        </p:nvSpPr>
        <p:spPr>
          <a:xfrm>
            <a:off x="4709160" y="1371600"/>
            <a:ext cx="384048" cy="45720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4" name="Text 12"/>
          <p:cNvSpPr/>
          <p:nvPr/>
        </p:nvSpPr>
        <p:spPr>
          <a:xfrm>
            <a:off x="5148072" y="1280160"/>
            <a:ext cx="3621024" cy="347472"/>
          </a:xfrm>
          <a:prstGeom prst="rect">
            <a:avLst/>
          </a:prstGeom>
          <a:noFill/>
          <a:ln/>
        </p:spPr>
        <p:txBody>
          <a:bodyPr wrap="square" rtlCol="0" anchor="ctr"/>
          <a:lstStyle/>
          <a:p>
            <a:pPr marL="0" indent="0">
              <a:buNone/>
            </a:pPr>
            <a:r>
              <a:rPr lang="en-US" sz="1200" b="1" dirty="0">
                <a:solidFill>
                  <a:srgbClr val="2D3030"/>
                </a:solidFill>
              </a:rPr>
              <a:t>Orientado a conexión</a:t>
            </a:r>
            <a:endParaRPr lang="en-US" sz="1200" dirty="0"/>
          </a:p>
        </p:txBody>
      </p:sp>
      <p:sp>
        <p:nvSpPr>
          <p:cNvPr id="15" name="Text 13"/>
          <p:cNvSpPr/>
          <p:nvPr/>
        </p:nvSpPr>
        <p:spPr>
          <a:xfrm>
            <a:off x="5148072" y="1627632"/>
            <a:ext cx="3621024" cy="685800"/>
          </a:xfrm>
          <a:prstGeom prst="rect">
            <a:avLst/>
          </a:prstGeom>
          <a:noFill/>
          <a:ln/>
        </p:spPr>
        <p:txBody>
          <a:bodyPr wrap="square" lIns="25400" tIns="25400" rIns="25400" bIns="25400" rtlCol="0" anchor="t"/>
          <a:lstStyle/>
          <a:p>
            <a:pPr marL="0" indent="0">
              <a:buNone/>
            </a:pPr>
            <a:r>
              <a:rPr lang="en-US" sz="1050" dirty="0">
                <a:solidFill>
                  <a:srgbClr val="404040"/>
                </a:solidFill>
              </a:rPr>
              <a:t>Establece un circuito virtual antes de transmitir (handshake a 3 vías).</a:t>
            </a:r>
            <a:endParaRPr lang="en-US" sz="1050" dirty="0"/>
          </a:p>
        </p:txBody>
      </p:sp>
      <p:sp>
        <p:nvSpPr>
          <p:cNvPr id="16" name="Shape 14"/>
          <p:cNvSpPr/>
          <p:nvPr/>
        </p:nvSpPr>
        <p:spPr>
          <a:xfrm>
            <a:off x="274320" y="2560320"/>
            <a:ext cx="4114800" cy="1234440"/>
          </a:xfrm>
          <a:prstGeom prst="rect">
            <a:avLst/>
          </a:prstGeom>
          <a:solidFill>
            <a:srgbClr val="FFFFFF"/>
          </a:solidFill>
          <a:ln w="19050">
            <a:solidFill>
              <a:srgbClr val="5AA8D8"/>
            </a:solidFill>
            <a:prstDash val="solid"/>
          </a:ln>
          <a:effectLst>
            <a:outerShdw blurRad="50800" dist="25400" dir="8100000" algn="bl" rotWithShape="0">
              <a:srgbClr val="000000">
                <a:alpha val="12000"/>
              </a:srgbClr>
            </a:outerShdw>
          </a:effectLst>
        </p:spPr>
        <p:txBody>
          <a:bodyPr/>
          <a:lstStyle/>
          <a:p>
            <a:endParaRPr lang="en-US"/>
          </a:p>
        </p:txBody>
      </p:sp>
      <p:sp>
        <p:nvSpPr>
          <p:cNvPr id="17" name="Shape 15"/>
          <p:cNvSpPr/>
          <p:nvPr/>
        </p:nvSpPr>
        <p:spPr>
          <a:xfrm>
            <a:off x="274320" y="2560320"/>
            <a:ext cx="384048" cy="1234440"/>
          </a:xfrm>
          <a:prstGeom prst="rect">
            <a:avLst/>
          </a:prstGeom>
          <a:solidFill>
            <a:srgbClr val="5AA8D8"/>
          </a:solidFill>
          <a:ln w="12700">
            <a:solidFill>
              <a:srgbClr val="5AA8D8"/>
            </a:solidFill>
            <a:prstDash val="solid"/>
          </a:ln>
        </p:spPr>
        <p:txBody>
          <a:bodyPr/>
          <a:lstStyle/>
          <a:p>
            <a:endParaRPr lang="en-US"/>
          </a:p>
        </p:txBody>
      </p:sp>
      <p:sp>
        <p:nvSpPr>
          <p:cNvPr id="18" name="Text 16"/>
          <p:cNvSpPr/>
          <p:nvPr/>
        </p:nvSpPr>
        <p:spPr>
          <a:xfrm>
            <a:off x="274320" y="2743200"/>
            <a:ext cx="384048" cy="45720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9" name="Text 17"/>
          <p:cNvSpPr/>
          <p:nvPr/>
        </p:nvSpPr>
        <p:spPr>
          <a:xfrm>
            <a:off x="713232" y="2651760"/>
            <a:ext cx="3621024" cy="347472"/>
          </a:xfrm>
          <a:prstGeom prst="rect">
            <a:avLst/>
          </a:prstGeom>
          <a:noFill/>
          <a:ln/>
        </p:spPr>
        <p:txBody>
          <a:bodyPr wrap="square" rtlCol="0" anchor="ctr"/>
          <a:lstStyle/>
          <a:p>
            <a:pPr marL="0" indent="0">
              <a:buNone/>
            </a:pPr>
            <a:r>
              <a:rPr lang="en-US" sz="1200" b="1" dirty="0">
                <a:solidFill>
                  <a:srgbClr val="2D3030"/>
                </a:solidFill>
              </a:rPr>
              <a:t>Tren de bytes</a:t>
            </a:r>
            <a:endParaRPr lang="en-US" sz="1200" dirty="0"/>
          </a:p>
        </p:txBody>
      </p:sp>
      <p:sp>
        <p:nvSpPr>
          <p:cNvPr id="20" name="Text 18"/>
          <p:cNvSpPr/>
          <p:nvPr/>
        </p:nvSpPr>
        <p:spPr>
          <a:xfrm>
            <a:off x="713232" y="2999232"/>
            <a:ext cx="3621024" cy="685800"/>
          </a:xfrm>
          <a:prstGeom prst="rect">
            <a:avLst/>
          </a:prstGeom>
          <a:noFill/>
          <a:ln/>
        </p:spPr>
        <p:txBody>
          <a:bodyPr wrap="square" lIns="25400" tIns="25400" rIns="25400" bIns="25400" rtlCol="0" anchor="t"/>
          <a:lstStyle/>
          <a:p>
            <a:pPr marL="0" indent="0">
              <a:buNone/>
            </a:pPr>
            <a:r>
              <a:rPr lang="en-US" sz="1050" dirty="0">
                <a:solidFill>
                  <a:srgbClr val="404040"/>
                </a:solidFill>
              </a:rPr>
              <a:t>Los datos son un flujo continuo; cada byte tiene número de secuencia de 32 bits.</a:t>
            </a:r>
            <a:endParaRPr lang="en-US" sz="1050" dirty="0"/>
          </a:p>
        </p:txBody>
      </p:sp>
      <p:sp>
        <p:nvSpPr>
          <p:cNvPr id="21" name="Shape 19"/>
          <p:cNvSpPr/>
          <p:nvPr/>
        </p:nvSpPr>
        <p:spPr>
          <a:xfrm>
            <a:off x="4709160" y="2560320"/>
            <a:ext cx="4114800" cy="1234440"/>
          </a:xfrm>
          <a:prstGeom prst="rect">
            <a:avLst/>
          </a:prstGeom>
          <a:solidFill>
            <a:srgbClr val="FFFFFF"/>
          </a:solidFill>
          <a:ln w="19050">
            <a:solidFill>
              <a:srgbClr val="5AA8D8"/>
            </a:solidFill>
            <a:prstDash val="solid"/>
          </a:ln>
          <a:effectLst>
            <a:outerShdw blurRad="50800" dist="25400" dir="8100000" algn="bl" rotWithShape="0">
              <a:srgbClr val="000000">
                <a:alpha val="12000"/>
              </a:srgbClr>
            </a:outerShdw>
          </a:effectLst>
        </p:spPr>
        <p:txBody>
          <a:bodyPr/>
          <a:lstStyle/>
          <a:p>
            <a:endParaRPr lang="en-US"/>
          </a:p>
        </p:txBody>
      </p:sp>
      <p:sp>
        <p:nvSpPr>
          <p:cNvPr id="22" name="Shape 20"/>
          <p:cNvSpPr/>
          <p:nvPr/>
        </p:nvSpPr>
        <p:spPr>
          <a:xfrm>
            <a:off x="4709160" y="2560320"/>
            <a:ext cx="384048" cy="1234440"/>
          </a:xfrm>
          <a:prstGeom prst="rect">
            <a:avLst/>
          </a:prstGeom>
          <a:solidFill>
            <a:srgbClr val="5AA8D8"/>
          </a:solidFill>
          <a:ln w="12700">
            <a:solidFill>
              <a:srgbClr val="5AA8D8"/>
            </a:solidFill>
            <a:prstDash val="solid"/>
          </a:ln>
        </p:spPr>
        <p:txBody>
          <a:bodyPr/>
          <a:lstStyle/>
          <a:p>
            <a:endParaRPr lang="en-US"/>
          </a:p>
        </p:txBody>
      </p:sp>
      <p:sp>
        <p:nvSpPr>
          <p:cNvPr id="23" name="Text 21"/>
          <p:cNvSpPr/>
          <p:nvPr/>
        </p:nvSpPr>
        <p:spPr>
          <a:xfrm>
            <a:off x="4709160" y="2743200"/>
            <a:ext cx="384048" cy="45720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4" name="Text 22"/>
          <p:cNvSpPr/>
          <p:nvPr/>
        </p:nvSpPr>
        <p:spPr>
          <a:xfrm>
            <a:off x="5148072" y="2651760"/>
            <a:ext cx="3621024" cy="347472"/>
          </a:xfrm>
          <a:prstGeom prst="rect">
            <a:avLst/>
          </a:prstGeom>
          <a:noFill/>
          <a:ln/>
        </p:spPr>
        <p:txBody>
          <a:bodyPr wrap="square" rtlCol="0" anchor="ctr"/>
          <a:lstStyle/>
          <a:p>
            <a:pPr marL="0" indent="0">
              <a:buNone/>
            </a:pPr>
            <a:r>
              <a:rPr lang="en-US" sz="1200" b="1" dirty="0">
                <a:solidFill>
                  <a:srgbClr val="2D3030"/>
                </a:solidFill>
              </a:rPr>
              <a:t>Puertos (16 bits)</a:t>
            </a:r>
            <a:endParaRPr lang="en-US" sz="1200" dirty="0"/>
          </a:p>
        </p:txBody>
      </p:sp>
      <p:sp>
        <p:nvSpPr>
          <p:cNvPr id="25" name="Text 23"/>
          <p:cNvSpPr/>
          <p:nvPr/>
        </p:nvSpPr>
        <p:spPr>
          <a:xfrm>
            <a:off x="5148072" y="2999232"/>
            <a:ext cx="3621024" cy="685800"/>
          </a:xfrm>
          <a:prstGeom prst="rect">
            <a:avLst/>
          </a:prstGeom>
          <a:noFill/>
          <a:ln/>
        </p:spPr>
        <p:txBody>
          <a:bodyPr wrap="square" lIns="25400" tIns="25400" rIns="25400" bIns="25400" rtlCol="0" anchor="t"/>
          <a:lstStyle/>
          <a:p>
            <a:pPr marL="0" indent="0">
              <a:buNone/>
            </a:pPr>
            <a:r>
              <a:rPr lang="en-US" sz="1050" dirty="0">
                <a:solidFill>
                  <a:srgbClr val="404040"/>
                </a:solidFill>
              </a:rPr>
              <a:t>Puerto Origen y Puerto Destino identifican la aplicación destino.</a:t>
            </a:r>
            <a:endParaRPr lang="en-US" sz="1050" dirty="0"/>
          </a:p>
        </p:txBody>
      </p:sp>
      <p:sp>
        <p:nvSpPr>
          <p:cNvPr id="26" name="Shape 24"/>
          <p:cNvSpPr/>
          <p:nvPr/>
        </p:nvSpPr>
        <p:spPr>
          <a:xfrm>
            <a:off x="274320" y="3977640"/>
            <a:ext cx="8503920" cy="502920"/>
          </a:xfrm>
          <a:prstGeom prst="rect">
            <a:avLst/>
          </a:prstGeom>
          <a:solidFill>
            <a:srgbClr val="B9DEF8"/>
          </a:solidFill>
          <a:ln w="12700">
            <a:solidFill>
              <a:srgbClr val="5AA8D8"/>
            </a:solidFill>
            <a:prstDash val="solid"/>
          </a:ln>
        </p:spPr>
        <p:txBody>
          <a:bodyPr/>
          <a:lstStyle/>
          <a:p>
            <a:endParaRPr lang="en-US"/>
          </a:p>
        </p:txBody>
      </p:sp>
      <p:sp>
        <p:nvSpPr>
          <p:cNvPr id="27" name="Text 25"/>
          <p:cNvSpPr/>
          <p:nvPr/>
        </p:nvSpPr>
        <p:spPr>
          <a:xfrm>
            <a:off x="365760" y="4005072"/>
            <a:ext cx="8321040" cy="438912"/>
          </a:xfrm>
          <a:prstGeom prst="rect">
            <a:avLst/>
          </a:prstGeom>
          <a:noFill/>
          <a:ln/>
        </p:spPr>
        <p:txBody>
          <a:bodyPr wrap="square" rtlCol="0" anchor="ctr"/>
          <a:lstStyle/>
          <a:p>
            <a:pPr marL="0" indent="0">
              <a:buNone/>
            </a:pPr>
            <a:r>
              <a:rPr lang="en-US" sz="1050" dirty="0">
                <a:solidFill>
                  <a:srgbClr val="2D3030"/>
                </a:solidFill>
              </a:rPr>
              <a:t>💡  Handshake a 3 vías: SYN → SYN-ACK → ACK  (sincronización del sistema de numeración de bytes entre ambos extremos)</a:t>
            </a:r>
            <a:endParaRPr lang="en-US" sz="1050" dirty="0"/>
          </a:p>
        </p:txBody>
      </p:sp>
      <p:sp>
        <p:nvSpPr>
          <p:cNvPr id="28" name="Shape 26"/>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9" name="Text 27"/>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TCP es como una llamada telefónica: primero marcás, esperás que atiendan (handshake) y luego hablás. Cada byte tiene su número de secuencia para garantizar que todo llegue en orden.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TCP vs UDP — Comparación</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¿Cuándo elegir cada protocolo?</a:t>
            </a:r>
            <a:endParaRPr lang="en-US" sz="1300" dirty="0"/>
          </a:p>
        </p:txBody>
      </p:sp>
      <p:sp>
        <p:nvSpPr>
          <p:cNvPr id="6" name="Shape 4"/>
          <p:cNvSpPr/>
          <p:nvPr/>
        </p:nvSpPr>
        <p:spPr>
          <a:xfrm>
            <a:off x="228600" y="1143000"/>
            <a:ext cx="2743200" cy="384048"/>
          </a:xfrm>
          <a:prstGeom prst="rect">
            <a:avLst/>
          </a:prstGeom>
          <a:solidFill>
            <a:srgbClr val="5AA8D8"/>
          </a:solidFill>
          <a:ln w="12700">
            <a:solidFill>
              <a:srgbClr val="FFFFFF"/>
            </a:solidFill>
            <a:prstDash val="solid"/>
          </a:ln>
        </p:spPr>
        <p:txBody>
          <a:bodyPr/>
          <a:lstStyle/>
          <a:p>
            <a:endParaRPr lang="en-US"/>
          </a:p>
        </p:txBody>
      </p:sp>
      <p:sp>
        <p:nvSpPr>
          <p:cNvPr id="7" name="Text 5"/>
          <p:cNvSpPr/>
          <p:nvPr/>
        </p:nvSpPr>
        <p:spPr>
          <a:xfrm>
            <a:off x="228600" y="1143000"/>
            <a:ext cx="2743200" cy="384048"/>
          </a:xfrm>
          <a:prstGeom prst="rect">
            <a:avLst/>
          </a:prstGeom>
          <a:noFill/>
          <a:ln/>
        </p:spPr>
        <p:txBody>
          <a:bodyPr wrap="square" rtlCol="0" anchor="ctr"/>
          <a:lstStyle/>
          <a:p>
            <a:pPr marL="0" indent="0" algn="ctr">
              <a:buNone/>
            </a:pPr>
            <a:r>
              <a:rPr lang="en-US" sz="1100" b="1" dirty="0">
                <a:solidFill>
                  <a:srgbClr val="FFFFFF"/>
                </a:solidFill>
              </a:rPr>
              <a:t>Característica</a:t>
            </a:r>
            <a:endParaRPr lang="en-US" sz="1100" dirty="0"/>
          </a:p>
        </p:txBody>
      </p:sp>
      <p:sp>
        <p:nvSpPr>
          <p:cNvPr id="8" name="Shape 6"/>
          <p:cNvSpPr/>
          <p:nvPr/>
        </p:nvSpPr>
        <p:spPr>
          <a:xfrm>
            <a:off x="2971800" y="1143000"/>
            <a:ext cx="3108960" cy="384048"/>
          </a:xfrm>
          <a:prstGeom prst="rect">
            <a:avLst/>
          </a:prstGeom>
          <a:solidFill>
            <a:srgbClr val="5AA8D8"/>
          </a:solidFill>
          <a:ln w="12700">
            <a:solidFill>
              <a:srgbClr val="FFFFFF"/>
            </a:solidFill>
            <a:prstDash val="solid"/>
          </a:ln>
        </p:spPr>
        <p:txBody>
          <a:bodyPr/>
          <a:lstStyle/>
          <a:p>
            <a:endParaRPr lang="en-US"/>
          </a:p>
        </p:txBody>
      </p:sp>
      <p:sp>
        <p:nvSpPr>
          <p:cNvPr id="9" name="Text 7"/>
          <p:cNvSpPr/>
          <p:nvPr/>
        </p:nvSpPr>
        <p:spPr>
          <a:xfrm>
            <a:off x="2971800" y="1143000"/>
            <a:ext cx="3108960" cy="384048"/>
          </a:xfrm>
          <a:prstGeom prst="rect">
            <a:avLst/>
          </a:prstGeom>
          <a:noFill/>
          <a:ln/>
        </p:spPr>
        <p:txBody>
          <a:bodyPr wrap="square" rtlCol="0" anchor="ctr"/>
          <a:lstStyle/>
          <a:p>
            <a:pPr marL="0" indent="0" algn="ctr">
              <a:buNone/>
            </a:pPr>
            <a:r>
              <a:rPr lang="en-US" sz="1100" b="1" dirty="0">
                <a:solidFill>
                  <a:srgbClr val="FFFFFF"/>
                </a:solidFill>
              </a:rPr>
              <a:t>TCP</a:t>
            </a:r>
            <a:endParaRPr lang="en-US" sz="1100" dirty="0"/>
          </a:p>
        </p:txBody>
      </p:sp>
      <p:sp>
        <p:nvSpPr>
          <p:cNvPr id="10" name="Shape 8"/>
          <p:cNvSpPr/>
          <p:nvPr/>
        </p:nvSpPr>
        <p:spPr>
          <a:xfrm>
            <a:off x="6080760" y="1143000"/>
            <a:ext cx="2926080" cy="384048"/>
          </a:xfrm>
          <a:prstGeom prst="rect">
            <a:avLst/>
          </a:prstGeom>
          <a:solidFill>
            <a:srgbClr val="5AA8D8"/>
          </a:solidFill>
          <a:ln w="12700">
            <a:solidFill>
              <a:srgbClr val="FFFFFF"/>
            </a:solidFill>
            <a:prstDash val="solid"/>
          </a:ln>
        </p:spPr>
        <p:txBody>
          <a:bodyPr/>
          <a:lstStyle/>
          <a:p>
            <a:endParaRPr lang="en-US"/>
          </a:p>
        </p:txBody>
      </p:sp>
      <p:sp>
        <p:nvSpPr>
          <p:cNvPr id="11" name="Text 9"/>
          <p:cNvSpPr/>
          <p:nvPr/>
        </p:nvSpPr>
        <p:spPr>
          <a:xfrm>
            <a:off x="6080760" y="1143000"/>
            <a:ext cx="2926080" cy="384048"/>
          </a:xfrm>
          <a:prstGeom prst="rect">
            <a:avLst/>
          </a:prstGeom>
          <a:noFill/>
          <a:ln/>
        </p:spPr>
        <p:txBody>
          <a:bodyPr wrap="square" rtlCol="0" anchor="ctr"/>
          <a:lstStyle/>
          <a:p>
            <a:pPr marL="0" indent="0" algn="ctr">
              <a:buNone/>
            </a:pPr>
            <a:r>
              <a:rPr lang="en-US" sz="1100" b="1" dirty="0">
                <a:solidFill>
                  <a:srgbClr val="FFFFFF"/>
                </a:solidFill>
              </a:rPr>
              <a:t>UDP</a:t>
            </a:r>
            <a:endParaRPr lang="en-US" sz="1100" dirty="0"/>
          </a:p>
        </p:txBody>
      </p:sp>
      <p:sp>
        <p:nvSpPr>
          <p:cNvPr id="12" name="Shape 10"/>
          <p:cNvSpPr/>
          <p:nvPr/>
        </p:nvSpPr>
        <p:spPr>
          <a:xfrm>
            <a:off x="228600" y="1527048"/>
            <a:ext cx="2743200" cy="384048"/>
          </a:xfrm>
          <a:prstGeom prst="rect">
            <a:avLst/>
          </a:prstGeom>
          <a:solidFill>
            <a:srgbClr val="1E2A38"/>
          </a:solidFill>
          <a:ln w="12700">
            <a:solidFill>
              <a:srgbClr val="3A4A5A"/>
            </a:solidFill>
            <a:prstDash val="solid"/>
          </a:ln>
        </p:spPr>
        <p:txBody>
          <a:bodyPr/>
          <a:lstStyle/>
          <a:p>
            <a:endParaRPr lang="en-US"/>
          </a:p>
        </p:txBody>
      </p:sp>
      <p:sp>
        <p:nvSpPr>
          <p:cNvPr id="13" name="Text 11"/>
          <p:cNvSpPr/>
          <p:nvPr/>
        </p:nvSpPr>
        <p:spPr>
          <a:xfrm>
            <a:off x="301752" y="1527048"/>
            <a:ext cx="2651760" cy="384048"/>
          </a:xfrm>
          <a:prstGeom prst="rect">
            <a:avLst/>
          </a:prstGeom>
          <a:noFill/>
          <a:ln/>
        </p:spPr>
        <p:txBody>
          <a:bodyPr wrap="square" rtlCol="0" anchor="ctr"/>
          <a:lstStyle/>
          <a:p>
            <a:pPr marL="0" indent="0">
              <a:buNone/>
            </a:pPr>
            <a:r>
              <a:rPr lang="en-US" sz="950" b="1" dirty="0">
                <a:solidFill>
                  <a:srgbClr val="5AA8D8"/>
                </a:solidFill>
              </a:rPr>
              <a:t>Orientación</a:t>
            </a:r>
            <a:endParaRPr lang="en-US" sz="950" dirty="0"/>
          </a:p>
        </p:txBody>
      </p:sp>
      <p:sp>
        <p:nvSpPr>
          <p:cNvPr id="14" name="Shape 12"/>
          <p:cNvSpPr/>
          <p:nvPr/>
        </p:nvSpPr>
        <p:spPr>
          <a:xfrm>
            <a:off x="2971800" y="1527048"/>
            <a:ext cx="3108960" cy="384048"/>
          </a:xfrm>
          <a:prstGeom prst="rect">
            <a:avLst/>
          </a:prstGeom>
          <a:solidFill>
            <a:srgbClr val="1E2A38"/>
          </a:solidFill>
          <a:ln w="12700">
            <a:solidFill>
              <a:srgbClr val="3A4A5A"/>
            </a:solidFill>
            <a:prstDash val="solid"/>
          </a:ln>
        </p:spPr>
        <p:txBody>
          <a:bodyPr/>
          <a:lstStyle/>
          <a:p>
            <a:endParaRPr lang="en-US"/>
          </a:p>
        </p:txBody>
      </p:sp>
      <p:sp>
        <p:nvSpPr>
          <p:cNvPr id="15" name="Text 13"/>
          <p:cNvSpPr/>
          <p:nvPr/>
        </p:nvSpPr>
        <p:spPr>
          <a:xfrm>
            <a:off x="3044952" y="1527048"/>
            <a:ext cx="3017520" cy="384048"/>
          </a:xfrm>
          <a:prstGeom prst="rect">
            <a:avLst/>
          </a:prstGeom>
          <a:noFill/>
          <a:ln/>
        </p:spPr>
        <p:txBody>
          <a:bodyPr wrap="square" rtlCol="0" anchor="ctr"/>
          <a:lstStyle/>
          <a:p>
            <a:pPr marL="0" indent="0">
              <a:buNone/>
            </a:pPr>
            <a:r>
              <a:rPr lang="en-US" sz="950" dirty="0">
                <a:solidFill>
                  <a:srgbClr val="FFFFFF"/>
                </a:solidFill>
              </a:rPr>
              <a:t>Orientado a conexión</a:t>
            </a:r>
            <a:endParaRPr lang="en-US" sz="950" dirty="0"/>
          </a:p>
        </p:txBody>
      </p:sp>
      <p:sp>
        <p:nvSpPr>
          <p:cNvPr id="16" name="Shape 14"/>
          <p:cNvSpPr/>
          <p:nvPr/>
        </p:nvSpPr>
        <p:spPr>
          <a:xfrm>
            <a:off x="6080760" y="1527048"/>
            <a:ext cx="2926080" cy="384048"/>
          </a:xfrm>
          <a:prstGeom prst="rect">
            <a:avLst/>
          </a:prstGeom>
          <a:solidFill>
            <a:srgbClr val="1E2A38"/>
          </a:solidFill>
          <a:ln w="12700">
            <a:solidFill>
              <a:srgbClr val="3A4A5A"/>
            </a:solidFill>
            <a:prstDash val="solid"/>
          </a:ln>
        </p:spPr>
        <p:txBody>
          <a:bodyPr/>
          <a:lstStyle/>
          <a:p>
            <a:endParaRPr lang="en-US"/>
          </a:p>
        </p:txBody>
      </p:sp>
      <p:sp>
        <p:nvSpPr>
          <p:cNvPr id="17" name="Text 15"/>
          <p:cNvSpPr/>
          <p:nvPr/>
        </p:nvSpPr>
        <p:spPr>
          <a:xfrm>
            <a:off x="6153912" y="1527048"/>
            <a:ext cx="2834640" cy="384048"/>
          </a:xfrm>
          <a:prstGeom prst="rect">
            <a:avLst/>
          </a:prstGeom>
          <a:noFill/>
          <a:ln/>
        </p:spPr>
        <p:txBody>
          <a:bodyPr wrap="square" rtlCol="0" anchor="ctr"/>
          <a:lstStyle/>
          <a:p>
            <a:pPr marL="0" indent="0">
              <a:buNone/>
            </a:pPr>
            <a:r>
              <a:rPr lang="en-US" sz="950" dirty="0">
                <a:solidFill>
                  <a:srgbClr val="FFFFFF"/>
                </a:solidFill>
              </a:rPr>
              <a:t>Sin conexión (connectionless)</a:t>
            </a:r>
            <a:endParaRPr lang="en-US" sz="950" dirty="0"/>
          </a:p>
        </p:txBody>
      </p:sp>
      <p:sp>
        <p:nvSpPr>
          <p:cNvPr id="18" name="Shape 16"/>
          <p:cNvSpPr/>
          <p:nvPr/>
        </p:nvSpPr>
        <p:spPr>
          <a:xfrm>
            <a:off x="228600" y="1911096"/>
            <a:ext cx="2743200" cy="384048"/>
          </a:xfrm>
          <a:prstGeom prst="rect">
            <a:avLst/>
          </a:prstGeom>
          <a:solidFill>
            <a:srgbClr val="16212D"/>
          </a:solidFill>
          <a:ln w="12700">
            <a:solidFill>
              <a:srgbClr val="3A4A5A"/>
            </a:solidFill>
            <a:prstDash val="solid"/>
          </a:ln>
        </p:spPr>
        <p:txBody>
          <a:bodyPr/>
          <a:lstStyle/>
          <a:p>
            <a:endParaRPr lang="en-US"/>
          </a:p>
        </p:txBody>
      </p:sp>
      <p:sp>
        <p:nvSpPr>
          <p:cNvPr id="19" name="Text 17"/>
          <p:cNvSpPr/>
          <p:nvPr/>
        </p:nvSpPr>
        <p:spPr>
          <a:xfrm>
            <a:off x="301752" y="1911096"/>
            <a:ext cx="2651760" cy="384048"/>
          </a:xfrm>
          <a:prstGeom prst="rect">
            <a:avLst/>
          </a:prstGeom>
          <a:noFill/>
          <a:ln/>
        </p:spPr>
        <p:txBody>
          <a:bodyPr wrap="square" rtlCol="0" anchor="ctr"/>
          <a:lstStyle/>
          <a:p>
            <a:pPr marL="0" indent="0">
              <a:buNone/>
            </a:pPr>
            <a:r>
              <a:rPr lang="en-US" sz="950" b="1" dirty="0">
                <a:solidFill>
                  <a:srgbClr val="5AA8D8"/>
                </a:solidFill>
              </a:rPr>
              <a:t>Confiabilidad</a:t>
            </a:r>
            <a:endParaRPr lang="en-US" sz="950" dirty="0"/>
          </a:p>
        </p:txBody>
      </p:sp>
      <p:sp>
        <p:nvSpPr>
          <p:cNvPr id="20" name="Shape 18"/>
          <p:cNvSpPr/>
          <p:nvPr/>
        </p:nvSpPr>
        <p:spPr>
          <a:xfrm>
            <a:off x="2971800" y="1911096"/>
            <a:ext cx="3108960" cy="384048"/>
          </a:xfrm>
          <a:prstGeom prst="rect">
            <a:avLst/>
          </a:prstGeom>
          <a:solidFill>
            <a:srgbClr val="16212D"/>
          </a:solidFill>
          <a:ln w="12700">
            <a:solidFill>
              <a:srgbClr val="3A4A5A"/>
            </a:solidFill>
            <a:prstDash val="solid"/>
          </a:ln>
        </p:spPr>
        <p:txBody>
          <a:bodyPr/>
          <a:lstStyle/>
          <a:p>
            <a:endParaRPr lang="en-US"/>
          </a:p>
        </p:txBody>
      </p:sp>
      <p:sp>
        <p:nvSpPr>
          <p:cNvPr id="21" name="Text 19"/>
          <p:cNvSpPr/>
          <p:nvPr/>
        </p:nvSpPr>
        <p:spPr>
          <a:xfrm>
            <a:off x="3044952" y="1911096"/>
            <a:ext cx="3017520" cy="384048"/>
          </a:xfrm>
          <a:prstGeom prst="rect">
            <a:avLst/>
          </a:prstGeom>
          <a:noFill/>
          <a:ln/>
        </p:spPr>
        <p:txBody>
          <a:bodyPr wrap="square" rtlCol="0" anchor="ctr"/>
          <a:lstStyle/>
          <a:p>
            <a:pPr marL="0" indent="0">
              <a:buNone/>
            </a:pPr>
            <a:r>
              <a:rPr lang="en-US" sz="950" dirty="0">
                <a:solidFill>
                  <a:srgbClr val="FFFFFF"/>
                </a:solidFill>
              </a:rPr>
              <a:t>Garantizada (ACK, retransmisión)</a:t>
            </a:r>
            <a:endParaRPr lang="en-US" sz="950" dirty="0"/>
          </a:p>
        </p:txBody>
      </p:sp>
      <p:sp>
        <p:nvSpPr>
          <p:cNvPr id="22" name="Shape 20"/>
          <p:cNvSpPr/>
          <p:nvPr/>
        </p:nvSpPr>
        <p:spPr>
          <a:xfrm>
            <a:off x="6080760" y="1911096"/>
            <a:ext cx="2926080" cy="384048"/>
          </a:xfrm>
          <a:prstGeom prst="rect">
            <a:avLst/>
          </a:prstGeom>
          <a:solidFill>
            <a:srgbClr val="16212D"/>
          </a:solidFill>
          <a:ln w="12700">
            <a:solidFill>
              <a:srgbClr val="3A4A5A"/>
            </a:solidFill>
            <a:prstDash val="solid"/>
          </a:ln>
        </p:spPr>
        <p:txBody>
          <a:bodyPr/>
          <a:lstStyle/>
          <a:p>
            <a:endParaRPr lang="en-US"/>
          </a:p>
        </p:txBody>
      </p:sp>
      <p:sp>
        <p:nvSpPr>
          <p:cNvPr id="23" name="Text 21"/>
          <p:cNvSpPr/>
          <p:nvPr/>
        </p:nvSpPr>
        <p:spPr>
          <a:xfrm>
            <a:off x="6153912" y="1911096"/>
            <a:ext cx="2834640" cy="384048"/>
          </a:xfrm>
          <a:prstGeom prst="rect">
            <a:avLst/>
          </a:prstGeom>
          <a:noFill/>
          <a:ln/>
        </p:spPr>
        <p:txBody>
          <a:bodyPr wrap="square" rtlCol="0" anchor="ctr"/>
          <a:lstStyle/>
          <a:p>
            <a:pPr marL="0" indent="0">
              <a:buNone/>
            </a:pPr>
            <a:r>
              <a:rPr lang="en-US" sz="950" dirty="0">
                <a:solidFill>
                  <a:srgbClr val="FFFFFF"/>
                </a:solidFill>
              </a:rPr>
              <a:t>No garantizada</a:t>
            </a:r>
            <a:endParaRPr lang="en-US" sz="950" dirty="0"/>
          </a:p>
        </p:txBody>
      </p:sp>
      <p:sp>
        <p:nvSpPr>
          <p:cNvPr id="24" name="Shape 22"/>
          <p:cNvSpPr/>
          <p:nvPr/>
        </p:nvSpPr>
        <p:spPr>
          <a:xfrm>
            <a:off x="228600" y="2295144"/>
            <a:ext cx="2743200" cy="384048"/>
          </a:xfrm>
          <a:prstGeom prst="rect">
            <a:avLst/>
          </a:prstGeom>
          <a:solidFill>
            <a:srgbClr val="1E2A38"/>
          </a:solidFill>
          <a:ln w="12700">
            <a:solidFill>
              <a:srgbClr val="3A4A5A"/>
            </a:solidFill>
            <a:prstDash val="solid"/>
          </a:ln>
        </p:spPr>
        <p:txBody>
          <a:bodyPr/>
          <a:lstStyle/>
          <a:p>
            <a:endParaRPr lang="en-US"/>
          </a:p>
        </p:txBody>
      </p:sp>
      <p:sp>
        <p:nvSpPr>
          <p:cNvPr id="25" name="Text 23"/>
          <p:cNvSpPr/>
          <p:nvPr/>
        </p:nvSpPr>
        <p:spPr>
          <a:xfrm>
            <a:off x="301752" y="2295144"/>
            <a:ext cx="2651760" cy="384048"/>
          </a:xfrm>
          <a:prstGeom prst="rect">
            <a:avLst/>
          </a:prstGeom>
          <a:noFill/>
          <a:ln/>
        </p:spPr>
        <p:txBody>
          <a:bodyPr wrap="square" rtlCol="0" anchor="ctr"/>
          <a:lstStyle/>
          <a:p>
            <a:pPr marL="0" indent="0">
              <a:buNone/>
            </a:pPr>
            <a:r>
              <a:rPr lang="en-US" sz="950" b="1" dirty="0">
                <a:solidFill>
                  <a:srgbClr val="5AA8D8"/>
                </a:solidFill>
              </a:rPr>
              <a:t>Orden de entrega</a:t>
            </a:r>
            <a:endParaRPr lang="en-US" sz="950" dirty="0"/>
          </a:p>
        </p:txBody>
      </p:sp>
      <p:sp>
        <p:nvSpPr>
          <p:cNvPr id="26" name="Shape 24"/>
          <p:cNvSpPr/>
          <p:nvPr/>
        </p:nvSpPr>
        <p:spPr>
          <a:xfrm>
            <a:off x="2971800" y="2295144"/>
            <a:ext cx="3108960" cy="384048"/>
          </a:xfrm>
          <a:prstGeom prst="rect">
            <a:avLst/>
          </a:prstGeom>
          <a:solidFill>
            <a:srgbClr val="1E2A38"/>
          </a:solidFill>
          <a:ln w="12700">
            <a:solidFill>
              <a:srgbClr val="3A4A5A"/>
            </a:solidFill>
            <a:prstDash val="solid"/>
          </a:ln>
        </p:spPr>
        <p:txBody>
          <a:bodyPr/>
          <a:lstStyle/>
          <a:p>
            <a:endParaRPr lang="en-US"/>
          </a:p>
        </p:txBody>
      </p:sp>
      <p:sp>
        <p:nvSpPr>
          <p:cNvPr id="27" name="Text 25"/>
          <p:cNvSpPr/>
          <p:nvPr/>
        </p:nvSpPr>
        <p:spPr>
          <a:xfrm>
            <a:off x="3044952" y="2295144"/>
            <a:ext cx="3017520" cy="384048"/>
          </a:xfrm>
          <a:prstGeom prst="rect">
            <a:avLst/>
          </a:prstGeom>
          <a:noFill/>
          <a:ln/>
        </p:spPr>
        <p:txBody>
          <a:bodyPr wrap="square" rtlCol="0" anchor="ctr"/>
          <a:lstStyle/>
          <a:p>
            <a:pPr marL="0" indent="0">
              <a:buNone/>
            </a:pPr>
            <a:r>
              <a:rPr lang="en-US" sz="950" dirty="0">
                <a:solidFill>
                  <a:srgbClr val="FFFFFF"/>
                </a:solidFill>
              </a:rPr>
              <a:t>Mantiene secuencia</a:t>
            </a:r>
            <a:endParaRPr lang="en-US" sz="950" dirty="0"/>
          </a:p>
        </p:txBody>
      </p:sp>
      <p:sp>
        <p:nvSpPr>
          <p:cNvPr id="28" name="Shape 26"/>
          <p:cNvSpPr/>
          <p:nvPr/>
        </p:nvSpPr>
        <p:spPr>
          <a:xfrm>
            <a:off x="6080760" y="2295144"/>
            <a:ext cx="2926080" cy="384048"/>
          </a:xfrm>
          <a:prstGeom prst="rect">
            <a:avLst/>
          </a:prstGeom>
          <a:solidFill>
            <a:srgbClr val="1E2A38"/>
          </a:solidFill>
          <a:ln w="12700">
            <a:solidFill>
              <a:srgbClr val="3A4A5A"/>
            </a:solidFill>
            <a:prstDash val="solid"/>
          </a:ln>
        </p:spPr>
        <p:txBody>
          <a:bodyPr/>
          <a:lstStyle/>
          <a:p>
            <a:endParaRPr lang="en-US"/>
          </a:p>
        </p:txBody>
      </p:sp>
      <p:sp>
        <p:nvSpPr>
          <p:cNvPr id="29" name="Text 27"/>
          <p:cNvSpPr/>
          <p:nvPr/>
        </p:nvSpPr>
        <p:spPr>
          <a:xfrm>
            <a:off x="6153912" y="2295144"/>
            <a:ext cx="2834640" cy="384048"/>
          </a:xfrm>
          <a:prstGeom prst="rect">
            <a:avLst/>
          </a:prstGeom>
          <a:noFill/>
          <a:ln/>
        </p:spPr>
        <p:txBody>
          <a:bodyPr wrap="square" rtlCol="0" anchor="ctr"/>
          <a:lstStyle/>
          <a:p>
            <a:pPr marL="0" indent="0">
              <a:buNone/>
            </a:pPr>
            <a:r>
              <a:rPr lang="en-US" sz="950" dirty="0">
                <a:solidFill>
                  <a:srgbClr val="FFFFFF"/>
                </a:solidFill>
              </a:rPr>
              <a:t>No garantiza orden</a:t>
            </a:r>
            <a:endParaRPr lang="en-US" sz="950" dirty="0"/>
          </a:p>
        </p:txBody>
      </p:sp>
      <p:sp>
        <p:nvSpPr>
          <p:cNvPr id="30" name="Shape 28"/>
          <p:cNvSpPr/>
          <p:nvPr/>
        </p:nvSpPr>
        <p:spPr>
          <a:xfrm>
            <a:off x="228600" y="2679192"/>
            <a:ext cx="2743200" cy="384048"/>
          </a:xfrm>
          <a:prstGeom prst="rect">
            <a:avLst/>
          </a:prstGeom>
          <a:solidFill>
            <a:srgbClr val="16212D"/>
          </a:solidFill>
          <a:ln w="12700">
            <a:solidFill>
              <a:srgbClr val="3A4A5A"/>
            </a:solidFill>
            <a:prstDash val="solid"/>
          </a:ln>
        </p:spPr>
        <p:txBody>
          <a:bodyPr/>
          <a:lstStyle/>
          <a:p>
            <a:endParaRPr lang="en-US"/>
          </a:p>
        </p:txBody>
      </p:sp>
      <p:sp>
        <p:nvSpPr>
          <p:cNvPr id="31" name="Text 29"/>
          <p:cNvSpPr/>
          <p:nvPr/>
        </p:nvSpPr>
        <p:spPr>
          <a:xfrm>
            <a:off x="301752" y="2679192"/>
            <a:ext cx="2651760" cy="384048"/>
          </a:xfrm>
          <a:prstGeom prst="rect">
            <a:avLst/>
          </a:prstGeom>
          <a:noFill/>
          <a:ln/>
        </p:spPr>
        <p:txBody>
          <a:bodyPr wrap="square" rtlCol="0" anchor="ctr"/>
          <a:lstStyle/>
          <a:p>
            <a:pPr marL="0" indent="0">
              <a:buNone/>
            </a:pPr>
            <a:r>
              <a:rPr lang="en-US" sz="950" b="1" dirty="0">
                <a:solidFill>
                  <a:srgbClr val="5AA8D8"/>
                </a:solidFill>
              </a:rPr>
              <a:t>Velocidad</a:t>
            </a:r>
            <a:endParaRPr lang="en-US" sz="950" dirty="0"/>
          </a:p>
        </p:txBody>
      </p:sp>
      <p:sp>
        <p:nvSpPr>
          <p:cNvPr id="32" name="Shape 30"/>
          <p:cNvSpPr/>
          <p:nvPr/>
        </p:nvSpPr>
        <p:spPr>
          <a:xfrm>
            <a:off x="2971800" y="2679192"/>
            <a:ext cx="3108960" cy="384048"/>
          </a:xfrm>
          <a:prstGeom prst="rect">
            <a:avLst/>
          </a:prstGeom>
          <a:solidFill>
            <a:srgbClr val="16212D"/>
          </a:solidFill>
          <a:ln w="12700">
            <a:solidFill>
              <a:srgbClr val="3A4A5A"/>
            </a:solidFill>
            <a:prstDash val="solid"/>
          </a:ln>
        </p:spPr>
        <p:txBody>
          <a:bodyPr/>
          <a:lstStyle/>
          <a:p>
            <a:endParaRPr lang="en-US"/>
          </a:p>
        </p:txBody>
      </p:sp>
      <p:sp>
        <p:nvSpPr>
          <p:cNvPr id="33" name="Text 31"/>
          <p:cNvSpPr/>
          <p:nvPr/>
        </p:nvSpPr>
        <p:spPr>
          <a:xfrm>
            <a:off x="3044952" y="2679192"/>
            <a:ext cx="3017520" cy="384048"/>
          </a:xfrm>
          <a:prstGeom prst="rect">
            <a:avLst/>
          </a:prstGeom>
          <a:noFill/>
          <a:ln/>
        </p:spPr>
        <p:txBody>
          <a:bodyPr wrap="square" rtlCol="0" anchor="ctr"/>
          <a:lstStyle/>
          <a:p>
            <a:pPr marL="0" indent="0">
              <a:buNone/>
            </a:pPr>
            <a:r>
              <a:rPr lang="en-US" sz="950" dirty="0">
                <a:solidFill>
                  <a:srgbClr val="FFFFFF"/>
                </a:solidFill>
              </a:rPr>
              <a:t>Más lento (overhead)</a:t>
            </a:r>
            <a:endParaRPr lang="en-US" sz="950" dirty="0"/>
          </a:p>
        </p:txBody>
      </p:sp>
      <p:sp>
        <p:nvSpPr>
          <p:cNvPr id="34" name="Shape 32"/>
          <p:cNvSpPr/>
          <p:nvPr/>
        </p:nvSpPr>
        <p:spPr>
          <a:xfrm>
            <a:off x="6080760" y="2679192"/>
            <a:ext cx="2926080" cy="384048"/>
          </a:xfrm>
          <a:prstGeom prst="rect">
            <a:avLst/>
          </a:prstGeom>
          <a:solidFill>
            <a:srgbClr val="16212D"/>
          </a:solidFill>
          <a:ln w="12700">
            <a:solidFill>
              <a:srgbClr val="3A4A5A"/>
            </a:solidFill>
            <a:prstDash val="solid"/>
          </a:ln>
        </p:spPr>
        <p:txBody>
          <a:bodyPr/>
          <a:lstStyle/>
          <a:p>
            <a:endParaRPr lang="en-US"/>
          </a:p>
        </p:txBody>
      </p:sp>
      <p:sp>
        <p:nvSpPr>
          <p:cNvPr id="35" name="Text 33"/>
          <p:cNvSpPr/>
          <p:nvPr/>
        </p:nvSpPr>
        <p:spPr>
          <a:xfrm>
            <a:off x="6153912" y="2679192"/>
            <a:ext cx="2834640" cy="384048"/>
          </a:xfrm>
          <a:prstGeom prst="rect">
            <a:avLst/>
          </a:prstGeom>
          <a:noFill/>
          <a:ln/>
        </p:spPr>
        <p:txBody>
          <a:bodyPr wrap="square" rtlCol="0" anchor="ctr"/>
          <a:lstStyle/>
          <a:p>
            <a:pPr marL="0" indent="0">
              <a:buNone/>
            </a:pPr>
            <a:r>
              <a:rPr lang="en-US" sz="950" dirty="0">
                <a:solidFill>
                  <a:srgbClr val="FFFFFF"/>
                </a:solidFill>
              </a:rPr>
              <a:t>Más rápido (mínimo overhead)</a:t>
            </a:r>
            <a:endParaRPr lang="en-US" sz="950" dirty="0"/>
          </a:p>
        </p:txBody>
      </p:sp>
      <p:sp>
        <p:nvSpPr>
          <p:cNvPr id="36" name="Shape 34"/>
          <p:cNvSpPr/>
          <p:nvPr/>
        </p:nvSpPr>
        <p:spPr>
          <a:xfrm>
            <a:off x="228600" y="3063240"/>
            <a:ext cx="2743200" cy="384048"/>
          </a:xfrm>
          <a:prstGeom prst="rect">
            <a:avLst/>
          </a:prstGeom>
          <a:solidFill>
            <a:srgbClr val="1E2A38"/>
          </a:solidFill>
          <a:ln w="12700">
            <a:solidFill>
              <a:srgbClr val="3A4A5A"/>
            </a:solidFill>
            <a:prstDash val="solid"/>
          </a:ln>
        </p:spPr>
        <p:txBody>
          <a:bodyPr/>
          <a:lstStyle/>
          <a:p>
            <a:endParaRPr lang="en-US"/>
          </a:p>
        </p:txBody>
      </p:sp>
      <p:sp>
        <p:nvSpPr>
          <p:cNvPr id="37" name="Text 35"/>
          <p:cNvSpPr/>
          <p:nvPr/>
        </p:nvSpPr>
        <p:spPr>
          <a:xfrm>
            <a:off x="301752" y="3063240"/>
            <a:ext cx="2651760" cy="384048"/>
          </a:xfrm>
          <a:prstGeom prst="rect">
            <a:avLst/>
          </a:prstGeom>
          <a:noFill/>
          <a:ln/>
        </p:spPr>
        <p:txBody>
          <a:bodyPr wrap="square" rtlCol="0" anchor="ctr"/>
          <a:lstStyle/>
          <a:p>
            <a:pPr marL="0" indent="0">
              <a:buNone/>
            </a:pPr>
            <a:r>
              <a:rPr lang="en-US" sz="950" b="1" dirty="0">
                <a:solidFill>
                  <a:srgbClr val="5AA8D8"/>
                </a:solidFill>
              </a:rPr>
              <a:t>Uso de datos</a:t>
            </a:r>
            <a:endParaRPr lang="en-US" sz="950" dirty="0"/>
          </a:p>
        </p:txBody>
      </p:sp>
      <p:sp>
        <p:nvSpPr>
          <p:cNvPr id="38" name="Shape 36"/>
          <p:cNvSpPr/>
          <p:nvPr/>
        </p:nvSpPr>
        <p:spPr>
          <a:xfrm>
            <a:off x="2971800" y="3063240"/>
            <a:ext cx="3108960" cy="384048"/>
          </a:xfrm>
          <a:prstGeom prst="rect">
            <a:avLst/>
          </a:prstGeom>
          <a:solidFill>
            <a:srgbClr val="1E2A38"/>
          </a:solidFill>
          <a:ln w="12700">
            <a:solidFill>
              <a:srgbClr val="3A4A5A"/>
            </a:solidFill>
            <a:prstDash val="solid"/>
          </a:ln>
        </p:spPr>
        <p:txBody>
          <a:bodyPr/>
          <a:lstStyle/>
          <a:p>
            <a:endParaRPr lang="en-US"/>
          </a:p>
        </p:txBody>
      </p:sp>
      <p:sp>
        <p:nvSpPr>
          <p:cNvPr id="39" name="Text 37"/>
          <p:cNvSpPr/>
          <p:nvPr/>
        </p:nvSpPr>
        <p:spPr>
          <a:xfrm>
            <a:off x="3044952" y="3063240"/>
            <a:ext cx="3017520" cy="384048"/>
          </a:xfrm>
          <a:prstGeom prst="rect">
            <a:avLst/>
          </a:prstGeom>
          <a:noFill/>
          <a:ln/>
        </p:spPr>
        <p:txBody>
          <a:bodyPr wrap="square" rtlCol="0" anchor="ctr"/>
          <a:lstStyle/>
          <a:p>
            <a:pPr marL="0" indent="0">
              <a:buNone/>
            </a:pPr>
            <a:r>
              <a:rPr lang="en-US" sz="950" dirty="0">
                <a:solidFill>
                  <a:srgbClr val="FFFFFF"/>
                </a:solidFill>
              </a:rPr>
              <a:t>Flujo continuo (stream)</a:t>
            </a:r>
            <a:endParaRPr lang="en-US" sz="950" dirty="0"/>
          </a:p>
        </p:txBody>
      </p:sp>
      <p:sp>
        <p:nvSpPr>
          <p:cNvPr id="40" name="Shape 38"/>
          <p:cNvSpPr/>
          <p:nvPr/>
        </p:nvSpPr>
        <p:spPr>
          <a:xfrm>
            <a:off x="6080760" y="3063240"/>
            <a:ext cx="2926080" cy="384048"/>
          </a:xfrm>
          <a:prstGeom prst="rect">
            <a:avLst/>
          </a:prstGeom>
          <a:solidFill>
            <a:srgbClr val="1E2A38"/>
          </a:solidFill>
          <a:ln w="12700">
            <a:solidFill>
              <a:srgbClr val="3A4A5A"/>
            </a:solidFill>
            <a:prstDash val="solid"/>
          </a:ln>
        </p:spPr>
        <p:txBody>
          <a:bodyPr/>
          <a:lstStyle/>
          <a:p>
            <a:endParaRPr lang="en-US"/>
          </a:p>
        </p:txBody>
      </p:sp>
      <p:sp>
        <p:nvSpPr>
          <p:cNvPr id="41" name="Text 39"/>
          <p:cNvSpPr/>
          <p:nvPr/>
        </p:nvSpPr>
        <p:spPr>
          <a:xfrm>
            <a:off x="6153912" y="3063240"/>
            <a:ext cx="2834640" cy="384048"/>
          </a:xfrm>
          <a:prstGeom prst="rect">
            <a:avLst/>
          </a:prstGeom>
          <a:noFill/>
          <a:ln/>
        </p:spPr>
        <p:txBody>
          <a:bodyPr wrap="square" rtlCol="0" anchor="ctr"/>
          <a:lstStyle/>
          <a:p>
            <a:pPr marL="0" indent="0">
              <a:buNone/>
            </a:pPr>
            <a:r>
              <a:rPr lang="en-US" sz="950" dirty="0">
                <a:solidFill>
                  <a:srgbClr val="FFFFFF"/>
                </a:solidFill>
              </a:rPr>
              <a:t>Mensajes independientes</a:t>
            </a:r>
            <a:endParaRPr lang="en-US" sz="950" dirty="0"/>
          </a:p>
        </p:txBody>
      </p:sp>
      <p:sp>
        <p:nvSpPr>
          <p:cNvPr id="42" name="Shape 40"/>
          <p:cNvSpPr/>
          <p:nvPr/>
        </p:nvSpPr>
        <p:spPr>
          <a:xfrm>
            <a:off x="228600" y="3447288"/>
            <a:ext cx="2743200" cy="384048"/>
          </a:xfrm>
          <a:prstGeom prst="rect">
            <a:avLst/>
          </a:prstGeom>
          <a:solidFill>
            <a:srgbClr val="16212D"/>
          </a:solidFill>
          <a:ln w="12700">
            <a:solidFill>
              <a:srgbClr val="3A4A5A"/>
            </a:solidFill>
            <a:prstDash val="solid"/>
          </a:ln>
        </p:spPr>
        <p:txBody>
          <a:bodyPr/>
          <a:lstStyle/>
          <a:p>
            <a:endParaRPr lang="en-US"/>
          </a:p>
        </p:txBody>
      </p:sp>
      <p:sp>
        <p:nvSpPr>
          <p:cNvPr id="43" name="Text 41"/>
          <p:cNvSpPr/>
          <p:nvPr/>
        </p:nvSpPr>
        <p:spPr>
          <a:xfrm>
            <a:off x="301752" y="3447288"/>
            <a:ext cx="2651760" cy="384048"/>
          </a:xfrm>
          <a:prstGeom prst="rect">
            <a:avLst/>
          </a:prstGeom>
          <a:noFill/>
          <a:ln/>
        </p:spPr>
        <p:txBody>
          <a:bodyPr wrap="square" rtlCol="0" anchor="ctr"/>
          <a:lstStyle/>
          <a:p>
            <a:pPr marL="0" indent="0">
              <a:buNone/>
            </a:pPr>
            <a:r>
              <a:rPr lang="en-US" sz="950" b="1" dirty="0">
                <a:solidFill>
                  <a:srgbClr val="5AA8D8"/>
                </a:solidFill>
              </a:rPr>
              <a:t>Encabezado</a:t>
            </a:r>
            <a:endParaRPr lang="en-US" sz="950" dirty="0"/>
          </a:p>
        </p:txBody>
      </p:sp>
      <p:sp>
        <p:nvSpPr>
          <p:cNvPr id="44" name="Shape 42"/>
          <p:cNvSpPr/>
          <p:nvPr/>
        </p:nvSpPr>
        <p:spPr>
          <a:xfrm>
            <a:off x="2971800" y="3447288"/>
            <a:ext cx="3108960" cy="384048"/>
          </a:xfrm>
          <a:prstGeom prst="rect">
            <a:avLst/>
          </a:prstGeom>
          <a:solidFill>
            <a:srgbClr val="16212D"/>
          </a:solidFill>
          <a:ln w="12700">
            <a:solidFill>
              <a:srgbClr val="3A4A5A"/>
            </a:solidFill>
            <a:prstDash val="solid"/>
          </a:ln>
        </p:spPr>
        <p:txBody>
          <a:bodyPr/>
          <a:lstStyle/>
          <a:p>
            <a:endParaRPr lang="en-US"/>
          </a:p>
        </p:txBody>
      </p:sp>
      <p:sp>
        <p:nvSpPr>
          <p:cNvPr id="45" name="Text 43"/>
          <p:cNvSpPr/>
          <p:nvPr/>
        </p:nvSpPr>
        <p:spPr>
          <a:xfrm>
            <a:off x="3044952" y="3447288"/>
            <a:ext cx="3017520" cy="384048"/>
          </a:xfrm>
          <a:prstGeom prst="rect">
            <a:avLst/>
          </a:prstGeom>
          <a:noFill/>
          <a:ln/>
        </p:spPr>
        <p:txBody>
          <a:bodyPr wrap="square" rtlCol="0" anchor="ctr"/>
          <a:lstStyle/>
          <a:p>
            <a:pPr marL="0" indent="0">
              <a:buNone/>
            </a:pPr>
            <a:r>
              <a:rPr lang="en-US" sz="950" dirty="0">
                <a:solidFill>
                  <a:srgbClr val="FFFFFF"/>
                </a:solidFill>
              </a:rPr>
              <a:t>20-60 bytes</a:t>
            </a:r>
            <a:endParaRPr lang="en-US" sz="950" dirty="0"/>
          </a:p>
        </p:txBody>
      </p:sp>
      <p:sp>
        <p:nvSpPr>
          <p:cNvPr id="46" name="Shape 44"/>
          <p:cNvSpPr/>
          <p:nvPr/>
        </p:nvSpPr>
        <p:spPr>
          <a:xfrm>
            <a:off x="6080760" y="3447288"/>
            <a:ext cx="2926080" cy="384048"/>
          </a:xfrm>
          <a:prstGeom prst="rect">
            <a:avLst/>
          </a:prstGeom>
          <a:solidFill>
            <a:srgbClr val="16212D"/>
          </a:solidFill>
          <a:ln w="12700">
            <a:solidFill>
              <a:srgbClr val="3A4A5A"/>
            </a:solidFill>
            <a:prstDash val="solid"/>
          </a:ln>
        </p:spPr>
        <p:txBody>
          <a:bodyPr/>
          <a:lstStyle/>
          <a:p>
            <a:endParaRPr lang="en-US"/>
          </a:p>
        </p:txBody>
      </p:sp>
      <p:sp>
        <p:nvSpPr>
          <p:cNvPr id="47" name="Text 45"/>
          <p:cNvSpPr/>
          <p:nvPr/>
        </p:nvSpPr>
        <p:spPr>
          <a:xfrm>
            <a:off x="6153912" y="3447288"/>
            <a:ext cx="2834640" cy="384048"/>
          </a:xfrm>
          <a:prstGeom prst="rect">
            <a:avLst/>
          </a:prstGeom>
          <a:noFill/>
          <a:ln/>
        </p:spPr>
        <p:txBody>
          <a:bodyPr wrap="square" rtlCol="0" anchor="ctr"/>
          <a:lstStyle/>
          <a:p>
            <a:pPr marL="0" indent="0">
              <a:buNone/>
            </a:pPr>
            <a:r>
              <a:rPr lang="en-US" sz="950" dirty="0">
                <a:solidFill>
                  <a:srgbClr val="FFFFFF"/>
                </a:solidFill>
              </a:rPr>
              <a:t>8 bytes fijos</a:t>
            </a:r>
            <a:endParaRPr lang="en-US" sz="950" dirty="0"/>
          </a:p>
        </p:txBody>
      </p:sp>
      <p:sp>
        <p:nvSpPr>
          <p:cNvPr id="48" name="Shape 46"/>
          <p:cNvSpPr/>
          <p:nvPr/>
        </p:nvSpPr>
        <p:spPr>
          <a:xfrm>
            <a:off x="228600" y="3831336"/>
            <a:ext cx="2743200" cy="384048"/>
          </a:xfrm>
          <a:prstGeom prst="rect">
            <a:avLst/>
          </a:prstGeom>
          <a:solidFill>
            <a:srgbClr val="1E2A38"/>
          </a:solidFill>
          <a:ln w="12700">
            <a:solidFill>
              <a:srgbClr val="3A4A5A"/>
            </a:solidFill>
            <a:prstDash val="solid"/>
          </a:ln>
        </p:spPr>
        <p:txBody>
          <a:bodyPr/>
          <a:lstStyle/>
          <a:p>
            <a:endParaRPr lang="en-US"/>
          </a:p>
        </p:txBody>
      </p:sp>
      <p:sp>
        <p:nvSpPr>
          <p:cNvPr id="49" name="Text 47"/>
          <p:cNvSpPr/>
          <p:nvPr/>
        </p:nvSpPr>
        <p:spPr>
          <a:xfrm>
            <a:off x="301752" y="3831336"/>
            <a:ext cx="2651760" cy="384048"/>
          </a:xfrm>
          <a:prstGeom prst="rect">
            <a:avLst/>
          </a:prstGeom>
          <a:noFill/>
          <a:ln/>
        </p:spPr>
        <p:txBody>
          <a:bodyPr wrap="square" rtlCol="0" anchor="ctr"/>
          <a:lstStyle/>
          <a:p>
            <a:pPr marL="0" indent="0">
              <a:buNone/>
            </a:pPr>
            <a:r>
              <a:rPr lang="en-US" sz="950" b="1" dirty="0">
                <a:solidFill>
                  <a:srgbClr val="5AA8D8"/>
                </a:solidFill>
              </a:rPr>
              <a:t>Aplicaciones</a:t>
            </a:r>
            <a:endParaRPr lang="en-US" sz="950" dirty="0"/>
          </a:p>
        </p:txBody>
      </p:sp>
      <p:sp>
        <p:nvSpPr>
          <p:cNvPr id="50" name="Shape 48"/>
          <p:cNvSpPr/>
          <p:nvPr/>
        </p:nvSpPr>
        <p:spPr>
          <a:xfrm>
            <a:off x="2971800" y="3831336"/>
            <a:ext cx="3108960" cy="384048"/>
          </a:xfrm>
          <a:prstGeom prst="rect">
            <a:avLst/>
          </a:prstGeom>
          <a:solidFill>
            <a:srgbClr val="1E2A38"/>
          </a:solidFill>
          <a:ln w="12700">
            <a:solidFill>
              <a:srgbClr val="3A4A5A"/>
            </a:solidFill>
            <a:prstDash val="solid"/>
          </a:ln>
        </p:spPr>
        <p:txBody>
          <a:bodyPr/>
          <a:lstStyle/>
          <a:p>
            <a:endParaRPr lang="en-US"/>
          </a:p>
        </p:txBody>
      </p:sp>
      <p:sp>
        <p:nvSpPr>
          <p:cNvPr id="51" name="Text 49"/>
          <p:cNvSpPr/>
          <p:nvPr/>
        </p:nvSpPr>
        <p:spPr>
          <a:xfrm>
            <a:off x="3044952" y="3831336"/>
            <a:ext cx="3017520" cy="384048"/>
          </a:xfrm>
          <a:prstGeom prst="rect">
            <a:avLst/>
          </a:prstGeom>
          <a:noFill/>
          <a:ln/>
        </p:spPr>
        <p:txBody>
          <a:bodyPr wrap="square" rtlCol="0" anchor="ctr"/>
          <a:lstStyle/>
          <a:p>
            <a:pPr marL="0" indent="0">
              <a:buNone/>
            </a:pPr>
            <a:r>
              <a:rPr lang="en-US" sz="950" dirty="0">
                <a:solidFill>
                  <a:srgbClr val="FFFFFF"/>
                </a:solidFill>
              </a:rPr>
              <a:t>FTP, HTTP, SMTP, TELNET</a:t>
            </a:r>
            <a:endParaRPr lang="en-US" sz="950" dirty="0"/>
          </a:p>
        </p:txBody>
      </p:sp>
      <p:sp>
        <p:nvSpPr>
          <p:cNvPr id="52" name="Shape 50"/>
          <p:cNvSpPr/>
          <p:nvPr/>
        </p:nvSpPr>
        <p:spPr>
          <a:xfrm>
            <a:off x="6080760" y="3831336"/>
            <a:ext cx="2926080" cy="384048"/>
          </a:xfrm>
          <a:prstGeom prst="rect">
            <a:avLst/>
          </a:prstGeom>
          <a:solidFill>
            <a:srgbClr val="1E2A38"/>
          </a:solidFill>
          <a:ln w="12700">
            <a:solidFill>
              <a:srgbClr val="3A4A5A"/>
            </a:solidFill>
            <a:prstDash val="solid"/>
          </a:ln>
        </p:spPr>
        <p:txBody>
          <a:bodyPr/>
          <a:lstStyle/>
          <a:p>
            <a:endParaRPr lang="en-US"/>
          </a:p>
        </p:txBody>
      </p:sp>
      <p:sp>
        <p:nvSpPr>
          <p:cNvPr id="53" name="Text 51"/>
          <p:cNvSpPr/>
          <p:nvPr/>
        </p:nvSpPr>
        <p:spPr>
          <a:xfrm>
            <a:off x="6153912" y="3831336"/>
            <a:ext cx="2834640" cy="384048"/>
          </a:xfrm>
          <a:prstGeom prst="rect">
            <a:avLst/>
          </a:prstGeom>
          <a:noFill/>
          <a:ln/>
        </p:spPr>
        <p:txBody>
          <a:bodyPr wrap="square" rtlCol="0" anchor="ctr"/>
          <a:lstStyle/>
          <a:p>
            <a:pPr marL="0" indent="0">
              <a:buNone/>
            </a:pPr>
            <a:r>
              <a:rPr lang="en-US" sz="950" dirty="0">
                <a:solidFill>
                  <a:srgbClr val="FFFFFF"/>
                </a:solidFill>
              </a:rPr>
              <a:t>DNS, streaming, gaming, VoIP</a:t>
            </a:r>
            <a:endParaRPr lang="en-US" sz="950" dirty="0"/>
          </a:p>
        </p:txBody>
      </p:sp>
      <p:sp>
        <p:nvSpPr>
          <p:cNvPr id="54" name="Shape 52"/>
          <p:cNvSpPr/>
          <p:nvPr/>
        </p:nvSpPr>
        <p:spPr>
          <a:xfrm>
            <a:off x="228600" y="4215384"/>
            <a:ext cx="2743200" cy="384048"/>
          </a:xfrm>
          <a:prstGeom prst="rect">
            <a:avLst/>
          </a:prstGeom>
          <a:solidFill>
            <a:srgbClr val="16212D"/>
          </a:solidFill>
          <a:ln w="12700">
            <a:solidFill>
              <a:srgbClr val="3A4A5A"/>
            </a:solidFill>
            <a:prstDash val="solid"/>
          </a:ln>
        </p:spPr>
        <p:txBody>
          <a:bodyPr/>
          <a:lstStyle/>
          <a:p>
            <a:endParaRPr lang="en-US"/>
          </a:p>
        </p:txBody>
      </p:sp>
      <p:sp>
        <p:nvSpPr>
          <p:cNvPr id="55" name="Text 53"/>
          <p:cNvSpPr/>
          <p:nvPr/>
        </p:nvSpPr>
        <p:spPr>
          <a:xfrm>
            <a:off x="301752" y="4215384"/>
            <a:ext cx="2651760" cy="384048"/>
          </a:xfrm>
          <a:prstGeom prst="rect">
            <a:avLst/>
          </a:prstGeom>
          <a:noFill/>
          <a:ln/>
        </p:spPr>
        <p:txBody>
          <a:bodyPr wrap="square" rtlCol="0" anchor="ctr"/>
          <a:lstStyle/>
          <a:p>
            <a:pPr marL="0" indent="0">
              <a:buNone/>
            </a:pPr>
            <a:r>
              <a:rPr lang="en-US" sz="950" b="1" dirty="0">
                <a:solidFill>
                  <a:srgbClr val="5AA8D8"/>
                </a:solidFill>
              </a:rPr>
              <a:t>En celulares</a:t>
            </a:r>
            <a:endParaRPr lang="en-US" sz="950" dirty="0"/>
          </a:p>
        </p:txBody>
      </p:sp>
      <p:sp>
        <p:nvSpPr>
          <p:cNvPr id="56" name="Shape 54"/>
          <p:cNvSpPr/>
          <p:nvPr/>
        </p:nvSpPr>
        <p:spPr>
          <a:xfrm>
            <a:off x="2971800" y="4215384"/>
            <a:ext cx="3108960" cy="384048"/>
          </a:xfrm>
          <a:prstGeom prst="rect">
            <a:avLst/>
          </a:prstGeom>
          <a:solidFill>
            <a:srgbClr val="16212D"/>
          </a:solidFill>
          <a:ln w="12700">
            <a:solidFill>
              <a:srgbClr val="3A4A5A"/>
            </a:solidFill>
            <a:prstDash val="solid"/>
          </a:ln>
        </p:spPr>
        <p:txBody>
          <a:bodyPr/>
          <a:lstStyle/>
          <a:p>
            <a:endParaRPr lang="en-US"/>
          </a:p>
        </p:txBody>
      </p:sp>
      <p:sp>
        <p:nvSpPr>
          <p:cNvPr id="57" name="Text 55"/>
          <p:cNvSpPr/>
          <p:nvPr/>
        </p:nvSpPr>
        <p:spPr>
          <a:xfrm>
            <a:off x="3044952" y="4215384"/>
            <a:ext cx="3017520" cy="384048"/>
          </a:xfrm>
          <a:prstGeom prst="rect">
            <a:avLst/>
          </a:prstGeom>
          <a:noFill/>
          <a:ln/>
        </p:spPr>
        <p:txBody>
          <a:bodyPr wrap="square" rtlCol="0" anchor="ctr"/>
          <a:lstStyle/>
          <a:p>
            <a:pPr marL="0" indent="0">
              <a:buNone/>
            </a:pPr>
            <a:r>
              <a:rPr lang="en-US" sz="950" dirty="0">
                <a:solidFill>
                  <a:srgbClr val="FFFFFF"/>
                </a:solidFill>
              </a:rPr>
              <a:t>WhatsApp texto, HTTPS</a:t>
            </a:r>
            <a:endParaRPr lang="en-US" sz="950" dirty="0"/>
          </a:p>
        </p:txBody>
      </p:sp>
      <p:sp>
        <p:nvSpPr>
          <p:cNvPr id="58" name="Shape 56"/>
          <p:cNvSpPr/>
          <p:nvPr/>
        </p:nvSpPr>
        <p:spPr>
          <a:xfrm>
            <a:off x="6080760" y="4215384"/>
            <a:ext cx="2926080" cy="384048"/>
          </a:xfrm>
          <a:prstGeom prst="rect">
            <a:avLst/>
          </a:prstGeom>
          <a:solidFill>
            <a:srgbClr val="16212D"/>
          </a:solidFill>
          <a:ln w="12700">
            <a:solidFill>
              <a:srgbClr val="3A4A5A"/>
            </a:solidFill>
            <a:prstDash val="solid"/>
          </a:ln>
        </p:spPr>
        <p:txBody>
          <a:bodyPr/>
          <a:lstStyle/>
          <a:p>
            <a:endParaRPr lang="en-US"/>
          </a:p>
        </p:txBody>
      </p:sp>
      <p:sp>
        <p:nvSpPr>
          <p:cNvPr id="59" name="Text 57"/>
          <p:cNvSpPr/>
          <p:nvPr/>
        </p:nvSpPr>
        <p:spPr>
          <a:xfrm>
            <a:off x="6153912" y="4215384"/>
            <a:ext cx="2834640" cy="384048"/>
          </a:xfrm>
          <a:prstGeom prst="rect">
            <a:avLst/>
          </a:prstGeom>
          <a:noFill/>
          <a:ln/>
        </p:spPr>
        <p:txBody>
          <a:bodyPr wrap="square" rtlCol="0" anchor="ctr"/>
          <a:lstStyle/>
          <a:p>
            <a:pPr marL="0" indent="0">
              <a:buNone/>
            </a:pPr>
            <a:r>
              <a:rPr lang="en-US" sz="950" dirty="0">
                <a:solidFill>
                  <a:srgbClr val="FFFFFF"/>
                </a:solidFill>
              </a:rPr>
              <a:t>Videollamadas, juegos, streaming</a:t>
            </a:r>
            <a:endParaRPr lang="en-US" sz="950" dirty="0"/>
          </a:p>
        </p:txBody>
      </p:sp>
      <p:sp>
        <p:nvSpPr>
          <p:cNvPr id="60" name="Shape 58"/>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61" name="Text 59"/>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Clave: TCP = confianza, UDP = velocidad. En el celular: cuando bajás un archivo usás TCP; cuando hacés videollamada o jugás online, usás UDP para minimizar latencia.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Capa de Aplicación — Protocolos Principales</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Los protocolos que usamos todos los días</a:t>
            </a:r>
            <a:endParaRPr lang="en-US" sz="1300" dirty="0"/>
          </a:p>
        </p:txBody>
      </p:sp>
      <p:sp>
        <p:nvSpPr>
          <p:cNvPr id="6" name="Shape 4"/>
          <p:cNvSpPr/>
          <p:nvPr/>
        </p:nvSpPr>
        <p:spPr>
          <a:xfrm>
            <a:off x="228600" y="1188720"/>
            <a:ext cx="2834640" cy="1600200"/>
          </a:xfrm>
          <a:prstGeom prst="rect">
            <a:avLst/>
          </a:prstGeom>
          <a:solidFill>
            <a:srgbClr val="FFFFFF"/>
          </a:solidFill>
          <a:ln w="25400">
            <a:solidFill>
              <a:srgbClr val="5AA8D8"/>
            </a:solidFill>
            <a:prstDash val="solid"/>
          </a:ln>
          <a:effectLst>
            <a:outerShdw blurRad="38100" dist="25400" dir="8100000" algn="bl" rotWithShape="0">
              <a:srgbClr val="000000">
                <a:alpha val="10000"/>
              </a:srgbClr>
            </a:outerShdw>
          </a:effectLst>
        </p:spPr>
        <p:txBody>
          <a:bodyPr/>
          <a:lstStyle/>
          <a:p>
            <a:endParaRPr lang="en-US"/>
          </a:p>
        </p:txBody>
      </p:sp>
      <p:sp>
        <p:nvSpPr>
          <p:cNvPr id="7" name="Shape 5"/>
          <p:cNvSpPr/>
          <p:nvPr/>
        </p:nvSpPr>
        <p:spPr>
          <a:xfrm>
            <a:off x="228600" y="1188720"/>
            <a:ext cx="2834640" cy="438912"/>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301752" y="1243584"/>
            <a:ext cx="2688336" cy="329184"/>
          </a:xfrm>
          <a:prstGeom prst="rect">
            <a:avLst/>
          </a:prstGeom>
          <a:noFill/>
          <a:ln/>
        </p:spPr>
        <p:txBody>
          <a:bodyPr wrap="square" rtlCol="0" anchor="ctr"/>
          <a:lstStyle/>
          <a:p>
            <a:pPr marL="0" indent="0">
              <a:buNone/>
            </a:pPr>
            <a:r>
              <a:rPr lang="en-US" sz="1150" b="1" dirty="0">
                <a:solidFill>
                  <a:srgbClr val="FFFFFF"/>
                </a:solidFill>
              </a:rPr>
              <a:t>FTP  —  Puerto 21</a:t>
            </a:r>
            <a:endParaRPr lang="en-US" sz="1150" dirty="0"/>
          </a:p>
        </p:txBody>
      </p:sp>
      <p:sp>
        <p:nvSpPr>
          <p:cNvPr id="9" name="Text 7"/>
          <p:cNvSpPr/>
          <p:nvPr/>
        </p:nvSpPr>
        <p:spPr>
          <a:xfrm>
            <a:off x="301752" y="1645920"/>
            <a:ext cx="2688336" cy="274320"/>
          </a:xfrm>
          <a:prstGeom prst="rect">
            <a:avLst/>
          </a:prstGeom>
          <a:noFill/>
          <a:ln/>
        </p:spPr>
        <p:txBody>
          <a:bodyPr wrap="square" rtlCol="0" anchor="ctr"/>
          <a:lstStyle/>
          <a:p>
            <a:pPr marL="0" indent="0">
              <a:buNone/>
            </a:pPr>
            <a:r>
              <a:rPr lang="en-US" sz="900" i="1" dirty="0">
                <a:solidFill>
                  <a:srgbClr val="5AA8D8"/>
                </a:solidFill>
              </a:rPr>
              <a:t>File Transfer Protocol</a:t>
            </a:r>
            <a:endParaRPr lang="en-US" sz="900" dirty="0"/>
          </a:p>
        </p:txBody>
      </p:sp>
      <p:sp>
        <p:nvSpPr>
          <p:cNvPr id="10" name="Text 8"/>
          <p:cNvSpPr/>
          <p:nvPr/>
        </p:nvSpPr>
        <p:spPr>
          <a:xfrm>
            <a:off x="301752" y="1920240"/>
            <a:ext cx="2688336" cy="502920"/>
          </a:xfrm>
          <a:prstGeom prst="rect">
            <a:avLst/>
          </a:prstGeom>
          <a:noFill/>
          <a:ln/>
        </p:spPr>
        <p:txBody>
          <a:bodyPr wrap="square" rtlCol="0" anchor="ctr"/>
          <a:lstStyle/>
          <a:p>
            <a:pPr marL="0" indent="0">
              <a:buNone/>
            </a:pPr>
            <a:r>
              <a:rPr lang="en-US" sz="950" dirty="0">
                <a:solidFill>
                  <a:srgbClr val="404040"/>
                </a:solidFill>
              </a:rPr>
              <a:t>Transferencia de archivos interactiva entre hosts</a:t>
            </a:r>
            <a:endParaRPr lang="en-US" sz="950" dirty="0"/>
          </a:p>
        </p:txBody>
      </p:sp>
      <p:sp>
        <p:nvSpPr>
          <p:cNvPr id="11" name="Shape 9"/>
          <p:cNvSpPr/>
          <p:nvPr/>
        </p:nvSpPr>
        <p:spPr>
          <a:xfrm>
            <a:off x="1965960" y="2450592"/>
            <a:ext cx="1005840" cy="237744"/>
          </a:xfrm>
          <a:prstGeom prst="rect">
            <a:avLst/>
          </a:prstGeom>
          <a:solidFill>
            <a:srgbClr val="5AA8D8"/>
          </a:solidFill>
          <a:ln w="12700">
            <a:solidFill>
              <a:srgbClr val="FFFFFF"/>
            </a:solidFill>
            <a:prstDash val="solid"/>
          </a:ln>
        </p:spPr>
        <p:txBody>
          <a:bodyPr/>
          <a:lstStyle/>
          <a:p>
            <a:endParaRPr lang="en-US"/>
          </a:p>
        </p:txBody>
      </p:sp>
      <p:sp>
        <p:nvSpPr>
          <p:cNvPr id="12" name="Text 10"/>
          <p:cNvSpPr/>
          <p:nvPr/>
        </p:nvSpPr>
        <p:spPr>
          <a:xfrm>
            <a:off x="1965960" y="2450592"/>
            <a:ext cx="1005840" cy="237744"/>
          </a:xfrm>
          <a:prstGeom prst="rect">
            <a:avLst/>
          </a:prstGeom>
          <a:noFill/>
          <a:ln/>
        </p:spPr>
        <p:txBody>
          <a:bodyPr wrap="square" rtlCol="0" anchor="ctr"/>
          <a:lstStyle/>
          <a:p>
            <a:pPr marL="0" indent="0" algn="ctr">
              <a:buNone/>
            </a:pPr>
            <a:r>
              <a:rPr lang="en-US" sz="850" b="1" dirty="0">
                <a:solidFill>
                  <a:srgbClr val="FFFFFF"/>
                </a:solidFill>
              </a:rPr>
              <a:t>Usa: TCP</a:t>
            </a:r>
            <a:endParaRPr lang="en-US" sz="850" dirty="0"/>
          </a:p>
        </p:txBody>
      </p:sp>
      <p:sp>
        <p:nvSpPr>
          <p:cNvPr id="13" name="Shape 11"/>
          <p:cNvSpPr/>
          <p:nvPr/>
        </p:nvSpPr>
        <p:spPr>
          <a:xfrm>
            <a:off x="3172968" y="1188720"/>
            <a:ext cx="2834640" cy="1600200"/>
          </a:xfrm>
          <a:prstGeom prst="rect">
            <a:avLst/>
          </a:prstGeom>
          <a:solidFill>
            <a:srgbClr val="FFFFFF"/>
          </a:solidFill>
          <a:ln w="25400">
            <a:solidFill>
              <a:srgbClr val="3A7BAA"/>
            </a:solidFill>
            <a:prstDash val="solid"/>
          </a:ln>
          <a:effectLst>
            <a:outerShdw blurRad="38100" dist="25400" dir="8100000" algn="bl" rotWithShape="0">
              <a:srgbClr val="000000">
                <a:alpha val="10000"/>
              </a:srgbClr>
            </a:outerShdw>
          </a:effectLst>
        </p:spPr>
        <p:txBody>
          <a:bodyPr/>
          <a:lstStyle/>
          <a:p>
            <a:endParaRPr lang="en-US"/>
          </a:p>
        </p:txBody>
      </p:sp>
      <p:sp>
        <p:nvSpPr>
          <p:cNvPr id="14" name="Shape 12"/>
          <p:cNvSpPr/>
          <p:nvPr/>
        </p:nvSpPr>
        <p:spPr>
          <a:xfrm>
            <a:off x="3172968" y="1188720"/>
            <a:ext cx="2834640" cy="438912"/>
          </a:xfrm>
          <a:prstGeom prst="rect">
            <a:avLst/>
          </a:prstGeom>
          <a:solidFill>
            <a:srgbClr val="3A7BAA"/>
          </a:solidFill>
          <a:ln w="12700">
            <a:solidFill>
              <a:srgbClr val="3A7BAA"/>
            </a:solidFill>
            <a:prstDash val="solid"/>
          </a:ln>
        </p:spPr>
        <p:txBody>
          <a:bodyPr/>
          <a:lstStyle/>
          <a:p>
            <a:endParaRPr lang="en-US"/>
          </a:p>
        </p:txBody>
      </p:sp>
      <p:sp>
        <p:nvSpPr>
          <p:cNvPr id="15" name="Text 13"/>
          <p:cNvSpPr/>
          <p:nvPr/>
        </p:nvSpPr>
        <p:spPr>
          <a:xfrm>
            <a:off x="3246120" y="1243584"/>
            <a:ext cx="2688336" cy="329184"/>
          </a:xfrm>
          <a:prstGeom prst="rect">
            <a:avLst/>
          </a:prstGeom>
          <a:noFill/>
          <a:ln/>
        </p:spPr>
        <p:txBody>
          <a:bodyPr wrap="square" rtlCol="0" anchor="ctr"/>
          <a:lstStyle/>
          <a:p>
            <a:pPr marL="0" indent="0">
              <a:buNone/>
            </a:pPr>
            <a:r>
              <a:rPr lang="en-US" sz="1150" b="1" dirty="0">
                <a:solidFill>
                  <a:srgbClr val="FFFFFF"/>
                </a:solidFill>
              </a:rPr>
              <a:t>SMTP  —  Puerto 25</a:t>
            </a:r>
            <a:endParaRPr lang="en-US" sz="1150" dirty="0"/>
          </a:p>
        </p:txBody>
      </p:sp>
      <p:sp>
        <p:nvSpPr>
          <p:cNvPr id="16" name="Text 14"/>
          <p:cNvSpPr/>
          <p:nvPr/>
        </p:nvSpPr>
        <p:spPr>
          <a:xfrm>
            <a:off x="3246120" y="1645920"/>
            <a:ext cx="2688336" cy="274320"/>
          </a:xfrm>
          <a:prstGeom prst="rect">
            <a:avLst/>
          </a:prstGeom>
          <a:noFill/>
          <a:ln/>
        </p:spPr>
        <p:txBody>
          <a:bodyPr wrap="square" rtlCol="0" anchor="ctr"/>
          <a:lstStyle/>
          <a:p>
            <a:pPr marL="0" indent="0">
              <a:buNone/>
            </a:pPr>
            <a:r>
              <a:rPr lang="en-US" sz="900" i="1" dirty="0">
                <a:solidFill>
                  <a:srgbClr val="3A7BAA"/>
                </a:solidFill>
              </a:rPr>
              <a:t>Simple Mail Transfer Protocol</a:t>
            </a:r>
            <a:endParaRPr lang="en-US" sz="900" dirty="0"/>
          </a:p>
        </p:txBody>
      </p:sp>
      <p:sp>
        <p:nvSpPr>
          <p:cNvPr id="17" name="Text 15"/>
          <p:cNvSpPr/>
          <p:nvPr/>
        </p:nvSpPr>
        <p:spPr>
          <a:xfrm>
            <a:off x="3246120" y="1920240"/>
            <a:ext cx="2688336" cy="502920"/>
          </a:xfrm>
          <a:prstGeom prst="rect">
            <a:avLst/>
          </a:prstGeom>
          <a:noFill/>
          <a:ln/>
        </p:spPr>
        <p:txBody>
          <a:bodyPr wrap="square" rtlCol="0" anchor="ctr"/>
          <a:lstStyle/>
          <a:p>
            <a:pPr marL="0" indent="0">
              <a:buNone/>
            </a:pPr>
            <a:r>
              <a:rPr lang="en-US" sz="950" dirty="0">
                <a:solidFill>
                  <a:srgbClr val="404040"/>
                </a:solidFill>
              </a:rPr>
              <a:t>Distribución de correo electrónico (texto ASCII)</a:t>
            </a:r>
            <a:endParaRPr lang="en-US" sz="950" dirty="0"/>
          </a:p>
        </p:txBody>
      </p:sp>
      <p:sp>
        <p:nvSpPr>
          <p:cNvPr id="18" name="Shape 16"/>
          <p:cNvSpPr/>
          <p:nvPr/>
        </p:nvSpPr>
        <p:spPr>
          <a:xfrm>
            <a:off x="4910328" y="2450592"/>
            <a:ext cx="1005840" cy="237744"/>
          </a:xfrm>
          <a:prstGeom prst="rect">
            <a:avLst/>
          </a:prstGeom>
          <a:solidFill>
            <a:srgbClr val="5AA8D8"/>
          </a:solidFill>
          <a:ln w="12700">
            <a:solidFill>
              <a:srgbClr val="FFFFFF"/>
            </a:solidFill>
            <a:prstDash val="solid"/>
          </a:ln>
        </p:spPr>
        <p:txBody>
          <a:bodyPr/>
          <a:lstStyle/>
          <a:p>
            <a:endParaRPr lang="en-US"/>
          </a:p>
        </p:txBody>
      </p:sp>
      <p:sp>
        <p:nvSpPr>
          <p:cNvPr id="19" name="Text 17"/>
          <p:cNvSpPr/>
          <p:nvPr/>
        </p:nvSpPr>
        <p:spPr>
          <a:xfrm>
            <a:off x="4910328" y="2450592"/>
            <a:ext cx="1005840" cy="237744"/>
          </a:xfrm>
          <a:prstGeom prst="rect">
            <a:avLst/>
          </a:prstGeom>
          <a:noFill/>
          <a:ln/>
        </p:spPr>
        <p:txBody>
          <a:bodyPr wrap="square" rtlCol="0" anchor="ctr"/>
          <a:lstStyle/>
          <a:p>
            <a:pPr marL="0" indent="0" algn="ctr">
              <a:buNone/>
            </a:pPr>
            <a:r>
              <a:rPr lang="en-US" sz="850" b="1" dirty="0">
                <a:solidFill>
                  <a:srgbClr val="FFFFFF"/>
                </a:solidFill>
              </a:rPr>
              <a:t>Usa: TCP</a:t>
            </a:r>
            <a:endParaRPr lang="en-US" sz="850" dirty="0"/>
          </a:p>
        </p:txBody>
      </p:sp>
      <p:sp>
        <p:nvSpPr>
          <p:cNvPr id="20" name="Shape 18"/>
          <p:cNvSpPr/>
          <p:nvPr/>
        </p:nvSpPr>
        <p:spPr>
          <a:xfrm>
            <a:off x="6117336" y="1188720"/>
            <a:ext cx="2834640" cy="1600200"/>
          </a:xfrm>
          <a:prstGeom prst="rect">
            <a:avLst/>
          </a:prstGeom>
          <a:solidFill>
            <a:srgbClr val="FFFFFF"/>
          </a:solidFill>
          <a:ln w="25400">
            <a:solidFill>
              <a:srgbClr val="5A8EB8"/>
            </a:solidFill>
            <a:prstDash val="solid"/>
          </a:ln>
          <a:effectLst>
            <a:outerShdw blurRad="38100" dist="25400" dir="8100000" algn="bl" rotWithShape="0">
              <a:srgbClr val="000000">
                <a:alpha val="10000"/>
              </a:srgbClr>
            </a:outerShdw>
          </a:effectLst>
        </p:spPr>
        <p:txBody>
          <a:bodyPr/>
          <a:lstStyle/>
          <a:p>
            <a:endParaRPr lang="en-US"/>
          </a:p>
        </p:txBody>
      </p:sp>
      <p:sp>
        <p:nvSpPr>
          <p:cNvPr id="21" name="Shape 19"/>
          <p:cNvSpPr/>
          <p:nvPr/>
        </p:nvSpPr>
        <p:spPr>
          <a:xfrm>
            <a:off x="6117336" y="1188720"/>
            <a:ext cx="2834640" cy="438912"/>
          </a:xfrm>
          <a:prstGeom prst="rect">
            <a:avLst/>
          </a:prstGeom>
          <a:solidFill>
            <a:srgbClr val="5A8EB8"/>
          </a:solidFill>
          <a:ln w="12700">
            <a:solidFill>
              <a:srgbClr val="5A8EB8"/>
            </a:solidFill>
            <a:prstDash val="solid"/>
          </a:ln>
        </p:spPr>
        <p:txBody>
          <a:bodyPr/>
          <a:lstStyle/>
          <a:p>
            <a:endParaRPr lang="en-US"/>
          </a:p>
        </p:txBody>
      </p:sp>
      <p:sp>
        <p:nvSpPr>
          <p:cNvPr id="22" name="Text 20"/>
          <p:cNvSpPr/>
          <p:nvPr/>
        </p:nvSpPr>
        <p:spPr>
          <a:xfrm>
            <a:off x="6190488" y="1243584"/>
            <a:ext cx="2688336" cy="329184"/>
          </a:xfrm>
          <a:prstGeom prst="rect">
            <a:avLst/>
          </a:prstGeom>
          <a:noFill/>
          <a:ln/>
        </p:spPr>
        <p:txBody>
          <a:bodyPr wrap="square" rtlCol="0" anchor="ctr"/>
          <a:lstStyle/>
          <a:p>
            <a:pPr marL="0" indent="0">
              <a:buNone/>
            </a:pPr>
            <a:r>
              <a:rPr lang="en-US" sz="1150" b="1" dirty="0">
                <a:solidFill>
                  <a:srgbClr val="FFFFFF"/>
                </a:solidFill>
              </a:rPr>
              <a:t>TELNET  —  Puerto 23</a:t>
            </a:r>
            <a:endParaRPr lang="en-US" sz="1150" dirty="0"/>
          </a:p>
        </p:txBody>
      </p:sp>
      <p:sp>
        <p:nvSpPr>
          <p:cNvPr id="23" name="Text 21"/>
          <p:cNvSpPr/>
          <p:nvPr/>
        </p:nvSpPr>
        <p:spPr>
          <a:xfrm>
            <a:off x="6190488" y="1645920"/>
            <a:ext cx="2688336" cy="274320"/>
          </a:xfrm>
          <a:prstGeom prst="rect">
            <a:avLst/>
          </a:prstGeom>
          <a:noFill/>
          <a:ln/>
        </p:spPr>
        <p:txBody>
          <a:bodyPr wrap="square" rtlCol="0" anchor="ctr"/>
          <a:lstStyle/>
          <a:p>
            <a:pPr marL="0" indent="0">
              <a:buNone/>
            </a:pPr>
            <a:r>
              <a:rPr lang="en-US" sz="900" i="1" dirty="0">
                <a:solidFill>
                  <a:srgbClr val="5A8EB8"/>
                </a:solidFill>
              </a:rPr>
              <a:t>Network Terminal Protocol</a:t>
            </a:r>
            <a:endParaRPr lang="en-US" sz="900" dirty="0"/>
          </a:p>
        </p:txBody>
      </p:sp>
      <p:sp>
        <p:nvSpPr>
          <p:cNvPr id="24" name="Text 22"/>
          <p:cNvSpPr/>
          <p:nvPr/>
        </p:nvSpPr>
        <p:spPr>
          <a:xfrm>
            <a:off x="6190488" y="1920240"/>
            <a:ext cx="2688336" cy="502920"/>
          </a:xfrm>
          <a:prstGeom prst="rect">
            <a:avLst/>
          </a:prstGeom>
          <a:noFill/>
          <a:ln/>
        </p:spPr>
        <p:txBody>
          <a:bodyPr wrap="square" rtlCol="0" anchor="ctr"/>
          <a:lstStyle/>
          <a:p>
            <a:pPr marL="0" indent="0">
              <a:buNone/>
            </a:pPr>
            <a:r>
              <a:rPr lang="en-US" sz="950" dirty="0">
                <a:solidFill>
                  <a:srgbClr val="404040"/>
                </a:solidFill>
              </a:rPr>
              <a:t>Acceso remoto (remote login) sobre la red</a:t>
            </a:r>
            <a:endParaRPr lang="en-US" sz="950" dirty="0"/>
          </a:p>
        </p:txBody>
      </p:sp>
      <p:sp>
        <p:nvSpPr>
          <p:cNvPr id="25" name="Shape 23"/>
          <p:cNvSpPr/>
          <p:nvPr/>
        </p:nvSpPr>
        <p:spPr>
          <a:xfrm>
            <a:off x="7854696" y="2450592"/>
            <a:ext cx="1005840" cy="237744"/>
          </a:xfrm>
          <a:prstGeom prst="rect">
            <a:avLst/>
          </a:prstGeom>
          <a:solidFill>
            <a:srgbClr val="5AA8D8"/>
          </a:solidFill>
          <a:ln w="12700">
            <a:solidFill>
              <a:srgbClr val="FFFFFF"/>
            </a:solidFill>
            <a:prstDash val="solid"/>
          </a:ln>
        </p:spPr>
        <p:txBody>
          <a:bodyPr/>
          <a:lstStyle/>
          <a:p>
            <a:endParaRPr lang="en-US"/>
          </a:p>
        </p:txBody>
      </p:sp>
      <p:sp>
        <p:nvSpPr>
          <p:cNvPr id="26" name="Text 24"/>
          <p:cNvSpPr/>
          <p:nvPr/>
        </p:nvSpPr>
        <p:spPr>
          <a:xfrm>
            <a:off x="7854696" y="2450592"/>
            <a:ext cx="1005840" cy="237744"/>
          </a:xfrm>
          <a:prstGeom prst="rect">
            <a:avLst/>
          </a:prstGeom>
          <a:noFill/>
          <a:ln/>
        </p:spPr>
        <p:txBody>
          <a:bodyPr wrap="square" rtlCol="0" anchor="ctr"/>
          <a:lstStyle/>
          <a:p>
            <a:pPr marL="0" indent="0" algn="ctr">
              <a:buNone/>
            </a:pPr>
            <a:r>
              <a:rPr lang="en-US" sz="850" b="1" dirty="0">
                <a:solidFill>
                  <a:srgbClr val="FFFFFF"/>
                </a:solidFill>
              </a:rPr>
              <a:t>Usa: TCP</a:t>
            </a:r>
            <a:endParaRPr lang="en-US" sz="850" dirty="0"/>
          </a:p>
        </p:txBody>
      </p:sp>
      <p:sp>
        <p:nvSpPr>
          <p:cNvPr id="27" name="Shape 25"/>
          <p:cNvSpPr/>
          <p:nvPr/>
        </p:nvSpPr>
        <p:spPr>
          <a:xfrm>
            <a:off x="228600" y="2926080"/>
            <a:ext cx="2834640" cy="1600200"/>
          </a:xfrm>
          <a:prstGeom prst="rect">
            <a:avLst/>
          </a:prstGeom>
          <a:solidFill>
            <a:srgbClr val="FFFFFF"/>
          </a:solidFill>
          <a:ln w="25400">
            <a:solidFill>
              <a:srgbClr val="3A7B9A"/>
            </a:solidFill>
            <a:prstDash val="solid"/>
          </a:ln>
          <a:effectLst>
            <a:outerShdw blurRad="38100" dist="25400" dir="8100000" algn="bl" rotWithShape="0">
              <a:srgbClr val="000000">
                <a:alpha val="10000"/>
              </a:srgbClr>
            </a:outerShdw>
          </a:effectLst>
        </p:spPr>
        <p:txBody>
          <a:bodyPr/>
          <a:lstStyle/>
          <a:p>
            <a:endParaRPr lang="en-US"/>
          </a:p>
        </p:txBody>
      </p:sp>
      <p:sp>
        <p:nvSpPr>
          <p:cNvPr id="28" name="Shape 26"/>
          <p:cNvSpPr/>
          <p:nvPr/>
        </p:nvSpPr>
        <p:spPr>
          <a:xfrm>
            <a:off x="228600" y="2926080"/>
            <a:ext cx="2834640" cy="438912"/>
          </a:xfrm>
          <a:prstGeom prst="rect">
            <a:avLst/>
          </a:prstGeom>
          <a:solidFill>
            <a:srgbClr val="3A7B9A"/>
          </a:solidFill>
          <a:ln w="12700">
            <a:solidFill>
              <a:srgbClr val="3A7B9A"/>
            </a:solidFill>
            <a:prstDash val="solid"/>
          </a:ln>
        </p:spPr>
        <p:txBody>
          <a:bodyPr/>
          <a:lstStyle/>
          <a:p>
            <a:endParaRPr lang="en-US"/>
          </a:p>
        </p:txBody>
      </p:sp>
      <p:sp>
        <p:nvSpPr>
          <p:cNvPr id="29" name="Text 27"/>
          <p:cNvSpPr/>
          <p:nvPr/>
        </p:nvSpPr>
        <p:spPr>
          <a:xfrm>
            <a:off x="301752" y="2980944"/>
            <a:ext cx="2688336" cy="329184"/>
          </a:xfrm>
          <a:prstGeom prst="rect">
            <a:avLst/>
          </a:prstGeom>
          <a:noFill/>
          <a:ln/>
        </p:spPr>
        <p:txBody>
          <a:bodyPr wrap="square" rtlCol="0" anchor="ctr"/>
          <a:lstStyle/>
          <a:p>
            <a:pPr marL="0" indent="0">
              <a:buNone/>
            </a:pPr>
            <a:r>
              <a:rPr lang="en-US" sz="1150" b="1" dirty="0">
                <a:solidFill>
                  <a:srgbClr val="FFFFFF"/>
                </a:solidFill>
              </a:rPr>
              <a:t>HTTP  —  Puerto 80/443</a:t>
            </a:r>
            <a:endParaRPr lang="en-US" sz="1150" dirty="0"/>
          </a:p>
        </p:txBody>
      </p:sp>
      <p:sp>
        <p:nvSpPr>
          <p:cNvPr id="30" name="Text 28"/>
          <p:cNvSpPr/>
          <p:nvPr/>
        </p:nvSpPr>
        <p:spPr>
          <a:xfrm>
            <a:off x="301752" y="3383280"/>
            <a:ext cx="2688336" cy="274320"/>
          </a:xfrm>
          <a:prstGeom prst="rect">
            <a:avLst/>
          </a:prstGeom>
          <a:noFill/>
          <a:ln/>
        </p:spPr>
        <p:txBody>
          <a:bodyPr wrap="square" rtlCol="0" anchor="ctr"/>
          <a:lstStyle/>
          <a:p>
            <a:pPr marL="0" indent="0">
              <a:buNone/>
            </a:pPr>
            <a:r>
              <a:rPr lang="en-US" sz="900" i="1" dirty="0">
                <a:solidFill>
                  <a:srgbClr val="3A7B9A"/>
                </a:solidFill>
              </a:rPr>
              <a:t>HiperText Transfer Protocol</a:t>
            </a:r>
            <a:endParaRPr lang="en-US" sz="900" dirty="0"/>
          </a:p>
        </p:txBody>
      </p:sp>
      <p:sp>
        <p:nvSpPr>
          <p:cNvPr id="31" name="Text 29"/>
          <p:cNvSpPr/>
          <p:nvPr/>
        </p:nvSpPr>
        <p:spPr>
          <a:xfrm>
            <a:off x="301752" y="3657600"/>
            <a:ext cx="2688336" cy="502920"/>
          </a:xfrm>
          <a:prstGeom prst="rect">
            <a:avLst/>
          </a:prstGeom>
          <a:noFill/>
          <a:ln/>
        </p:spPr>
        <p:txBody>
          <a:bodyPr wrap="square" rtlCol="0" anchor="ctr"/>
          <a:lstStyle/>
          <a:p>
            <a:pPr marL="0" indent="0">
              <a:buNone/>
            </a:pPr>
            <a:r>
              <a:rPr lang="en-US" sz="950" dirty="0">
                <a:solidFill>
                  <a:srgbClr val="404040"/>
                </a:solidFill>
              </a:rPr>
              <a:t>Aplicaciones Web (navegadores, apps móviles)</a:t>
            </a:r>
            <a:endParaRPr lang="en-US" sz="950" dirty="0"/>
          </a:p>
        </p:txBody>
      </p:sp>
      <p:sp>
        <p:nvSpPr>
          <p:cNvPr id="32" name="Shape 30"/>
          <p:cNvSpPr/>
          <p:nvPr/>
        </p:nvSpPr>
        <p:spPr>
          <a:xfrm>
            <a:off x="1965960" y="4187952"/>
            <a:ext cx="1005840" cy="237744"/>
          </a:xfrm>
          <a:prstGeom prst="rect">
            <a:avLst/>
          </a:prstGeom>
          <a:solidFill>
            <a:srgbClr val="5AA8D8"/>
          </a:solidFill>
          <a:ln w="12700">
            <a:solidFill>
              <a:srgbClr val="FFFFFF"/>
            </a:solidFill>
            <a:prstDash val="solid"/>
          </a:ln>
        </p:spPr>
        <p:txBody>
          <a:bodyPr/>
          <a:lstStyle/>
          <a:p>
            <a:endParaRPr lang="en-US"/>
          </a:p>
        </p:txBody>
      </p:sp>
      <p:sp>
        <p:nvSpPr>
          <p:cNvPr id="33" name="Text 31"/>
          <p:cNvSpPr/>
          <p:nvPr/>
        </p:nvSpPr>
        <p:spPr>
          <a:xfrm>
            <a:off x="1965960" y="4187952"/>
            <a:ext cx="1005840" cy="237744"/>
          </a:xfrm>
          <a:prstGeom prst="rect">
            <a:avLst/>
          </a:prstGeom>
          <a:noFill/>
          <a:ln/>
        </p:spPr>
        <p:txBody>
          <a:bodyPr wrap="square" rtlCol="0" anchor="ctr"/>
          <a:lstStyle/>
          <a:p>
            <a:pPr marL="0" indent="0" algn="ctr">
              <a:buNone/>
            </a:pPr>
            <a:r>
              <a:rPr lang="en-US" sz="850" b="1" dirty="0">
                <a:solidFill>
                  <a:srgbClr val="FFFFFF"/>
                </a:solidFill>
              </a:rPr>
              <a:t>Usa: TCP</a:t>
            </a:r>
            <a:endParaRPr lang="en-US" sz="850" dirty="0"/>
          </a:p>
        </p:txBody>
      </p:sp>
      <p:sp>
        <p:nvSpPr>
          <p:cNvPr id="34" name="Shape 32"/>
          <p:cNvSpPr/>
          <p:nvPr/>
        </p:nvSpPr>
        <p:spPr>
          <a:xfrm>
            <a:off x="3172968" y="2926080"/>
            <a:ext cx="2834640" cy="1600200"/>
          </a:xfrm>
          <a:prstGeom prst="rect">
            <a:avLst/>
          </a:prstGeom>
          <a:solidFill>
            <a:srgbClr val="FFFFFF"/>
          </a:solidFill>
          <a:ln w="25400">
            <a:solidFill>
              <a:srgbClr val="5A9870"/>
            </a:solidFill>
            <a:prstDash val="solid"/>
          </a:ln>
          <a:effectLst>
            <a:outerShdw blurRad="38100" dist="25400" dir="8100000" algn="bl" rotWithShape="0">
              <a:srgbClr val="000000">
                <a:alpha val="10000"/>
              </a:srgbClr>
            </a:outerShdw>
          </a:effectLst>
        </p:spPr>
        <p:txBody>
          <a:bodyPr/>
          <a:lstStyle/>
          <a:p>
            <a:endParaRPr lang="en-US"/>
          </a:p>
        </p:txBody>
      </p:sp>
      <p:sp>
        <p:nvSpPr>
          <p:cNvPr id="35" name="Shape 33"/>
          <p:cNvSpPr/>
          <p:nvPr/>
        </p:nvSpPr>
        <p:spPr>
          <a:xfrm>
            <a:off x="3172968" y="2926080"/>
            <a:ext cx="2834640" cy="438912"/>
          </a:xfrm>
          <a:prstGeom prst="rect">
            <a:avLst/>
          </a:prstGeom>
          <a:solidFill>
            <a:srgbClr val="5A9870"/>
          </a:solidFill>
          <a:ln w="12700">
            <a:solidFill>
              <a:srgbClr val="5A9870"/>
            </a:solidFill>
            <a:prstDash val="solid"/>
          </a:ln>
        </p:spPr>
        <p:txBody>
          <a:bodyPr/>
          <a:lstStyle/>
          <a:p>
            <a:endParaRPr lang="en-US"/>
          </a:p>
        </p:txBody>
      </p:sp>
      <p:sp>
        <p:nvSpPr>
          <p:cNvPr id="36" name="Text 34"/>
          <p:cNvSpPr/>
          <p:nvPr/>
        </p:nvSpPr>
        <p:spPr>
          <a:xfrm>
            <a:off x="3246120" y="2980944"/>
            <a:ext cx="2688336" cy="329184"/>
          </a:xfrm>
          <a:prstGeom prst="rect">
            <a:avLst/>
          </a:prstGeom>
          <a:noFill/>
          <a:ln/>
        </p:spPr>
        <p:txBody>
          <a:bodyPr wrap="square" rtlCol="0" anchor="ctr"/>
          <a:lstStyle/>
          <a:p>
            <a:pPr marL="0" indent="0">
              <a:buNone/>
            </a:pPr>
            <a:r>
              <a:rPr lang="en-US" sz="1150" b="1" dirty="0">
                <a:solidFill>
                  <a:srgbClr val="FFFFFF"/>
                </a:solidFill>
              </a:rPr>
              <a:t>DNS  —  Puerto 53</a:t>
            </a:r>
            <a:endParaRPr lang="en-US" sz="1150" dirty="0"/>
          </a:p>
        </p:txBody>
      </p:sp>
      <p:sp>
        <p:nvSpPr>
          <p:cNvPr id="37" name="Text 35"/>
          <p:cNvSpPr/>
          <p:nvPr/>
        </p:nvSpPr>
        <p:spPr>
          <a:xfrm>
            <a:off x="3246120" y="3383280"/>
            <a:ext cx="2688336" cy="274320"/>
          </a:xfrm>
          <a:prstGeom prst="rect">
            <a:avLst/>
          </a:prstGeom>
          <a:noFill/>
          <a:ln/>
        </p:spPr>
        <p:txBody>
          <a:bodyPr wrap="square" rtlCol="0" anchor="ctr"/>
          <a:lstStyle/>
          <a:p>
            <a:pPr marL="0" indent="0">
              <a:buNone/>
            </a:pPr>
            <a:r>
              <a:rPr lang="en-US" sz="900" i="1" dirty="0">
                <a:solidFill>
                  <a:srgbClr val="5A9870"/>
                </a:solidFill>
              </a:rPr>
              <a:t>Domain Name Service</a:t>
            </a:r>
            <a:endParaRPr lang="en-US" sz="900" dirty="0"/>
          </a:p>
        </p:txBody>
      </p:sp>
      <p:sp>
        <p:nvSpPr>
          <p:cNvPr id="38" name="Text 36"/>
          <p:cNvSpPr/>
          <p:nvPr/>
        </p:nvSpPr>
        <p:spPr>
          <a:xfrm>
            <a:off x="3246120" y="3657600"/>
            <a:ext cx="2688336" cy="502920"/>
          </a:xfrm>
          <a:prstGeom prst="rect">
            <a:avLst/>
          </a:prstGeom>
          <a:noFill/>
          <a:ln/>
        </p:spPr>
        <p:txBody>
          <a:bodyPr wrap="square" rtlCol="0" anchor="ctr"/>
          <a:lstStyle/>
          <a:p>
            <a:pPr marL="0" indent="0">
              <a:buNone/>
            </a:pPr>
            <a:r>
              <a:rPr lang="en-US" sz="950" dirty="0">
                <a:solidFill>
                  <a:srgbClr val="404040"/>
                </a:solidFill>
              </a:rPr>
              <a:t>Traduce nombres de dominio a direcciones IP</a:t>
            </a:r>
            <a:endParaRPr lang="en-US" sz="950" dirty="0"/>
          </a:p>
        </p:txBody>
      </p:sp>
      <p:sp>
        <p:nvSpPr>
          <p:cNvPr id="39" name="Shape 37"/>
          <p:cNvSpPr/>
          <p:nvPr/>
        </p:nvSpPr>
        <p:spPr>
          <a:xfrm>
            <a:off x="4910328" y="4187952"/>
            <a:ext cx="1005840" cy="237744"/>
          </a:xfrm>
          <a:prstGeom prst="rect">
            <a:avLst/>
          </a:prstGeom>
          <a:solidFill>
            <a:srgbClr val="3A7BAA"/>
          </a:solidFill>
          <a:ln w="12700">
            <a:solidFill>
              <a:srgbClr val="FFFFFF"/>
            </a:solidFill>
            <a:prstDash val="solid"/>
          </a:ln>
        </p:spPr>
        <p:txBody>
          <a:bodyPr/>
          <a:lstStyle/>
          <a:p>
            <a:endParaRPr lang="en-US"/>
          </a:p>
        </p:txBody>
      </p:sp>
      <p:sp>
        <p:nvSpPr>
          <p:cNvPr id="40" name="Text 38"/>
          <p:cNvSpPr/>
          <p:nvPr/>
        </p:nvSpPr>
        <p:spPr>
          <a:xfrm>
            <a:off x="4910328" y="4187952"/>
            <a:ext cx="1005840" cy="237744"/>
          </a:xfrm>
          <a:prstGeom prst="rect">
            <a:avLst/>
          </a:prstGeom>
          <a:noFill/>
          <a:ln/>
        </p:spPr>
        <p:txBody>
          <a:bodyPr wrap="square" rtlCol="0" anchor="ctr"/>
          <a:lstStyle/>
          <a:p>
            <a:pPr marL="0" indent="0" algn="ctr">
              <a:buNone/>
            </a:pPr>
            <a:r>
              <a:rPr lang="en-US" sz="850" b="1" dirty="0">
                <a:solidFill>
                  <a:srgbClr val="FFFFFF"/>
                </a:solidFill>
              </a:rPr>
              <a:t>Usa: UDP</a:t>
            </a:r>
            <a:endParaRPr lang="en-US" sz="850" dirty="0"/>
          </a:p>
        </p:txBody>
      </p:sp>
      <p:sp>
        <p:nvSpPr>
          <p:cNvPr id="41" name="Shape 39"/>
          <p:cNvSpPr/>
          <p:nvPr/>
        </p:nvSpPr>
        <p:spPr>
          <a:xfrm>
            <a:off x="6117336" y="2926080"/>
            <a:ext cx="2834640" cy="1600200"/>
          </a:xfrm>
          <a:prstGeom prst="rect">
            <a:avLst/>
          </a:prstGeom>
          <a:solidFill>
            <a:srgbClr val="FFFFFF"/>
          </a:solidFill>
          <a:ln w="25400">
            <a:solidFill>
              <a:srgbClr val="7A6898"/>
            </a:solidFill>
            <a:prstDash val="solid"/>
          </a:ln>
          <a:effectLst>
            <a:outerShdw blurRad="38100" dist="25400" dir="8100000" algn="bl" rotWithShape="0">
              <a:srgbClr val="000000">
                <a:alpha val="10000"/>
              </a:srgbClr>
            </a:outerShdw>
          </a:effectLst>
        </p:spPr>
        <p:txBody>
          <a:bodyPr/>
          <a:lstStyle/>
          <a:p>
            <a:endParaRPr lang="en-US"/>
          </a:p>
        </p:txBody>
      </p:sp>
      <p:sp>
        <p:nvSpPr>
          <p:cNvPr id="42" name="Shape 40"/>
          <p:cNvSpPr/>
          <p:nvPr/>
        </p:nvSpPr>
        <p:spPr>
          <a:xfrm>
            <a:off x="6117336" y="2926080"/>
            <a:ext cx="2834640" cy="438912"/>
          </a:xfrm>
          <a:prstGeom prst="rect">
            <a:avLst/>
          </a:prstGeom>
          <a:solidFill>
            <a:srgbClr val="7A6898"/>
          </a:solidFill>
          <a:ln w="12700">
            <a:solidFill>
              <a:srgbClr val="7A6898"/>
            </a:solidFill>
            <a:prstDash val="solid"/>
          </a:ln>
        </p:spPr>
        <p:txBody>
          <a:bodyPr/>
          <a:lstStyle/>
          <a:p>
            <a:endParaRPr lang="en-US"/>
          </a:p>
        </p:txBody>
      </p:sp>
      <p:sp>
        <p:nvSpPr>
          <p:cNvPr id="43" name="Text 41"/>
          <p:cNvSpPr/>
          <p:nvPr/>
        </p:nvSpPr>
        <p:spPr>
          <a:xfrm>
            <a:off x="6190488" y="2980944"/>
            <a:ext cx="2688336" cy="329184"/>
          </a:xfrm>
          <a:prstGeom prst="rect">
            <a:avLst/>
          </a:prstGeom>
          <a:noFill/>
          <a:ln/>
        </p:spPr>
        <p:txBody>
          <a:bodyPr wrap="square" rtlCol="0" anchor="ctr"/>
          <a:lstStyle/>
          <a:p>
            <a:pPr marL="0" indent="0">
              <a:buNone/>
            </a:pPr>
            <a:r>
              <a:rPr lang="en-US" sz="1150" b="1" dirty="0">
                <a:solidFill>
                  <a:srgbClr val="FFFFFF"/>
                </a:solidFill>
              </a:rPr>
              <a:t>NFS  —  Puerto 2049</a:t>
            </a:r>
            <a:endParaRPr lang="en-US" sz="1150" dirty="0"/>
          </a:p>
        </p:txBody>
      </p:sp>
      <p:sp>
        <p:nvSpPr>
          <p:cNvPr id="44" name="Text 42"/>
          <p:cNvSpPr/>
          <p:nvPr/>
        </p:nvSpPr>
        <p:spPr>
          <a:xfrm>
            <a:off x="6190488" y="3383280"/>
            <a:ext cx="2688336" cy="274320"/>
          </a:xfrm>
          <a:prstGeom prst="rect">
            <a:avLst/>
          </a:prstGeom>
          <a:noFill/>
          <a:ln/>
        </p:spPr>
        <p:txBody>
          <a:bodyPr wrap="square" rtlCol="0" anchor="ctr"/>
          <a:lstStyle/>
          <a:p>
            <a:pPr marL="0" indent="0">
              <a:buNone/>
            </a:pPr>
            <a:r>
              <a:rPr lang="en-US" sz="900" i="1" dirty="0">
                <a:solidFill>
                  <a:srgbClr val="7A6898"/>
                </a:solidFill>
              </a:rPr>
              <a:t>Network File System</a:t>
            </a:r>
            <a:endParaRPr lang="en-US" sz="900" dirty="0"/>
          </a:p>
        </p:txBody>
      </p:sp>
      <p:sp>
        <p:nvSpPr>
          <p:cNvPr id="45" name="Text 43"/>
          <p:cNvSpPr/>
          <p:nvPr/>
        </p:nvSpPr>
        <p:spPr>
          <a:xfrm>
            <a:off x="6190488" y="3657600"/>
            <a:ext cx="2688336" cy="502920"/>
          </a:xfrm>
          <a:prstGeom prst="rect">
            <a:avLst/>
          </a:prstGeom>
          <a:noFill/>
          <a:ln/>
        </p:spPr>
        <p:txBody>
          <a:bodyPr wrap="square" rtlCol="0" anchor="ctr"/>
          <a:lstStyle/>
          <a:p>
            <a:pPr marL="0" indent="0">
              <a:buNone/>
            </a:pPr>
            <a:r>
              <a:rPr lang="en-US" sz="950" dirty="0">
                <a:solidFill>
                  <a:srgbClr val="404040"/>
                </a:solidFill>
              </a:rPr>
              <a:t>Compartir archivos entre hosts en red local</a:t>
            </a:r>
            <a:endParaRPr lang="en-US" sz="950" dirty="0"/>
          </a:p>
        </p:txBody>
      </p:sp>
      <p:sp>
        <p:nvSpPr>
          <p:cNvPr id="46" name="Shape 44"/>
          <p:cNvSpPr/>
          <p:nvPr/>
        </p:nvSpPr>
        <p:spPr>
          <a:xfrm>
            <a:off x="7854696" y="4187952"/>
            <a:ext cx="1005840" cy="237744"/>
          </a:xfrm>
          <a:prstGeom prst="rect">
            <a:avLst/>
          </a:prstGeom>
          <a:solidFill>
            <a:srgbClr val="3A7BAA"/>
          </a:solidFill>
          <a:ln w="12700">
            <a:solidFill>
              <a:srgbClr val="FFFFFF"/>
            </a:solidFill>
            <a:prstDash val="solid"/>
          </a:ln>
        </p:spPr>
        <p:txBody>
          <a:bodyPr/>
          <a:lstStyle/>
          <a:p>
            <a:endParaRPr lang="en-US"/>
          </a:p>
        </p:txBody>
      </p:sp>
      <p:sp>
        <p:nvSpPr>
          <p:cNvPr id="47" name="Text 45"/>
          <p:cNvSpPr/>
          <p:nvPr/>
        </p:nvSpPr>
        <p:spPr>
          <a:xfrm>
            <a:off x="7854696" y="4187952"/>
            <a:ext cx="1005840" cy="237744"/>
          </a:xfrm>
          <a:prstGeom prst="rect">
            <a:avLst/>
          </a:prstGeom>
          <a:noFill/>
          <a:ln/>
        </p:spPr>
        <p:txBody>
          <a:bodyPr wrap="square" rtlCol="0" anchor="ctr"/>
          <a:lstStyle/>
          <a:p>
            <a:pPr marL="0" indent="0" algn="ctr">
              <a:buNone/>
            </a:pPr>
            <a:r>
              <a:rPr lang="en-US" sz="850" b="1" dirty="0">
                <a:solidFill>
                  <a:srgbClr val="FFFFFF"/>
                </a:solidFill>
              </a:rPr>
              <a:t>Usa: UDP</a:t>
            </a:r>
            <a:endParaRPr lang="en-US" sz="850" dirty="0"/>
          </a:p>
        </p:txBody>
      </p:sp>
      <p:sp>
        <p:nvSpPr>
          <p:cNvPr id="48" name="Shape 46"/>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49" name="Text 47"/>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Estos son los protocolos </a:t>
            </a:r>
            <a:r>
              <a:rPr lang="en-US" sz="900" i="1" dirty="0" err="1">
                <a:solidFill>
                  <a:srgbClr val="6BB8E8"/>
                </a:solidFill>
              </a:rPr>
              <a:t>que</a:t>
            </a:r>
            <a:r>
              <a:rPr lang="en-US" sz="900" i="1" dirty="0">
                <a:solidFill>
                  <a:srgbClr val="6BB8E8"/>
                </a:solidFill>
              </a:rPr>
              <a:t> </a:t>
            </a:r>
            <a:r>
              <a:rPr lang="en-US" sz="900" i="1" dirty="0" err="1">
                <a:solidFill>
                  <a:srgbClr val="6BB8E8"/>
                </a:solidFill>
              </a:rPr>
              <a:t>usamos</a:t>
            </a:r>
            <a:r>
              <a:rPr lang="en-US" sz="900" i="1" dirty="0">
                <a:solidFill>
                  <a:srgbClr val="6BB8E8"/>
                </a:solidFill>
              </a:rPr>
              <a:t> todos los días sin saberlo. Cuando </a:t>
            </a:r>
            <a:r>
              <a:rPr lang="en-US" sz="900" i="1" dirty="0" err="1">
                <a:solidFill>
                  <a:srgbClr val="6BB8E8"/>
                </a:solidFill>
              </a:rPr>
              <a:t>navegamos</a:t>
            </a:r>
            <a:r>
              <a:rPr lang="en-US" sz="900" i="1" dirty="0">
                <a:solidFill>
                  <a:srgbClr val="6BB8E8"/>
                </a:solidFill>
              </a:rPr>
              <a:t> </a:t>
            </a:r>
            <a:r>
              <a:rPr lang="en-US" sz="900" i="1" dirty="0" err="1">
                <a:solidFill>
                  <a:srgbClr val="6BB8E8"/>
                </a:solidFill>
              </a:rPr>
              <a:t>usamos</a:t>
            </a:r>
            <a:r>
              <a:rPr lang="en-US" sz="900" i="1" dirty="0">
                <a:solidFill>
                  <a:srgbClr val="6BB8E8"/>
                </a:solidFill>
              </a:rPr>
              <a:t> HTTP/HTTPS; </a:t>
            </a:r>
            <a:r>
              <a:rPr lang="en-US" sz="900" i="1" dirty="0" err="1">
                <a:solidFill>
                  <a:srgbClr val="6BB8E8"/>
                </a:solidFill>
              </a:rPr>
              <a:t>cuando</a:t>
            </a:r>
            <a:r>
              <a:rPr lang="en-US" sz="900" i="1" dirty="0">
                <a:solidFill>
                  <a:srgbClr val="6BB8E8"/>
                </a:solidFill>
              </a:rPr>
              <a:t> </a:t>
            </a:r>
            <a:r>
              <a:rPr lang="en-US" sz="900" i="1" dirty="0" err="1">
                <a:solidFill>
                  <a:srgbClr val="6BB8E8"/>
                </a:solidFill>
              </a:rPr>
              <a:t>mandamos</a:t>
            </a:r>
            <a:r>
              <a:rPr lang="en-US" sz="900" i="1" dirty="0">
                <a:solidFill>
                  <a:srgbClr val="6BB8E8"/>
                </a:solidFill>
              </a:rPr>
              <a:t> un mail usan SMTP; cuando el navegador resuelve google.com, usa DNS sobre UDP.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FTP — Protocolo de Transferencia de Archivos</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File Transfer Protocol — Puerto 21 — Usa TCP</a:t>
            </a:r>
            <a:endParaRPr lang="en-US" sz="1300" dirty="0"/>
          </a:p>
        </p:txBody>
      </p:sp>
      <p:sp>
        <p:nvSpPr>
          <p:cNvPr id="6" name="Text 4"/>
          <p:cNvSpPr/>
          <p:nvPr/>
        </p:nvSpPr>
        <p:spPr>
          <a:xfrm>
            <a:off x="274320" y="1188720"/>
            <a:ext cx="5029200" cy="2194560"/>
          </a:xfrm>
          <a:prstGeom prst="rect">
            <a:avLst/>
          </a:prstGeom>
          <a:noFill/>
          <a:ln/>
        </p:spPr>
        <p:txBody>
          <a:bodyPr wrap="square" lIns="101600" tIns="101600" rIns="101600" bIns="101600" rtlCol="0" anchor="ctr"/>
          <a:lstStyle/>
          <a:p>
            <a:pPr marL="0" indent="0">
              <a:buNone/>
            </a:pPr>
            <a:r>
              <a:rPr lang="en-US" sz="1300" b="1" dirty="0">
                <a:solidFill>
                  <a:srgbClr val="5AA8D8"/>
                </a:solidFill>
              </a:rPr>
              <a:t>¿Qué hace FTP?
</a:t>
            </a:r>
            <a:r>
              <a:rPr lang="en-US" sz="1100" dirty="0">
                <a:solidFill>
                  <a:srgbClr val="FFFFFF"/>
                </a:solidFill>
              </a:rPr>
              <a:t>Permite la transferencia de archivos entre dos hosts de forma interactiva. La comunicación se realiza con intervención del sistema operativo, que contiene manejadores (redirectores) de entrada/salida.
</a:t>
            </a:r>
            <a:r>
              <a:rPr lang="en-US" sz="1300" b="1" dirty="0">
                <a:solidFill>
                  <a:srgbClr val="5AA8D8"/>
                </a:solidFill>
              </a:rPr>
              <a:t>Dato clave: </a:t>
            </a:r>
            <a:r>
              <a:rPr lang="en-US" sz="1100" dirty="0">
                <a:solidFill>
                  <a:srgbClr val="FFFFFF"/>
                </a:solidFill>
              </a:rPr>
              <a:t>FTP utiliza TCP como protocolo de transporte para garantizar la entrega correcta de los archivos.</a:t>
            </a:r>
            <a:endParaRPr lang="en-US" sz="1300" dirty="0"/>
          </a:p>
        </p:txBody>
      </p:sp>
      <p:sp>
        <p:nvSpPr>
          <p:cNvPr id="7" name="Shape 5"/>
          <p:cNvSpPr/>
          <p:nvPr/>
        </p:nvSpPr>
        <p:spPr>
          <a:xfrm>
            <a:off x="5486400" y="1188720"/>
            <a:ext cx="1645920" cy="685800"/>
          </a:xfrm>
          <a:prstGeom prst="rect">
            <a:avLst/>
          </a:prstGeom>
          <a:solidFill>
            <a:srgbClr val="3A7BAA"/>
          </a:solidFill>
          <a:ln w="12700">
            <a:solidFill>
              <a:srgbClr val="5AA8D8"/>
            </a:solidFill>
            <a:prstDash val="solid"/>
          </a:ln>
        </p:spPr>
        <p:txBody>
          <a:bodyPr/>
          <a:lstStyle/>
          <a:p>
            <a:endParaRPr lang="en-US"/>
          </a:p>
        </p:txBody>
      </p:sp>
      <p:sp>
        <p:nvSpPr>
          <p:cNvPr id="8" name="Text 6"/>
          <p:cNvSpPr/>
          <p:nvPr/>
        </p:nvSpPr>
        <p:spPr>
          <a:xfrm>
            <a:off x="5486400" y="1188720"/>
            <a:ext cx="1645920" cy="685800"/>
          </a:xfrm>
          <a:prstGeom prst="rect">
            <a:avLst/>
          </a:prstGeom>
          <a:noFill/>
          <a:ln/>
        </p:spPr>
        <p:txBody>
          <a:bodyPr wrap="square" rtlCol="0" anchor="ctr"/>
          <a:lstStyle/>
          <a:p>
            <a:pPr marL="0" indent="0" algn="ctr">
              <a:buNone/>
            </a:pPr>
            <a:r>
              <a:rPr lang="en-US" sz="950" dirty="0">
                <a:solidFill>
                  <a:srgbClr val="FFFFFF"/>
                </a:solidFill>
              </a:rPr>
              <a:t>Cliente FTP</a:t>
            </a:r>
            <a:endParaRPr lang="en-US" sz="950" dirty="0"/>
          </a:p>
          <a:p>
            <a:pPr marL="0" indent="0" algn="ctr">
              <a:buNone/>
            </a:pPr>
            <a:r>
              <a:rPr lang="en-US" sz="950" dirty="0">
                <a:solidFill>
                  <a:srgbClr val="FFFFFF"/>
                </a:solidFill>
              </a:rPr>
              <a:t>(PC / Móvil)</a:t>
            </a:r>
            <a:endParaRPr lang="en-US" sz="950" dirty="0"/>
          </a:p>
        </p:txBody>
      </p:sp>
      <p:sp>
        <p:nvSpPr>
          <p:cNvPr id="9" name="Shape 7"/>
          <p:cNvSpPr/>
          <p:nvPr/>
        </p:nvSpPr>
        <p:spPr>
          <a:xfrm>
            <a:off x="7223760" y="1188720"/>
            <a:ext cx="1645920" cy="685800"/>
          </a:xfrm>
          <a:prstGeom prst="rect">
            <a:avLst/>
          </a:prstGeom>
          <a:solidFill>
            <a:srgbClr val="3A7BAA"/>
          </a:solidFill>
          <a:ln w="12700">
            <a:solidFill>
              <a:srgbClr val="5AA8D8"/>
            </a:solidFill>
            <a:prstDash val="solid"/>
          </a:ln>
        </p:spPr>
        <p:txBody>
          <a:bodyPr/>
          <a:lstStyle/>
          <a:p>
            <a:endParaRPr lang="en-US"/>
          </a:p>
        </p:txBody>
      </p:sp>
      <p:sp>
        <p:nvSpPr>
          <p:cNvPr id="10" name="Text 8"/>
          <p:cNvSpPr/>
          <p:nvPr/>
        </p:nvSpPr>
        <p:spPr>
          <a:xfrm>
            <a:off x="7223760" y="1188720"/>
            <a:ext cx="1645920" cy="685800"/>
          </a:xfrm>
          <a:prstGeom prst="rect">
            <a:avLst/>
          </a:prstGeom>
          <a:noFill/>
          <a:ln/>
        </p:spPr>
        <p:txBody>
          <a:bodyPr wrap="square" rtlCol="0" anchor="ctr"/>
          <a:lstStyle/>
          <a:p>
            <a:pPr marL="0" indent="0" algn="ctr">
              <a:buNone/>
            </a:pPr>
            <a:r>
              <a:rPr lang="en-US" sz="950" dirty="0">
                <a:solidFill>
                  <a:srgbClr val="FFFFFF"/>
                </a:solidFill>
              </a:rPr>
              <a:t>Servidor FTP</a:t>
            </a:r>
            <a:endParaRPr lang="en-US" sz="950" dirty="0"/>
          </a:p>
          <a:p>
            <a:pPr marL="0" indent="0" algn="ctr">
              <a:buNone/>
            </a:pPr>
            <a:r>
              <a:rPr lang="en-US" sz="950" dirty="0">
                <a:solidFill>
                  <a:srgbClr val="FFFFFF"/>
                </a:solidFill>
              </a:rPr>
              <a:t>(Puerto 21)</a:t>
            </a:r>
            <a:endParaRPr lang="en-US" sz="950" dirty="0"/>
          </a:p>
        </p:txBody>
      </p:sp>
      <p:sp>
        <p:nvSpPr>
          <p:cNvPr id="11" name="Shape 9"/>
          <p:cNvSpPr/>
          <p:nvPr/>
        </p:nvSpPr>
        <p:spPr>
          <a:xfrm>
            <a:off x="7132320" y="1527048"/>
            <a:ext cx="91440" cy="0"/>
          </a:xfrm>
          <a:prstGeom prst="line">
            <a:avLst/>
          </a:prstGeom>
          <a:noFill/>
          <a:ln w="19050">
            <a:solidFill>
              <a:srgbClr val="5AA8D8"/>
            </a:solidFill>
            <a:prstDash val="solid"/>
          </a:ln>
        </p:spPr>
        <p:txBody>
          <a:bodyPr/>
          <a:lstStyle/>
          <a:p>
            <a:endParaRPr lang="en-US"/>
          </a:p>
        </p:txBody>
      </p:sp>
      <p:sp>
        <p:nvSpPr>
          <p:cNvPr id="12" name="Text 10"/>
          <p:cNvSpPr/>
          <p:nvPr/>
        </p:nvSpPr>
        <p:spPr>
          <a:xfrm>
            <a:off x="5486400" y="1920240"/>
            <a:ext cx="3291840" cy="320040"/>
          </a:xfrm>
          <a:prstGeom prst="rect">
            <a:avLst/>
          </a:prstGeom>
          <a:noFill/>
          <a:ln/>
        </p:spPr>
        <p:txBody>
          <a:bodyPr wrap="square" rtlCol="0" anchor="ctr"/>
          <a:lstStyle/>
          <a:p>
            <a:pPr marL="0" indent="0" algn="ctr">
              <a:buNone/>
            </a:pPr>
            <a:r>
              <a:rPr lang="en-US" sz="1000" dirty="0">
                <a:solidFill>
                  <a:srgbClr val="5AA8D8"/>
                </a:solidFill>
              </a:rPr>
              <a:t>──── TCP ────</a:t>
            </a:r>
            <a:endParaRPr lang="en-US" sz="1000" dirty="0"/>
          </a:p>
        </p:txBody>
      </p:sp>
      <p:sp>
        <p:nvSpPr>
          <p:cNvPr id="13" name="Shape 11"/>
          <p:cNvSpPr/>
          <p:nvPr/>
        </p:nvSpPr>
        <p:spPr>
          <a:xfrm>
            <a:off x="274320" y="3474720"/>
            <a:ext cx="8412480" cy="914400"/>
          </a:xfrm>
          <a:prstGeom prst="rect">
            <a:avLst/>
          </a:prstGeom>
          <a:solidFill>
            <a:srgbClr val="1A2530"/>
          </a:solidFill>
          <a:ln w="12700">
            <a:solidFill>
              <a:srgbClr val="5AA8D8"/>
            </a:solidFill>
            <a:prstDash val="solid"/>
          </a:ln>
        </p:spPr>
        <p:txBody>
          <a:bodyPr/>
          <a:lstStyle/>
          <a:p>
            <a:endParaRPr lang="en-US"/>
          </a:p>
        </p:txBody>
      </p:sp>
      <p:sp>
        <p:nvSpPr>
          <p:cNvPr id="14" name="Text 12"/>
          <p:cNvSpPr/>
          <p:nvPr/>
        </p:nvSpPr>
        <p:spPr>
          <a:xfrm>
            <a:off x="365760" y="3520440"/>
            <a:ext cx="8229600" cy="320040"/>
          </a:xfrm>
          <a:prstGeom prst="rect">
            <a:avLst/>
          </a:prstGeom>
          <a:noFill/>
          <a:ln/>
        </p:spPr>
        <p:txBody>
          <a:bodyPr wrap="square" rtlCol="0" anchor="ctr"/>
          <a:lstStyle/>
          <a:p>
            <a:pPr marL="0" indent="0">
              <a:buNone/>
            </a:pPr>
            <a:r>
              <a:rPr lang="en-US" sz="1150" b="1" dirty="0">
                <a:solidFill>
                  <a:srgbClr val="5AA8D8"/>
                </a:solidFill>
              </a:rPr>
              <a:t>📱 FTP en la era de los celulares</a:t>
            </a:r>
            <a:endParaRPr lang="en-US" sz="1150" dirty="0"/>
          </a:p>
        </p:txBody>
      </p:sp>
      <p:sp>
        <p:nvSpPr>
          <p:cNvPr id="15" name="Text 13"/>
          <p:cNvSpPr/>
          <p:nvPr/>
        </p:nvSpPr>
        <p:spPr>
          <a:xfrm>
            <a:off x="365760" y="3822192"/>
            <a:ext cx="8229600" cy="502920"/>
          </a:xfrm>
          <a:prstGeom prst="rect">
            <a:avLst/>
          </a:prstGeom>
          <a:noFill/>
          <a:ln/>
        </p:spPr>
        <p:txBody>
          <a:bodyPr wrap="square" rtlCol="0" anchor="ctr"/>
          <a:lstStyle/>
          <a:p>
            <a:pPr marL="0" indent="0">
              <a:buNone/>
            </a:pPr>
            <a:r>
              <a:rPr lang="en-US" sz="1000" dirty="0">
                <a:solidFill>
                  <a:srgbClr val="FFFFFF"/>
                </a:solidFill>
              </a:rPr>
              <a:t>Hoy FTP fue reemplazado mayormente por SFTP (seguro) y protocolos como Google Drive, Dropbox o WeTransfer. En Android/iOS existen apps FTP cliente para administrar servidores remotos. Sin embargo, el concepto base sigue vigente.</a:t>
            </a:r>
            <a:endParaRPr lang="en-US" sz="1000" dirty="0"/>
          </a:p>
        </p:txBody>
      </p:sp>
      <p:sp>
        <p:nvSpPr>
          <p:cNvPr id="16" name="Shape 14"/>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7" name="Text 15"/>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FTP es el abuelo de la transferencia de archivos. Hoy lo ven detrás de servicios como Google Drive o cuando un desarrollador sube archivos a un servidor web. En celulares, apps como FTP Server o ES File Explorer usan este protocolo.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SMTP — Correo Electrónico</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Simple Mail Transfer Protocol — Puerto 25 — Usa TCP</a:t>
            </a:r>
            <a:endParaRPr lang="en-US" sz="1300" dirty="0"/>
          </a:p>
        </p:txBody>
      </p:sp>
      <p:sp>
        <p:nvSpPr>
          <p:cNvPr id="6" name="Text 4"/>
          <p:cNvSpPr/>
          <p:nvPr/>
        </p:nvSpPr>
        <p:spPr>
          <a:xfrm>
            <a:off x="274320" y="1143000"/>
            <a:ext cx="5303520" cy="3200400"/>
          </a:xfrm>
          <a:prstGeom prst="rect">
            <a:avLst/>
          </a:prstGeom>
          <a:noFill/>
          <a:ln/>
        </p:spPr>
        <p:txBody>
          <a:bodyPr wrap="square" lIns="101600" tIns="101600" rIns="101600" bIns="101600" rtlCol="0" anchor="ctr"/>
          <a:lstStyle/>
          <a:p>
            <a:pPr marL="0" indent="0">
              <a:buNone/>
            </a:pPr>
            <a:r>
              <a:rPr lang="en-US" sz="1200" b="1" dirty="0">
                <a:solidFill>
                  <a:srgbClr val="2D3030"/>
                </a:solidFill>
              </a:rPr>
              <a:t>Origen del estándar
</a:t>
            </a:r>
            <a:r>
              <a:rPr lang="en-US" sz="1100" dirty="0">
                <a:solidFill>
                  <a:srgbClr val="404040"/>
                </a:solidFill>
              </a:rPr>
              <a:t>El RFC 822 define el formato de los mensajes de correo. Fue diseñado para texto en ASCII puro — no soporta imágenes ni archivos adjuntos directamente (para eso surgió MIME).
</a:t>
            </a:r>
            <a:r>
              <a:rPr lang="en-US" sz="1200" b="1" dirty="0">
                <a:solidFill>
                  <a:srgbClr val="2D3030"/>
                </a:solidFill>
              </a:rPr>
              <a:t>Funcionamiento del buzón (mailbox)
</a:t>
            </a:r>
            <a:r>
              <a:rPr lang="en-US" sz="1100" dirty="0">
                <a:solidFill>
                  <a:srgbClr val="404040"/>
                </a:solidFill>
              </a:rPr>
              <a:t>Cada usuario tiene un buzón en el servidor. SMTP usa TCP para enviar y recibir mensajes a través de la red. El usuario ve la misma interfaz sin importar si el correo es local o remoto.</a:t>
            </a:r>
            <a:endParaRPr lang="en-US" sz="1200" dirty="0"/>
          </a:p>
        </p:txBody>
      </p:sp>
      <p:sp>
        <p:nvSpPr>
          <p:cNvPr id="7" name="Shape 5"/>
          <p:cNvSpPr/>
          <p:nvPr/>
        </p:nvSpPr>
        <p:spPr>
          <a:xfrm>
            <a:off x="5669280" y="1188720"/>
            <a:ext cx="3108960" cy="640080"/>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5715000" y="1188720"/>
            <a:ext cx="3017520" cy="640080"/>
          </a:xfrm>
          <a:prstGeom prst="rect">
            <a:avLst/>
          </a:prstGeom>
          <a:noFill/>
          <a:ln/>
        </p:spPr>
        <p:txBody>
          <a:bodyPr wrap="square" rtlCol="0" anchor="ctr"/>
          <a:lstStyle/>
          <a:p>
            <a:pPr marL="0" indent="0" algn="ctr">
              <a:buNone/>
            </a:pPr>
            <a:r>
              <a:rPr lang="en-US" sz="950" dirty="0">
                <a:solidFill>
                  <a:srgbClr val="FFFFFF"/>
                </a:solidFill>
              </a:rPr>
              <a:t>App de Mail</a:t>
            </a:r>
            <a:endParaRPr lang="en-US" sz="950" dirty="0"/>
          </a:p>
          <a:p>
            <a:pPr marL="0" indent="0" algn="ctr">
              <a:buNone/>
            </a:pPr>
            <a:r>
              <a:rPr lang="en-US" sz="950" dirty="0">
                <a:solidFill>
                  <a:srgbClr val="FFFFFF"/>
                </a:solidFill>
              </a:rPr>
              <a:t>(Gmail / Outlook)</a:t>
            </a:r>
            <a:endParaRPr lang="en-US" sz="950" dirty="0"/>
          </a:p>
        </p:txBody>
      </p:sp>
      <p:sp>
        <p:nvSpPr>
          <p:cNvPr id="9" name="Text 7"/>
          <p:cNvSpPr/>
          <p:nvPr/>
        </p:nvSpPr>
        <p:spPr>
          <a:xfrm>
            <a:off x="6400800" y="1847088"/>
            <a:ext cx="1828800" cy="274320"/>
          </a:xfrm>
          <a:prstGeom prst="rect">
            <a:avLst/>
          </a:prstGeom>
          <a:noFill/>
          <a:ln/>
        </p:spPr>
        <p:txBody>
          <a:bodyPr wrap="square" rtlCol="0" anchor="ctr"/>
          <a:lstStyle/>
          <a:p>
            <a:pPr marL="0" indent="0">
              <a:buNone/>
            </a:pPr>
            <a:r>
              <a:rPr lang="en-US" sz="900" i="1" dirty="0">
                <a:solidFill>
                  <a:srgbClr val="5AA8D8"/>
                </a:solidFill>
              </a:rPr>
              <a:t>↓ TCP (Puerto 25)</a:t>
            </a:r>
            <a:endParaRPr lang="en-US" sz="900" dirty="0"/>
          </a:p>
        </p:txBody>
      </p:sp>
      <p:sp>
        <p:nvSpPr>
          <p:cNvPr id="10" name="Shape 8"/>
          <p:cNvSpPr/>
          <p:nvPr/>
        </p:nvSpPr>
        <p:spPr>
          <a:xfrm>
            <a:off x="5669280" y="2148840"/>
            <a:ext cx="3108960" cy="640080"/>
          </a:xfrm>
          <a:prstGeom prst="rect">
            <a:avLst/>
          </a:prstGeom>
          <a:solidFill>
            <a:srgbClr val="3A7BAA"/>
          </a:solidFill>
          <a:ln w="12700">
            <a:solidFill>
              <a:srgbClr val="5AA8D8"/>
            </a:solidFill>
            <a:prstDash val="solid"/>
          </a:ln>
        </p:spPr>
        <p:txBody>
          <a:bodyPr/>
          <a:lstStyle/>
          <a:p>
            <a:endParaRPr lang="en-US"/>
          </a:p>
        </p:txBody>
      </p:sp>
      <p:sp>
        <p:nvSpPr>
          <p:cNvPr id="11" name="Text 9"/>
          <p:cNvSpPr/>
          <p:nvPr/>
        </p:nvSpPr>
        <p:spPr>
          <a:xfrm>
            <a:off x="5715000" y="2148840"/>
            <a:ext cx="3017520" cy="640080"/>
          </a:xfrm>
          <a:prstGeom prst="rect">
            <a:avLst/>
          </a:prstGeom>
          <a:noFill/>
          <a:ln/>
        </p:spPr>
        <p:txBody>
          <a:bodyPr wrap="square" rtlCol="0" anchor="ctr"/>
          <a:lstStyle/>
          <a:p>
            <a:pPr marL="0" indent="0" algn="ctr">
              <a:buNone/>
            </a:pPr>
            <a:r>
              <a:rPr lang="en-US" sz="950" dirty="0">
                <a:solidFill>
                  <a:srgbClr val="FFFFFF"/>
                </a:solidFill>
              </a:rPr>
              <a:t>Servidor SMTP</a:t>
            </a:r>
            <a:endParaRPr lang="en-US" sz="950" dirty="0"/>
          </a:p>
          <a:p>
            <a:pPr marL="0" indent="0" algn="ctr">
              <a:buNone/>
            </a:pPr>
            <a:r>
              <a:rPr lang="en-US" sz="950" dirty="0">
                <a:solidFill>
                  <a:srgbClr val="FFFFFF"/>
                </a:solidFill>
              </a:rPr>
              <a:t>Remitente</a:t>
            </a:r>
            <a:endParaRPr lang="en-US" sz="950" dirty="0"/>
          </a:p>
        </p:txBody>
      </p:sp>
      <p:sp>
        <p:nvSpPr>
          <p:cNvPr id="12" name="Text 10"/>
          <p:cNvSpPr/>
          <p:nvPr/>
        </p:nvSpPr>
        <p:spPr>
          <a:xfrm>
            <a:off x="6400800" y="2807208"/>
            <a:ext cx="1828800" cy="274320"/>
          </a:xfrm>
          <a:prstGeom prst="rect">
            <a:avLst/>
          </a:prstGeom>
          <a:noFill/>
          <a:ln/>
        </p:spPr>
        <p:txBody>
          <a:bodyPr wrap="square" rtlCol="0" anchor="ctr"/>
          <a:lstStyle/>
          <a:p>
            <a:pPr marL="0" indent="0">
              <a:buNone/>
            </a:pPr>
            <a:r>
              <a:rPr lang="en-US" sz="900" i="1" dirty="0">
                <a:solidFill>
                  <a:srgbClr val="5AA8D8"/>
                </a:solidFill>
              </a:rPr>
              <a:t>↓ TCP (Puerto 25)</a:t>
            </a:r>
            <a:endParaRPr lang="en-US" sz="900" dirty="0"/>
          </a:p>
        </p:txBody>
      </p:sp>
      <p:sp>
        <p:nvSpPr>
          <p:cNvPr id="13" name="Shape 11"/>
          <p:cNvSpPr/>
          <p:nvPr/>
        </p:nvSpPr>
        <p:spPr>
          <a:xfrm>
            <a:off x="5669280" y="3108960"/>
            <a:ext cx="3108960" cy="640080"/>
          </a:xfrm>
          <a:prstGeom prst="rect">
            <a:avLst/>
          </a:prstGeom>
          <a:solidFill>
            <a:srgbClr val="3A7BAA"/>
          </a:solidFill>
          <a:ln w="12700">
            <a:solidFill>
              <a:srgbClr val="5AA8D8"/>
            </a:solidFill>
            <a:prstDash val="solid"/>
          </a:ln>
        </p:spPr>
        <p:txBody>
          <a:bodyPr/>
          <a:lstStyle/>
          <a:p>
            <a:endParaRPr lang="en-US"/>
          </a:p>
        </p:txBody>
      </p:sp>
      <p:sp>
        <p:nvSpPr>
          <p:cNvPr id="14" name="Text 12"/>
          <p:cNvSpPr/>
          <p:nvPr/>
        </p:nvSpPr>
        <p:spPr>
          <a:xfrm>
            <a:off x="5715000" y="3108960"/>
            <a:ext cx="3017520" cy="640080"/>
          </a:xfrm>
          <a:prstGeom prst="rect">
            <a:avLst/>
          </a:prstGeom>
          <a:noFill/>
          <a:ln/>
        </p:spPr>
        <p:txBody>
          <a:bodyPr wrap="square" rtlCol="0" anchor="ctr"/>
          <a:lstStyle/>
          <a:p>
            <a:pPr marL="0" indent="0" algn="ctr">
              <a:buNone/>
            </a:pPr>
            <a:r>
              <a:rPr lang="en-US" sz="950" dirty="0">
                <a:solidFill>
                  <a:srgbClr val="FFFFFF"/>
                </a:solidFill>
              </a:rPr>
              <a:t>Servidor SMTP</a:t>
            </a:r>
            <a:endParaRPr lang="en-US" sz="950" dirty="0"/>
          </a:p>
          <a:p>
            <a:pPr marL="0" indent="0" algn="ctr">
              <a:buNone/>
            </a:pPr>
            <a:r>
              <a:rPr lang="en-US" sz="950" dirty="0">
                <a:solidFill>
                  <a:srgbClr val="FFFFFF"/>
                </a:solidFill>
              </a:rPr>
              <a:t>Destinatario</a:t>
            </a:r>
            <a:endParaRPr lang="en-US" sz="950" dirty="0"/>
          </a:p>
        </p:txBody>
      </p:sp>
      <p:sp>
        <p:nvSpPr>
          <p:cNvPr id="15" name="Shape 13"/>
          <p:cNvSpPr/>
          <p:nvPr/>
        </p:nvSpPr>
        <p:spPr>
          <a:xfrm>
            <a:off x="274320" y="4096512"/>
            <a:ext cx="8412480" cy="384048"/>
          </a:xfrm>
          <a:prstGeom prst="rect">
            <a:avLst/>
          </a:prstGeom>
          <a:solidFill>
            <a:srgbClr val="B9DEF8"/>
          </a:solidFill>
          <a:ln w="12700">
            <a:solidFill>
              <a:srgbClr val="5AA8D8"/>
            </a:solidFill>
            <a:prstDash val="solid"/>
          </a:ln>
        </p:spPr>
        <p:txBody>
          <a:bodyPr/>
          <a:lstStyle/>
          <a:p>
            <a:endParaRPr lang="en-US"/>
          </a:p>
        </p:txBody>
      </p:sp>
      <p:sp>
        <p:nvSpPr>
          <p:cNvPr id="16" name="Text 14"/>
          <p:cNvSpPr/>
          <p:nvPr/>
        </p:nvSpPr>
        <p:spPr>
          <a:xfrm>
            <a:off x="365760" y="4114800"/>
            <a:ext cx="8229600" cy="347472"/>
          </a:xfrm>
          <a:prstGeom prst="rect">
            <a:avLst/>
          </a:prstGeom>
          <a:noFill/>
          <a:ln/>
        </p:spPr>
        <p:txBody>
          <a:bodyPr wrap="square" rtlCol="0" anchor="ctr"/>
          <a:lstStyle/>
          <a:p>
            <a:pPr marL="0" indent="0">
              <a:buNone/>
            </a:pPr>
            <a:r>
              <a:rPr lang="en-US" sz="1000" dirty="0">
                <a:solidFill>
                  <a:srgbClr val="2D3030"/>
                </a:solidFill>
              </a:rPr>
              <a:t>📱 En tu celular: Gmail, Outlook o cualquier app de correo usa SMTP para ENVIAR y protocolos IMAP/POP3 para RECIBIR mensajes.</a:t>
            </a:r>
            <a:endParaRPr lang="en-US" sz="1000" dirty="0"/>
          </a:p>
        </p:txBody>
      </p:sp>
      <p:sp>
        <p:nvSpPr>
          <p:cNvPr id="17" name="Shape 15"/>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8" name="Text 16"/>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SMTP es el protocolo que 'pone en camino' el correo. Cuando mandás un mail desde el celular, tu app habla SMTP con el servidor. El RFC 822 solo definía texto ASCII — por eso hoy usamos MIME para los adjuntos.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TELNET — Terminal Virtual</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Network Terminal Protocol — Puerto 23 — Usa TCP</a:t>
            </a:r>
            <a:endParaRPr lang="en-US" sz="1300" dirty="0"/>
          </a:p>
        </p:txBody>
      </p:sp>
      <p:sp>
        <p:nvSpPr>
          <p:cNvPr id="6" name="Text 4"/>
          <p:cNvSpPr/>
          <p:nvPr/>
        </p:nvSpPr>
        <p:spPr>
          <a:xfrm>
            <a:off x="274320" y="1188720"/>
            <a:ext cx="5029200" cy="3200400"/>
          </a:xfrm>
          <a:prstGeom prst="rect">
            <a:avLst/>
          </a:prstGeom>
          <a:noFill/>
          <a:ln/>
        </p:spPr>
        <p:txBody>
          <a:bodyPr wrap="square" lIns="101600" tIns="101600" rIns="101600" bIns="101600" rtlCol="0" anchor="ctr"/>
          <a:lstStyle/>
          <a:p>
            <a:pPr marL="0" indent="0">
              <a:buNone/>
            </a:pPr>
            <a:r>
              <a:rPr lang="en-US" sz="1300" b="1" dirty="0">
                <a:solidFill>
                  <a:srgbClr val="5AA8D8"/>
                </a:solidFill>
              </a:rPr>
              <a:t>¿Qué es TELNET?
</a:t>
            </a:r>
            <a:r>
              <a:rPr lang="en-US" sz="1100" dirty="0">
                <a:solidFill>
                  <a:srgbClr val="FFFFFF"/>
                </a:solidFill>
              </a:rPr>
              <a:t>Protocolo para acceso remoto a sistemas. Permite controlar una computadora desde otra, como si el usuario estuviera físicamente frente a ella.
</a:t>
            </a:r>
            <a:r>
              <a:rPr lang="en-US" sz="1200" b="1" dirty="0">
                <a:solidFill>
                  <a:srgbClr val="5AA8D8"/>
                </a:solidFill>
              </a:rPr>
              <a:t>Módulos de TELNET
</a:t>
            </a:r>
            <a:r>
              <a:rPr lang="en-US" sz="1100" dirty="0">
                <a:solidFill>
                  <a:srgbClr val="FFFFFF"/>
                </a:solidFill>
              </a:rPr>
              <a:t>• Usuario TELNET: interactúa con el módulo de E/S de terminal
• Servidor TELNET: interactúa con el sistema de tiempo compartido del host remoto</a:t>
            </a:r>
            <a:endParaRPr lang="en-US" sz="1300" dirty="0"/>
          </a:p>
        </p:txBody>
      </p:sp>
      <p:sp>
        <p:nvSpPr>
          <p:cNvPr id="7" name="Shape 5"/>
          <p:cNvSpPr/>
          <p:nvPr/>
        </p:nvSpPr>
        <p:spPr>
          <a:xfrm>
            <a:off x="5394960" y="1143000"/>
            <a:ext cx="3474720" cy="2377440"/>
          </a:xfrm>
          <a:prstGeom prst="rect">
            <a:avLst/>
          </a:prstGeom>
          <a:solidFill>
            <a:srgbClr val="1A2530"/>
          </a:solidFill>
          <a:ln w="12700">
            <a:solidFill>
              <a:srgbClr val="5AA8D8"/>
            </a:solidFill>
            <a:prstDash val="solid"/>
          </a:ln>
        </p:spPr>
        <p:txBody>
          <a:bodyPr/>
          <a:lstStyle/>
          <a:p>
            <a:endParaRPr lang="en-US"/>
          </a:p>
        </p:txBody>
      </p:sp>
      <p:sp>
        <p:nvSpPr>
          <p:cNvPr id="8" name="Text 6"/>
          <p:cNvSpPr/>
          <p:nvPr/>
        </p:nvSpPr>
        <p:spPr>
          <a:xfrm>
            <a:off x="5486400" y="1188720"/>
            <a:ext cx="3291840" cy="320040"/>
          </a:xfrm>
          <a:prstGeom prst="rect">
            <a:avLst/>
          </a:prstGeom>
          <a:noFill/>
          <a:ln/>
        </p:spPr>
        <p:txBody>
          <a:bodyPr wrap="square" rtlCol="0" anchor="ctr"/>
          <a:lstStyle/>
          <a:p>
            <a:pPr marL="0" indent="0">
              <a:buNone/>
            </a:pPr>
            <a:r>
              <a:rPr lang="en-US" sz="1100" b="1" dirty="0">
                <a:solidFill>
                  <a:srgbClr val="5AA8D8"/>
                </a:solidFill>
              </a:rPr>
              <a:t>Características técnicas</a:t>
            </a:r>
            <a:endParaRPr lang="en-US" sz="1100" dirty="0"/>
          </a:p>
        </p:txBody>
      </p:sp>
      <p:sp>
        <p:nvSpPr>
          <p:cNvPr id="9" name="Text 7"/>
          <p:cNvSpPr/>
          <p:nvPr/>
        </p:nvSpPr>
        <p:spPr>
          <a:xfrm>
            <a:off x="5486400" y="1554480"/>
            <a:ext cx="3291840" cy="347472"/>
          </a:xfrm>
          <a:prstGeom prst="rect">
            <a:avLst/>
          </a:prstGeom>
          <a:noFill/>
          <a:ln/>
        </p:spPr>
        <p:txBody>
          <a:bodyPr wrap="square" rtlCol="0" anchor="ctr"/>
          <a:lstStyle/>
          <a:p>
            <a:pPr marL="0" indent="0">
              <a:buNone/>
            </a:pPr>
            <a:r>
              <a:rPr lang="en-US" sz="1000" dirty="0">
                <a:solidFill>
                  <a:srgbClr val="FFFFFF"/>
                </a:solidFill>
              </a:rPr>
              <a:t>▸  Terminal estándar de red (NVT)</a:t>
            </a:r>
            <a:endParaRPr lang="en-US" sz="1000" dirty="0"/>
          </a:p>
        </p:txBody>
      </p:sp>
      <p:sp>
        <p:nvSpPr>
          <p:cNvPr id="10" name="Text 8"/>
          <p:cNvSpPr/>
          <p:nvPr/>
        </p:nvSpPr>
        <p:spPr>
          <a:xfrm>
            <a:off x="5486400" y="1938528"/>
            <a:ext cx="3291840" cy="347472"/>
          </a:xfrm>
          <a:prstGeom prst="rect">
            <a:avLst/>
          </a:prstGeom>
          <a:noFill/>
          <a:ln/>
        </p:spPr>
        <p:txBody>
          <a:bodyPr wrap="square" rtlCol="0" anchor="ctr"/>
          <a:lstStyle/>
          <a:p>
            <a:pPr marL="0" indent="0">
              <a:buNone/>
            </a:pPr>
            <a:r>
              <a:rPr lang="en-US" sz="1000" dirty="0">
                <a:solidFill>
                  <a:srgbClr val="FFFFFF"/>
                </a:solidFill>
              </a:rPr>
              <a:t>▸  Permite negociar características de terminal</a:t>
            </a:r>
            <a:endParaRPr lang="en-US" sz="1000" dirty="0"/>
          </a:p>
        </p:txBody>
      </p:sp>
      <p:sp>
        <p:nvSpPr>
          <p:cNvPr id="11" name="Text 9"/>
          <p:cNvSpPr/>
          <p:nvPr/>
        </p:nvSpPr>
        <p:spPr>
          <a:xfrm>
            <a:off x="5486400" y="2322576"/>
            <a:ext cx="3291840" cy="347472"/>
          </a:xfrm>
          <a:prstGeom prst="rect">
            <a:avLst/>
          </a:prstGeom>
          <a:noFill/>
          <a:ln/>
        </p:spPr>
        <p:txBody>
          <a:bodyPr wrap="square" rtlCol="0" anchor="ctr"/>
          <a:lstStyle/>
          <a:p>
            <a:pPr marL="0" indent="0">
              <a:buNone/>
            </a:pPr>
            <a:r>
              <a:rPr lang="en-US" sz="1000" dirty="0">
                <a:solidFill>
                  <a:srgbClr val="FFFFFF"/>
                </a:solidFill>
              </a:rPr>
              <a:t>▸  Full-dúplex o half-dúplex</a:t>
            </a:r>
            <a:endParaRPr lang="en-US" sz="1000" dirty="0"/>
          </a:p>
        </p:txBody>
      </p:sp>
      <p:sp>
        <p:nvSpPr>
          <p:cNvPr id="12" name="Text 10"/>
          <p:cNvSpPr/>
          <p:nvPr/>
        </p:nvSpPr>
        <p:spPr>
          <a:xfrm>
            <a:off x="5486400" y="2706624"/>
            <a:ext cx="3291840" cy="347472"/>
          </a:xfrm>
          <a:prstGeom prst="rect">
            <a:avLst/>
          </a:prstGeom>
          <a:noFill/>
          <a:ln/>
        </p:spPr>
        <p:txBody>
          <a:bodyPr wrap="square" rtlCol="0" anchor="ctr"/>
          <a:lstStyle/>
          <a:p>
            <a:pPr marL="0" indent="0">
              <a:buNone/>
            </a:pPr>
            <a:r>
              <a:rPr lang="en-US" sz="1000" dirty="0">
                <a:solidFill>
                  <a:srgbClr val="FFFFFF"/>
                </a:solidFill>
              </a:rPr>
              <a:t>▸  Flujo de bytes de 8 bits con IAC</a:t>
            </a:r>
            <a:endParaRPr lang="en-US" sz="1000" dirty="0"/>
          </a:p>
        </p:txBody>
      </p:sp>
      <p:sp>
        <p:nvSpPr>
          <p:cNvPr id="13" name="Text 11"/>
          <p:cNvSpPr/>
          <p:nvPr/>
        </p:nvSpPr>
        <p:spPr>
          <a:xfrm>
            <a:off x="5486400" y="3090672"/>
            <a:ext cx="3291840" cy="347472"/>
          </a:xfrm>
          <a:prstGeom prst="rect">
            <a:avLst/>
          </a:prstGeom>
          <a:noFill/>
          <a:ln/>
        </p:spPr>
        <p:txBody>
          <a:bodyPr wrap="square" rtlCol="0" anchor="ctr"/>
          <a:lstStyle/>
          <a:p>
            <a:pPr marL="0" indent="0">
              <a:buNone/>
            </a:pPr>
            <a:r>
              <a:rPr lang="en-US" sz="1000" dirty="0">
                <a:solidFill>
                  <a:srgbClr val="FFFFFF"/>
                </a:solidFill>
              </a:rPr>
              <a:t>▸  Exactitud vía TCP</a:t>
            </a:r>
            <a:endParaRPr lang="en-US" sz="1000" dirty="0"/>
          </a:p>
        </p:txBody>
      </p:sp>
      <p:sp>
        <p:nvSpPr>
          <p:cNvPr id="14" name="Shape 12"/>
          <p:cNvSpPr/>
          <p:nvPr/>
        </p:nvSpPr>
        <p:spPr>
          <a:xfrm>
            <a:off x="274320" y="3657600"/>
            <a:ext cx="8412480" cy="777240"/>
          </a:xfrm>
          <a:prstGeom prst="rect">
            <a:avLst/>
          </a:prstGeom>
          <a:solidFill>
            <a:srgbClr val="2A1A1A"/>
          </a:solidFill>
          <a:ln w="12700">
            <a:solidFill>
              <a:srgbClr val="CC4444"/>
            </a:solidFill>
            <a:prstDash val="solid"/>
          </a:ln>
        </p:spPr>
        <p:txBody>
          <a:bodyPr/>
          <a:lstStyle/>
          <a:p>
            <a:endParaRPr lang="en-US"/>
          </a:p>
        </p:txBody>
      </p:sp>
      <p:sp>
        <p:nvSpPr>
          <p:cNvPr id="15" name="Text 13"/>
          <p:cNvSpPr/>
          <p:nvPr/>
        </p:nvSpPr>
        <p:spPr>
          <a:xfrm>
            <a:off x="365760" y="3703320"/>
            <a:ext cx="8229600" cy="292608"/>
          </a:xfrm>
          <a:prstGeom prst="rect">
            <a:avLst/>
          </a:prstGeom>
          <a:noFill/>
          <a:ln/>
        </p:spPr>
        <p:txBody>
          <a:bodyPr wrap="square" rtlCol="0" anchor="ctr"/>
          <a:lstStyle/>
          <a:p>
            <a:pPr marL="0" indent="0">
              <a:buNone/>
            </a:pPr>
            <a:r>
              <a:rPr lang="en-US" sz="1100" b="1" dirty="0">
                <a:solidFill>
                  <a:srgbClr val="FF8080"/>
                </a:solidFill>
              </a:rPr>
              <a:t>⚠️  TELNET HOY: Obsoleto por falta de cifrado</a:t>
            </a:r>
            <a:endParaRPr lang="en-US" sz="1100" dirty="0"/>
          </a:p>
        </p:txBody>
      </p:sp>
      <p:sp>
        <p:nvSpPr>
          <p:cNvPr id="16" name="Text 14"/>
          <p:cNvSpPr/>
          <p:nvPr/>
        </p:nvSpPr>
        <p:spPr>
          <a:xfrm>
            <a:off x="365760" y="4005072"/>
            <a:ext cx="8229600" cy="384048"/>
          </a:xfrm>
          <a:prstGeom prst="rect">
            <a:avLst/>
          </a:prstGeom>
          <a:noFill/>
          <a:ln/>
        </p:spPr>
        <p:txBody>
          <a:bodyPr wrap="square" rtlCol="0" anchor="ctr"/>
          <a:lstStyle/>
          <a:p>
            <a:pPr marL="0" indent="0">
              <a:buNone/>
            </a:pPr>
            <a:r>
              <a:rPr lang="en-US" sz="950" dirty="0">
                <a:solidFill>
                  <a:srgbClr val="FFFFFF"/>
                </a:solidFill>
              </a:rPr>
              <a:t>TELNET transmite todo en texto plano — contraseñas incluidas. Fue reemplazado por SSH (Secure Shell) que cifra la comunicación. En celulares y routers modernos se usa SSH a través de apps como Termius o JuiceSSH.</a:t>
            </a:r>
            <a:endParaRPr lang="en-US" sz="950" dirty="0"/>
          </a:p>
        </p:txBody>
      </p:sp>
      <p:sp>
        <p:nvSpPr>
          <p:cNvPr id="17" name="Shape 15"/>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8" name="Text 16"/>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TELNET es histórico pero fundamental para entender el acceso remoto. El concepto de NVT (Network Virtual Terminal) es importante: permite que hosts de distintos fabricantes se entiendan. Hoy SSH es su reemplazo seguro.</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HTTP — Protocolo de la Web</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HiperText Transfer Protocol — Puerto 80/443 — Usa TCP</a:t>
            </a:r>
            <a:endParaRPr lang="en-US" sz="1300" dirty="0"/>
          </a:p>
        </p:txBody>
      </p:sp>
      <p:sp>
        <p:nvSpPr>
          <p:cNvPr id="6" name="Text 4"/>
          <p:cNvSpPr/>
          <p:nvPr/>
        </p:nvSpPr>
        <p:spPr>
          <a:xfrm>
            <a:off x="274320" y="1143000"/>
            <a:ext cx="5303520" cy="3017520"/>
          </a:xfrm>
          <a:prstGeom prst="rect">
            <a:avLst/>
          </a:prstGeom>
          <a:noFill/>
          <a:ln/>
        </p:spPr>
        <p:txBody>
          <a:bodyPr wrap="square" lIns="101600" tIns="101600" rIns="101600" bIns="101600" rtlCol="0" anchor="ctr"/>
          <a:lstStyle/>
          <a:p>
            <a:pPr marL="0" indent="0">
              <a:buNone/>
            </a:pPr>
            <a:r>
              <a:rPr lang="en-US" sz="1300" b="1" dirty="0">
                <a:solidFill>
                  <a:srgbClr val="2D3030"/>
                </a:solidFill>
              </a:rPr>
              <a:t>El protocolo de la era digital
</a:t>
            </a:r>
            <a:r>
              <a:rPr lang="en-US" sz="1100" dirty="0">
                <a:solidFill>
                  <a:srgbClr val="404040"/>
                </a:solidFill>
              </a:rPr>
              <a:t>HTTP define cómo se solicitan y entregan páginas web entre un navegador (cliente) y un servidor. Es la base de la World Wide Web.
</a:t>
            </a:r>
            <a:r>
              <a:rPr lang="en-US" sz="1200" b="1" dirty="0">
                <a:solidFill>
                  <a:srgbClr val="2D3030"/>
                </a:solidFill>
              </a:rPr>
              <a:t>HTTPS (HTTP Secure)
</a:t>
            </a:r>
            <a:r>
              <a:rPr lang="en-US" sz="1100" dirty="0">
                <a:solidFill>
                  <a:srgbClr val="404040"/>
                </a:solidFill>
              </a:rPr>
              <a:t>Versión cifrada con TLS/SSL. Todo el tráfico del banco, redes sociales y tiendas online en el celular usa HTTPS. El candadito 🔒 en la barra del navegador indica HTTPS.</a:t>
            </a:r>
            <a:endParaRPr lang="en-US" sz="1300" dirty="0"/>
          </a:p>
        </p:txBody>
      </p:sp>
      <p:sp>
        <p:nvSpPr>
          <p:cNvPr id="7" name="Shape 5"/>
          <p:cNvSpPr/>
          <p:nvPr/>
        </p:nvSpPr>
        <p:spPr>
          <a:xfrm>
            <a:off x="5669280" y="1143000"/>
            <a:ext cx="3200400" cy="2926080"/>
          </a:xfrm>
          <a:prstGeom prst="rect">
            <a:avLst/>
          </a:prstGeom>
          <a:solidFill>
            <a:srgbClr val="FFFFFF"/>
          </a:solidFill>
          <a:ln w="19050">
            <a:solidFill>
              <a:srgbClr val="5AA8D8"/>
            </a:solidFill>
            <a:prstDash val="solid"/>
          </a:ln>
        </p:spPr>
        <p:txBody>
          <a:bodyPr/>
          <a:lstStyle/>
          <a:p>
            <a:endParaRPr lang="en-US"/>
          </a:p>
        </p:txBody>
      </p:sp>
      <p:sp>
        <p:nvSpPr>
          <p:cNvPr id="8" name="Text 6"/>
          <p:cNvSpPr/>
          <p:nvPr/>
        </p:nvSpPr>
        <p:spPr>
          <a:xfrm>
            <a:off x="5760720" y="1188720"/>
            <a:ext cx="3017520" cy="320040"/>
          </a:xfrm>
          <a:prstGeom prst="rect">
            <a:avLst/>
          </a:prstGeom>
          <a:noFill/>
          <a:ln/>
        </p:spPr>
        <p:txBody>
          <a:bodyPr wrap="square" rtlCol="0" anchor="ctr"/>
          <a:lstStyle/>
          <a:p>
            <a:pPr marL="0" indent="0">
              <a:buNone/>
            </a:pPr>
            <a:r>
              <a:rPr lang="en-US" sz="1100" b="1" dirty="0">
                <a:solidFill>
                  <a:srgbClr val="2D3030"/>
                </a:solidFill>
              </a:rPr>
              <a:t>Evolución del protocolo</a:t>
            </a:r>
            <a:endParaRPr lang="en-US" sz="1100" dirty="0"/>
          </a:p>
        </p:txBody>
      </p:sp>
      <p:sp>
        <p:nvSpPr>
          <p:cNvPr id="9" name="Shape 7"/>
          <p:cNvSpPr/>
          <p:nvPr/>
        </p:nvSpPr>
        <p:spPr>
          <a:xfrm>
            <a:off x="5760720" y="1572768"/>
            <a:ext cx="914400" cy="420624"/>
          </a:xfrm>
          <a:prstGeom prst="rect">
            <a:avLst/>
          </a:prstGeom>
          <a:solidFill>
            <a:srgbClr val="5AA8D8"/>
          </a:solidFill>
          <a:ln w="12700">
            <a:solidFill>
              <a:srgbClr val="5AA8D8"/>
            </a:solidFill>
            <a:prstDash val="solid"/>
          </a:ln>
        </p:spPr>
        <p:txBody>
          <a:bodyPr/>
          <a:lstStyle/>
          <a:p>
            <a:endParaRPr lang="en-US"/>
          </a:p>
        </p:txBody>
      </p:sp>
      <p:sp>
        <p:nvSpPr>
          <p:cNvPr id="10" name="Text 8"/>
          <p:cNvSpPr/>
          <p:nvPr/>
        </p:nvSpPr>
        <p:spPr>
          <a:xfrm>
            <a:off x="5760720" y="1572768"/>
            <a:ext cx="914400" cy="420624"/>
          </a:xfrm>
          <a:prstGeom prst="rect">
            <a:avLst/>
          </a:prstGeom>
          <a:noFill/>
          <a:ln/>
        </p:spPr>
        <p:txBody>
          <a:bodyPr wrap="square" rtlCol="0" anchor="ctr"/>
          <a:lstStyle/>
          <a:p>
            <a:pPr marL="0" indent="0" algn="ctr">
              <a:buNone/>
            </a:pPr>
            <a:r>
              <a:rPr lang="en-US" sz="900" b="1" dirty="0">
                <a:solidFill>
                  <a:srgbClr val="FFFFFF"/>
                </a:solidFill>
              </a:rPr>
              <a:t>HTTP/1.0</a:t>
            </a:r>
            <a:endParaRPr lang="en-US" sz="900" dirty="0"/>
          </a:p>
        </p:txBody>
      </p:sp>
      <p:sp>
        <p:nvSpPr>
          <p:cNvPr id="11" name="Text 9"/>
          <p:cNvSpPr/>
          <p:nvPr/>
        </p:nvSpPr>
        <p:spPr>
          <a:xfrm>
            <a:off x="6720840" y="1572768"/>
            <a:ext cx="2084832" cy="420624"/>
          </a:xfrm>
          <a:prstGeom prst="rect">
            <a:avLst/>
          </a:prstGeom>
          <a:noFill/>
          <a:ln/>
        </p:spPr>
        <p:txBody>
          <a:bodyPr wrap="square" rtlCol="0" anchor="ctr"/>
          <a:lstStyle/>
          <a:p>
            <a:pPr marL="0" indent="0">
              <a:buNone/>
            </a:pPr>
            <a:r>
              <a:rPr lang="en-US" sz="950" dirty="0">
                <a:solidFill>
                  <a:srgbClr val="404040"/>
                </a:solidFill>
              </a:rPr>
              <a:t>1996 · Una conexión por request</a:t>
            </a:r>
            <a:endParaRPr lang="en-US" sz="950" dirty="0"/>
          </a:p>
        </p:txBody>
      </p:sp>
      <p:sp>
        <p:nvSpPr>
          <p:cNvPr id="12" name="Shape 10"/>
          <p:cNvSpPr/>
          <p:nvPr/>
        </p:nvSpPr>
        <p:spPr>
          <a:xfrm>
            <a:off x="5760720" y="2121408"/>
            <a:ext cx="914400" cy="420624"/>
          </a:xfrm>
          <a:prstGeom prst="rect">
            <a:avLst/>
          </a:prstGeom>
          <a:solidFill>
            <a:srgbClr val="5AA8D8"/>
          </a:solidFill>
          <a:ln w="12700">
            <a:solidFill>
              <a:srgbClr val="5AA8D8"/>
            </a:solidFill>
            <a:prstDash val="solid"/>
          </a:ln>
        </p:spPr>
        <p:txBody>
          <a:bodyPr/>
          <a:lstStyle/>
          <a:p>
            <a:endParaRPr lang="en-US"/>
          </a:p>
        </p:txBody>
      </p:sp>
      <p:sp>
        <p:nvSpPr>
          <p:cNvPr id="13" name="Text 11"/>
          <p:cNvSpPr/>
          <p:nvPr/>
        </p:nvSpPr>
        <p:spPr>
          <a:xfrm>
            <a:off x="5760720" y="2121408"/>
            <a:ext cx="914400" cy="420624"/>
          </a:xfrm>
          <a:prstGeom prst="rect">
            <a:avLst/>
          </a:prstGeom>
          <a:noFill/>
          <a:ln/>
        </p:spPr>
        <p:txBody>
          <a:bodyPr wrap="square" rtlCol="0" anchor="ctr"/>
          <a:lstStyle/>
          <a:p>
            <a:pPr marL="0" indent="0" algn="ctr">
              <a:buNone/>
            </a:pPr>
            <a:r>
              <a:rPr lang="en-US" sz="900" b="1" dirty="0">
                <a:solidFill>
                  <a:srgbClr val="FFFFFF"/>
                </a:solidFill>
              </a:rPr>
              <a:t>HTTP/1.1</a:t>
            </a:r>
            <a:endParaRPr lang="en-US" sz="900" dirty="0"/>
          </a:p>
        </p:txBody>
      </p:sp>
      <p:sp>
        <p:nvSpPr>
          <p:cNvPr id="14" name="Text 12"/>
          <p:cNvSpPr/>
          <p:nvPr/>
        </p:nvSpPr>
        <p:spPr>
          <a:xfrm>
            <a:off x="6720840" y="2121408"/>
            <a:ext cx="2084832" cy="420624"/>
          </a:xfrm>
          <a:prstGeom prst="rect">
            <a:avLst/>
          </a:prstGeom>
          <a:noFill/>
          <a:ln/>
        </p:spPr>
        <p:txBody>
          <a:bodyPr wrap="square" rtlCol="0" anchor="ctr"/>
          <a:lstStyle/>
          <a:p>
            <a:pPr marL="0" indent="0">
              <a:buNone/>
            </a:pPr>
            <a:r>
              <a:rPr lang="en-US" sz="950" dirty="0">
                <a:solidFill>
                  <a:srgbClr val="404040"/>
                </a:solidFill>
              </a:rPr>
              <a:t>1997 · Conexiones persistentes</a:t>
            </a:r>
            <a:endParaRPr lang="en-US" sz="950" dirty="0"/>
          </a:p>
        </p:txBody>
      </p:sp>
      <p:sp>
        <p:nvSpPr>
          <p:cNvPr id="15" name="Shape 13"/>
          <p:cNvSpPr/>
          <p:nvPr/>
        </p:nvSpPr>
        <p:spPr>
          <a:xfrm>
            <a:off x="5760720" y="2670048"/>
            <a:ext cx="914400" cy="420624"/>
          </a:xfrm>
          <a:prstGeom prst="rect">
            <a:avLst/>
          </a:prstGeom>
          <a:solidFill>
            <a:srgbClr val="5AA8D8"/>
          </a:solidFill>
          <a:ln w="12700">
            <a:solidFill>
              <a:srgbClr val="5AA8D8"/>
            </a:solidFill>
            <a:prstDash val="solid"/>
          </a:ln>
        </p:spPr>
        <p:txBody>
          <a:bodyPr/>
          <a:lstStyle/>
          <a:p>
            <a:endParaRPr lang="en-US"/>
          </a:p>
        </p:txBody>
      </p:sp>
      <p:sp>
        <p:nvSpPr>
          <p:cNvPr id="16" name="Text 14"/>
          <p:cNvSpPr/>
          <p:nvPr/>
        </p:nvSpPr>
        <p:spPr>
          <a:xfrm>
            <a:off x="5760720" y="2670048"/>
            <a:ext cx="914400" cy="420624"/>
          </a:xfrm>
          <a:prstGeom prst="rect">
            <a:avLst/>
          </a:prstGeom>
          <a:noFill/>
          <a:ln/>
        </p:spPr>
        <p:txBody>
          <a:bodyPr wrap="square" rtlCol="0" anchor="ctr"/>
          <a:lstStyle/>
          <a:p>
            <a:pPr marL="0" indent="0" algn="ctr">
              <a:buNone/>
            </a:pPr>
            <a:r>
              <a:rPr lang="en-US" sz="900" b="1" dirty="0">
                <a:solidFill>
                  <a:srgbClr val="FFFFFF"/>
                </a:solidFill>
              </a:rPr>
              <a:t>HTTP/2</a:t>
            </a:r>
            <a:endParaRPr lang="en-US" sz="900" dirty="0"/>
          </a:p>
        </p:txBody>
      </p:sp>
      <p:sp>
        <p:nvSpPr>
          <p:cNvPr id="17" name="Text 15"/>
          <p:cNvSpPr/>
          <p:nvPr/>
        </p:nvSpPr>
        <p:spPr>
          <a:xfrm>
            <a:off x="6720840" y="2670048"/>
            <a:ext cx="2084832" cy="420624"/>
          </a:xfrm>
          <a:prstGeom prst="rect">
            <a:avLst/>
          </a:prstGeom>
          <a:noFill/>
          <a:ln/>
        </p:spPr>
        <p:txBody>
          <a:bodyPr wrap="square" rtlCol="0" anchor="ctr"/>
          <a:lstStyle/>
          <a:p>
            <a:pPr marL="0" indent="0">
              <a:buNone/>
            </a:pPr>
            <a:r>
              <a:rPr lang="en-US" sz="950" dirty="0">
                <a:solidFill>
                  <a:srgbClr val="404040"/>
                </a:solidFill>
              </a:rPr>
              <a:t>2015 · Multiplexación, más rápido</a:t>
            </a:r>
            <a:endParaRPr lang="en-US" sz="950" dirty="0"/>
          </a:p>
        </p:txBody>
      </p:sp>
      <p:sp>
        <p:nvSpPr>
          <p:cNvPr id="18" name="Shape 16"/>
          <p:cNvSpPr/>
          <p:nvPr/>
        </p:nvSpPr>
        <p:spPr>
          <a:xfrm>
            <a:off x="5760720" y="3218688"/>
            <a:ext cx="914400" cy="420624"/>
          </a:xfrm>
          <a:prstGeom prst="rect">
            <a:avLst/>
          </a:prstGeom>
          <a:solidFill>
            <a:srgbClr val="5AA8D8"/>
          </a:solidFill>
          <a:ln w="12700">
            <a:solidFill>
              <a:srgbClr val="5AA8D8"/>
            </a:solidFill>
            <a:prstDash val="solid"/>
          </a:ln>
        </p:spPr>
        <p:txBody>
          <a:bodyPr/>
          <a:lstStyle/>
          <a:p>
            <a:endParaRPr lang="en-US"/>
          </a:p>
        </p:txBody>
      </p:sp>
      <p:sp>
        <p:nvSpPr>
          <p:cNvPr id="19" name="Text 17"/>
          <p:cNvSpPr/>
          <p:nvPr/>
        </p:nvSpPr>
        <p:spPr>
          <a:xfrm>
            <a:off x="5760720" y="3218688"/>
            <a:ext cx="914400" cy="420624"/>
          </a:xfrm>
          <a:prstGeom prst="rect">
            <a:avLst/>
          </a:prstGeom>
          <a:noFill/>
          <a:ln/>
        </p:spPr>
        <p:txBody>
          <a:bodyPr wrap="square" rtlCol="0" anchor="ctr"/>
          <a:lstStyle/>
          <a:p>
            <a:pPr marL="0" indent="0" algn="ctr">
              <a:buNone/>
            </a:pPr>
            <a:r>
              <a:rPr lang="en-US" sz="900" b="1" dirty="0">
                <a:solidFill>
                  <a:srgbClr val="FFFFFF"/>
                </a:solidFill>
              </a:rPr>
              <a:t>HTTP/3</a:t>
            </a:r>
            <a:endParaRPr lang="en-US" sz="900" dirty="0"/>
          </a:p>
        </p:txBody>
      </p:sp>
      <p:sp>
        <p:nvSpPr>
          <p:cNvPr id="20" name="Text 18"/>
          <p:cNvSpPr/>
          <p:nvPr/>
        </p:nvSpPr>
        <p:spPr>
          <a:xfrm>
            <a:off x="6720840" y="3218688"/>
            <a:ext cx="2084832" cy="420624"/>
          </a:xfrm>
          <a:prstGeom prst="rect">
            <a:avLst/>
          </a:prstGeom>
          <a:noFill/>
          <a:ln/>
        </p:spPr>
        <p:txBody>
          <a:bodyPr wrap="square" rtlCol="0" anchor="ctr"/>
          <a:lstStyle/>
          <a:p>
            <a:pPr marL="0" indent="0">
              <a:buNone/>
            </a:pPr>
            <a:r>
              <a:rPr lang="en-US" sz="950" dirty="0">
                <a:solidFill>
                  <a:srgbClr val="404040"/>
                </a:solidFill>
              </a:rPr>
              <a:t>2022 · Sobre QUIC (UDP), para móviles</a:t>
            </a:r>
            <a:endParaRPr lang="en-US" sz="950" dirty="0"/>
          </a:p>
        </p:txBody>
      </p:sp>
      <p:sp>
        <p:nvSpPr>
          <p:cNvPr id="21" name="Shape 19"/>
          <p:cNvSpPr/>
          <p:nvPr/>
        </p:nvSpPr>
        <p:spPr>
          <a:xfrm>
            <a:off x="274320" y="4160520"/>
            <a:ext cx="8412480" cy="365760"/>
          </a:xfrm>
          <a:prstGeom prst="rect">
            <a:avLst/>
          </a:prstGeom>
          <a:solidFill>
            <a:srgbClr val="B9DEF8"/>
          </a:solidFill>
          <a:ln w="12700">
            <a:solidFill>
              <a:srgbClr val="5AA8D8"/>
            </a:solidFill>
            <a:prstDash val="solid"/>
          </a:ln>
        </p:spPr>
        <p:txBody>
          <a:bodyPr/>
          <a:lstStyle/>
          <a:p>
            <a:endParaRPr lang="en-US"/>
          </a:p>
        </p:txBody>
      </p:sp>
      <p:sp>
        <p:nvSpPr>
          <p:cNvPr id="22" name="Text 20"/>
          <p:cNvSpPr/>
          <p:nvPr/>
        </p:nvSpPr>
        <p:spPr>
          <a:xfrm>
            <a:off x="365760" y="4178808"/>
            <a:ext cx="8229600" cy="329184"/>
          </a:xfrm>
          <a:prstGeom prst="rect">
            <a:avLst/>
          </a:prstGeom>
          <a:noFill/>
          <a:ln/>
        </p:spPr>
        <p:txBody>
          <a:bodyPr wrap="square" rtlCol="0" anchor="ctr"/>
          <a:lstStyle/>
          <a:p>
            <a:pPr marL="0" indent="0">
              <a:buNone/>
            </a:pPr>
            <a:r>
              <a:rPr lang="en-US" sz="1000" dirty="0">
                <a:solidFill>
                  <a:srgbClr val="2D3030"/>
                </a:solidFill>
              </a:rPr>
              <a:t>📱 HTTP/3 usa QUIC sobre UDP — optimizado para redes móviles con cambios frecuentes de IP (WiFi → 4G/5G)</a:t>
            </a:r>
            <a:endParaRPr lang="en-US" sz="1000" dirty="0"/>
          </a:p>
        </p:txBody>
      </p:sp>
      <p:sp>
        <p:nvSpPr>
          <p:cNvPr id="23" name="Shape 21"/>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4" name="Text 22"/>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HTTP es el protocolo que </a:t>
            </a:r>
            <a:r>
              <a:rPr lang="en-US" sz="900" i="1" dirty="0" err="1">
                <a:solidFill>
                  <a:srgbClr val="6BB8E8"/>
                </a:solidFill>
              </a:rPr>
              <a:t>más</a:t>
            </a:r>
            <a:r>
              <a:rPr lang="en-US" sz="900" i="1" dirty="0">
                <a:solidFill>
                  <a:srgbClr val="6BB8E8"/>
                </a:solidFill>
              </a:rPr>
              <a:t> </a:t>
            </a:r>
            <a:r>
              <a:rPr lang="en-US" sz="900" i="1" dirty="0" err="1">
                <a:solidFill>
                  <a:srgbClr val="6BB8E8"/>
                </a:solidFill>
              </a:rPr>
              <a:t>usamos</a:t>
            </a:r>
            <a:r>
              <a:rPr lang="en-US" sz="900" i="1" dirty="0">
                <a:solidFill>
                  <a:srgbClr val="6BB8E8"/>
                </a:solidFill>
              </a:rPr>
              <a:t>. Cada vez </a:t>
            </a:r>
            <a:r>
              <a:rPr lang="en-US" sz="900" i="1" dirty="0" err="1">
                <a:solidFill>
                  <a:srgbClr val="6BB8E8"/>
                </a:solidFill>
              </a:rPr>
              <a:t>que</a:t>
            </a:r>
            <a:r>
              <a:rPr lang="en-US" sz="900" i="1" dirty="0">
                <a:solidFill>
                  <a:srgbClr val="6BB8E8"/>
                </a:solidFill>
              </a:rPr>
              <a:t> </a:t>
            </a:r>
            <a:r>
              <a:rPr lang="en-US" sz="900" i="1" dirty="0" err="1">
                <a:solidFill>
                  <a:srgbClr val="6BB8E8"/>
                </a:solidFill>
              </a:rPr>
              <a:t>abrimos</a:t>
            </a:r>
            <a:r>
              <a:rPr lang="en-US" sz="900" i="1" dirty="0">
                <a:solidFill>
                  <a:srgbClr val="6BB8E8"/>
                </a:solidFill>
              </a:rPr>
              <a:t> Instagram o </a:t>
            </a:r>
            <a:r>
              <a:rPr lang="en-US" sz="900" i="1" dirty="0" err="1">
                <a:solidFill>
                  <a:srgbClr val="6BB8E8"/>
                </a:solidFill>
              </a:rPr>
              <a:t>hacemos</a:t>
            </a:r>
            <a:r>
              <a:rPr lang="en-US" sz="900" i="1" dirty="0">
                <a:solidFill>
                  <a:srgbClr val="6BB8E8"/>
                </a:solidFill>
              </a:rPr>
              <a:t> una búsqueda en Google, usan HTTPS. El dato curioso es que HTTP/3 migró de TCP a UDP (QUIC) para mejorar la experiencia en celulares.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DNS y NFS — Otros Protocolos Clave</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Servicios esenciales de la capa de aplicación</a:t>
            </a:r>
            <a:endParaRPr lang="en-US" sz="1300" dirty="0"/>
          </a:p>
        </p:txBody>
      </p:sp>
      <p:sp>
        <p:nvSpPr>
          <p:cNvPr id="6" name="Shape 4"/>
          <p:cNvSpPr/>
          <p:nvPr/>
        </p:nvSpPr>
        <p:spPr>
          <a:xfrm>
            <a:off x="274320" y="1188720"/>
            <a:ext cx="4114800" cy="3291840"/>
          </a:xfrm>
          <a:prstGeom prst="rect">
            <a:avLst/>
          </a:prstGeom>
          <a:solidFill>
            <a:srgbClr val="1A2530"/>
          </a:solidFill>
          <a:ln w="19050">
            <a:solidFill>
              <a:srgbClr val="5AA8D8"/>
            </a:solidFill>
            <a:prstDash val="solid"/>
          </a:ln>
        </p:spPr>
        <p:txBody>
          <a:bodyPr/>
          <a:lstStyle/>
          <a:p>
            <a:endParaRPr lang="en-US"/>
          </a:p>
        </p:txBody>
      </p:sp>
      <p:sp>
        <p:nvSpPr>
          <p:cNvPr id="7" name="Shape 5"/>
          <p:cNvSpPr/>
          <p:nvPr/>
        </p:nvSpPr>
        <p:spPr>
          <a:xfrm>
            <a:off x="274320" y="1188720"/>
            <a:ext cx="4114800" cy="411480"/>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320040" y="1188720"/>
            <a:ext cx="4023360" cy="411480"/>
          </a:xfrm>
          <a:prstGeom prst="rect">
            <a:avLst/>
          </a:prstGeom>
          <a:noFill/>
          <a:ln/>
        </p:spPr>
        <p:txBody>
          <a:bodyPr wrap="square" rtlCol="0" anchor="ctr"/>
          <a:lstStyle/>
          <a:p>
            <a:pPr marL="0" indent="0">
              <a:buNone/>
            </a:pPr>
            <a:r>
              <a:rPr lang="en-US" sz="1200" b="1" dirty="0">
                <a:solidFill>
                  <a:srgbClr val="FFFFFF"/>
                </a:solidFill>
              </a:rPr>
              <a:t>DNS — Domain Name Service</a:t>
            </a:r>
            <a:endParaRPr lang="en-US" sz="1200" dirty="0"/>
          </a:p>
        </p:txBody>
      </p:sp>
      <p:sp>
        <p:nvSpPr>
          <p:cNvPr id="9" name="Text 7"/>
          <p:cNvSpPr/>
          <p:nvPr/>
        </p:nvSpPr>
        <p:spPr>
          <a:xfrm>
            <a:off x="365760" y="1664208"/>
            <a:ext cx="3931920" cy="2743200"/>
          </a:xfrm>
          <a:prstGeom prst="rect">
            <a:avLst/>
          </a:prstGeom>
          <a:noFill/>
          <a:ln/>
        </p:spPr>
        <p:txBody>
          <a:bodyPr wrap="square" lIns="76200" tIns="76200" rIns="76200" bIns="76200" rtlCol="0" anchor="ctr"/>
          <a:lstStyle/>
          <a:p>
            <a:pPr marL="0" indent="0">
              <a:buNone/>
            </a:pPr>
            <a:r>
              <a:rPr lang="en-US" sz="1000" i="1" dirty="0">
                <a:solidFill>
                  <a:srgbClr val="5AA8D8"/>
                </a:solidFill>
              </a:rPr>
              <a:t>Puerto: 53 · Transporte: UDP
</a:t>
            </a:r>
            <a:r>
              <a:rPr lang="en-US" sz="1100" dirty="0">
                <a:solidFill>
                  <a:srgbClr val="FFFFFF"/>
                </a:solidFill>
              </a:rPr>
              <a:t>Traduce nombres legibles por humanos (www.google.com) en direcciones IP numéricas (142.250.80.46).
Es esencial para rutear paquetes en Internet. Sin DNS, tendríamos que memorizar IPs numéricas.
</a:t>
            </a:r>
            <a:r>
              <a:rPr lang="en-US" sz="1050" dirty="0">
                <a:solidFill>
                  <a:srgbClr val="90EE90"/>
                </a:solidFill>
              </a:rPr>
              <a:t>📱 En celulares: cada vez que abrís una app o sitio web, el celular consulta el servidor DNS de tu proveedor (o de Google: 8.8.8.8 / Cloudflare: 1.1.1.1).</a:t>
            </a:r>
            <a:endParaRPr lang="en-US" sz="1000" dirty="0"/>
          </a:p>
        </p:txBody>
      </p:sp>
      <p:sp>
        <p:nvSpPr>
          <p:cNvPr id="10" name="Shape 8"/>
          <p:cNvSpPr/>
          <p:nvPr/>
        </p:nvSpPr>
        <p:spPr>
          <a:xfrm>
            <a:off x="4663440" y="1188720"/>
            <a:ext cx="4114800" cy="3291840"/>
          </a:xfrm>
          <a:prstGeom prst="rect">
            <a:avLst/>
          </a:prstGeom>
          <a:solidFill>
            <a:srgbClr val="1A2530"/>
          </a:solidFill>
          <a:ln w="19050">
            <a:solidFill>
              <a:srgbClr val="3A7BAA"/>
            </a:solidFill>
            <a:prstDash val="solid"/>
          </a:ln>
        </p:spPr>
        <p:txBody>
          <a:bodyPr/>
          <a:lstStyle/>
          <a:p>
            <a:endParaRPr lang="en-US"/>
          </a:p>
        </p:txBody>
      </p:sp>
      <p:sp>
        <p:nvSpPr>
          <p:cNvPr id="11" name="Shape 9"/>
          <p:cNvSpPr/>
          <p:nvPr/>
        </p:nvSpPr>
        <p:spPr>
          <a:xfrm>
            <a:off x="4663440" y="1188720"/>
            <a:ext cx="4114800" cy="411480"/>
          </a:xfrm>
          <a:prstGeom prst="rect">
            <a:avLst/>
          </a:prstGeom>
          <a:solidFill>
            <a:srgbClr val="3A7BAA"/>
          </a:solidFill>
          <a:ln w="12700">
            <a:solidFill>
              <a:srgbClr val="3A7BAA"/>
            </a:solidFill>
            <a:prstDash val="solid"/>
          </a:ln>
        </p:spPr>
        <p:txBody>
          <a:bodyPr/>
          <a:lstStyle/>
          <a:p>
            <a:endParaRPr lang="en-US"/>
          </a:p>
        </p:txBody>
      </p:sp>
      <p:sp>
        <p:nvSpPr>
          <p:cNvPr id="12" name="Text 10"/>
          <p:cNvSpPr/>
          <p:nvPr/>
        </p:nvSpPr>
        <p:spPr>
          <a:xfrm>
            <a:off x="4709160" y="1188720"/>
            <a:ext cx="4023360" cy="411480"/>
          </a:xfrm>
          <a:prstGeom prst="rect">
            <a:avLst/>
          </a:prstGeom>
          <a:noFill/>
          <a:ln/>
        </p:spPr>
        <p:txBody>
          <a:bodyPr wrap="square" rtlCol="0" anchor="ctr"/>
          <a:lstStyle/>
          <a:p>
            <a:pPr marL="0" indent="0">
              <a:buNone/>
            </a:pPr>
            <a:r>
              <a:rPr lang="en-US" sz="1200" b="1" dirty="0">
                <a:solidFill>
                  <a:srgbClr val="FFFFFF"/>
                </a:solidFill>
              </a:rPr>
              <a:t>NFS — Network File System</a:t>
            </a:r>
            <a:endParaRPr lang="en-US" sz="1200" dirty="0"/>
          </a:p>
        </p:txBody>
      </p:sp>
      <p:sp>
        <p:nvSpPr>
          <p:cNvPr id="13" name="Text 11"/>
          <p:cNvSpPr/>
          <p:nvPr/>
        </p:nvSpPr>
        <p:spPr>
          <a:xfrm>
            <a:off x="4754880" y="1664208"/>
            <a:ext cx="3931920" cy="2743200"/>
          </a:xfrm>
          <a:prstGeom prst="rect">
            <a:avLst/>
          </a:prstGeom>
          <a:noFill/>
          <a:ln/>
        </p:spPr>
        <p:txBody>
          <a:bodyPr wrap="square" lIns="76200" tIns="76200" rIns="76200" bIns="76200" rtlCol="0" anchor="ctr"/>
          <a:lstStyle/>
          <a:p>
            <a:pPr marL="0" indent="0">
              <a:buNone/>
            </a:pPr>
            <a:r>
              <a:rPr lang="en-US" sz="1000" i="1" dirty="0">
                <a:solidFill>
                  <a:srgbClr val="5AA8D8"/>
                </a:solidFill>
              </a:rPr>
              <a:t>Puerto: 2049 · Transporte: UDP
</a:t>
            </a:r>
            <a:r>
              <a:rPr lang="en-US" sz="1100" dirty="0">
                <a:solidFill>
                  <a:srgbClr val="FFFFFF"/>
                </a:solidFill>
              </a:rPr>
              <a:t>Permite que múltiples hosts compartan archivos a través de la red, como si los archivos estuvieran almacenados localmente.
Uso típico en entornos Linux/Unix para compartir directorios entre servidores.
</a:t>
            </a:r>
            <a:r>
              <a:rPr lang="en-US" sz="1050" dirty="0">
                <a:solidFill>
                  <a:srgbClr val="90EE90"/>
                </a:solidFill>
              </a:rPr>
              <a:t>📱 Concepto equivalente moderno: Google Drive, iCloud y OneDrive aplican principios similares para sincronizar archivos en dispositivos móviles.</a:t>
            </a:r>
            <a:endParaRPr lang="en-US" sz="1000" dirty="0"/>
          </a:p>
        </p:txBody>
      </p:sp>
      <p:sp>
        <p:nvSpPr>
          <p:cNvPr id="14" name="Shape 12"/>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5" name="Text 13"/>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DNS es el 'directorio telefónico de Internet'. NFS es el ancestro de Google Drive. </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Jerarquía de Protocolos en TCP/IP</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¿Qué protocolo usa qué servicio de transporte?</a:t>
            </a:r>
            <a:endParaRPr lang="en-US" sz="1300" dirty="0"/>
          </a:p>
        </p:txBody>
      </p:sp>
      <p:sp>
        <p:nvSpPr>
          <p:cNvPr id="6" name="Shape 4"/>
          <p:cNvSpPr/>
          <p:nvPr/>
        </p:nvSpPr>
        <p:spPr>
          <a:xfrm>
            <a:off x="457200" y="1170432"/>
            <a:ext cx="8229600" cy="658368"/>
          </a:xfrm>
          <a:prstGeom prst="rect">
            <a:avLst/>
          </a:prstGeom>
          <a:solidFill>
            <a:srgbClr val="5AA8D8"/>
          </a:solidFill>
          <a:ln w="19050">
            <a:solidFill>
              <a:srgbClr val="FFFFFF"/>
            </a:solidFill>
            <a:prstDash val="solid"/>
          </a:ln>
        </p:spPr>
        <p:txBody>
          <a:bodyPr/>
          <a:lstStyle/>
          <a:p>
            <a:endParaRPr lang="en-US"/>
          </a:p>
        </p:txBody>
      </p:sp>
      <p:sp>
        <p:nvSpPr>
          <p:cNvPr id="7" name="Text 5"/>
          <p:cNvSpPr/>
          <p:nvPr/>
        </p:nvSpPr>
        <p:spPr>
          <a:xfrm>
            <a:off x="548640" y="1188720"/>
            <a:ext cx="4114800" cy="320040"/>
          </a:xfrm>
          <a:prstGeom prst="rect">
            <a:avLst/>
          </a:prstGeom>
          <a:noFill/>
          <a:ln/>
        </p:spPr>
        <p:txBody>
          <a:bodyPr wrap="square" rtlCol="0" anchor="ctr"/>
          <a:lstStyle/>
          <a:p>
            <a:pPr marL="0" indent="0">
              <a:buNone/>
            </a:pPr>
            <a:r>
              <a:rPr lang="en-US" sz="1100" b="1" dirty="0">
                <a:solidFill>
                  <a:srgbClr val="FFFFFF"/>
                </a:solidFill>
              </a:rPr>
              <a:t>CAPA DE APLICACIÓN</a:t>
            </a:r>
            <a:endParaRPr lang="en-US" sz="1100" dirty="0"/>
          </a:p>
        </p:txBody>
      </p:sp>
      <p:sp>
        <p:nvSpPr>
          <p:cNvPr id="8" name="Text 6"/>
          <p:cNvSpPr/>
          <p:nvPr/>
        </p:nvSpPr>
        <p:spPr>
          <a:xfrm>
            <a:off x="548640" y="1499616"/>
            <a:ext cx="8046720" cy="292608"/>
          </a:xfrm>
          <a:prstGeom prst="rect">
            <a:avLst/>
          </a:prstGeom>
          <a:noFill/>
          <a:ln/>
        </p:spPr>
        <p:txBody>
          <a:bodyPr wrap="square" rtlCol="0" anchor="ctr"/>
          <a:lstStyle/>
          <a:p>
            <a:pPr marL="0" indent="0">
              <a:buNone/>
            </a:pPr>
            <a:r>
              <a:rPr lang="en-US" sz="1050" dirty="0">
                <a:solidFill>
                  <a:srgbClr val="B9DEF8"/>
                </a:solidFill>
              </a:rPr>
              <a:t>FTP · TELNET · SMTP · HTTP · DNS · NFS</a:t>
            </a:r>
            <a:endParaRPr lang="en-US" sz="1050" dirty="0"/>
          </a:p>
        </p:txBody>
      </p:sp>
      <p:sp>
        <p:nvSpPr>
          <p:cNvPr id="9" name="Shape 7"/>
          <p:cNvSpPr/>
          <p:nvPr/>
        </p:nvSpPr>
        <p:spPr>
          <a:xfrm>
            <a:off x="457200" y="1901952"/>
            <a:ext cx="8229600" cy="658368"/>
          </a:xfrm>
          <a:prstGeom prst="rect">
            <a:avLst/>
          </a:prstGeom>
          <a:solidFill>
            <a:srgbClr val="3A7BAA"/>
          </a:solidFill>
          <a:ln w="19050">
            <a:solidFill>
              <a:srgbClr val="FFFFFF"/>
            </a:solidFill>
            <a:prstDash val="solid"/>
          </a:ln>
        </p:spPr>
        <p:txBody>
          <a:bodyPr/>
          <a:lstStyle/>
          <a:p>
            <a:endParaRPr lang="en-US"/>
          </a:p>
        </p:txBody>
      </p:sp>
      <p:sp>
        <p:nvSpPr>
          <p:cNvPr id="10" name="Text 8"/>
          <p:cNvSpPr/>
          <p:nvPr/>
        </p:nvSpPr>
        <p:spPr>
          <a:xfrm>
            <a:off x="548640" y="1920240"/>
            <a:ext cx="4114800" cy="320040"/>
          </a:xfrm>
          <a:prstGeom prst="rect">
            <a:avLst/>
          </a:prstGeom>
          <a:noFill/>
          <a:ln/>
        </p:spPr>
        <p:txBody>
          <a:bodyPr wrap="square" rtlCol="0" anchor="ctr"/>
          <a:lstStyle/>
          <a:p>
            <a:pPr marL="0" indent="0">
              <a:buNone/>
            </a:pPr>
            <a:r>
              <a:rPr lang="en-US" sz="1100" b="1" dirty="0">
                <a:solidFill>
                  <a:srgbClr val="FFFFFF"/>
                </a:solidFill>
              </a:rPr>
              <a:t>CAPA DE TRANSPORTE (Host-to-Host)</a:t>
            </a:r>
            <a:endParaRPr lang="en-US" sz="1100" dirty="0"/>
          </a:p>
        </p:txBody>
      </p:sp>
      <p:sp>
        <p:nvSpPr>
          <p:cNvPr id="11" name="Text 9"/>
          <p:cNvSpPr/>
          <p:nvPr/>
        </p:nvSpPr>
        <p:spPr>
          <a:xfrm>
            <a:off x="548640" y="2231136"/>
            <a:ext cx="8046720" cy="292608"/>
          </a:xfrm>
          <a:prstGeom prst="rect">
            <a:avLst/>
          </a:prstGeom>
          <a:noFill/>
          <a:ln/>
        </p:spPr>
        <p:txBody>
          <a:bodyPr wrap="square" rtlCol="0" anchor="ctr"/>
          <a:lstStyle/>
          <a:p>
            <a:pPr marL="0" indent="0">
              <a:buNone/>
            </a:pPr>
            <a:r>
              <a:rPr lang="en-US" sz="1050" dirty="0">
                <a:solidFill>
                  <a:srgbClr val="B9DEF8"/>
                </a:solidFill>
              </a:rPr>
              <a:t>TCP                                    UDP</a:t>
            </a:r>
            <a:endParaRPr lang="en-US" sz="1050" dirty="0"/>
          </a:p>
        </p:txBody>
      </p:sp>
      <p:sp>
        <p:nvSpPr>
          <p:cNvPr id="12" name="Shape 10"/>
          <p:cNvSpPr/>
          <p:nvPr/>
        </p:nvSpPr>
        <p:spPr>
          <a:xfrm>
            <a:off x="457200" y="2633472"/>
            <a:ext cx="8229600" cy="658368"/>
          </a:xfrm>
          <a:prstGeom prst="rect">
            <a:avLst/>
          </a:prstGeom>
          <a:solidFill>
            <a:srgbClr val="3A5A7A"/>
          </a:solidFill>
          <a:ln w="19050">
            <a:solidFill>
              <a:srgbClr val="FFFFFF"/>
            </a:solidFill>
            <a:prstDash val="solid"/>
          </a:ln>
        </p:spPr>
        <p:txBody>
          <a:bodyPr/>
          <a:lstStyle/>
          <a:p>
            <a:endParaRPr lang="en-US"/>
          </a:p>
        </p:txBody>
      </p:sp>
      <p:sp>
        <p:nvSpPr>
          <p:cNvPr id="13" name="Text 11"/>
          <p:cNvSpPr/>
          <p:nvPr/>
        </p:nvSpPr>
        <p:spPr>
          <a:xfrm>
            <a:off x="548640" y="2651760"/>
            <a:ext cx="4114800" cy="320040"/>
          </a:xfrm>
          <a:prstGeom prst="rect">
            <a:avLst/>
          </a:prstGeom>
          <a:noFill/>
          <a:ln/>
        </p:spPr>
        <p:txBody>
          <a:bodyPr wrap="square" rtlCol="0" anchor="ctr"/>
          <a:lstStyle/>
          <a:p>
            <a:pPr marL="0" indent="0">
              <a:buNone/>
            </a:pPr>
            <a:r>
              <a:rPr lang="en-US" sz="1100" b="1" dirty="0">
                <a:solidFill>
                  <a:srgbClr val="FFFFFF"/>
                </a:solidFill>
              </a:rPr>
              <a:t>CAPA INTERNET (Interred)</a:t>
            </a:r>
            <a:endParaRPr lang="en-US" sz="1100" dirty="0"/>
          </a:p>
        </p:txBody>
      </p:sp>
      <p:sp>
        <p:nvSpPr>
          <p:cNvPr id="14" name="Text 12"/>
          <p:cNvSpPr/>
          <p:nvPr/>
        </p:nvSpPr>
        <p:spPr>
          <a:xfrm>
            <a:off x="548640" y="2962656"/>
            <a:ext cx="8046720" cy="292608"/>
          </a:xfrm>
          <a:prstGeom prst="rect">
            <a:avLst/>
          </a:prstGeom>
          <a:noFill/>
          <a:ln/>
        </p:spPr>
        <p:txBody>
          <a:bodyPr wrap="square" rtlCol="0" anchor="ctr"/>
          <a:lstStyle/>
          <a:p>
            <a:pPr marL="0" indent="0">
              <a:buNone/>
            </a:pPr>
            <a:r>
              <a:rPr lang="en-US" sz="1050" dirty="0">
                <a:solidFill>
                  <a:srgbClr val="B9DEF8"/>
                </a:solidFill>
              </a:rPr>
              <a:t>IP · ICMP · ARP</a:t>
            </a:r>
            <a:endParaRPr lang="en-US" sz="1050" dirty="0"/>
          </a:p>
        </p:txBody>
      </p:sp>
      <p:sp>
        <p:nvSpPr>
          <p:cNvPr id="15" name="Shape 13"/>
          <p:cNvSpPr/>
          <p:nvPr/>
        </p:nvSpPr>
        <p:spPr>
          <a:xfrm>
            <a:off x="457200" y="3364992"/>
            <a:ext cx="8229600" cy="658368"/>
          </a:xfrm>
          <a:prstGeom prst="rect">
            <a:avLst/>
          </a:prstGeom>
          <a:solidFill>
            <a:srgbClr val="2D4A5E"/>
          </a:solidFill>
          <a:ln w="19050">
            <a:solidFill>
              <a:srgbClr val="FFFFFF"/>
            </a:solidFill>
            <a:prstDash val="solid"/>
          </a:ln>
        </p:spPr>
        <p:txBody>
          <a:bodyPr/>
          <a:lstStyle/>
          <a:p>
            <a:endParaRPr lang="en-US"/>
          </a:p>
        </p:txBody>
      </p:sp>
      <p:sp>
        <p:nvSpPr>
          <p:cNvPr id="16" name="Text 14"/>
          <p:cNvSpPr/>
          <p:nvPr/>
        </p:nvSpPr>
        <p:spPr>
          <a:xfrm>
            <a:off x="548640" y="3383280"/>
            <a:ext cx="4114800" cy="320040"/>
          </a:xfrm>
          <a:prstGeom prst="rect">
            <a:avLst/>
          </a:prstGeom>
          <a:noFill/>
          <a:ln/>
        </p:spPr>
        <p:txBody>
          <a:bodyPr wrap="square" rtlCol="0" anchor="ctr"/>
          <a:lstStyle/>
          <a:p>
            <a:pPr marL="0" indent="0">
              <a:buNone/>
            </a:pPr>
            <a:r>
              <a:rPr lang="en-US" sz="1100" b="1" dirty="0">
                <a:solidFill>
                  <a:srgbClr val="FFFFFF"/>
                </a:solidFill>
              </a:rPr>
              <a:t>CAPA DE ACCESO A LA RED</a:t>
            </a:r>
            <a:endParaRPr lang="en-US" sz="1100" dirty="0"/>
          </a:p>
        </p:txBody>
      </p:sp>
      <p:sp>
        <p:nvSpPr>
          <p:cNvPr id="17" name="Text 15"/>
          <p:cNvSpPr/>
          <p:nvPr/>
        </p:nvSpPr>
        <p:spPr>
          <a:xfrm>
            <a:off x="548640" y="3694176"/>
            <a:ext cx="8046720" cy="292608"/>
          </a:xfrm>
          <a:prstGeom prst="rect">
            <a:avLst/>
          </a:prstGeom>
          <a:noFill/>
          <a:ln/>
        </p:spPr>
        <p:txBody>
          <a:bodyPr wrap="square" rtlCol="0" anchor="ctr"/>
          <a:lstStyle/>
          <a:p>
            <a:pPr marL="0" indent="0">
              <a:buNone/>
            </a:pPr>
            <a:r>
              <a:rPr lang="en-US" sz="1050" dirty="0">
                <a:solidFill>
                  <a:srgbClr val="B9DEF8"/>
                </a:solidFill>
              </a:rPr>
              <a:t>Ethernet · Wi-Fi · 4G/5G · Token Ring · ATM</a:t>
            </a:r>
            <a:endParaRPr lang="en-US" sz="1050" dirty="0"/>
          </a:p>
        </p:txBody>
      </p:sp>
      <p:sp>
        <p:nvSpPr>
          <p:cNvPr id="18" name="Text 16"/>
          <p:cNvSpPr/>
          <p:nvPr/>
        </p:nvSpPr>
        <p:spPr>
          <a:xfrm>
            <a:off x="6675120" y="4114800"/>
            <a:ext cx="2194560" cy="502920"/>
          </a:xfrm>
          <a:prstGeom prst="rect">
            <a:avLst/>
          </a:prstGeom>
          <a:noFill/>
          <a:ln/>
        </p:spPr>
        <p:txBody>
          <a:bodyPr wrap="square" rtlCol="0" anchor="ctr"/>
          <a:lstStyle/>
          <a:p>
            <a:pPr marL="0" indent="0" algn="r">
              <a:buNone/>
            </a:pPr>
            <a:r>
              <a:rPr lang="en-US" sz="950" i="1" dirty="0">
                <a:solidFill>
                  <a:srgbClr val="808080"/>
                </a:solidFill>
              </a:rPr>
              <a:t>Datos bajan al enviar  ↓</a:t>
            </a:r>
            <a:endParaRPr lang="en-US" sz="950" dirty="0"/>
          </a:p>
          <a:p>
            <a:pPr marL="0" indent="0" algn="r">
              <a:buNone/>
            </a:pPr>
            <a:r>
              <a:rPr lang="en-US" sz="950" i="1" dirty="0">
                <a:solidFill>
                  <a:srgbClr val="808080"/>
                </a:solidFill>
              </a:rPr>
              <a:t>Datos suben al recibir ↑</a:t>
            </a:r>
            <a:endParaRPr lang="en-US" sz="950" dirty="0"/>
          </a:p>
        </p:txBody>
      </p:sp>
      <p:sp>
        <p:nvSpPr>
          <p:cNvPr id="19" name="Shape 17"/>
          <p:cNvSpPr/>
          <p:nvPr/>
        </p:nvSpPr>
        <p:spPr>
          <a:xfrm>
            <a:off x="457200" y="4160520"/>
            <a:ext cx="5943600" cy="365760"/>
          </a:xfrm>
          <a:prstGeom prst="rect">
            <a:avLst/>
          </a:prstGeom>
          <a:solidFill>
            <a:srgbClr val="B9DEF8"/>
          </a:solidFill>
          <a:ln w="12700">
            <a:solidFill>
              <a:srgbClr val="5AA8D8"/>
            </a:solidFill>
            <a:prstDash val="solid"/>
          </a:ln>
        </p:spPr>
        <p:txBody>
          <a:bodyPr/>
          <a:lstStyle/>
          <a:p>
            <a:endParaRPr lang="en-US"/>
          </a:p>
        </p:txBody>
      </p:sp>
      <p:sp>
        <p:nvSpPr>
          <p:cNvPr id="20" name="Text 18"/>
          <p:cNvSpPr/>
          <p:nvPr/>
        </p:nvSpPr>
        <p:spPr>
          <a:xfrm>
            <a:off x="548640" y="4178808"/>
            <a:ext cx="5760720" cy="329184"/>
          </a:xfrm>
          <a:prstGeom prst="rect">
            <a:avLst/>
          </a:prstGeom>
          <a:noFill/>
          <a:ln/>
        </p:spPr>
        <p:txBody>
          <a:bodyPr wrap="square" rtlCol="0" anchor="ctr"/>
          <a:lstStyle/>
          <a:p>
            <a:pPr marL="0" indent="0">
              <a:buNone/>
            </a:pPr>
            <a:r>
              <a:rPr lang="en-US" sz="950" dirty="0">
                <a:solidFill>
                  <a:srgbClr val="2D3030"/>
                </a:solidFill>
              </a:rPr>
              <a:t>💡  TCP/IP en realidad se dedica a las capas de TRANSPORTE y RED del modelo OSI. Las otras capas son adaptaciones.</a:t>
            </a:r>
            <a:endParaRPr lang="en-US" sz="950" dirty="0"/>
          </a:p>
        </p:txBody>
      </p:sp>
      <p:sp>
        <p:nvSpPr>
          <p:cNvPr id="21" name="Shape 19"/>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2" name="Text 20"/>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Este diagrama resume todo el H3. Subrayar que FTP, TELNET y SMTP usan TCP; mientras DNS y NFS usan UDP. Cada capa agrega un encabezado al bajar (encapsulamiento) y lo elimina al subir.</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Protocolos de Transporte y Aplicación en la Era Móvil</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Actualización: cómo se aplican hoy en smartphones</a:t>
            </a:r>
            <a:endParaRPr lang="en-US" sz="1300" dirty="0"/>
          </a:p>
        </p:txBody>
      </p:sp>
      <p:sp>
        <p:nvSpPr>
          <p:cNvPr id="6" name="Shape 4"/>
          <p:cNvSpPr/>
          <p:nvPr/>
        </p:nvSpPr>
        <p:spPr>
          <a:xfrm>
            <a:off x="274320" y="1188720"/>
            <a:ext cx="4160520" cy="987552"/>
          </a:xfrm>
          <a:prstGeom prst="rect">
            <a:avLst/>
          </a:prstGeom>
          <a:solidFill>
            <a:srgbClr val="1A2530"/>
          </a:solidFill>
          <a:ln w="19050">
            <a:solidFill>
              <a:srgbClr val="5AA8D8"/>
            </a:solidFill>
            <a:prstDash val="solid"/>
          </a:ln>
        </p:spPr>
        <p:txBody>
          <a:bodyPr/>
          <a:lstStyle/>
          <a:p>
            <a:endParaRPr lang="en-US"/>
          </a:p>
        </p:txBody>
      </p:sp>
      <p:sp>
        <p:nvSpPr>
          <p:cNvPr id="7" name="Shape 5"/>
          <p:cNvSpPr/>
          <p:nvPr/>
        </p:nvSpPr>
        <p:spPr>
          <a:xfrm>
            <a:off x="274320" y="1188720"/>
            <a:ext cx="384048" cy="987552"/>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274320" y="1463040"/>
            <a:ext cx="384048" cy="411480"/>
          </a:xfrm>
          <a:prstGeom prst="rect">
            <a:avLst/>
          </a:prstGeom>
          <a:noFill/>
          <a:ln/>
        </p:spPr>
        <p:txBody>
          <a:bodyPr wrap="square" rtlCol="0" anchor="ctr"/>
          <a:lstStyle/>
          <a:p>
            <a:pPr marL="0" indent="0" algn="ctr">
              <a:buNone/>
            </a:pPr>
            <a:r>
              <a:rPr lang="en-US" sz="1500" b="1" dirty="0">
                <a:solidFill>
                  <a:srgbClr val="FFFFFF"/>
                </a:solidFill>
              </a:rPr>
              <a:t>1</a:t>
            </a:r>
            <a:endParaRPr lang="en-US" sz="1500" dirty="0"/>
          </a:p>
        </p:txBody>
      </p:sp>
      <p:sp>
        <p:nvSpPr>
          <p:cNvPr id="9" name="Text 7"/>
          <p:cNvSpPr/>
          <p:nvPr/>
        </p:nvSpPr>
        <p:spPr>
          <a:xfrm>
            <a:off x="731520" y="1234440"/>
            <a:ext cx="3639312" cy="292608"/>
          </a:xfrm>
          <a:prstGeom prst="rect">
            <a:avLst/>
          </a:prstGeom>
          <a:noFill/>
          <a:ln/>
        </p:spPr>
        <p:txBody>
          <a:bodyPr wrap="square" rtlCol="0" anchor="ctr"/>
          <a:lstStyle/>
          <a:p>
            <a:pPr marL="0" indent="0">
              <a:buNone/>
            </a:pPr>
            <a:r>
              <a:rPr lang="en-US" sz="1050" b="1" dirty="0">
                <a:solidFill>
                  <a:srgbClr val="5AA8D8"/>
                </a:solidFill>
              </a:rPr>
              <a:t>HTTP/3 sobre QUIC</a:t>
            </a:r>
            <a:endParaRPr lang="en-US" sz="1050" dirty="0"/>
          </a:p>
        </p:txBody>
      </p:sp>
      <p:sp>
        <p:nvSpPr>
          <p:cNvPr id="10" name="Text 8"/>
          <p:cNvSpPr/>
          <p:nvPr/>
        </p:nvSpPr>
        <p:spPr>
          <a:xfrm>
            <a:off x="731520" y="1527048"/>
            <a:ext cx="3639312" cy="566928"/>
          </a:xfrm>
          <a:prstGeom prst="rect">
            <a:avLst/>
          </a:prstGeom>
          <a:noFill/>
          <a:ln/>
        </p:spPr>
        <p:txBody>
          <a:bodyPr wrap="square" rtlCol="0" anchor="t"/>
          <a:lstStyle/>
          <a:p>
            <a:pPr marL="0" indent="0">
              <a:buNone/>
            </a:pPr>
            <a:r>
              <a:rPr lang="en-US" sz="900" dirty="0">
                <a:solidFill>
                  <a:srgbClr val="FFFFFF"/>
                </a:solidFill>
              </a:rPr>
              <a:t>Google desarrolló QUIC (Quick UDP Internet Connections) sobre UDP. Los celulares cambian de WiFi a 4G/5G constantemente — QUIC mantiene la conexión sin interrupciones.</a:t>
            </a:r>
            <a:endParaRPr lang="en-US" sz="900" dirty="0"/>
          </a:p>
        </p:txBody>
      </p:sp>
      <p:sp>
        <p:nvSpPr>
          <p:cNvPr id="11" name="Shape 9"/>
          <p:cNvSpPr/>
          <p:nvPr/>
        </p:nvSpPr>
        <p:spPr>
          <a:xfrm>
            <a:off x="4709160" y="1188720"/>
            <a:ext cx="4160520" cy="987552"/>
          </a:xfrm>
          <a:prstGeom prst="rect">
            <a:avLst/>
          </a:prstGeom>
          <a:solidFill>
            <a:srgbClr val="1A2530"/>
          </a:solidFill>
          <a:ln w="19050">
            <a:solidFill>
              <a:srgbClr val="3A7BAA"/>
            </a:solidFill>
            <a:prstDash val="solid"/>
          </a:ln>
        </p:spPr>
        <p:txBody>
          <a:bodyPr/>
          <a:lstStyle/>
          <a:p>
            <a:endParaRPr lang="en-US"/>
          </a:p>
        </p:txBody>
      </p:sp>
      <p:sp>
        <p:nvSpPr>
          <p:cNvPr id="12" name="Shape 10"/>
          <p:cNvSpPr/>
          <p:nvPr/>
        </p:nvSpPr>
        <p:spPr>
          <a:xfrm>
            <a:off x="4709160" y="1188720"/>
            <a:ext cx="384048" cy="987552"/>
          </a:xfrm>
          <a:prstGeom prst="rect">
            <a:avLst/>
          </a:prstGeom>
          <a:solidFill>
            <a:srgbClr val="3A7BAA"/>
          </a:solidFill>
          <a:ln w="12700">
            <a:solidFill>
              <a:srgbClr val="3A7BAA"/>
            </a:solidFill>
            <a:prstDash val="solid"/>
          </a:ln>
        </p:spPr>
        <p:txBody>
          <a:bodyPr/>
          <a:lstStyle/>
          <a:p>
            <a:endParaRPr lang="en-US"/>
          </a:p>
        </p:txBody>
      </p:sp>
      <p:sp>
        <p:nvSpPr>
          <p:cNvPr id="13" name="Text 11"/>
          <p:cNvSpPr/>
          <p:nvPr/>
        </p:nvSpPr>
        <p:spPr>
          <a:xfrm>
            <a:off x="4709160" y="1463040"/>
            <a:ext cx="384048" cy="411480"/>
          </a:xfrm>
          <a:prstGeom prst="rect">
            <a:avLst/>
          </a:prstGeom>
          <a:noFill/>
          <a:ln/>
        </p:spPr>
        <p:txBody>
          <a:bodyPr wrap="square" rtlCol="0" anchor="ctr"/>
          <a:lstStyle/>
          <a:p>
            <a:pPr marL="0" indent="0" algn="ctr">
              <a:buNone/>
            </a:pPr>
            <a:r>
              <a:rPr lang="en-US" sz="1500" b="1" dirty="0">
                <a:solidFill>
                  <a:srgbClr val="FFFFFF"/>
                </a:solidFill>
              </a:rPr>
              <a:t>2</a:t>
            </a:r>
            <a:endParaRPr lang="en-US" sz="1500" dirty="0"/>
          </a:p>
        </p:txBody>
      </p:sp>
      <p:sp>
        <p:nvSpPr>
          <p:cNvPr id="14" name="Text 12"/>
          <p:cNvSpPr/>
          <p:nvPr/>
        </p:nvSpPr>
        <p:spPr>
          <a:xfrm>
            <a:off x="5166360" y="1234440"/>
            <a:ext cx="3639312" cy="292608"/>
          </a:xfrm>
          <a:prstGeom prst="rect">
            <a:avLst/>
          </a:prstGeom>
          <a:noFill/>
          <a:ln/>
        </p:spPr>
        <p:txBody>
          <a:bodyPr wrap="square" rtlCol="0" anchor="ctr"/>
          <a:lstStyle/>
          <a:p>
            <a:pPr marL="0" indent="0">
              <a:buNone/>
            </a:pPr>
            <a:r>
              <a:rPr lang="en-US" sz="1050" b="1" dirty="0">
                <a:solidFill>
                  <a:srgbClr val="3A7BAA"/>
                </a:solidFill>
              </a:rPr>
              <a:t>TLS 1.3 + TCP</a:t>
            </a:r>
            <a:endParaRPr lang="en-US" sz="1050" dirty="0"/>
          </a:p>
        </p:txBody>
      </p:sp>
      <p:sp>
        <p:nvSpPr>
          <p:cNvPr id="15" name="Text 13"/>
          <p:cNvSpPr/>
          <p:nvPr/>
        </p:nvSpPr>
        <p:spPr>
          <a:xfrm>
            <a:off x="5166360" y="1527048"/>
            <a:ext cx="3639312" cy="566928"/>
          </a:xfrm>
          <a:prstGeom prst="rect">
            <a:avLst/>
          </a:prstGeom>
          <a:noFill/>
          <a:ln/>
        </p:spPr>
        <p:txBody>
          <a:bodyPr wrap="square" rtlCol="0" anchor="t"/>
          <a:lstStyle/>
          <a:p>
            <a:pPr marL="0" indent="0">
              <a:buNone/>
            </a:pPr>
            <a:r>
              <a:rPr lang="en-US" sz="900" dirty="0">
                <a:solidFill>
                  <a:srgbClr val="FFFFFF"/>
                </a:solidFill>
              </a:rPr>
              <a:t>Las apps de banco, WhatsApp y redes sociales usan HTTPS (HTTP sobre TLS). Garantizan cifrado y la confiabilidad de TCP.</a:t>
            </a:r>
            <a:endParaRPr lang="en-US" sz="900" dirty="0"/>
          </a:p>
        </p:txBody>
      </p:sp>
      <p:sp>
        <p:nvSpPr>
          <p:cNvPr id="16" name="Shape 14"/>
          <p:cNvSpPr/>
          <p:nvPr/>
        </p:nvSpPr>
        <p:spPr>
          <a:xfrm>
            <a:off x="274320" y="2286000"/>
            <a:ext cx="4160520" cy="987552"/>
          </a:xfrm>
          <a:prstGeom prst="rect">
            <a:avLst/>
          </a:prstGeom>
          <a:solidFill>
            <a:srgbClr val="1A2530"/>
          </a:solidFill>
          <a:ln w="19050">
            <a:solidFill>
              <a:srgbClr val="5A7A3A"/>
            </a:solidFill>
            <a:prstDash val="solid"/>
          </a:ln>
        </p:spPr>
        <p:txBody>
          <a:bodyPr/>
          <a:lstStyle/>
          <a:p>
            <a:endParaRPr lang="en-US"/>
          </a:p>
        </p:txBody>
      </p:sp>
      <p:sp>
        <p:nvSpPr>
          <p:cNvPr id="17" name="Shape 15"/>
          <p:cNvSpPr/>
          <p:nvPr/>
        </p:nvSpPr>
        <p:spPr>
          <a:xfrm>
            <a:off x="274320" y="2286000"/>
            <a:ext cx="384048" cy="987552"/>
          </a:xfrm>
          <a:prstGeom prst="rect">
            <a:avLst/>
          </a:prstGeom>
          <a:solidFill>
            <a:srgbClr val="5A7A3A"/>
          </a:solidFill>
          <a:ln w="12700">
            <a:solidFill>
              <a:srgbClr val="5A7A3A"/>
            </a:solidFill>
            <a:prstDash val="solid"/>
          </a:ln>
        </p:spPr>
        <p:txBody>
          <a:bodyPr/>
          <a:lstStyle/>
          <a:p>
            <a:endParaRPr lang="en-US"/>
          </a:p>
        </p:txBody>
      </p:sp>
      <p:sp>
        <p:nvSpPr>
          <p:cNvPr id="18" name="Text 16"/>
          <p:cNvSpPr/>
          <p:nvPr/>
        </p:nvSpPr>
        <p:spPr>
          <a:xfrm>
            <a:off x="274320" y="2560320"/>
            <a:ext cx="384048" cy="411480"/>
          </a:xfrm>
          <a:prstGeom prst="rect">
            <a:avLst/>
          </a:prstGeom>
          <a:noFill/>
          <a:ln/>
        </p:spPr>
        <p:txBody>
          <a:bodyPr wrap="square" rtlCol="0" anchor="ctr"/>
          <a:lstStyle/>
          <a:p>
            <a:pPr marL="0" indent="0" algn="ctr">
              <a:buNone/>
            </a:pPr>
            <a:r>
              <a:rPr lang="en-US" sz="1500" b="1" dirty="0">
                <a:solidFill>
                  <a:srgbClr val="FFFFFF"/>
                </a:solidFill>
              </a:rPr>
              <a:t>3</a:t>
            </a:r>
            <a:endParaRPr lang="en-US" sz="1500" dirty="0"/>
          </a:p>
        </p:txBody>
      </p:sp>
      <p:sp>
        <p:nvSpPr>
          <p:cNvPr id="19" name="Text 17"/>
          <p:cNvSpPr/>
          <p:nvPr/>
        </p:nvSpPr>
        <p:spPr>
          <a:xfrm>
            <a:off x="731520" y="2331720"/>
            <a:ext cx="3639312" cy="292608"/>
          </a:xfrm>
          <a:prstGeom prst="rect">
            <a:avLst/>
          </a:prstGeom>
          <a:noFill/>
          <a:ln/>
        </p:spPr>
        <p:txBody>
          <a:bodyPr wrap="square" rtlCol="0" anchor="ctr"/>
          <a:lstStyle/>
          <a:p>
            <a:pPr marL="0" indent="0">
              <a:buNone/>
            </a:pPr>
            <a:r>
              <a:rPr lang="en-US" sz="1050" b="1" dirty="0">
                <a:solidFill>
                  <a:srgbClr val="5A7A3A"/>
                </a:solidFill>
              </a:rPr>
              <a:t>Gaming Mobile y UDP</a:t>
            </a:r>
            <a:endParaRPr lang="en-US" sz="1050" dirty="0"/>
          </a:p>
        </p:txBody>
      </p:sp>
      <p:sp>
        <p:nvSpPr>
          <p:cNvPr id="20" name="Text 18"/>
          <p:cNvSpPr/>
          <p:nvPr/>
        </p:nvSpPr>
        <p:spPr>
          <a:xfrm>
            <a:off x="731520" y="2624328"/>
            <a:ext cx="3639312" cy="566928"/>
          </a:xfrm>
          <a:prstGeom prst="rect">
            <a:avLst/>
          </a:prstGeom>
          <a:noFill/>
          <a:ln/>
        </p:spPr>
        <p:txBody>
          <a:bodyPr wrap="square" rtlCol="0" anchor="t"/>
          <a:lstStyle/>
          <a:p>
            <a:pPr marL="0" indent="0">
              <a:buNone/>
            </a:pPr>
            <a:r>
              <a:rPr lang="en-US" sz="900" dirty="0">
                <a:solidFill>
                  <a:srgbClr val="FFFFFF"/>
                </a:solidFill>
              </a:rPr>
              <a:t>Free Fire, PUBG, Call of Duty Mobile usan UDP para minimizar latencia. El juego tolera alguna pérdida de paquetes pero no puede permitirse demoras.</a:t>
            </a:r>
            <a:endParaRPr lang="en-US" sz="900" dirty="0"/>
          </a:p>
        </p:txBody>
      </p:sp>
      <p:sp>
        <p:nvSpPr>
          <p:cNvPr id="21" name="Shape 19"/>
          <p:cNvSpPr/>
          <p:nvPr/>
        </p:nvSpPr>
        <p:spPr>
          <a:xfrm>
            <a:off x="4709160" y="2286000"/>
            <a:ext cx="4160520" cy="987552"/>
          </a:xfrm>
          <a:prstGeom prst="rect">
            <a:avLst/>
          </a:prstGeom>
          <a:solidFill>
            <a:srgbClr val="1A2530"/>
          </a:solidFill>
          <a:ln w="19050">
            <a:solidFill>
              <a:srgbClr val="7A5A3A"/>
            </a:solidFill>
            <a:prstDash val="solid"/>
          </a:ln>
        </p:spPr>
        <p:txBody>
          <a:bodyPr/>
          <a:lstStyle/>
          <a:p>
            <a:endParaRPr lang="en-US"/>
          </a:p>
        </p:txBody>
      </p:sp>
      <p:sp>
        <p:nvSpPr>
          <p:cNvPr id="22" name="Shape 20"/>
          <p:cNvSpPr/>
          <p:nvPr/>
        </p:nvSpPr>
        <p:spPr>
          <a:xfrm>
            <a:off x="4709160" y="2286000"/>
            <a:ext cx="384048" cy="987552"/>
          </a:xfrm>
          <a:prstGeom prst="rect">
            <a:avLst/>
          </a:prstGeom>
          <a:solidFill>
            <a:srgbClr val="7A5A3A"/>
          </a:solidFill>
          <a:ln w="12700">
            <a:solidFill>
              <a:srgbClr val="7A5A3A"/>
            </a:solidFill>
            <a:prstDash val="solid"/>
          </a:ln>
        </p:spPr>
        <p:txBody>
          <a:bodyPr/>
          <a:lstStyle/>
          <a:p>
            <a:endParaRPr lang="en-US"/>
          </a:p>
        </p:txBody>
      </p:sp>
      <p:sp>
        <p:nvSpPr>
          <p:cNvPr id="23" name="Text 21"/>
          <p:cNvSpPr/>
          <p:nvPr/>
        </p:nvSpPr>
        <p:spPr>
          <a:xfrm>
            <a:off x="4709160" y="2560320"/>
            <a:ext cx="384048" cy="411480"/>
          </a:xfrm>
          <a:prstGeom prst="rect">
            <a:avLst/>
          </a:prstGeom>
          <a:noFill/>
          <a:ln/>
        </p:spPr>
        <p:txBody>
          <a:bodyPr wrap="square" rtlCol="0" anchor="ctr"/>
          <a:lstStyle/>
          <a:p>
            <a:pPr marL="0" indent="0" algn="ctr">
              <a:buNone/>
            </a:pPr>
            <a:r>
              <a:rPr lang="en-US" sz="1500" b="1" dirty="0">
                <a:solidFill>
                  <a:srgbClr val="FFFFFF"/>
                </a:solidFill>
              </a:rPr>
              <a:t>4</a:t>
            </a:r>
            <a:endParaRPr lang="en-US" sz="1500" dirty="0"/>
          </a:p>
        </p:txBody>
      </p:sp>
      <p:sp>
        <p:nvSpPr>
          <p:cNvPr id="24" name="Text 22"/>
          <p:cNvSpPr/>
          <p:nvPr/>
        </p:nvSpPr>
        <p:spPr>
          <a:xfrm>
            <a:off x="5166360" y="2331720"/>
            <a:ext cx="3639312" cy="292608"/>
          </a:xfrm>
          <a:prstGeom prst="rect">
            <a:avLst/>
          </a:prstGeom>
          <a:noFill/>
          <a:ln/>
        </p:spPr>
        <p:txBody>
          <a:bodyPr wrap="square" rtlCol="0" anchor="ctr"/>
          <a:lstStyle/>
          <a:p>
            <a:pPr marL="0" indent="0">
              <a:buNone/>
            </a:pPr>
            <a:r>
              <a:rPr lang="en-US" sz="1050" b="1" dirty="0">
                <a:solidFill>
                  <a:srgbClr val="7A5A3A"/>
                </a:solidFill>
              </a:rPr>
              <a:t>VoIP y SIP sobre UDP</a:t>
            </a:r>
            <a:endParaRPr lang="en-US" sz="1050" dirty="0"/>
          </a:p>
        </p:txBody>
      </p:sp>
      <p:sp>
        <p:nvSpPr>
          <p:cNvPr id="25" name="Text 23"/>
          <p:cNvSpPr/>
          <p:nvPr/>
        </p:nvSpPr>
        <p:spPr>
          <a:xfrm>
            <a:off x="5166360" y="2624328"/>
            <a:ext cx="3639312" cy="566928"/>
          </a:xfrm>
          <a:prstGeom prst="rect">
            <a:avLst/>
          </a:prstGeom>
          <a:noFill/>
          <a:ln/>
        </p:spPr>
        <p:txBody>
          <a:bodyPr wrap="square" rtlCol="0" anchor="t"/>
          <a:lstStyle/>
          <a:p>
            <a:pPr marL="0" indent="0">
              <a:buNone/>
            </a:pPr>
            <a:r>
              <a:rPr lang="en-US" sz="900" dirty="0">
                <a:solidFill>
                  <a:srgbClr val="FFFFFF"/>
                </a:solidFill>
              </a:rPr>
              <a:t>Las llamadas por WhatsApp, FaceTime o Teams usan RTP sobre UDP. La voz digitalizada necesita velocidad, no garantía de entrega.</a:t>
            </a:r>
            <a:endParaRPr lang="en-US" sz="900" dirty="0"/>
          </a:p>
        </p:txBody>
      </p:sp>
      <p:sp>
        <p:nvSpPr>
          <p:cNvPr id="26" name="Shape 24"/>
          <p:cNvSpPr/>
          <p:nvPr/>
        </p:nvSpPr>
        <p:spPr>
          <a:xfrm>
            <a:off x="274320" y="3383280"/>
            <a:ext cx="4160520" cy="987552"/>
          </a:xfrm>
          <a:prstGeom prst="rect">
            <a:avLst/>
          </a:prstGeom>
          <a:solidFill>
            <a:srgbClr val="1A2530"/>
          </a:solidFill>
          <a:ln w="19050">
            <a:solidFill>
              <a:srgbClr val="3A7A7A"/>
            </a:solidFill>
            <a:prstDash val="solid"/>
          </a:ln>
        </p:spPr>
        <p:txBody>
          <a:bodyPr/>
          <a:lstStyle/>
          <a:p>
            <a:endParaRPr lang="en-US"/>
          </a:p>
        </p:txBody>
      </p:sp>
      <p:sp>
        <p:nvSpPr>
          <p:cNvPr id="27" name="Shape 25"/>
          <p:cNvSpPr/>
          <p:nvPr/>
        </p:nvSpPr>
        <p:spPr>
          <a:xfrm>
            <a:off x="274320" y="3383280"/>
            <a:ext cx="384048" cy="987552"/>
          </a:xfrm>
          <a:prstGeom prst="rect">
            <a:avLst/>
          </a:prstGeom>
          <a:solidFill>
            <a:srgbClr val="3A7A7A"/>
          </a:solidFill>
          <a:ln w="12700">
            <a:solidFill>
              <a:srgbClr val="3A7A7A"/>
            </a:solidFill>
            <a:prstDash val="solid"/>
          </a:ln>
        </p:spPr>
        <p:txBody>
          <a:bodyPr/>
          <a:lstStyle/>
          <a:p>
            <a:endParaRPr lang="en-US"/>
          </a:p>
        </p:txBody>
      </p:sp>
      <p:sp>
        <p:nvSpPr>
          <p:cNvPr id="28" name="Text 26"/>
          <p:cNvSpPr/>
          <p:nvPr/>
        </p:nvSpPr>
        <p:spPr>
          <a:xfrm>
            <a:off x="274320" y="3657600"/>
            <a:ext cx="384048" cy="411480"/>
          </a:xfrm>
          <a:prstGeom prst="rect">
            <a:avLst/>
          </a:prstGeom>
          <a:noFill/>
          <a:ln/>
        </p:spPr>
        <p:txBody>
          <a:bodyPr wrap="square" rtlCol="0" anchor="ctr"/>
          <a:lstStyle/>
          <a:p>
            <a:pPr marL="0" indent="0" algn="ctr">
              <a:buNone/>
            </a:pPr>
            <a:r>
              <a:rPr lang="en-US" sz="1500" b="1" dirty="0">
                <a:solidFill>
                  <a:srgbClr val="FFFFFF"/>
                </a:solidFill>
              </a:rPr>
              <a:t>5</a:t>
            </a:r>
            <a:endParaRPr lang="en-US" sz="1500" dirty="0"/>
          </a:p>
        </p:txBody>
      </p:sp>
      <p:sp>
        <p:nvSpPr>
          <p:cNvPr id="29" name="Text 27"/>
          <p:cNvSpPr/>
          <p:nvPr/>
        </p:nvSpPr>
        <p:spPr>
          <a:xfrm>
            <a:off x="731520" y="3429000"/>
            <a:ext cx="3639312" cy="292608"/>
          </a:xfrm>
          <a:prstGeom prst="rect">
            <a:avLst/>
          </a:prstGeom>
          <a:noFill/>
          <a:ln/>
        </p:spPr>
        <p:txBody>
          <a:bodyPr wrap="square" rtlCol="0" anchor="ctr"/>
          <a:lstStyle/>
          <a:p>
            <a:pPr marL="0" indent="0">
              <a:buNone/>
            </a:pPr>
            <a:r>
              <a:rPr lang="en-US" sz="1050" b="1" dirty="0">
                <a:solidFill>
                  <a:srgbClr val="3A7A7A"/>
                </a:solidFill>
              </a:rPr>
              <a:t>5G y el nuevo paradigma</a:t>
            </a:r>
            <a:endParaRPr lang="en-US" sz="1050" dirty="0"/>
          </a:p>
        </p:txBody>
      </p:sp>
      <p:sp>
        <p:nvSpPr>
          <p:cNvPr id="30" name="Text 28"/>
          <p:cNvSpPr/>
          <p:nvPr/>
        </p:nvSpPr>
        <p:spPr>
          <a:xfrm>
            <a:off x="731520" y="3721608"/>
            <a:ext cx="3639312" cy="566928"/>
          </a:xfrm>
          <a:prstGeom prst="rect">
            <a:avLst/>
          </a:prstGeom>
          <a:noFill/>
          <a:ln/>
        </p:spPr>
        <p:txBody>
          <a:bodyPr wrap="square" rtlCol="0" anchor="t"/>
          <a:lstStyle/>
          <a:p>
            <a:pPr marL="0" indent="0">
              <a:buNone/>
            </a:pPr>
            <a:r>
              <a:rPr lang="en-US" sz="900" dirty="0">
                <a:solidFill>
                  <a:srgbClr val="FFFFFF"/>
                </a:solidFill>
              </a:rPr>
              <a:t>5G introduce latencias menores a 1 ms. Los protocolos TCP/UDP siguen siendo la base, pero las redes 5G optimizan los buffers y la fragmentación de datagramas.</a:t>
            </a:r>
            <a:endParaRPr lang="en-US" sz="900" dirty="0"/>
          </a:p>
        </p:txBody>
      </p:sp>
      <p:sp>
        <p:nvSpPr>
          <p:cNvPr id="31" name="Shape 29"/>
          <p:cNvSpPr/>
          <p:nvPr/>
        </p:nvSpPr>
        <p:spPr>
          <a:xfrm>
            <a:off x="4709160" y="3383280"/>
            <a:ext cx="4160520" cy="987552"/>
          </a:xfrm>
          <a:prstGeom prst="rect">
            <a:avLst/>
          </a:prstGeom>
          <a:solidFill>
            <a:srgbClr val="1A2530"/>
          </a:solidFill>
          <a:ln w="19050">
            <a:solidFill>
              <a:srgbClr val="5A3A7A"/>
            </a:solidFill>
            <a:prstDash val="solid"/>
          </a:ln>
        </p:spPr>
        <p:txBody>
          <a:bodyPr/>
          <a:lstStyle/>
          <a:p>
            <a:endParaRPr lang="en-US"/>
          </a:p>
        </p:txBody>
      </p:sp>
      <p:sp>
        <p:nvSpPr>
          <p:cNvPr id="32" name="Shape 30"/>
          <p:cNvSpPr/>
          <p:nvPr/>
        </p:nvSpPr>
        <p:spPr>
          <a:xfrm>
            <a:off x="4709160" y="3383280"/>
            <a:ext cx="384048" cy="987552"/>
          </a:xfrm>
          <a:prstGeom prst="rect">
            <a:avLst/>
          </a:prstGeom>
          <a:solidFill>
            <a:srgbClr val="5A3A7A"/>
          </a:solidFill>
          <a:ln w="12700">
            <a:solidFill>
              <a:srgbClr val="5A3A7A"/>
            </a:solidFill>
            <a:prstDash val="solid"/>
          </a:ln>
        </p:spPr>
        <p:txBody>
          <a:bodyPr/>
          <a:lstStyle/>
          <a:p>
            <a:endParaRPr lang="en-US"/>
          </a:p>
        </p:txBody>
      </p:sp>
      <p:sp>
        <p:nvSpPr>
          <p:cNvPr id="33" name="Text 31"/>
          <p:cNvSpPr/>
          <p:nvPr/>
        </p:nvSpPr>
        <p:spPr>
          <a:xfrm>
            <a:off x="4709160" y="3657600"/>
            <a:ext cx="384048" cy="411480"/>
          </a:xfrm>
          <a:prstGeom prst="rect">
            <a:avLst/>
          </a:prstGeom>
          <a:noFill/>
          <a:ln/>
        </p:spPr>
        <p:txBody>
          <a:bodyPr wrap="square" rtlCol="0" anchor="ctr"/>
          <a:lstStyle/>
          <a:p>
            <a:pPr marL="0" indent="0" algn="ctr">
              <a:buNone/>
            </a:pPr>
            <a:r>
              <a:rPr lang="en-US" sz="1500" b="1" dirty="0">
                <a:solidFill>
                  <a:srgbClr val="FFFFFF"/>
                </a:solidFill>
              </a:rPr>
              <a:t>6</a:t>
            </a:r>
            <a:endParaRPr lang="en-US" sz="1500" dirty="0"/>
          </a:p>
        </p:txBody>
      </p:sp>
      <p:sp>
        <p:nvSpPr>
          <p:cNvPr id="34" name="Text 32"/>
          <p:cNvSpPr/>
          <p:nvPr/>
        </p:nvSpPr>
        <p:spPr>
          <a:xfrm>
            <a:off x="5166360" y="3429000"/>
            <a:ext cx="3639312" cy="292608"/>
          </a:xfrm>
          <a:prstGeom prst="rect">
            <a:avLst/>
          </a:prstGeom>
          <a:noFill/>
          <a:ln/>
        </p:spPr>
        <p:txBody>
          <a:bodyPr wrap="square" rtlCol="0" anchor="ctr"/>
          <a:lstStyle/>
          <a:p>
            <a:pPr marL="0" indent="0">
              <a:buNone/>
            </a:pPr>
            <a:r>
              <a:rPr lang="en-US" sz="1050" b="1" dirty="0">
                <a:solidFill>
                  <a:srgbClr val="5A3A7A"/>
                </a:solidFill>
              </a:rPr>
              <a:t>DNS over HTTPS (DoH)</a:t>
            </a:r>
            <a:endParaRPr lang="en-US" sz="1050" dirty="0"/>
          </a:p>
        </p:txBody>
      </p:sp>
      <p:sp>
        <p:nvSpPr>
          <p:cNvPr id="35" name="Text 33"/>
          <p:cNvSpPr/>
          <p:nvPr/>
        </p:nvSpPr>
        <p:spPr>
          <a:xfrm>
            <a:off x="5166360" y="3721608"/>
            <a:ext cx="3639312" cy="566928"/>
          </a:xfrm>
          <a:prstGeom prst="rect">
            <a:avLst/>
          </a:prstGeom>
          <a:noFill/>
          <a:ln/>
        </p:spPr>
        <p:txBody>
          <a:bodyPr wrap="square" rtlCol="0" anchor="t"/>
          <a:lstStyle/>
          <a:p>
            <a:pPr marL="0" indent="0">
              <a:buNone/>
            </a:pPr>
            <a:r>
              <a:rPr lang="en-US" sz="900" dirty="0">
                <a:solidFill>
                  <a:srgbClr val="FFFFFF"/>
                </a:solidFill>
              </a:rPr>
              <a:t>Modernamente, las consultas DNS se cifran con HTTPS para preservar la privacidad. Android e iOS ya soportan DoH nativamente.</a:t>
            </a:r>
            <a:endParaRPr lang="en-US" sz="900" dirty="0"/>
          </a:p>
        </p:txBody>
      </p:sp>
      <p:sp>
        <p:nvSpPr>
          <p:cNvPr id="36" name="Shape 34"/>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37" name="Text 35"/>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Este slide conecta el contenido teórico con la </a:t>
            </a:r>
            <a:r>
              <a:rPr lang="en-US" sz="900" i="1" dirty="0" err="1">
                <a:solidFill>
                  <a:srgbClr val="6BB8E8"/>
                </a:solidFill>
              </a:rPr>
              <a:t>realidad</a:t>
            </a:r>
            <a:r>
              <a:rPr lang="en-US" sz="900" i="1" dirty="0">
                <a:solidFill>
                  <a:srgbClr val="6BB8E8"/>
                </a:solidFill>
              </a:rPr>
              <a:t> </a:t>
            </a:r>
            <a:r>
              <a:rPr lang="en-US" sz="900" i="1" dirty="0" err="1">
                <a:solidFill>
                  <a:srgbClr val="6BB8E8"/>
                </a:solidFill>
              </a:rPr>
              <a:t>cotidiana</a:t>
            </a:r>
            <a:r>
              <a:rPr lang="en-US" sz="900" i="1" dirty="0">
                <a:solidFill>
                  <a:srgbClr val="6BB8E8"/>
                </a:solidFill>
              </a:rPr>
              <a:t>. ¿Qué apps usan más? ¿Creen que usan TCP o UDP? </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3200400" y="228600"/>
            <a:ext cx="2743200" cy="457200"/>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3200400" y="228600"/>
            <a:ext cx="2743200" cy="457200"/>
          </a:xfrm>
          <a:prstGeom prst="rect">
            <a:avLst/>
          </a:prstGeom>
          <a:noFill/>
          <a:ln/>
        </p:spPr>
        <p:txBody>
          <a:bodyPr wrap="square" rtlCol="0" anchor="ctr"/>
          <a:lstStyle/>
          <a:p>
            <a:pPr marL="0" indent="0" algn="ctr">
              <a:buNone/>
            </a:pPr>
            <a:r>
              <a:rPr lang="en-US" sz="1300" b="1" dirty="0">
                <a:solidFill>
                  <a:srgbClr val="FFFFFF"/>
                </a:solidFill>
              </a:rPr>
              <a:t>VERDADERO o FALSO</a:t>
            </a:r>
            <a:endParaRPr lang="en-US" sz="1300" dirty="0"/>
          </a:p>
        </p:txBody>
      </p:sp>
      <p:sp>
        <p:nvSpPr>
          <p:cNvPr id="5" name="Text 3"/>
          <p:cNvSpPr/>
          <p:nvPr/>
        </p:nvSpPr>
        <p:spPr>
          <a:xfrm>
            <a:off x="0" y="822960"/>
            <a:ext cx="9144000" cy="365760"/>
          </a:xfrm>
          <a:prstGeom prst="rect">
            <a:avLst/>
          </a:prstGeom>
          <a:noFill/>
          <a:ln/>
        </p:spPr>
        <p:txBody>
          <a:bodyPr wrap="square" rtlCol="0" anchor="ctr"/>
          <a:lstStyle/>
          <a:p>
            <a:pPr marL="0" indent="0" algn="ctr">
              <a:buNone/>
            </a:pPr>
            <a:r>
              <a:rPr lang="en-US" sz="1400" dirty="0">
                <a:solidFill>
                  <a:srgbClr val="808080"/>
                </a:solidFill>
              </a:rPr>
              <a:t>Pregunta 1</a:t>
            </a:r>
            <a:endParaRPr lang="en-US" sz="1400" dirty="0"/>
          </a:p>
        </p:txBody>
      </p:sp>
      <p:sp>
        <p:nvSpPr>
          <p:cNvPr id="6" name="Shape 4"/>
          <p:cNvSpPr/>
          <p:nvPr/>
        </p:nvSpPr>
        <p:spPr>
          <a:xfrm>
            <a:off x="914400" y="1325880"/>
            <a:ext cx="7315200" cy="2011680"/>
          </a:xfrm>
          <a:prstGeom prst="rect">
            <a:avLst/>
          </a:prstGeom>
          <a:solidFill>
            <a:srgbClr val="1A2530"/>
          </a:solidFill>
          <a:ln w="25400">
            <a:solidFill>
              <a:srgbClr val="5AA8D8"/>
            </a:solidFill>
            <a:prstDash val="solid"/>
          </a:ln>
        </p:spPr>
        <p:txBody>
          <a:bodyPr/>
          <a:lstStyle/>
          <a:p>
            <a:endParaRPr lang="en-US"/>
          </a:p>
        </p:txBody>
      </p:sp>
      <p:sp>
        <p:nvSpPr>
          <p:cNvPr id="7" name="Text 5"/>
          <p:cNvSpPr/>
          <p:nvPr/>
        </p:nvSpPr>
        <p:spPr>
          <a:xfrm>
            <a:off x="1097280" y="1417320"/>
            <a:ext cx="6949440" cy="1828800"/>
          </a:xfrm>
          <a:prstGeom prst="rect">
            <a:avLst/>
          </a:prstGeom>
          <a:noFill/>
          <a:ln/>
        </p:spPr>
        <p:txBody>
          <a:bodyPr wrap="square" rtlCol="0" anchor="ctr"/>
          <a:lstStyle/>
          <a:p>
            <a:pPr marL="0" indent="0" algn="ctr">
              <a:buNone/>
            </a:pPr>
            <a:r>
              <a:rPr lang="en-US" sz="2000" i="1" dirty="0">
                <a:solidFill>
                  <a:srgbClr val="FFFFFF"/>
                </a:solidFill>
              </a:rPr>
              <a:t>"UDP es un protocolo seguro y orientado a conexión que garantiza la entrega de datos."</a:t>
            </a:r>
            <a:endParaRPr lang="en-US" sz="2000" dirty="0"/>
          </a:p>
        </p:txBody>
      </p:sp>
      <p:sp>
        <p:nvSpPr>
          <p:cNvPr id="8" name="Text 6"/>
          <p:cNvSpPr/>
          <p:nvPr/>
        </p:nvSpPr>
        <p:spPr>
          <a:xfrm>
            <a:off x="0" y="3474720"/>
            <a:ext cx="9144000" cy="457200"/>
          </a:xfrm>
          <a:prstGeom prst="rect">
            <a:avLst/>
          </a:prstGeom>
          <a:noFill/>
          <a:ln/>
        </p:spPr>
        <p:txBody>
          <a:bodyPr wrap="square" rtlCol="0" anchor="ctr"/>
          <a:lstStyle/>
          <a:p>
            <a:pPr marL="0" indent="0" algn="ctr">
              <a:buNone/>
            </a:pPr>
            <a:r>
              <a:rPr lang="en-US" sz="1800" b="1" dirty="0">
                <a:solidFill>
                  <a:srgbClr val="5AA8D8"/>
                </a:solidFill>
              </a:rPr>
              <a:t>¿Verdadero o Falso?</a:t>
            </a:r>
            <a:endParaRPr lang="en-US" sz="1800" dirty="0"/>
          </a:p>
        </p:txBody>
      </p:sp>
      <p:sp>
        <p:nvSpPr>
          <p:cNvPr id="9" name="Shape 7"/>
          <p:cNvSpPr/>
          <p:nvPr/>
        </p:nvSpPr>
        <p:spPr>
          <a:xfrm>
            <a:off x="1371600" y="4023360"/>
            <a:ext cx="2743200" cy="594360"/>
          </a:xfrm>
          <a:prstGeom prst="rect">
            <a:avLst/>
          </a:prstGeom>
          <a:solidFill>
            <a:srgbClr val="1A4A1A"/>
          </a:solidFill>
          <a:ln w="25400">
            <a:solidFill>
              <a:srgbClr val="4A9A4A"/>
            </a:solidFill>
            <a:prstDash val="solid"/>
          </a:ln>
        </p:spPr>
        <p:txBody>
          <a:bodyPr/>
          <a:lstStyle/>
          <a:p>
            <a:endParaRPr lang="en-US"/>
          </a:p>
        </p:txBody>
      </p:sp>
      <p:sp>
        <p:nvSpPr>
          <p:cNvPr id="10" name="Text 8"/>
          <p:cNvSpPr/>
          <p:nvPr/>
        </p:nvSpPr>
        <p:spPr>
          <a:xfrm>
            <a:off x="1371600" y="4023360"/>
            <a:ext cx="2743200" cy="594360"/>
          </a:xfrm>
          <a:prstGeom prst="rect">
            <a:avLst/>
          </a:prstGeom>
          <a:noFill/>
          <a:ln/>
        </p:spPr>
        <p:txBody>
          <a:bodyPr wrap="square" rtlCol="0" anchor="ctr"/>
          <a:lstStyle/>
          <a:p>
            <a:pPr marL="0" indent="0" algn="ctr">
              <a:buNone/>
            </a:pPr>
            <a:r>
              <a:rPr lang="en-US" sz="1600" b="1" dirty="0">
                <a:solidFill>
                  <a:srgbClr val="4AE04A"/>
                </a:solidFill>
              </a:rPr>
              <a:t>VERDADERO</a:t>
            </a:r>
            <a:endParaRPr lang="en-US" sz="1600" dirty="0"/>
          </a:p>
        </p:txBody>
      </p:sp>
      <p:sp>
        <p:nvSpPr>
          <p:cNvPr id="11" name="Shape 9"/>
          <p:cNvSpPr/>
          <p:nvPr/>
        </p:nvSpPr>
        <p:spPr>
          <a:xfrm>
            <a:off x="5029200" y="4023360"/>
            <a:ext cx="2743200" cy="594360"/>
          </a:xfrm>
          <a:prstGeom prst="rect">
            <a:avLst/>
          </a:prstGeom>
          <a:solidFill>
            <a:srgbClr val="4A1A1A"/>
          </a:solidFill>
          <a:ln w="25400">
            <a:solidFill>
              <a:srgbClr val="9A4A4A"/>
            </a:solidFill>
            <a:prstDash val="solid"/>
          </a:ln>
        </p:spPr>
        <p:txBody>
          <a:bodyPr/>
          <a:lstStyle/>
          <a:p>
            <a:endParaRPr lang="en-US"/>
          </a:p>
        </p:txBody>
      </p:sp>
      <p:sp>
        <p:nvSpPr>
          <p:cNvPr id="12" name="Text 10"/>
          <p:cNvSpPr/>
          <p:nvPr/>
        </p:nvSpPr>
        <p:spPr>
          <a:xfrm>
            <a:off x="5029200" y="4023360"/>
            <a:ext cx="2743200" cy="594360"/>
          </a:xfrm>
          <a:prstGeom prst="rect">
            <a:avLst/>
          </a:prstGeom>
          <a:noFill/>
          <a:ln/>
        </p:spPr>
        <p:txBody>
          <a:bodyPr wrap="square" rtlCol="0" anchor="ctr"/>
          <a:lstStyle/>
          <a:p>
            <a:pPr marL="0" indent="0" algn="ctr">
              <a:buNone/>
            </a:pPr>
            <a:r>
              <a:rPr lang="en-US" sz="1600" b="1" dirty="0">
                <a:solidFill>
                  <a:srgbClr val="FF6060"/>
                </a:solidFill>
              </a:rPr>
              <a:t>FALSO</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0" y="228600"/>
            <a:ext cx="9144000" cy="457200"/>
          </a:xfrm>
          <a:prstGeom prst="rect">
            <a:avLst/>
          </a:prstGeom>
          <a:noFill/>
          <a:ln/>
        </p:spPr>
        <p:txBody>
          <a:bodyPr wrap="square" rtlCol="0" anchor="ctr"/>
          <a:lstStyle/>
          <a:p>
            <a:pPr marL="0" indent="0" algn="ctr">
              <a:buNone/>
            </a:pPr>
            <a:r>
              <a:rPr lang="en-US" sz="1600" b="1" dirty="0">
                <a:solidFill>
                  <a:srgbClr val="5AA8D8"/>
                </a:solidFill>
              </a:rPr>
              <a:t>Respuesta — Pregunta 1</a:t>
            </a:r>
            <a:endParaRPr lang="en-US" sz="1600" dirty="0"/>
          </a:p>
        </p:txBody>
      </p:sp>
      <p:sp>
        <p:nvSpPr>
          <p:cNvPr id="4" name="Shape 2"/>
          <p:cNvSpPr/>
          <p:nvPr/>
        </p:nvSpPr>
        <p:spPr>
          <a:xfrm>
            <a:off x="1371600" y="822960"/>
            <a:ext cx="6400800" cy="640080"/>
          </a:xfrm>
          <a:prstGeom prst="rect">
            <a:avLst/>
          </a:prstGeom>
          <a:solidFill>
            <a:srgbClr val="4A1A1A"/>
          </a:solidFill>
          <a:ln w="25400">
            <a:solidFill>
              <a:srgbClr val="FF4444"/>
            </a:solidFill>
            <a:prstDash val="solid"/>
          </a:ln>
        </p:spPr>
        <p:txBody>
          <a:bodyPr/>
          <a:lstStyle/>
          <a:p>
            <a:endParaRPr lang="en-US"/>
          </a:p>
        </p:txBody>
      </p:sp>
      <p:sp>
        <p:nvSpPr>
          <p:cNvPr id="5" name="Text 3"/>
          <p:cNvSpPr/>
          <p:nvPr/>
        </p:nvSpPr>
        <p:spPr>
          <a:xfrm>
            <a:off x="1371600" y="822960"/>
            <a:ext cx="6400800" cy="640080"/>
          </a:xfrm>
          <a:prstGeom prst="rect">
            <a:avLst/>
          </a:prstGeom>
          <a:noFill/>
          <a:ln/>
        </p:spPr>
        <p:txBody>
          <a:bodyPr wrap="square" rtlCol="0" anchor="ctr"/>
          <a:lstStyle/>
          <a:p>
            <a:pPr marL="0" indent="0" algn="ctr">
              <a:buNone/>
            </a:pPr>
            <a:r>
              <a:rPr lang="en-US" sz="2600" b="1" dirty="0">
                <a:solidFill>
                  <a:srgbClr val="FF4444"/>
                </a:solidFill>
              </a:rPr>
              <a:t>✗  FALSO</a:t>
            </a:r>
            <a:endParaRPr lang="en-US" sz="2600" dirty="0"/>
          </a:p>
        </p:txBody>
      </p:sp>
      <p:sp>
        <p:nvSpPr>
          <p:cNvPr id="6" name="Shape 4"/>
          <p:cNvSpPr/>
          <p:nvPr/>
        </p:nvSpPr>
        <p:spPr>
          <a:xfrm>
            <a:off x="457200" y="1600200"/>
            <a:ext cx="8229600" cy="2194560"/>
          </a:xfrm>
          <a:prstGeom prst="rect">
            <a:avLst/>
          </a:prstGeom>
          <a:solidFill>
            <a:srgbClr val="1A2530"/>
          </a:solidFill>
          <a:ln w="12700">
            <a:solidFill>
              <a:srgbClr val="5AA8D8"/>
            </a:solidFill>
            <a:prstDash val="solid"/>
          </a:ln>
        </p:spPr>
        <p:txBody>
          <a:bodyPr/>
          <a:lstStyle/>
          <a:p>
            <a:endParaRPr lang="en-US"/>
          </a:p>
        </p:txBody>
      </p:sp>
      <p:sp>
        <p:nvSpPr>
          <p:cNvPr id="7" name="Text 5"/>
          <p:cNvSpPr/>
          <p:nvPr/>
        </p:nvSpPr>
        <p:spPr>
          <a:xfrm>
            <a:off x="594360" y="1664208"/>
            <a:ext cx="7955280" cy="320040"/>
          </a:xfrm>
          <a:prstGeom prst="rect">
            <a:avLst/>
          </a:prstGeom>
          <a:noFill/>
          <a:ln/>
        </p:spPr>
        <p:txBody>
          <a:bodyPr wrap="square" rtlCol="0" anchor="ctr"/>
          <a:lstStyle/>
          <a:p>
            <a:pPr marL="0" indent="0">
              <a:buNone/>
            </a:pPr>
            <a:r>
              <a:rPr lang="en-US" sz="1200" b="1" dirty="0">
                <a:solidFill>
                  <a:srgbClr val="5AA8D8"/>
                </a:solidFill>
              </a:rPr>
              <a:t>Justificación:</a:t>
            </a:r>
            <a:endParaRPr lang="en-US" sz="1200" dirty="0"/>
          </a:p>
        </p:txBody>
      </p:sp>
      <p:sp>
        <p:nvSpPr>
          <p:cNvPr id="8" name="Text 6"/>
          <p:cNvSpPr/>
          <p:nvPr/>
        </p:nvSpPr>
        <p:spPr>
          <a:xfrm>
            <a:off x="594360" y="1993392"/>
            <a:ext cx="7955280" cy="1691640"/>
          </a:xfrm>
          <a:prstGeom prst="rect">
            <a:avLst/>
          </a:prstGeom>
          <a:noFill/>
          <a:ln/>
        </p:spPr>
        <p:txBody>
          <a:bodyPr wrap="square" rtlCol="0" anchor="t"/>
          <a:lstStyle/>
          <a:p>
            <a:pPr marL="0" indent="0">
              <a:buNone/>
            </a:pPr>
            <a:r>
              <a:rPr lang="en-US" sz="1100" dirty="0">
                <a:solidFill>
                  <a:srgbClr val="FFFFFF"/>
                </a:solidFill>
              </a:rPr>
              <a:t>UDP es un protocolo NO orientado a conexión y NO garantiza la entrega de datos. Es justamente por eso que se lo llama 'poco seguro' (unreliable). No verifica que los datos hayan llegado al destino. Esta característica lo hace más rápido pero sin garantías, ideal para streaming y juegos donde la velocidad importa más que la perfección en la entrega.</a:t>
            </a:r>
            <a:endParaRPr lang="en-US" sz="1100" dirty="0"/>
          </a:p>
        </p:txBody>
      </p:sp>
      <p:sp>
        <p:nvSpPr>
          <p:cNvPr id="9" name="Shape 7"/>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0" name="Text 8"/>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Recuerde: 'poco seguro' en este contexto significa 'sin verificación de entrega', no que sea un protocolo peligroso. UDP puede entregar datos correctamente; simplemente no lo garantiza.</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3200400" y="228600"/>
            <a:ext cx="2743200" cy="457200"/>
          </a:xfrm>
          <a:prstGeom prst="rect">
            <a:avLst/>
          </a:prstGeom>
          <a:solidFill>
            <a:srgbClr val="2D3030"/>
          </a:solidFill>
          <a:ln w="12700">
            <a:solidFill>
              <a:srgbClr val="5AA8D8"/>
            </a:solidFill>
            <a:prstDash val="solid"/>
          </a:ln>
        </p:spPr>
        <p:txBody>
          <a:bodyPr/>
          <a:lstStyle/>
          <a:p>
            <a:endParaRPr lang="en-US"/>
          </a:p>
        </p:txBody>
      </p:sp>
      <p:sp>
        <p:nvSpPr>
          <p:cNvPr id="4" name="Text 2"/>
          <p:cNvSpPr/>
          <p:nvPr/>
        </p:nvSpPr>
        <p:spPr>
          <a:xfrm>
            <a:off x="3200400" y="228600"/>
            <a:ext cx="2743200" cy="457200"/>
          </a:xfrm>
          <a:prstGeom prst="rect">
            <a:avLst/>
          </a:prstGeom>
          <a:noFill/>
          <a:ln/>
        </p:spPr>
        <p:txBody>
          <a:bodyPr wrap="square" rtlCol="0" anchor="ctr"/>
          <a:lstStyle/>
          <a:p>
            <a:pPr marL="0" indent="0" algn="ctr">
              <a:buNone/>
            </a:pPr>
            <a:r>
              <a:rPr lang="en-US" sz="1300" b="1" dirty="0">
                <a:solidFill>
                  <a:srgbClr val="FFFFFF"/>
                </a:solidFill>
              </a:rPr>
              <a:t>VERDADERO o FALSO</a:t>
            </a:r>
            <a:endParaRPr lang="en-US" sz="1300" dirty="0"/>
          </a:p>
        </p:txBody>
      </p:sp>
      <p:sp>
        <p:nvSpPr>
          <p:cNvPr id="5" name="Text 3"/>
          <p:cNvSpPr/>
          <p:nvPr/>
        </p:nvSpPr>
        <p:spPr>
          <a:xfrm>
            <a:off x="0" y="822960"/>
            <a:ext cx="9144000" cy="365760"/>
          </a:xfrm>
          <a:prstGeom prst="rect">
            <a:avLst/>
          </a:prstGeom>
          <a:noFill/>
          <a:ln/>
        </p:spPr>
        <p:txBody>
          <a:bodyPr wrap="square" rtlCol="0" anchor="ctr"/>
          <a:lstStyle/>
          <a:p>
            <a:pPr marL="0" indent="0" algn="ctr">
              <a:buNone/>
            </a:pPr>
            <a:r>
              <a:rPr lang="en-US" sz="1400" dirty="0">
                <a:solidFill>
                  <a:srgbClr val="808080"/>
                </a:solidFill>
              </a:rPr>
              <a:t>Pregunta 2</a:t>
            </a:r>
            <a:endParaRPr lang="en-US" sz="1400" dirty="0"/>
          </a:p>
        </p:txBody>
      </p:sp>
      <p:sp>
        <p:nvSpPr>
          <p:cNvPr id="6" name="Shape 4"/>
          <p:cNvSpPr/>
          <p:nvPr/>
        </p:nvSpPr>
        <p:spPr>
          <a:xfrm>
            <a:off x="914400" y="1325880"/>
            <a:ext cx="7315200" cy="2011680"/>
          </a:xfrm>
          <a:prstGeom prst="rect">
            <a:avLst/>
          </a:prstGeom>
          <a:solidFill>
            <a:srgbClr val="E8F4FC"/>
          </a:solidFill>
          <a:ln w="25400">
            <a:solidFill>
              <a:srgbClr val="5AA8D8"/>
            </a:solidFill>
            <a:prstDash val="solid"/>
          </a:ln>
        </p:spPr>
        <p:txBody>
          <a:bodyPr/>
          <a:lstStyle/>
          <a:p>
            <a:endParaRPr lang="en-US"/>
          </a:p>
        </p:txBody>
      </p:sp>
      <p:sp>
        <p:nvSpPr>
          <p:cNvPr id="7" name="Text 5"/>
          <p:cNvSpPr/>
          <p:nvPr/>
        </p:nvSpPr>
        <p:spPr>
          <a:xfrm>
            <a:off x="1097280" y="1417320"/>
            <a:ext cx="6949440" cy="1828800"/>
          </a:xfrm>
          <a:prstGeom prst="rect">
            <a:avLst/>
          </a:prstGeom>
          <a:noFill/>
          <a:ln/>
        </p:spPr>
        <p:txBody>
          <a:bodyPr wrap="square" rtlCol="0" anchor="ctr"/>
          <a:lstStyle/>
          <a:p>
            <a:pPr marL="0" indent="0" algn="ctr">
              <a:buNone/>
            </a:pPr>
            <a:r>
              <a:rPr lang="en-US" sz="1700" i="1" dirty="0">
                <a:solidFill>
                  <a:srgbClr val="2D3030"/>
                </a:solidFill>
              </a:rPr>
              <a:t>"TCP utiliza un protocolo de establecimiento de conexión llamado handshake a tres vías, intercambiando tres segmentos para establecer el circuito virtual."</a:t>
            </a:r>
            <a:endParaRPr lang="en-US" sz="1700" dirty="0"/>
          </a:p>
        </p:txBody>
      </p:sp>
      <p:sp>
        <p:nvSpPr>
          <p:cNvPr id="8" name="Text 6"/>
          <p:cNvSpPr/>
          <p:nvPr/>
        </p:nvSpPr>
        <p:spPr>
          <a:xfrm>
            <a:off x="0" y="3474720"/>
            <a:ext cx="9144000" cy="457200"/>
          </a:xfrm>
          <a:prstGeom prst="rect">
            <a:avLst/>
          </a:prstGeom>
          <a:noFill/>
          <a:ln/>
        </p:spPr>
        <p:txBody>
          <a:bodyPr wrap="square" rtlCol="0" anchor="ctr"/>
          <a:lstStyle/>
          <a:p>
            <a:pPr marL="0" indent="0" algn="ctr">
              <a:buNone/>
            </a:pPr>
            <a:r>
              <a:rPr lang="en-US" sz="1800" b="1" dirty="0">
                <a:solidFill>
                  <a:srgbClr val="2D3030"/>
                </a:solidFill>
              </a:rPr>
              <a:t>¿Verdadero o Falso?</a:t>
            </a:r>
            <a:endParaRPr lang="en-US" sz="1800" dirty="0"/>
          </a:p>
        </p:txBody>
      </p:sp>
      <p:sp>
        <p:nvSpPr>
          <p:cNvPr id="9" name="Shape 7"/>
          <p:cNvSpPr/>
          <p:nvPr/>
        </p:nvSpPr>
        <p:spPr>
          <a:xfrm>
            <a:off x="1371600" y="4023360"/>
            <a:ext cx="2743200" cy="594360"/>
          </a:xfrm>
          <a:prstGeom prst="rect">
            <a:avLst/>
          </a:prstGeom>
          <a:solidFill>
            <a:srgbClr val="B9DEF8"/>
          </a:solidFill>
          <a:ln w="25400">
            <a:solidFill>
              <a:srgbClr val="5AA8D8"/>
            </a:solidFill>
            <a:prstDash val="solid"/>
          </a:ln>
        </p:spPr>
        <p:txBody>
          <a:bodyPr/>
          <a:lstStyle/>
          <a:p>
            <a:endParaRPr lang="en-US"/>
          </a:p>
        </p:txBody>
      </p:sp>
      <p:sp>
        <p:nvSpPr>
          <p:cNvPr id="10" name="Text 8"/>
          <p:cNvSpPr/>
          <p:nvPr/>
        </p:nvSpPr>
        <p:spPr>
          <a:xfrm>
            <a:off x="1371600" y="4023360"/>
            <a:ext cx="2743200" cy="594360"/>
          </a:xfrm>
          <a:prstGeom prst="rect">
            <a:avLst/>
          </a:prstGeom>
          <a:noFill/>
          <a:ln/>
        </p:spPr>
        <p:txBody>
          <a:bodyPr wrap="square" rtlCol="0" anchor="ctr"/>
          <a:lstStyle/>
          <a:p>
            <a:pPr marL="0" indent="0" algn="ctr">
              <a:buNone/>
            </a:pPr>
            <a:r>
              <a:rPr lang="en-US" sz="1600" b="1" dirty="0">
                <a:solidFill>
                  <a:srgbClr val="2D3030"/>
                </a:solidFill>
              </a:rPr>
              <a:t>VERDADERO</a:t>
            </a:r>
            <a:endParaRPr lang="en-US" sz="1600" dirty="0"/>
          </a:p>
        </p:txBody>
      </p:sp>
      <p:sp>
        <p:nvSpPr>
          <p:cNvPr id="11" name="Shape 9"/>
          <p:cNvSpPr/>
          <p:nvPr/>
        </p:nvSpPr>
        <p:spPr>
          <a:xfrm>
            <a:off x="5029200" y="4023360"/>
            <a:ext cx="2743200" cy="594360"/>
          </a:xfrm>
          <a:prstGeom prst="rect">
            <a:avLst/>
          </a:prstGeom>
          <a:solidFill>
            <a:srgbClr val="F0E0E0"/>
          </a:solidFill>
          <a:ln w="25400">
            <a:solidFill>
              <a:srgbClr val="CCA0A0"/>
            </a:solidFill>
            <a:prstDash val="solid"/>
          </a:ln>
        </p:spPr>
        <p:txBody>
          <a:bodyPr/>
          <a:lstStyle/>
          <a:p>
            <a:endParaRPr lang="en-US"/>
          </a:p>
        </p:txBody>
      </p:sp>
      <p:sp>
        <p:nvSpPr>
          <p:cNvPr id="12" name="Text 10"/>
          <p:cNvSpPr/>
          <p:nvPr/>
        </p:nvSpPr>
        <p:spPr>
          <a:xfrm>
            <a:off x="5029200" y="4023360"/>
            <a:ext cx="2743200" cy="594360"/>
          </a:xfrm>
          <a:prstGeom prst="rect">
            <a:avLst/>
          </a:prstGeom>
          <a:noFill/>
          <a:ln/>
        </p:spPr>
        <p:txBody>
          <a:bodyPr wrap="square" rtlCol="0" anchor="ctr"/>
          <a:lstStyle/>
          <a:p>
            <a:pPr marL="0" indent="0" algn="ctr">
              <a:buNone/>
            </a:pPr>
            <a:r>
              <a:rPr lang="en-US" sz="1600" b="1" dirty="0">
                <a:solidFill>
                  <a:srgbClr val="808080"/>
                </a:solidFill>
              </a:rPr>
              <a:t>FALSO</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0" y="228600"/>
            <a:ext cx="9144000" cy="457200"/>
          </a:xfrm>
          <a:prstGeom prst="rect">
            <a:avLst/>
          </a:prstGeom>
          <a:noFill/>
          <a:ln/>
        </p:spPr>
        <p:txBody>
          <a:bodyPr wrap="square" rtlCol="0" anchor="ctr"/>
          <a:lstStyle/>
          <a:p>
            <a:pPr marL="0" indent="0" algn="ctr">
              <a:buNone/>
            </a:pPr>
            <a:r>
              <a:rPr lang="en-US" sz="1600" b="1" dirty="0">
                <a:solidFill>
                  <a:srgbClr val="2D3030"/>
                </a:solidFill>
              </a:rPr>
              <a:t>Respuesta — Pregunta 2</a:t>
            </a:r>
            <a:endParaRPr lang="en-US" sz="1600" dirty="0"/>
          </a:p>
        </p:txBody>
      </p:sp>
      <p:sp>
        <p:nvSpPr>
          <p:cNvPr id="4" name="Shape 2"/>
          <p:cNvSpPr/>
          <p:nvPr/>
        </p:nvSpPr>
        <p:spPr>
          <a:xfrm>
            <a:off x="1371600" y="822960"/>
            <a:ext cx="6400800" cy="640080"/>
          </a:xfrm>
          <a:prstGeom prst="rect">
            <a:avLst/>
          </a:prstGeom>
          <a:solidFill>
            <a:srgbClr val="D6EAD6"/>
          </a:solidFill>
          <a:ln w="25400">
            <a:solidFill>
              <a:srgbClr val="217346"/>
            </a:solidFill>
            <a:prstDash val="solid"/>
          </a:ln>
        </p:spPr>
        <p:txBody>
          <a:bodyPr/>
          <a:lstStyle/>
          <a:p>
            <a:endParaRPr lang="en-US"/>
          </a:p>
        </p:txBody>
      </p:sp>
      <p:sp>
        <p:nvSpPr>
          <p:cNvPr id="5" name="Text 3"/>
          <p:cNvSpPr/>
          <p:nvPr/>
        </p:nvSpPr>
        <p:spPr>
          <a:xfrm>
            <a:off x="1371600" y="822960"/>
            <a:ext cx="6400800" cy="640080"/>
          </a:xfrm>
          <a:prstGeom prst="rect">
            <a:avLst/>
          </a:prstGeom>
          <a:noFill/>
          <a:ln/>
        </p:spPr>
        <p:txBody>
          <a:bodyPr wrap="square" rtlCol="0" anchor="ctr"/>
          <a:lstStyle/>
          <a:p>
            <a:pPr marL="0" indent="0" algn="ctr">
              <a:buNone/>
            </a:pPr>
            <a:r>
              <a:rPr lang="en-US" sz="2600" b="1" dirty="0">
                <a:solidFill>
                  <a:srgbClr val="217346"/>
                </a:solidFill>
              </a:rPr>
              <a:t>✓  VERDADERO</a:t>
            </a:r>
            <a:endParaRPr lang="en-US" sz="2600" dirty="0"/>
          </a:p>
        </p:txBody>
      </p:sp>
      <p:sp>
        <p:nvSpPr>
          <p:cNvPr id="6" name="Shape 4"/>
          <p:cNvSpPr/>
          <p:nvPr/>
        </p:nvSpPr>
        <p:spPr>
          <a:xfrm>
            <a:off x="457200" y="1600200"/>
            <a:ext cx="8229600" cy="2194560"/>
          </a:xfrm>
          <a:prstGeom prst="rect">
            <a:avLst/>
          </a:prstGeom>
          <a:solidFill>
            <a:srgbClr val="E8F4FC"/>
          </a:solidFill>
          <a:ln w="12700">
            <a:solidFill>
              <a:srgbClr val="5AA8D8"/>
            </a:solidFill>
            <a:prstDash val="solid"/>
          </a:ln>
        </p:spPr>
        <p:txBody>
          <a:bodyPr/>
          <a:lstStyle/>
          <a:p>
            <a:endParaRPr lang="en-US"/>
          </a:p>
        </p:txBody>
      </p:sp>
      <p:sp>
        <p:nvSpPr>
          <p:cNvPr id="7" name="Text 5"/>
          <p:cNvSpPr/>
          <p:nvPr/>
        </p:nvSpPr>
        <p:spPr>
          <a:xfrm>
            <a:off x="594360" y="1664208"/>
            <a:ext cx="7955280" cy="320040"/>
          </a:xfrm>
          <a:prstGeom prst="rect">
            <a:avLst/>
          </a:prstGeom>
          <a:noFill/>
          <a:ln/>
        </p:spPr>
        <p:txBody>
          <a:bodyPr wrap="square" rtlCol="0" anchor="ctr"/>
          <a:lstStyle/>
          <a:p>
            <a:pPr marL="0" indent="0">
              <a:buNone/>
            </a:pPr>
            <a:r>
              <a:rPr lang="en-US" sz="1200" b="1" dirty="0">
                <a:solidFill>
                  <a:srgbClr val="2D3030"/>
                </a:solidFill>
              </a:rPr>
              <a:t>Justificación:</a:t>
            </a:r>
            <a:endParaRPr lang="en-US" sz="1200" dirty="0"/>
          </a:p>
        </p:txBody>
      </p:sp>
      <p:sp>
        <p:nvSpPr>
          <p:cNvPr id="8" name="Text 6"/>
          <p:cNvSpPr/>
          <p:nvPr/>
        </p:nvSpPr>
        <p:spPr>
          <a:xfrm>
            <a:off x="594360" y="1993392"/>
            <a:ext cx="7955280" cy="1691640"/>
          </a:xfrm>
          <a:prstGeom prst="rect">
            <a:avLst/>
          </a:prstGeom>
          <a:noFill/>
          <a:ln/>
        </p:spPr>
        <p:txBody>
          <a:bodyPr wrap="square" rtlCol="0" anchor="t"/>
          <a:lstStyle/>
          <a:p>
            <a:pPr marL="0" indent="0">
              <a:buNone/>
            </a:pPr>
            <a:r>
              <a:rPr lang="en-US" sz="1100" dirty="0">
                <a:solidFill>
                  <a:srgbClr val="404040"/>
                </a:solidFill>
              </a:rPr>
              <a:t>TCP usa el protocolo de establecimiento de conexión llamado 'handshake a tres vías' (three-way handshake). Los tres segmentos intercambiados son: (1) SYN — el cliente solicita conexión, (2) SYN-ACK — el servidor acepta, (3) ACK — el cliente confirma. Este proceso sincroniza los sistemas de numeración de bytes entre ambos extremos y establece el circuito virtual antes de transmitir datos.</a:t>
            </a:r>
            <a:endParaRPr lang="en-US" sz="1100" dirty="0"/>
          </a:p>
        </p:txBody>
      </p:sp>
      <p:sp>
        <p:nvSpPr>
          <p:cNvPr id="9" name="Shape 7"/>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0" name="Text 8"/>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El handshake a 3 vías es uno de los conceptos </a:t>
            </a:r>
            <a:r>
              <a:rPr lang="en-US" sz="900" i="1" dirty="0" err="1">
                <a:solidFill>
                  <a:srgbClr val="6BB8E8"/>
                </a:solidFill>
              </a:rPr>
              <a:t>más</a:t>
            </a:r>
            <a:r>
              <a:rPr lang="en-US" sz="900" i="1" dirty="0">
                <a:solidFill>
                  <a:srgbClr val="6BB8E8"/>
                </a:solidFill>
              </a:rPr>
              <a:t> </a:t>
            </a:r>
            <a:r>
              <a:rPr lang="en-US" sz="900" i="1" dirty="0" err="1">
                <a:solidFill>
                  <a:srgbClr val="6BB8E8"/>
                </a:solidFill>
              </a:rPr>
              <a:t>importantes</a:t>
            </a:r>
            <a:r>
              <a:rPr lang="en-US" sz="900" i="1" dirty="0">
                <a:solidFill>
                  <a:srgbClr val="6BB8E8"/>
                </a:solidFill>
              </a:rPr>
              <a:t>. SYN-SYN/ACK-ACK. Una analogía: llamás (SYN), te atienden (SYN-ACK), confirmás que escuchaste (ACK). Recién entonces empieza la conversación.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3200400" y="228600"/>
            <a:ext cx="2743200" cy="457200"/>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3200400" y="228600"/>
            <a:ext cx="2743200" cy="457200"/>
          </a:xfrm>
          <a:prstGeom prst="rect">
            <a:avLst/>
          </a:prstGeom>
          <a:noFill/>
          <a:ln/>
        </p:spPr>
        <p:txBody>
          <a:bodyPr wrap="square" rtlCol="0" anchor="ctr"/>
          <a:lstStyle/>
          <a:p>
            <a:pPr marL="0" indent="0" algn="ctr">
              <a:buNone/>
            </a:pPr>
            <a:r>
              <a:rPr lang="en-US" sz="1300" b="1" dirty="0">
                <a:solidFill>
                  <a:srgbClr val="FFFFFF"/>
                </a:solidFill>
              </a:rPr>
              <a:t>VERDADERO o FALSO</a:t>
            </a:r>
            <a:endParaRPr lang="en-US" sz="1300" dirty="0"/>
          </a:p>
        </p:txBody>
      </p:sp>
      <p:sp>
        <p:nvSpPr>
          <p:cNvPr id="5" name="Text 3"/>
          <p:cNvSpPr/>
          <p:nvPr/>
        </p:nvSpPr>
        <p:spPr>
          <a:xfrm>
            <a:off x="0" y="822960"/>
            <a:ext cx="9144000" cy="365760"/>
          </a:xfrm>
          <a:prstGeom prst="rect">
            <a:avLst/>
          </a:prstGeom>
          <a:noFill/>
          <a:ln/>
        </p:spPr>
        <p:txBody>
          <a:bodyPr wrap="square" rtlCol="0" anchor="ctr"/>
          <a:lstStyle/>
          <a:p>
            <a:pPr marL="0" indent="0" algn="ctr">
              <a:buNone/>
            </a:pPr>
            <a:r>
              <a:rPr lang="en-US" sz="1400" dirty="0">
                <a:solidFill>
                  <a:srgbClr val="808080"/>
                </a:solidFill>
              </a:rPr>
              <a:t>Pregunta 3</a:t>
            </a:r>
            <a:endParaRPr lang="en-US" sz="1400" dirty="0"/>
          </a:p>
        </p:txBody>
      </p:sp>
      <p:sp>
        <p:nvSpPr>
          <p:cNvPr id="6" name="Shape 4"/>
          <p:cNvSpPr/>
          <p:nvPr/>
        </p:nvSpPr>
        <p:spPr>
          <a:xfrm>
            <a:off x="914400" y="1325880"/>
            <a:ext cx="7315200" cy="2011680"/>
          </a:xfrm>
          <a:prstGeom prst="rect">
            <a:avLst/>
          </a:prstGeom>
          <a:solidFill>
            <a:srgbClr val="1A2530"/>
          </a:solidFill>
          <a:ln w="25400">
            <a:solidFill>
              <a:srgbClr val="5AA8D8"/>
            </a:solidFill>
            <a:prstDash val="solid"/>
          </a:ln>
        </p:spPr>
        <p:txBody>
          <a:bodyPr/>
          <a:lstStyle/>
          <a:p>
            <a:endParaRPr lang="en-US"/>
          </a:p>
        </p:txBody>
      </p:sp>
      <p:sp>
        <p:nvSpPr>
          <p:cNvPr id="7" name="Text 5"/>
          <p:cNvSpPr/>
          <p:nvPr/>
        </p:nvSpPr>
        <p:spPr>
          <a:xfrm>
            <a:off x="1097280" y="1417320"/>
            <a:ext cx="6949440" cy="1828800"/>
          </a:xfrm>
          <a:prstGeom prst="rect">
            <a:avLst/>
          </a:prstGeom>
          <a:noFill/>
          <a:ln/>
        </p:spPr>
        <p:txBody>
          <a:bodyPr wrap="square" rtlCol="0" anchor="ctr"/>
          <a:lstStyle/>
          <a:p>
            <a:pPr marL="0" indent="0" algn="ctr">
              <a:buNone/>
            </a:pPr>
            <a:r>
              <a:rPr lang="en-US" sz="1900" i="1" dirty="0">
                <a:solidFill>
                  <a:srgbClr val="FFFFFF"/>
                </a:solidFill>
              </a:rPr>
              <a:t>"Los protocolos FTP, TELNET y SMTP utilizan TCP como transporte, mientras que DNS y NFS utilizan UDP."</a:t>
            </a:r>
            <a:endParaRPr lang="en-US" sz="1900" dirty="0"/>
          </a:p>
        </p:txBody>
      </p:sp>
      <p:sp>
        <p:nvSpPr>
          <p:cNvPr id="8" name="Text 6"/>
          <p:cNvSpPr/>
          <p:nvPr/>
        </p:nvSpPr>
        <p:spPr>
          <a:xfrm>
            <a:off x="0" y="3474720"/>
            <a:ext cx="9144000" cy="457200"/>
          </a:xfrm>
          <a:prstGeom prst="rect">
            <a:avLst/>
          </a:prstGeom>
          <a:noFill/>
          <a:ln/>
        </p:spPr>
        <p:txBody>
          <a:bodyPr wrap="square" rtlCol="0" anchor="ctr"/>
          <a:lstStyle/>
          <a:p>
            <a:pPr marL="0" indent="0" algn="ctr">
              <a:buNone/>
            </a:pPr>
            <a:r>
              <a:rPr lang="en-US" sz="1800" b="1" dirty="0">
                <a:solidFill>
                  <a:srgbClr val="5AA8D8"/>
                </a:solidFill>
              </a:rPr>
              <a:t>¿Verdadero o Falso?</a:t>
            </a:r>
            <a:endParaRPr lang="en-US" sz="1800" dirty="0"/>
          </a:p>
        </p:txBody>
      </p:sp>
      <p:sp>
        <p:nvSpPr>
          <p:cNvPr id="9" name="Shape 7"/>
          <p:cNvSpPr/>
          <p:nvPr/>
        </p:nvSpPr>
        <p:spPr>
          <a:xfrm>
            <a:off x="1371600" y="4023360"/>
            <a:ext cx="2743200" cy="594360"/>
          </a:xfrm>
          <a:prstGeom prst="rect">
            <a:avLst/>
          </a:prstGeom>
          <a:solidFill>
            <a:srgbClr val="1A4A1A"/>
          </a:solidFill>
          <a:ln w="25400">
            <a:solidFill>
              <a:srgbClr val="4A9A4A"/>
            </a:solidFill>
            <a:prstDash val="solid"/>
          </a:ln>
        </p:spPr>
        <p:txBody>
          <a:bodyPr/>
          <a:lstStyle/>
          <a:p>
            <a:endParaRPr lang="en-US"/>
          </a:p>
        </p:txBody>
      </p:sp>
      <p:sp>
        <p:nvSpPr>
          <p:cNvPr id="10" name="Text 8"/>
          <p:cNvSpPr/>
          <p:nvPr/>
        </p:nvSpPr>
        <p:spPr>
          <a:xfrm>
            <a:off x="1371600" y="4023360"/>
            <a:ext cx="2743200" cy="594360"/>
          </a:xfrm>
          <a:prstGeom prst="rect">
            <a:avLst/>
          </a:prstGeom>
          <a:noFill/>
          <a:ln/>
        </p:spPr>
        <p:txBody>
          <a:bodyPr wrap="square" rtlCol="0" anchor="ctr"/>
          <a:lstStyle/>
          <a:p>
            <a:pPr marL="0" indent="0" algn="ctr">
              <a:buNone/>
            </a:pPr>
            <a:r>
              <a:rPr lang="en-US" sz="1600" b="1" dirty="0">
                <a:solidFill>
                  <a:srgbClr val="4AE04A"/>
                </a:solidFill>
              </a:rPr>
              <a:t>VERDADERO</a:t>
            </a:r>
            <a:endParaRPr lang="en-US" sz="1600" dirty="0"/>
          </a:p>
        </p:txBody>
      </p:sp>
      <p:sp>
        <p:nvSpPr>
          <p:cNvPr id="11" name="Shape 9"/>
          <p:cNvSpPr/>
          <p:nvPr/>
        </p:nvSpPr>
        <p:spPr>
          <a:xfrm>
            <a:off x="5029200" y="4023360"/>
            <a:ext cx="2743200" cy="594360"/>
          </a:xfrm>
          <a:prstGeom prst="rect">
            <a:avLst/>
          </a:prstGeom>
          <a:solidFill>
            <a:srgbClr val="4A1A1A"/>
          </a:solidFill>
          <a:ln w="25400">
            <a:solidFill>
              <a:srgbClr val="9A4A4A"/>
            </a:solidFill>
            <a:prstDash val="solid"/>
          </a:ln>
        </p:spPr>
        <p:txBody>
          <a:bodyPr/>
          <a:lstStyle/>
          <a:p>
            <a:endParaRPr lang="en-US"/>
          </a:p>
        </p:txBody>
      </p:sp>
      <p:sp>
        <p:nvSpPr>
          <p:cNvPr id="12" name="Text 10"/>
          <p:cNvSpPr/>
          <p:nvPr/>
        </p:nvSpPr>
        <p:spPr>
          <a:xfrm>
            <a:off x="5029200" y="4023360"/>
            <a:ext cx="2743200" cy="594360"/>
          </a:xfrm>
          <a:prstGeom prst="rect">
            <a:avLst/>
          </a:prstGeom>
          <a:noFill/>
          <a:ln/>
        </p:spPr>
        <p:txBody>
          <a:bodyPr wrap="square" rtlCol="0" anchor="ctr"/>
          <a:lstStyle/>
          <a:p>
            <a:pPr marL="0" indent="0" algn="ctr">
              <a:buNone/>
            </a:pPr>
            <a:r>
              <a:rPr lang="en-US" sz="1600" b="1" dirty="0">
                <a:solidFill>
                  <a:srgbClr val="FF6060"/>
                </a:solidFill>
              </a:rPr>
              <a:t>FALSO</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0" y="228600"/>
            <a:ext cx="9144000" cy="457200"/>
          </a:xfrm>
          <a:prstGeom prst="rect">
            <a:avLst/>
          </a:prstGeom>
          <a:noFill/>
          <a:ln/>
        </p:spPr>
        <p:txBody>
          <a:bodyPr wrap="square" rtlCol="0" anchor="ctr"/>
          <a:lstStyle/>
          <a:p>
            <a:pPr marL="0" indent="0" algn="ctr">
              <a:buNone/>
            </a:pPr>
            <a:r>
              <a:rPr lang="en-US" sz="1600" b="1" dirty="0">
                <a:solidFill>
                  <a:srgbClr val="5AA8D8"/>
                </a:solidFill>
              </a:rPr>
              <a:t>Respuesta — Pregunta 3</a:t>
            </a:r>
            <a:endParaRPr lang="en-US" sz="1600" dirty="0"/>
          </a:p>
        </p:txBody>
      </p:sp>
      <p:sp>
        <p:nvSpPr>
          <p:cNvPr id="4" name="Shape 2"/>
          <p:cNvSpPr/>
          <p:nvPr/>
        </p:nvSpPr>
        <p:spPr>
          <a:xfrm>
            <a:off x="1371600" y="822960"/>
            <a:ext cx="6400800" cy="640080"/>
          </a:xfrm>
          <a:prstGeom prst="rect">
            <a:avLst/>
          </a:prstGeom>
          <a:solidFill>
            <a:srgbClr val="1A4A1A"/>
          </a:solidFill>
          <a:ln w="25400">
            <a:solidFill>
              <a:srgbClr val="4A9A4A"/>
            </a:solidFill>
            <a:prstDash val="solid"/>
          </a:ln>
        </p:spPr>
        <p:txBody>
          <a:bodyPr/>
          <a:lstStyle/>
          <a:p>
            <a:endParaRPr lang="en-US"/>
          </a:p>
        </p:txBody>
      </p:sp>
      <p:sp>
        <p:nvSpPr>
          <p:cNvPr id="5" name="Text 3"/>
          <p:cNvSpPr/>
          <p:nvPr/>
        </p:nvSpPr>
        <p:spPr>
          <a:xfrm>
            <a:off x="1371600" y="822960"/>
            <a:ext cx="6400800" cy="640080"/>
          </a:xfrm>
          <a:prstGeom prst="rect">
            <a:avLst/>
          </a:prstGeom>
          <a:noFill/>
          <a:ln/>
        </p:spPr>
        <p:txBody>
          <a:bodyPr wrap="square" rtlCol="0" anchor="ctr"/>
          <a:lstStyle/>
          <a:p>
            <a:pPr marL="0" indent="0" algn="ctr">
              <a:buNone/>
            </a:pPr>
            <a:r>
              <a:rPr lang="en-US" sz="2600" b="1" dirty="0">
                <a:solidFill>
                  <a:srgbClr val="4AE04A"/>
                </a:solidFill>
              </a:rPr>
              <a:t>✓  VERDADERO</a:t>
            </a:r>
            <a:endParaRPr lang="en-US" sz="2600" dirty="0"/>
          </a:p>
        </p:txBody>
      </p:sp>
      <p:sp>
        <p:nvSpPr>
          <p:cNvPr id="6" name="Shape 4"/>
          <p:cNvSpPr/>
          <p:nvPr/>
        </p:nvSpPr>
        <p:spPr>
          <a:xfrm>
            <a:off x="457200" y="1600200"/>
            <a:ext cx="8229600" cy="2194560"/>
          </a:xfrm>
          <a:prstGeom prst="rect">
            <a:avLst/>
          </a:prstGeom>
          <a:solidFill>
            <a:srgbClr val="1A2530"/>
          </a:solidFill>
          <a:ln w="12700">
            <a:solidFill>
              <a:srgbClr val="5AA8D8"/>
            </a:solidFill>
            <a:prstDash val="solid"/>
          </a:ln>
        </p:spPr>
        <p:txBody>
          <a:bodyPr/>
          <a:lstStyle/>
          <a:p>
            <a:endParaRPr lang="en-US"/>
          </a:p>
        </p:txBody>
      </p:sp>
      <p:sp>
        <p:nvSpPr>
          <p:cNvPr id="7" name="Text 5"/>
          <p:cNvSpPr/>
          <p:nvPr/>
        </p:nvSpPr>
        <p:spPr>
          <a:xfrm>
            <a:off x="594360" y="1664208"/>
            <a:ext cx="7955280" cy="320040"/>
          </a:xfrm>
          <a:prstGeom prst="rect">
            <a:avLst/>
          </a:prstGeom>
          <a:noFill/>
          <a:ln/>
        </p:spPr>
        <p:txBody>
          <a:bodyPr wrap="square" rtlCol="0" anchor="ctr"/>
          <a:lstStyle/>
          <a:p>
            <a:pPr marL="0" indent="0">
              <a:buNone/>
            </a:pPr>
            <a:r>
              <a:rPr lang="en-US" sz="1200" b="1" dirty="0">
                <a:solidFill>
                  <a:srgbClr val="5AA8D8"/>
                </a:solidFill>
              </a:rPr>
              <a:t>Justificación:</a:t>
            </a:r>
            <a:endParaRPr lang="en-US" sz="1200" dirty="0"/>
          </a:p>
        </p:txBody>
      </p:sp>
      <p:sp>
        <p:nvSpPr>
          <p:cNvPr id="8" name="Text 6"/>
          <p:cNvSpPr/>
          <p:nvPr/>
        </p:nvSpPr>
        <p:spPr>
          <a:xfrm>
            <a:off x="594360" y="1993392"/>
            <a:ext cx="7955280" cy="1691640"/>
          </a:xfrm>
          <a:prstGeom prst="rect">
            <a:avLst/>
          </a:prstGeom>
          <a:noFill/>
          <a:ln/>
        </p:spPr>
        <p:txBody>
          <a:bodyPr wrap="square" rtlCol="0" anchor="t"/>
          <a:lstStyle/>
          <a:p>
            <a:pPr marL="0" indent="0">
              <a:buNone/>
            </a:pPr>
            <a:r>
              <a:rPr lang="en-US" sz="1100" dirty="0">
                <a:solidFill>
                  <a:srgbClr val="FFFFFF"/>
                </a:solidFill>
              </a:rPr>
              <a:t>Correcto. FTP, TELNET y SMTP requieren entrega confiable y ordenada de datos → usan TCP. DNS usa UDP porque sus consultas son pequeñas y rápidas (modelo pregunta-respuesta, sin necesidad de conexión). NFS también usa UDP para no agregar overhead innecesario en la transferencia de archivos en red local. Esta es la regla general: aplicaciones que necesitan garantía = TCP; consultas rápidas y tolerantes a pérdidas = UDP.</a:t>
            </a:r>
            <a:endParaRPr lang="en-US" sz="1100" dirty="0"/>
          </a:p>
        </p:txBody>
      </p:sp>
      <p:sp>
        <p:nvSpPr>
          <p:cNvPr id="9" name="Shape 7"/>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0" name="Text 8"/>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La tabla TCP vs UDP del slide anterior resume exactamente qué protocolo usa qué aplicación y por qué.</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2926080" y="201168"/>
            <a:ext cx="3291840" cy="475488"/>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926080" y="201168"/>
            <a:ext cx="3291840" cy="475488"/>
          </a:xfrm>
          <a:prstGeom prst="rect">
            <a:avLst/>
          </a:prstGeom>
          <a:noFill/>
          <a:ln/>
        </p:spPr>
        <p:txBody>
          <a:bodyPr wrap="square" rtlCol="0" anchor="ctr"/>
          <a:lstStyle/>
          <a:p>
            <a:pPr marL="0" indent="0" algn="ctr">
              <a:buNone/>
            </a:pPr>
            <a:r>
              <a:rPr lang="en-US" sz="1400" b="1" dirty="0">
                <a:solidFill>
                  <a:srgbClr val="FFFFFF"/>
                </a:solidFill>
              </a:rPr>
              <a:t>💡 IDEAS CLAVE</a:t>
            </a:r>
            <a:endParaRPr lang="en-US" sz="1400" dirty="0"/>
          </a:p>
        </p:txBody>
      </p:sp>
      <p:sp>
        <p:nvSpPr>
          <p:cNvPr id="5" name="Text 3"/>
          <p:cNvSpPr/>
          <p:nvPr/>
        </p:nvSpPr>
        <p:spPr>
          <a:xfrm>
            <a:off x="0" y="749808"/>
            <a:ext cx="9144000" cy="320040"/>
          </a:xfrm>
          <a:prstGeom prst="rect">
            <a:avLst/>
          </a:prstGeom>
          <a:noFill/>
          <a:ln/>
        </p:spPr>
        <p:txBody>
          <a:bodyPr wrap="square" rtlCol="0" anchor="ctr"/>
          <a:lstStyle/>
          <a:p>
            <a:pPr marL="0" indent="0" algn="ctr">
              <a:buNone/>
            </a:pPr>
            <a:r>
              <a:rPr lang="en-US" sz="1200" dirty="0">
                <a:solidFill>
                  <a:srgbClr val="808080"/>
                </a:solidFill>
              </a:rPr>
              <a:t>SP6 / H3 — Capas de Transporte y Aplicación</a:t>
            </a:r>
            <a:endParaRPr lang="en-US" sz="1200" dirty="0"/>
          </a:p>
        </p:txBody>
      </p:sp>
      <p:sp>
        <p:nvSpPr>
          <p:cNvPr id="6" name="Shape 4"/>
          <p:cNvSpPr/>
          <p:nvPr/>
        </p:nvSpPr>
        <p:spPr>
          <a:xfrm>
            <a:off x="274320" y="1207008"/>
            <a:ext cx="4160520" cy="914400"/>
          </a:xfrm>
          <a:prstGeom prst="rect">
            <a:avLst/>
          </a:prstGeom>
          <a:solidFill>
            <a:srgbClr val="1A2530"/>
          </a:solidFill>
          <a:ln w="12700">
            <a:solidFill>
              <a:srgbClr val="5AA8D8"/>
            </a:solidFill>
            <a:prstDash val="solid"/>
          </a:ln>
        </p:spPr>
        <p:txBody>
          <a:bodyPr/>
          <a:lstStyle/>
          <a:p>
            <a:endParaRPr lang="en-US"/>
          </a:p>
        </p:txBody>
      </p:sp>
      <p:sp>
        <p:nvSpPr>
          <p:cNvPr id="7" name="Shape 5"/>
          <p:cNvSpPr/>
          <p:nvPr/>
        </p:nvSpPr>
        <p:spPr>
          <a:xfrm>
            <a:off x="274320" y="1207008"/>
            <a:ext cx="411480" cy="914400"/>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274320" y="1207008"/>
            <a:ext cx="411480" cy="91440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9" name="Text 7"/>
          <p:cNvSpPr/>
          <p:nvPr/>
        </p:nvSpPr>
        <p:spPr>
          <a:xfrm>
            <a:off x="749808" y="1298448"/>
            <a:ext cx="3630168" cy="731520"/>
          </a:xfrm>
          <a:prstGeom prst="rect">
            <a:avLst/>
          </a:prstGeom>
          <a:noFill/>
          <a:ln/>
        </p:spPr>
        <p:txBody>
          <a:bodyPr wrap="square" lIns="50800" tIns="50800" rIns="50800" bIns="50800" rtlCol="0" anchor="ctr"/>
          <a:lstStyle/>
          <a:p>
            <a:pPr marL="0" indent="0">
              <a:buNone/>
            </a:pPr>
            <a:r>
              <a:rPr lang="en-US" sz="1050" dirty="0">
                <a:solidFill>
                  <a:srgbClr val="FFFFFF"/>
                </a:solidFill>
              </a:rPr>
              <a:t>La Capa de Transporte provee el mecanismo de entrega confiable, independiente de la aplicación.</a:t>
            </a:r>
            <a:endParaRPr lang="en-US" sz="1050" dirty="0"/>
          </a:p>
        </p:txBody>
      </p:sp>
      <p:sp>
        <p:nvSpPr>
          <p:cNvPr id="10" name="Shape 8"/>
          <p:cNvSpPr/>
          <p:nvPr/>
        </p:nvSpPr>
        <p:spPr>
          <a:xfrm>
            <a:off x="4754880" y="1207008"/>
            <a:ext cx="4160520" cy="914400"/>
          </a:xfrm>
          <a:prstGeom prst="rect">
            <a:avLst/>
          </a:prstGeom>
          <a:solidFill>
            <a:srgbClr val="1A2530"/>
          </a:solidFill>
          <a:ln w="12700">
            <a:solidFill>
              <a:srgbClr val="5AA8D8"/>
            </a:solidFill>
            <a:prstDash val="solid"/>
          </a:ln>
        </p:spPr>
        <p:txBody>
          <a:bodyPr/>
          <a:lstStyle/>
          <a:p>
            <a:endParaRPr lang="en-US"/>
          </a:p>
        </p:txBody>
      </p:sp>
      <p:sp>
        <p:nvSpPr>
          <p:cNvPr id="11" name="Shape 9"/>
          <p:cNvSpPr/>
          <p:nvPr/>
        </p:nvSpPr>
        <p:spPr>
          <a:xfrm>
            <a:off x="4754880" y="1207008"/>
            <a:ext cx="411480" cy="914400"/>
          </a:xfrm>
          <a:prstGeom prst="rect">
            <a:avLst/>
          </a:prstGeom>
          <a:solidFill>
            <a:srgbClr val="5AA8D8"/>
          </a:solidFill>
          <a:ln w="12700">
            <a:solidFill>
              <a:srgbClr val="5AA8D8"/>
            </a:solidFill>
            <a:prstDash val="solid"/>
          </a:ln>
        </p:spPr>
        <p:txBody>
          <a:bodyPr/>
          <a:lstStyle/>
          <a:p>
            <a:endParaRPr lang="en-US"/>
          </a:p>
        </p:txBody>
      </p:sp>
      <p:sp>
        <p:nvSpPr>
          <p:cNvPr id="12" name="Text 10"/>
          <p:cNvSpPr/>
          <p:nvPr/>
        </p:nvSpPr>
        <p:spPr>
          <a:xfrm>
            <a:off x="4754880" y="1207008"/>
            <a:ext cx="411480" cy="91440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3" name="Text 11"/>
          <p:cNvSpPr/>
          <p:nvPr/>
        </p:nvSpPr>
        <p:spPr>
          <a:xfrm>
            <a:off x="5230368" y="1298448"/>
            <a:ext cx="3630168" cy="731520"/>
          </a:xfrm>
          <a:prstGeom prst="rect">
            <a:avLst/>
          </a:prstGeom>
          <a:noFill/>
          <a:ln/>
        </p:spPr>
        <p:txBody>
          <a:bodyPr wrap="square" lIns="50800" tIns="50800" rIns="50800" bIns="50800" rtlCol="0" anchor="ctr"/>
          <a:lstStyle/>
          <a:p>
            <a:pPr marL="0" indent="0">
              <a:buNone/>
            </a:pPr>
            <a:r>
              <a:rPr lang="en-US" sz="1050" dirty="0">
                <a:solidFill>
                  <a:srgbClr val="FFFFFF"/>
                </a:solidFill>
              </a:rPr>
              <a:t>TCP = orientado a conexión, confiable, por tren de bytes. UDP = sin conexión, rápido, de baja sobrecarga.</a:t>
            </a:r>
            <a:endParaRPr lang="en-US" sz="1050" dirty="0"/>
          </a:p>
        </p:txBody>
      </p:sp>
      <p:sp>
        <p:nvSpPr>
          <p:cNvPr id="14" name="Shape 12"/>
          <p:cNvSpPr/>
          <p:nvPr/>
        </p:nvSpPr>
        <p:spPr>
          <a:xfrm>
            <a:off x="274320" y="2258568"/>
            <a:ext cx="4160520" cy="914400"/>
          </a:xfrm>
          <a:prstGeom prst="rect">
            <a:avLst/>
          </a:prstGeom>
          <a:solidFill>
            <a:srgbClr val="1A2530"/>
          </a:solidFill>
          <a:ln w="12700">
            <a:solidFill>
              <a:srgbClr val="5AA8D8"/>
            </a:solidFill>
            <a:prstDash val="solid"/>
          </a:ln>
        </p:spPr>
        <p:txBody>
          <a:bodyPr/>
          <a:lstStyle/>
          <a:p>
            <a:endParaRPr lang="en-US"/>
          </a:p>
        </p:txBody>
      </p:sp>
      <p:sp>
        <p:nvSpPr>
          <p:cNvPr id="15" name="Shape 13"/>
          <p:cNvSpPr/>
          <p:nvPr/>
        </p:nvSpPr>
        <p:spPr>
          <a:xfrm>
            <a:off x="274320" y="2258568"/>
            <a:ext cx="411480" cy="914400"/>
          </a:xfrm>
          <a:prstGeom prst="rect">
            <a:avLst/>
          </a:prstGeom>
          <a:solidFill>
            <a:srgbClr val="5AA8D8"/>
          </a:solidFill>
          <a:ln w="12700">
            <a:solidFill>
              <a:srgbClr val="5AA8D8"/>
            </a:solidFill>
            <a:prstDash val="solid"/>
          </a:ln>
        </p:spPr>
        <p:txBody>
          <a:bodyPr/>
          <a:lstStyle/>
          <a:p>
            <a:endParaRPr lang="en-US"/>
          </a:p>
        </p:txBody>
      </p:sp>
      <p:sp>
        <p:nvSpPr>
          <p:cNvPr id="16" name="Text 14"/>
          <p:cNvSpPr/>
          <p:nvPr/>
        </p:nvSpPr>
        <p:spPr>
          <a:xfrm>
            <a:off x="274320" y="2258568"/>
            <a:ext cx="411480" cy="91440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17" name="Text 15"/>
          <p:cNvSpPr/>
          <p:nvPr/>
        </p:nvSpPr>
        <p:spPr>
          <a:xfrm>
            <a:off x="749808" y="2350008"/>
            <a:ext cx="3630168" cy="731520"/>
          </a:xfrm>
          <a:prstGeom prst="rect">
            <a:avLst/>
          </a:prstGeom>
          <a:noFill/>
          <a:ln/>
        </p:spPr>
        <p:txBody>
          <a:bodyPr wrap="square" lIns="50800" tIns="50800" rIns="50800" bIns="50800" rtlCol="0" anchor="ctr"/>
          <a:lstStyle/>
          <a:p>
            <a:pPr marL="0" indent="0">
              <a:buNone/>
            </a:pPr>
            <a:r>
              <a:rPr lang="en-US" sz="1050" dirty="0">
                <a:solidFill>
                  <a:srgbClr val="FFFFFF"/>
                </a:solidFill>
              </a:rPr>
              <a:t>El handshake a 3 vías (SYN-SYN/ACK-ACK) establece la conexión TCP antes de transmitir datos.</a:t>
            </a:r>
            <a:endParaRPr lang="en-US" sz="1050" dirty="0"/>
          </a:p>
        </p:txBody>
      </p:sp>
      <p:sp>
        <p:nvSpPr>
          <p:cNvPr id="18" name="Shape 16"/>
          <p:cNvSpPr/>
          <p:nvPr/>
        </p:nvSpPr>
        <p:spPr>
          <a:xfrm>
            <a:off x="4754880" y="2258568"/>
            <a:ext cx="4160520" cy="914400"/>
          </a:xfrm>
          <a:prstGeom prst="rect">
            <a:avLst/>
          </a:prstGeom>
          <a:solidFill>
            <a:srgbClr val="1A2530"/>
          </a:solidFill>
          <a:ln w="12700">
            <a:solidFill>
              <a:srgbClr val="5AA8D8"/>
            </a:solidFill>
            <a:prstDash val="solid"/>
          </a:ln>
        </p:spPr>
        <p:txBody>
          <a:bodyPr/>
          <a:lstStyle/>
          <a:p>
            <a:endParaRPr lang="en-US"/>
          </a:p>
        </p:txBody>
      </p:sp>
      <p:sp>
        <p:nvSpPr>
          <p:cNvPr id="19" name="Shape 17"/>
          <p:cNvSpPr/>
          <p:nvPr/>
        </p:nvSpPr>
        <p:spPr>
          <a:xfrm>
            <a:off x="4754880" y="2258568"/>
            <a:ext cx="411480" cy="914400"/>
          </a:xfrm>
          <a:prstGeom prst="rect">
            <a:avLst/>
          </a:prstGeom>
          <a:solidFill>
            <a:srgbClr val="5AA8D8"/>
          </a:solidFill>
          <a:ln w="12700">
            <a:solidFill>
              <a:srgbClr val="5AA8D8"/>
            </a:solidFill>
            <a:prstDash val="solid"/>
          </a:ln>
        </p:spPr>
        <p:txBody>
          <a:bodyPr/>
          <a:lstStyle/>
          <a:p>
            <a:endParaRPr lang="en-US"/>
          </a:p>
        </p:txBody>
      </p:sp>
      <p:sp>
        <p:nvSpPr>
          <p:cNvPr id="20" name="Text 18"/>
          <p:cNvSpPr/>
          <p:nvPr/>
        </p:nvSpPr>
        <p:spPr>
          <a:xfrm>
            <a:off x="4754880" y="2258568"/>
            <a:ext cx="411480" cy="91440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21" name="Text 19"/>
          <p:cNvSpPr/>
          <p:nvPr/>
        </p:nvSpPr>
        <p:spPr>
          <a:xfrm>
            <a:off x="5230368" y="2350008"/>
            <a:ext cx="3630168" cy="731520"/>
          </a:xfrm>
          <a:prstGeom prst="rect">
            <a:avLst/>
          </a:prstGeom>
          <a:noFill/>
          <a:ln/>
        </p:spPr>
        <p:txBody>
          <a:bodyPr wrap="square" lIns="50800" tIns="50800" rIns="50800" bIns="50800" rtlCol="0" anchor="ctr"/>
          <a:lstStyle/>
          <a:p>
            <a:pPr marL="0" indent="0">
              <a:buNone/>
            </a:pPr>
            <a:r>
              <a:rPr lang="en-US" sz="1050" dirty="0">
                <a:solidFill>
                  <a:srgbClr val="FFFFFF"/>
                </a:solidFill>
              </a:rPr>
              <a:t>Los puertos (16 bits) identifican la aplicación destino en ambos protocolos (TCP y UDP).</a:t>
            </a:r>
            <a:endParaRPr lang="en-US" sz="1050" dirty="0"/>
          </a:p>
        </p:txBody>
      </p:sp>
      <p:sp>
        <p:nvSpPr>
          <p:cNvPr id="22" name="Shape 20"/>
          <p:cNvSpPr/>
          <p:nvPr/>
        </p:nvSpPr>
        <p:spPr>
          <a:xfrm>
            <a:off x="274320" y="3310128"/>
            <a:ext cx="4160520" cy="914400"/>
          </a:xfrm>
          <a:prstGeom prst="rect">
            <a:avLst/>
          </a:prstGeom>
          <a:solidFill>
            <a:srgbClr val="1A2530"/>
          </a:solidFill>
          <a:ln w="12700">
            <a:solidFill>
              <a:srgbClr val="5AA8D8"/>
            </a:solidFill>
            <a:prstDash val="solid"/>
          </a:ln>
        </p:spPr>
        <p:txBody>
          <a:bodyPr/>
          <a:lstStyle/>
          <a:p>
            <a:endParaRPr lang="en-US"/>
          </a:p>
        </p:txBody>
      </p:sp>
      <p:sp>
        <p:nvSpPr>
          <p:cNvPr id="23" name="Shape 21"/>
          <p:cNvSpPr/>
          <p:nvPr/>
        </p:nvSpPr>
        <p:spPr>
          <a:xfrm>
            <a:off x="274320" y="3310128"/>
            <a:ext cx="411480" cy="914400"/>
          </a:xfrm>
          <a:prstGeom prst="rect">
            <a:avLst/>
          </a:prstGeom>
          <a:solidFill>
            <a:srgbClr val="5AA8D8"/>
          </a:solidFill>
          <a:ln w="12700">
            <a:solidFill>
              <a:srgbClr val="5AA8D8"/>
            </a:solidFill>
            <a:prstDash val="solid"/>
          </a:ln>
        </p:spPr>
        <p:txBody>
          <a:bodyPr/>
          <a:lstStyle/>
          <a:p>
            <a:endParaRPr lang="en-US"/>
          </a:p>
        </p:txBody>
      </p:sp>
      <p:sp>
        <p:nvSpPr>
          <p:cNvPr id="24" name="Text 22"/>
          <p:cNvSpPr/>
          <p:nvPr/>
        </p:nvSpPr>
        <p:spPr>
          <a:xfrm>
            <a:off x="274320" y="3310128"/>
            <a:ext cx="411480" cy="91440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25" name="Text 23"/>
          <p:cNvSpPr/>
          <p:nvPr/>
        </p:nvSpPr>
        <p:spPr>
          <a:xfrm>
            <a:off x="749808" y="3401568"/>
            <a:ext cx="3630168" cy="731520"/>
          </a:xfrm>
          <a:prstGeom prst="rect">
            <a:avLst/>
          </a:prstGeom>
          <a:noFill/>
          <a:ln/>
        </p:spPr>
        <p:txBody>
          <a:bodyPr wrap="square" lIns="50800" tIns="50800" rIns="50800" bIns="50800" rtlCol="0" anchor="ctr"/>
          <a:lstStyle/>
          <a:p>
            <a:pPr marL="0" indent="0">
              <a:buNone/>
            </a:pPr>
            <a:r>
              <a:rPr lang="en-US" sz="1050" dirty="0">
                <a:solidFill>
                  <a:srgbClr val="FFFFFF"/>
                </a:solidFill>
              </a:rPr>
              <a:t>FTP, TELNET, SMTP, HTTP → usan TCP. DNS, NFS → usan UDP.</a:t>
            </a:r>
            <a:endParaRPr lang="en-US" sz="1050" dirty="0"/>
          </a:p>
        </p:txBody>
      </p:sp>
      <p:sp>
        <p:nvSpPr>
          <p:cNvPr id="26" name="Shape 24"/>
          <p:cNvSpPr/>
          <p:nvPr/>
        </p:nvSpPr>
        <p:spPr>
          <a:xfrm>
            <a:off x="4754880" y="3310128"/>
            <a:ext cx="4160520" cy="914400"/>
          </a:xfrm>
          <a:prstGeom prst="rect">
            <a:avLst/>
          </a:prstGeom>
          <a:solidFill>
            <a:srgbClr val="1A2530"/>
          </a:solidFill>
          <a:ln w="12700">
            <a:solidFill>
              <a:srgbClr val="5AA8D8"/>
            </a:solidFill>
            <a:prstDash val="solid"/>
          </a:ln>
        </p:spPr>
        <p:txBody>
          <a:bodyPr/>
          <a:lstStyle/>
          <a:p>
            <a:endParaRPr lang="en-US"/>
          </a:p>
        </p:txBody>
      </p:sp>
      <p:sp>
        <p:nvSpPr>
          <p:cNvPr id="27" name="Shape 25"/>
          <p:cNvSpPr/>
          <p:nvPr/>
        </p:nvSpPr>
        <p:spPr>
          <a:xfrm>
            <a:off x="4754880" y="3310128"/>
            <a:ext cx="411480" cy="914400"/>
          </a:xfrm>
          <a:prstGeom prst="rect">
            <a:avLst/>
          </a:prstGeom>
          <a:solidFill>
            <a:srgbClr val="5AA8D8"/>
          </a:solidFill>
          <a:ln w="12700">
            <a:solidFill>
              <a:srgbClr val="5AA8D8"/>
            </a:solidFill>
            <a:prstDash val="solid"/>
          </a:ln>
        </p:spPr>
        <p:txBody>
          <a:bodyPr/>
          <a:lstStyle/>
          <a:p>
            <a:endParaRPr lang="en-US"/>
          </a:p>
        </p:txBody>
      </p:sp>
      <p:sp>
        <p:nvSpPr>
          <p:cNvPr id="28" name="Text 26"/>
          <p:cNvSpPr/>
          <p:nvPr/>
        </p:nvSpPr>
        <p:spPr>
          <a:xfrm>
            <a:off x="4754880" y="3310128"/>
            <a:ext cx="411480" cy="914400"/>
          </a:xfrm>
          <a:prstGeom prst="rect">
            <a:avLst/>
          </a:prstGeom>
          <a:noFill/>
          <a:ln/>
        </p:spPr>
        <p:txBody>
          <a:bodyPr wrap="square" rtlCol="0" anchor="ctr"/>
          <a:lstStyle/>
          <a:p>
            <a:pPr marL="0" indent="0" algn="ctr">
              <a:buNone/>
            </a:pPr>
            <a:r>
              <a:rPr lang="en-US" sz="1600" b="1" dirty="0">
                <a:solidFill>
                  <a:srgbClr val="FFFFFF"/>
                </a:solidFill>
              </a:rPr>
              <a:t>6</a:t>
            </a:r>
            <a:endParaRPr lang="en-US" sz="1600" dirty="0"/>
          </a:p>
        </p:txBody>
      </p:sp>
      <p:sp>
        <p:nvSpPr>
          <p:cNvPr id="29" name="Text 27"/>
          <p:cNvSpPr/>
          <p:nvPr/>
        </p:nvSpPr>
        <p:spPr>
          <a:xfrm>
            <a:off x="5230368" y="3401568"/>
            <a:ext cx="3630168" cy="731520"/>
          </a:xfrm>
          <a:prstGeom prst="rect">
            <a:avLst/>
          </a:prstGeom>
          <a:noFill/>
          <a:ln/>
        </p:spPr>
        <p:txBody>
          <a:bodyPr wrap="square" lIns="50800" tIns="50800" rIns="50800" bIns="50800" rtlCol="0" anchor="ctr"/>
          <a:lstStyle/>
          <a:p>
            <a:pPr marL="0" indent="0">
              <a:buNone/>
            </a:pPr>
            <a:r>
              <a:rPr lang="en-US" sz="1050" dirty="0">
                <a:solidFill>
                  <a:srgbClr val="FFFFFF"/>
                </a:solidFill>
              </a:rPr>
              <a:t>En celulares: gaming/VoIP/streaming usan UDP; descarga de archivos y navegación usan TCP.</a:t>
            </a:r>
            <a:endParaRPr lang="en-US" sz="1050" dirty="0"/>
          </a:p>
        </p:txBody>
      </p:sp>
      <p:sp>
        <p:nvSpPr>
          <p:cNvPr id="30" name="Text 28"/>
          <p:cNvSpPr/>
          <p:nvPr/>
        </p:nvSpPr>
        <p:spPr>
          <a:xfrm>
            <a:off x="457200" y="4480560"/>
            <a:ext cx="8229600" cy="320040"/>
          </a:xfrm>
          <a:prstGeom prst="rect">
            <a:avLst/>
          </a:prstGeom>
          <a:noFill/>
          <a:ln/>
        </p:spPr>
        <p:txBody>
          <a:bodyPr wrap="square" rtlCol="0" anchor="ctr"/>
          <a:lstStyle/>
          <a:p>
            <a:pPr marL="0" indent="0" algn="ctr">
              <a:buNone/>
            </a:pPr>
            <a:r>
              <a:rPr lang="en-US" sz="1100" i="1" dirty="0">
                <a:solidFill>
                  <a:srgbClr val="808080"/>
                </a:solidFill>
              </a:rPr>
              <a:t>Prof: Ing. Antonio Víctor Pérez Españón</a:t>
            </a:r>
            <a:endParaRPr lang="en-US" sz="1100" dirty="0"/>
          </a:p>
        </p:txBody>
      </p:sp>
      <p:sp>
        <p:nvSpPr>
          <p:cNvPr id="31" name="Shape 29"/>
          <p:cNvSpPr/>
          <p:nvPr/>
        </p:nvSpPr>
        <p:spPr>
          <a:xfrm>
            <a:off x="0" y="5029200"/>
            <a:ext cx="9144000" cy="109728"/>
          </a:xfrm>
          <a:prstGeom prst="rect">
            <a:avLst/>
          </a:prstGeom>
          <a:solidFill>
            <a:srgbClr val="5AA8D8"/>
          </a:solidFill>
          <a:ln w="12700">
            <a:solidFill>
              <a:srgbClr val="5AA8D8"/>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2766</Words>
  <Application>Microsoft Office PowerPoint</Application>
  <PresentationFormat>Presentación en pantalla (16:9)</PresentationFormat>
  <Paragraphs>279</Paragraphs>
  <Slides>20</Slides>
  <Notes>20</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20</vt:i4>
      </vt:variant>
    </vt:vector>
  </HeadingPairs>
  <TitlesOfParts>
    <vt:vector size="22"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SP6/H3 - Capas de Transporte y Aplicación</dc:title>
  <dc:subject>PptxGenJS Presentation</dc:subject>
  <dc:creator>PptxGenJS</dc:creator>
  <cp:lastModifiedBy>user</cp:lastModifiedBy>
  <cp:revision>2</cp:revision>
  <dcterms:created xsi:type="dcterms:W3CDTF">2026-05-12T22:10:42Z</dcterms:created>
  <dcterms:modified xsi:type="dcterms:W3CDTF">2026-05-14T08:29:57Z</dcterms:modified>
</cp:coreProperties>
</file>