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4586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457200" y="201168"/>
            <a:ext cx="3474720" cy="41148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457200" y="201168"/>
            <a:ext cx="3474720" cy="411480"/>
          </a:xfrm>
          <a:prstGeom prst="rect">
            <a:avLst/>
          </a:prstGeom>
          <a:noFill/>
          <a:ln/>
        </p:spPr>
        <p:txBody>
          <a:bodyPr wrap="square" rtlCol="0" anchor="ctr"/>
          <a:lstStyle/>
          <a:p>
            <a:pPr marL="0" indent="0" algn="ctr">
              <a:buNone/>
            </a:pPr>
            <a:r>
              <a:rPr lang="en-US" sz="1200" b="1" dirty="0">
                <a:solidFill>
                  <a:srgbClr val="FFFFFF"/>
                </a:solidFill>
              </a:rPr>
              <a:t>Redes y Comunicaciones</a:t>
            </a:r>
            <a:endParaRPr lang="en-US" sz="1200" dirty="0"/>
          </a:p>
        </p:txBody>
      </p:sp>
      <p:sp>
        <p:nvSpPr>
          <p:cNvPr id="5" name="Shape 3"/>
          <p:cNvSpPr/>
          <p:nvPr/>
        </p:nvSpPr>
        <p:spPr>
          <a:xfrm>
            <a:off x="4114800" y="201168"/>
            <a:ext cx="1828800" cy="411480"/>
          </a:xfrm>
          <a:prstGeom prst="rect">
            <a:avLst/>
          </a:prstGeom>
          <a:solidFill>
            <a:srgbClr val="3A7BAA"/>
          </a:solidFill>
          <a:ln w="12700">
            <a:solidFill>
              <a:srgbClr val="5AA8D8"/>
            </a:solidFill>
            <a:prstDash val="solid"/>
          </a:ln>
        </p:spPr>
        <p:txBody>
          <a:bodyPr/>
          <a:lstStyle/>
          <a:p>
            <a:endParaRPr lang="en-US"/>
          </a:p>
        </p:txBody>
      </p:sp>
      <p:sp>
        <p:nvSpPr>
          <p:cNvPr id="6" name="Text 4"/>
          <p:cNvSpPr/>
          <p:nvPr/>
        </p:nvSpPr>
        <p:spPr>
          <a:xfrm>
            <a:off x="4114800" y="201168"/>
            <a:ext cx="1828800" cy="411480"/>
          </a:xfrm>
          <a:prstGeom prst="rect">
            <a:avLst/>
          </a:prstGeom>
          <a:noFill/>
          <a:ln/>
        </p:spPr>
        <p:txBody>
          <a:bodyPr wrap="square" rtlCol="0" anchor="ctr"/>
          <a:lstStyle/>
          <a:p>
            <a:pPr marL="0" indent="0" algn="ctr">
              <a:buNone/>
            </a:pPr>
            <a:r>
              <a:rPr lang="en-US" sz="1200" b="1" dirty="0">
                <a:solidFill>
                  <a:srgbClr val="FFFFFF"/>
                </a:solidFill>
              </a:rPr>
              <a:t>SP6 / H4</a:t>
            </a:r>
            <a:endParaRPr lang="en-US" sz="1200" dirty="0"/>
          </a:p>
        </p:txBody>
      </p:sp>
      <p:sp>
        <p:nvSpPr>
          <p:cNvPr id="7" name="Text 5"/>
          <p:cNvSpPr/>
          <p:nvPr/>
        </p:nvSpPr>
        <p:spPr>
          <a:xfrm>
            <a:off x="457200" y="914400"/>
            <a:ext cx="8229600" cy="1280160"/>
          </a:xfrm>
          <a:prstGeom prst="rect">
            <a:avLst/>
          </a:prstGeom>
          <a:noFill/>
          <a:ln/>
        </p:spPr>
        <p:txBody>
          <a:bodyPr wrap="square"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MTU y Fragmentación</a:t>
            </a:r>
            <a:endParaRPr lang="en-US" sz="4400" dirty="0"/>
          </a:p>
        </p:txBody>
      </p:sp>
      <p:sp>
        <p:nvSpPr>
          <p:cNvPr id="8" name="Text 6"/>
          <p:cNvSpPr/>
          <p:nvPr/>
        </p:nvSpPr>
        <p:spPr>
          <a:xfrm>
            <a:off x="457200" y="2286000"/>
            <a:ext cx="8229600" cy="457200"/>
          </a:xfrm>
          <a:prstGeom prst="rect">
            <a:avLst/>
          </a:prstGeom>
          <a:noFill/>
          <a:ln/>
        </p:spPr>
        <p:txBody>
          <a:bodyPr wrap="square" rtlCol="0" anchor="ctr"/>
          <a:lstStyle/>
          <a:p>
            <a:pPr marL="0" indent="0" algn="ctr">
              <a:buNone/>
            </a:pPr>
            <a:r>
              <a:rPr lang="en-US" sz="1500" i="1" dirty="0">
                <a:solidFill>
                  <a:srgbClr val="5AA8D8"/>
                </a:solidFill>
              </a:rPr>
              <a:t>Máxima Unidad de Transferencia — Cómo Internet cruza redes de distinto tamaño</a:t>
            </a:r>
            <a:endParaRPr lang="en-US" sz="1500" dirty="0"/>
          </a:p>
        </p:txBody>
      </p:sp>
      <p:sp>
        <p:nvSpPr>
          <p:cNvPr id="9" name="Shape 7"/>
          <p:cNvSpPr/>
          <p:nvPr/>
        </p:nvSpPr>
        <p:spPr>
          <a:xfrm>
            <a:off x="2286000" y="2834640"/>
            <a:ext cx="4572000" cy="54864"/>
          </a:xfrm>
          <a:prstGeom prst="rect">
            <a:avLst/>
          </a:prstGeom>
          <a:solidFill>
            <a:srgbClr val="5AA8D8"/>
          </a:solidFill>
          <a:ln w="12700">
            <a:solidFill>
              <a:srgbClr val="5AA8D8"/>
            </a:solidFill>
            <a:prstDash val="solid"/>
          </a:ln>
        </p:spPr>
        <p:txBody>
          <a:bodyPr/>
          <a:lstStyle/>
          <a:p>
            <a:endParaRPr lang="en-US"/>
          </a:p>
        </p:txBody>
      </p:sp>
      <p:sp>
        <p:nvSpPr>
          <p:cNvPr id="10" name="Shape 8"/>
          <p:cNvSpPr/>
          <p:nvPr/>
        </p:nvSpPr>
        <p:spPr>
          <a:xfrm>
            <a:off x="731520" y="3017520"/>
            <a:ext cx="1828800" cy="1097280"/>
          </a:xfrm>
          <a:prstGeom prst="ellipse">
            <a:avLst/>
          </a:prstGeom>
          <a:solidFill>
            <a:srgbClr val="3A7BAA"/>
          </a:solidFill>
          <a:ln w="19050">
            <a:solidFill>
              <a:srgbClr val="FFFFFF"/>
            </a:solidFill>
            <a:prstDash val="solid"/>
          </a:ln>
        </p:spPr>
        <p:txBody>
          <a:bodyPr/>
          <a:lstStyle/>
          <a:p>
            <a:endParaRPr lang="en-US"/>
          </a:p>
        </p:txBody>
      </p:sp>
      <p:sp>
        <p:nvSpPr>
          <p:cNvPr id="11" name="Text 9"/>
          <p:cNvSpPr/>
          <p:nvPr/>
        </p:nvSpPr>
        <p:spPr>
          <a:xfrm>
            <a:off x="731520" y="3017520"/>
            <a:ext cx="1828800" cy="1097280"/>
          </a:xfrm>
          <a:prstGeom prst="rect">
            <a:avLst/>
          </a:prstGeom>
          <a:noFill/>
          <a:ln/>
        </p:spPr>
        <p:txBody>
          <a:bodyPr wrap="square" rtlCol="0" anchor="ctr"/>
          <a:lstStyle/>
          <a:p>
            <a:pPr marL="0" indent="0" algn="ctr">
              <a:buNone/>
            </a:pPr>
            <a:r>
              <a:rPr lang="en-US" sz="950" b="1" dirty="0">
                <a:solidFill>
                  <a:srgbClr val="FFFFFF"/>
                </a:solidFill>
              </a:rPr>
              <a:t>Red 1</a:t>
            </a:r>
            <a:endParaRPr lang="en-US" sz="950" dirty="0"/>
          </a:p>
          <a:p>
            <a:pPr marL="0" indent="0" algn="ctr">
              <a:buNone/>
            </a:pPr>
            <a:r>
              <a:rPr lang="en-US" sz="950" b="1" dirty="0">
                <a:solidFill>
                  <a:srgbClr val="FFFFFF"/>
                </a:solidFill>
              </a:rPr>
              <a:t>MTU: 1500 B</a:t>
            </a:r>
            <a:endParaRPr lang="en-US" sz="950" dirty="0"/>
          </a:p>
        </p:txBody>
      </p:sp>
      <p:sp>
        <p:nvSpPr>
          <p:cNvPr id="12" name="Shape 10"/>
          <p:cNvSpPr/>
          <p:nvPr/>
        </p:nvSpPr>
        <p:spPr>
          <a:xfrm>
            <a:off x="3566160" y="3017520"/>
            <a:ext cx="1828800" cy="1097280"/>
          </a:xfrm>
          <a:prstGeom prst="ellipse">
            <a:avLst/>
          </a:prstGeom>
          <a:solidFill>
            <a:srgbClr val="C0392B"/>
          </a:solidFill>
          <a:ln w="19050">
            <a:solidFill>
              <a:srgbClr val="FFFFFF"/>
            </a:solidFill>
            <a:prstDash val="solid"/>
          </a:ln>
        </p:spPr>
        <p:txBody>
          <a:bodyPr/>
          <a:lstStyle/>
          <a:p>
            <a:endParaRPr lang="en-US"/>
          </a:p>
        </p:txBody>
      </p:sp>
      <p:sp>
        <p:nvSpPr>
          <p:cNvPr id="13" name="Text 11"/>
          <p:cNvSpPr/>
          <p:nvPr/>
        </p:nvSpPr>
        <p:spPr>
          <a:xfrm>
            <a:off x="3566160" y="3017520"/>
            <a:ext cx="1828800" cy="1097280"/>
          </a:xfrm>
          <a:prstGeom prst="rect">
            <a:avLst/>
          </a:prstGeom>
          <a:noFill/>
          <a:ln/>
        </p:spPr>
        <p:txBody>
          <a:bodyPr wrap="square" rtlCol="0" anchor="ctr"/>
          <a:lstStyle/>
          <a:p>
            <a:pPr marL="0" indent="0" algn="ctr">
              <a:buNone/>
            </a:pPr>
            <a:r>
              <a:rPr lang="en-US" sz="950" b="1" dirty="0">
                <a:solidFill>
                  <a:srgbClr val="FFFFFF"/>
                </a:solidFill>
              </a:rPr>
              <a:t>Red 2</a:t>
            </a:r>
            <a:endParaRPr lang="en-US" sz="950" dirty="0"/>
          </a:p>
          <a:p>
            <a:pPr marL="0" indent="0" algn="ctr">
              <a:buNone/>
            </a:pPr>
            <a:r>
              <a:rPr lang="en-US" sz="950" b="1" dirty="0">
                <a:solidFill>
                  <a:srgbClr val="FFFFFF"/>
                </a:solidFill>
              </a:rPr>
              <a:t>MTU: 620 B</a:t>
            </a:r>
            <a:endParaRPr lang="en-US" sz="950" dirty="0"/>
          </a:p>
        </p:txBody>
      </p:sp>
      <p:sp>
        <p:nvSpPr>
          <p:cNvPr id="14" name="Shape 12"/>
          <p:cNvSpPr/>
          <p:nvPr/>
        </p:nvSpPr>
        <p:spPr>
          <a:xfrm>
            <a:off x="6400800" y="3017520"/>
            <a:ext cx="1828800" cy="1097280"/>
          </a:xfrm>
          <a:prstGeom prst="ellipse">
            <a:avLst/>
          </a:prstGeom>
          <a:solidFill>
            <a:srgbClr val="3A7BAA"/>
          </a:solidFill>
          <a:ln w="19050">
            <a:solidFill>
              <a:srgbClr val="FFFFFF"/>
            </a:solidFill>
            <a:prstDash val="solid"/>
          </a:ln>
        </p:spPr>
        <p:txBody>
          <a:bodyPr/>
          <a:lstStyle/>
          <a:p>
            <a:endParaRPr lang="en-US"/>
          </a:p>
        </p:txBody>
      </p:sp>
      <p:sp>
        <p:nvSpPr>
          <p:cNvPr id="15" name="Text 13"/>
          <p:cNvSpPr/>
          <p:nvPr/>
        </p:nvSpPr>
        <p:spPr>
          <a:xfrm>
            <a:off x="6400800" y="3017520"/>
            <a:ext cx="1828800" cy="1097280"/>
          </a:xfrm>
          <a:prstGeom prst="rect">
            <a:avLst/>
          </a:prstGeom>
          <a:noFill/>
          <a:ln/>
        </p:spPr>
        <p:txBody>
          <a:bodyPr wrap="square" rtlCol="0" anchor="ctr"/>
          <a:lstStyle/>
          <a:p>
            <a:pPr marL="0" indent="0" algn="ctr">
              <a:buNone/>
            </a:pPr>
            <a:r>
              <a:rPr lang="en-US" sz="950" b="1" dirty="0">
                <a:solidFill>
                  <a:srgbClr val="FFFFFF"/>
                </a:solidFill>
              </a:rPr>
              <a:t>Red 3</a:t>
            </a:r>
            <a:endParaRPr lang="en-US" sz="950" dirty="0"/>
          </a:p>
          <a:p>
            <a:pPr marL="0" indent="0" algn="ctr">
              <a:buNone/>
            </a:pPr>
            <a:r>
              <a:rPr lang="en-US" sz="950" b="1" dirty="0">
                <a:solidFill>
                  <a:srgbClr val="FFFFFF"/>
                </a:solidFill>
              </a:rPr>
              <a:t>MTU: 1500 B</a:t>
            </a:r>
            <a:endParaRPr lang="en-US" sz="950" dirty="0"/>
          </a:p>
        </p:txBody>
      </p:sp>
      <p:sp>
        <p:nvSpPr>
          <p:cNvPr id="16" name="Text 14"/>
          <p:cNvSpPr/>
          <p:nvPr/>
        </p:nvSpPr>
        <p:spPr>
          <a:xfrm>
            <a:off x="2606040" y="3429000"/>
            <a:ext cx="914400" cy="320040"/>
          </a:xfrm>
          <a:prstGeom prst="rect">
            <a:avLst/>
          </a:prstGeom>
          <a:noFill/>
          <a:ln/>
        </p:spPr>
        <p:txBody>
          <a:bodyPr wrap="square" rtlCol="0" anchor="ctr"/>
          <a:lstStyle/>
          <a:p>
            <a:pPr marL="0" indent="0" algn="ctr">
              <a:buNone/>
            </a:pPr>
            <a:r>
              <a:rPr lang="en-US" sz="850" dirty="0">
                <a:solidFill>
                  <a:srgbClr val="808080"/>
                </a:solidFill>
              </a:rPr>
              <a:t>Router 1 →</a:t>
            </a:r>
            <a:endParaRPr lang="en-US" sz="850" dirty="0"/>
          </a:p>
        </p:txBody>
      </p:sp>
      <p:sp>
        <p:nvSpPr>
          <p:cNvPr id="17" name="Text 15"/>
          <p:cNvSpPr/>
          <p:nvPr/>
        </p:nvSpPr>
        <p:spPr>
          <a:xfrm>
            <a:off x="5532120" y="3429000"/>
            <a:ext cx="914400" cy="320040"/>
          </a:xfrm>
          <a:prstGeom prst="rect">
            <a:avLst/>
          </a:prstGeom>
          <a:noFill/>
          <a:ln/>
        </p:spPr>
        <p:txBody>
          <a:bodyPr wrap="square" rtlCol="0" anchor="ctr"/>
          <a:lstStyle/>
          <a:p>
            <a:pPr marL="0" indent="0" algn="ctr">
              <a:buNone/>
            </a:pPr>
            <a:r>
              <a:rPr lang="en-US" sz="850" dirty="0">
                <a:solidFill>
                  <a:srgbClr val="808080"/>
                </a:solidFill>
              </a:rPr>
              <a:t>← Router 2</a:t>
            </a:r>
            <a:endParaRPr lang="en-US" sz="850" dirty="0"/>
          </a:p>
        </p:txBody>
      </p:sp>
      <p:sp>
        <p:nvSpPr>
          <p:cNvPr id="18" name="Text 16"/>
          <p:cNvSpPr/>
          <p:nvPr/>
        </p:nvSpPr>
        <p:spPr>
          <a:xfrm>
            <a:off x="457200" y="4480560"/>
            <a:ext cx="8229600" cy="32004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19" name="Shape 17"/>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MTU — Máxima Unidad de Transferencia</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Maximum Transmission Unit: el límite de tamaño de cada red</a:t>
            </a:r>
            <a:endParaRPr lang="en-US" sz="1300" dirty="0"/>
          </a:p>
        </p:txBody>
      </p:sp>
      <p:sp>
        <p:nvSpPr>
          <p:cNvPr id="6" name="Text 4"/>
          <p:cNvSpPr/>
          <p:nvPr/>
        </p:nvSpPr>
        <p:spPr>
          <a:xfrm>
            <a:off x="274320" y="1143000"/>
            <a:ext cx="5029200" cy="2011680"/>
          </a:xfrm>
          <a:prstGeom prst="rect">
            <a:avLst/>
          </a:prstGeom>
          <a:noFill/>
          <a:ln/>
        </p:spPr>
        <p:txBody>
          <a:bodyPr wrap="square" lIns="101600" tIns="101600" rIns="101600" bIns="101600" rtlCol="0" anchor="ctr"/>
          <a:lstStyle/>
          <a:p>
            <a:pPr marL="0" indent="0">
              <a:buNone/>
            </a:pPr>
            <a:r>
              <a:rPr lang="en-US" sz="1300" b="1" dirty="0">
                <a:solidFill>
                  <a:srgbClr val="2D3030"/>
                </a:solidFill>
              </a:rPr>
              <a:t>El problema de las redes heterogéneas
</a:t>
            </a:r>
            <a:r>
              <a:rPr lang="en-US" sz="1100" dirty="0">
                <a:solidFill>
                  <a:srgbClr val="404040"/>
                </a:solidFill>
              </a:rPr>
              <a:t>Un datagrama IP debe ir encapsulado dentro de una trama. Esto significa que su tamaño no puede superar el MTU de la red que lo transporta.
El problema surge porque un envío puede cruzar </a:t>
            </a:r>
            <a:r>
              <a:rPr lang="en-US" sz="1100" b="1" dirty="0">
                <a:solidFill>
                  <a:srgbClr val="5AA8D8"/>
                </a:solidFill>
              </a:rPr>
              <a:t>varias redes con MTU distintos</a:t>
            </a:r>
            <a:r>
              <a:rPr lang="en-US" sz="1100" dirty="0">
                <a:solidFill>
                  <a:srgbClr val="404040"/>
                </a:solidFill>
              </a:rPr>
              <a:t>. Un datagrama IP puede tener hasta 65.536 Bytes, pero Ethernet solo acepta 1.500 Bytes.</a:t>
            </a:r>
            <a:endParaRPr lang="en-US" sz="1300" dirty="0"/>
          </a:p>
        </p:txBody>
      </p:sp>
      <p:sp>
        <p:nvSpPr>
          <p:cNvPr id="7" name="Shape 5"/>
          <p:cNvSpPr/>
          <p:nvPr/>
        </p:nvSpPr>
        <p:spPr>
          <a:xfrm>
            <a:off x="5303520" y="1097280"/>
            <a:ext cx="3474720" cy="384048"/>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5303520" y="1097280"/>
            <a:ext cx="2011680" cy="384048"/>
          </a:xfrm>
          <a:prstGeom prst="rect">
            <a:avLst/>
          </a:prstGeom>
          <a:noFill/>
          <a:ln/>
        </p:spPr>
        <p:txBody>
          <a:bodyPr wrap="square" rtlCol="0" anchor="ctr"/>
          <a:lstStyle/>
          <a:p>
            <a:pPr marL="0" indent="0" algn="ctr">
              <a:buNone/>
            </a:pPr>
            <a:r>
              <a:rPr lang="en-US" sz="1100" b="1" dirty="0">
                <a:solidFill>
                  <a:srgbClr val="FFFFFF"/>
                </a:solidFill>
              </a:rPr>
              <a:t>Tipo de Red</a:t>
            </a:r>
            <a:endParaRPr lang="en-US" sz="1100" dirty="0"/>
          </a:p>
        </p:txBody>
      </p:sp>
      <p:sp>
        <p:nvSpPr>
          <p:cNvPr id="9" name="Text 7"/>
          <p:cNvSpPr/>
          <p:nvPr/>
        </p:nvSpPr>
        <p:spPr>
          <a:xfrm>
            <a:off x="7315200" y="1097280"/>
            <a:ext cx="1463040" cy="384048"/>
          </a:xfrm>
          <a:prstGeom prst="rect">
            <a:avLst/>
          </a:prstGeom>
          <a:noFill/>
          <a:ln/>
        </p:spPr>
        <p:txBody>
          <a:bodyPr wrap="square" rtlCol="0" anchor="ctr"/>
          <a:lstStyle/>
          <a:p>
            <a:pPr marL="0" indent="0" algn="ctr">
              <a:buNone/>
            </a:pPr>
            <a:r>
              <a:rPr lang="en-US" sz="1100" b="1" dirty="0">
                <a:solidFill>
                  <a:srgbClr val="FFFFFF"/>
                </a:solidFill>
              </a:rPr>
              <a:t>MTU</a:t>
            </a:r>
            <a:endParaRPr lang="en-US" sz="1100" dirty="0"/>
          </a:p>
        </p:txBody>
      </p:sp>
      <p:sp>
        <p:nvSpPr>
          <p:cNvPr id="10" name="Shape 8"/>
          <p:cNvSpPr/>
          <p:nvPr/>
        </p:nvSpPr>
        <p:spPr>
          <a:xfrm>
            <a:off x="5303520" y="1481328"/>
            <a:ext cx="2011680" cy="365760"/>
          </a:xfrm>
          <a:prstGeom prst="rect">
            <a:avLst/>
          </a:prstGeom>
          <a:solidFill>
            <a:srgbClr val="F0F7FC"/>
          </a:solidFill>
          <a:ln w="12700">
            <a:solidFill>
              <a:srgbClr val="BBCCDD"/>
            </a:solidFill>
            <a:prstDash val="solid"/>
          </a:ln>
        </p:spPr>
        <p:txBody>
          <a:bodyPr/>
          <a:lstStyle/>
          <a:p>
            <a:endParaRPr lang="en-US"/>
          </a:p>
        </p:txBody>
      </p:sp>
      <p:sp>
        <p:nvSpPr>
          <p:cNvPr id="11" name="Shape 9"/>
          <p:cNvSpPr/>
          <p:nvPr/>
        </p:nvSpPr>
        <p:spPr>
          <a:xfrm>
            <a:off x="7315200" y="1481328"/>
            <a:ext cx="1463040" cy="365760"/>
          </a:xfrm>
          <a:prstGeom prst="rect">
            <a:avLst/>
          </a:prstGeom>
          <a:solidFill>
            <a:srgbClr val="F0F7FC"/>
          </a:solidFill>
          <a:ln w="12700">
            <a:solidFill>
              <a:srgbClr val="BBCCDD"/>
            </a:solidFill>
            <a:prstDash val="solid"/>
          </a:ln>
        </p:spPr>
        <p:txBody>
          <a:bodyPr/>
          <a:lstStyle/>
          <a:p>
            <a:endParaRPr lang="en-US"/>
          </a:p>
        </p:txBody>
      </p:sp>
      <p:sp>
        <p:nvSpPr>
          <p:cNvPr id="12" name="Shape 10"/>
          <p:cNvSpPr/>
          <p:nvPr/>
        </p:nvSpPr>
        <p:spPr>
          <a:xfrm>
            <a:off x="5303520" y="1481328"/>
            <a:ext cx="73152" cy="365760"/>
          </a:xfrm>
          <a:prstGeom prst="rect">
            <a:avLst/>
          </a:prstGeom>
          <a:solidFill>
            <a:srgbClr val="404040"/>
          </a:solidFill>
          <a:ln w="12700">
            <a:solidFill>
              <a:srgbClr val="404040"/>
            </a:solidFill>
            <a:prstDash val="solid"/>
          </a:ln>
        </p:spPr>
        <p:txBody>
          <a:bodyPr/>
          <a:lstStyle/>
          <a:p>
            <a:endParaRPr lang="en-US"/>
          </a:p>
        </p:txBody>
      </p:sp>
      <p:sp>
        <p:nvSpPr>
          <p:cNvPr id="13" name="Text 11"/>
          <p:cNvSpPr/>
          <p:nvPr/>
        </p:nvSpPr>
        <p:spPr>
          <a:xfrm>
            <a:off x="5413248" y="1481328"/>
            <a:ext cx="1883664" cy="365760"/>
          </a:xfrm>
          <a:prstGeom prst="rect">
            <a:avLst/>
          </a:prstGeom>
          <a:noFill/>
          <a:ln/>
        </p:spPr>
        <p:txBody>
          <a:bodyPr wrap="square" rtlCol="0" anchor="ctr"/>
          <a:lstStyle/>
          <a:p>
            <a:pPr marL="0" indent="0">
              <a:buNone/>
            </a:pPr>
            <a:r>
              <a:rPr lang="en-US" sz="950" dirty="0">
                <a:solidFill>
                  <a:srgbClr val="2D3030"/>
                </a:solidFill>
              </a:rPr>
              <a:t>Datagrama IP (máximo)</a:t>
            </a:r>
            <a:endParaRPr lang="en-US" sz="950" dirty="0"/>
          </a:p>
        </p:txBody>
      </p:sp>
      <p:sp>
        <p:nvSpPr>
          <p:cNvPr id="14" name="Text 12"/>
          <p:cNvSpPr/>
          <p:nvPr/>
        </p:nvSpPr>
        <p:spPr>
          <a:xfrm>
            <a:off x="7333488" y="1481328"/>
            <a:ext cx="1426464" cy="365760"/>
          </a:xfrm>
          <a:prstGeom prst="rect">
            <a:avLst/>
          </a:prstGeom>
          <a:noFill/>
          <a:ln/>
        </p:spPr>
        <p:txBody>
          <a:bodyPr wrap="square" rtlCol="0" anchor="ctr"/>
          <a:lstStyle/>
          <a:p>
            <a:pPr marL="0" indent="0">
              <a:buNone/>
            </a:pPr>
            <a:r>
              <a:rPr lang="en-US" sz="950" b="1" dirty="0">
                <a:solidFill>
                  <a:srgbClr val="404040"/>
                </a:solidFill>
              </a:rPr>
              <a:t>65.536 Bytes</a:t>
            </a:r>
            <a:endParaRPr lang="en-US" sz="950" dirty="0"/>
          </a:p>
        </p:txBody>
      </p:sp>
      <p:sp>
        <p:nvSpPr>
          <p:cNvPr id="15" name="Shape 13"/>
          <p:cNvSpPr/>
          <p:nvPr/>
        </p:nvSpPr>
        <p:spPr>
          <a:xfrm>
            <a:off x="5303520" y="1865376"/>
            <a:ext cx="2011680" cy="365760"/>
          </a:xfrm>
          <a:prstGeom prst="rect">
            <a:avLst/>
          </a:prstGeom>
          <a:solidFill>
            <a:srgbClr val="FFFFFF"/>
          </a:solidFill>
          <a:ln w="12700">
            <a:solidFill>
              <a:srgbClr val="BBCCDD"/>
            </a:solidFill>
            <a:prstDash val="solid"/>
          </a:ln>
        </p:spPr>
        <p:txBody>
          <a:bodyPr/>
          <a:lstStyle/>
          <a:p>
            <a:endParaRPr lang="en-US"/>
          </a:p>
        </p:txBody>
      </p:sp>
      <p:sp>
        <p:nvSpPr>
          <p:cNvPr id="16" name="Shape 14"/>
          <p:cNvSpPr/>
          <p:nvPr/>
        </p:nvSpPr>
        <p:spPr>
          <a:xfrm>
            <a:off x="7315200" y="1865376"/>
            <a:ext cx="1463040" cy="365760"/>
          </a:xfrm>
          <a:prstGeom prst="rect">
            <a:avLst/>
          </a:prstGeom>
          <a:solidFill>
            <a:srgbClr val="FFFFFF"/>
          </a:solidFill>
          <a:ln w="12700">
            <a:solidFill>
              <a:srgbClr val="BBCCDD"/>
            </a:solidFill>
            <a:prstDash val="solid"/>
          </a:ln>
        </p:spPr>
        <p:txBody>
          <a:bodyPr/>
          <a:lstStyle/>
          <a:p>
            <a:endParaRPr lang="en-US"/>
          </a:p>
        </p:txBody>
      </p:sp>
      <p:sp>
        <p:nvSpPr>
          <p:cNvPr id="17" name="Shape 15"/>
          <p:cNvSpPr/>
          <p:nvPr/>
        </p:nvSpPr>
        <p:spPr>
          <a:xfrm>
            <a:off x="5303520" y="1865376"/>
            <a:ext cx="73152" cy="365760"/>
          </a:xfrm>
          <a:prstGeom prst="rect">
            <a:avLst/>
          </a:prstGeom>
          <a:solidFill>
            <a:srgbClr val="5A7A3A"/>
          </a:solidFill>
          <a:ln w="12700">
            <a:solidFill>
              <a:srgbClr val="5A7A3A"/>
            </a:solidFill>
            <a:prstDash val="solid"/>
          </a:ln>
        </p:spPr>
        <p:txBody>
          <a:bodyPr/>
          <a:lstStyle/>
          <a:p>
            <a:endParaRPr lang="en-US"/>
          </a:p>
        </p:txBody>
      </p:sp>
      <p:sp>
        <p:nvSpPr>
          <p:cNvPr id="18" name="Text 16"/>
          <p:cNvSpPr/>
          <p:nvPr/>
        </p:nvSpPr>
        <p:spPr>
          <a:xfrm>
            <a:off x="5413248" y="1865376"/>
            <a:ext cx="1883664" cy="365760"/>
          </a:xfrm>
          <a:prstGeom prst="rect">
            <a:avLst/>
          </a:prstGeom>
          <a:noFill/>
          <a:ln/>
        </p:spPr>
        <p:txBody>
          <a:bodyPr wrap="square" rtlCol="0" anchor="ctr"/>
          <a:lstStyle/>
          <a:p>
            <a:pPr marL="0" indent="0">
              <a:buNone/>
            </a:pPr>
            <a:r>
              <a:rPr lang="en-US" sz="950" dirty="0">
                <a:solidFill>
                  <a:srgbClr val="2D3030"/>
                </a:solidFill>
              </a:rPr>
              <a:t>Red FDDI (fibra óptica)</a:t>
            </a:r>
            <a:endParaRPr lang="en-US" sz="950" dirty="0"/>
          </a:p>
        </p:txBody>
      </p:sp>
      <p:sp>
        <p:nvSpPr>
          <p:cNvPr id="19" name="Text 17"/>
          <p:cNvSpPr/>
          <p:nvPr/>
        </p:nvSpPr>
        <p:spPr>
          <a:xfrm>
            <a:off x="7333488" y="1865376"/>
            <a:ext cx="1426464" cy="365760"/>
          </a:xfrm>
          <a:prstGeom prst="rect">
            <a:avLst/>
          </a:prstGeom>
          <a:noFill/>
          <a:ln/>
        </p:spPr>
        <p:txBody>
          <a:bodyPr wrap="square" rtlCol="0" anchor="ctr"/>
          <a:lstStyle/>
          <a:p>
            <a:pPr marL="0" indent="0">
              <a:buNone/>
            </a:pPr>
            <a:r>
              <a:rPr lang="en-US" sz="950" b="1" dirty="0">
                <a:solidFill>
                  <a:srgbClr val="5A7A3A"/>
                </a:solidFill>
              </a:rPr>
              <a:t>≈ 4.470 Bytes</a:t>
            </a:r>
            <a:endParaRPr lang="en-US" sz="950" dirty="0"/>
          </a:p>
        </p:txBody>
      </p:sp>
      <p:sp>
        <p:nvSpPr>
          <p:cNvPr id="20" name="Shape 18"/>
          <p:cNvSpPr/>
          <p:nvPr/>
        </p:nvSpPr>
        <p:spPr>
          <a:xfrm>
            <a:off x="5303520" y="2249424"/>
            <a:ext cx="2011680" cy="365760"/>
          </a:xfrm>
          <a:prstGeom prst="rect">
            <a:avLst/>
          </a:prstGeom>
          <a:solidFill>
            <a:srgbClr val="F0F7FC"/>
          </a:solidFill>
          <a:ln w="12700">
            <a:solidFill>
              <a:srgbClr val="BBCCDD"/>
            </a:solidFill>
            <a:prstDash val="solid"/>
          </a:ln>
        </p:spPr>
        <p:txBody>
          <a:bodyPr/>
          <a:lstStyle/>
          <a:p>
            <a:endParaRPr lang="en-US"/>
          </a:p>
        </p:txBody>
      </p:sp>
      <p:sp>
        <p:nvSpPr>
          <p:cNvPr id="21" name="Shape 19"/>
          <p:cNvSpPr/>
          <p:nvPr/>
        </p:nvSpPr>
        <p:spPr>
          <a:xfrm>
            <a:off x="7315200" y="2249424"/>
            <a:ext cx="1463040" cy="365760"/>
          </a:xfrm>
          <a:prstGeom prst="rect">
            <a:avLst/>
          </a:prstGeom>
          <a:solidFill>
            <a:srgbClr val="F0F7FC"/>
          </a:solidFill>
          <a:ln w="12700">
            <a:solidFill>
              <a:srgbClr val="BBCCDD"/>
            </a:solidFill>
            <a:prstDash val="solid"/>
          </a:ln>
        </p:spPr>
        <p:txBody>
          <a:bodyPr/>
          <a:lstStyle/>
          <a:p>
            <a:endParaRPr lang="en-US"/>
          </a:p>
        </p:txBody>
      </p:sp>
      <p:sp>
        <p:nvSpPr>
          <p:cNvPr id="22" name="Shape 20"/>
          <p:cNvSpPr/>
          <p:nvPr/>
        </p:nvSpPr>
        <p:spPr>
          <a:xfrm>
            <a:off x="5303520" y="2249424"/>
            <a:ext cx="73152" cy="365760"/>
          </a:xfrm>
          <a:prstGeom prst="rect">
            <a:avLst/>
          </a:prstGeom>
          <a:solidFill>
            <a:srgbClr val="5AA8D8"/>
          </a:solidFill>
          <a:ln w="12700">
            <a:solidFill>
              <a:srgbClr val="5AA8D8"/>
            </a:solidFill>
            <a:prstDash val="solid"/>
          </a:ln>
        </p:spPr>
        <p:txBody>
          <a:bodyPr/>
          <a:lstStyle/>
          <a:p>
            <a:endParaRPr lang="en-US"/>
          </a:p>
        </p:txBody>
      </p:sp>
      <p:sp>
        <p:nvSpPr>
          <p:cNvPr id="23" name="Text 21"/>
          <p:cNvSpPr/>
          <p:nvPr/>
        </p:nvSpPr>
        <p:spPr>
          <a:xfrm>
            <a:off x="5413248" y="2249424"/>
            <a:ext cx="1883664" cy="365760"/>
          </a:xfrm>
          <a:prstGeom prst="rect">
            <a:avLst/>
          </a:prstGeom>
          <a:noFill/>
          <a:ln/>
        </p:spPr>
        <p:txBody>
          <a:bodyPr wrap="square" rtlCol="0" anchor="ctr"/>
          <a:lstStyle/>
          <a:p>
            <a:pPr marL="0" indent="0">
              <a:buNone/>
            </a:pPr>
            <a:r>
              <a:rPr lang="en-US" sz="950" dirty="0">
                <a:solidFill>
                  <a:srgbClr val="2D3030"/>
                </a:solidFill>
              </a:rPr>
              <a:t>Red Ethernet (LAN)</a:t>
            </a:r>
            <a:endParaRPr lang="en-US" sz="950" dirty="0"/>
          </a:p>
        </p:txBody>
      </p:sp>
      <p:sp>
        <p:nvSpPr>
          <p:cNvPr id="24" name="Text 22"/>
          <p:cNvSpPr/>
          <p:nvPr/>
        </p:nvSpPr>
        <p:spPr>
          <a:xfrm>
            <a:off x="7333488" y="2249424"/>
            <a:ext cx="1426464" cy="365760"/>
          </a:xfrm>
          <a:prstGeom prst="rect">
            <a:avLst/>
          </a:prstGeom>
          <a:noFill/>
          <a:ln/>
        </p:spPr>
        <p:txBody>
          <a:bodyPr wrap="square" rtlCol="0" anchor="ctr"/>
          <a:lstStyle/>
          <a:p>
            <a:pPr marL="0" indent="0">
              <a:buNone/>
            </a:pPr>
            <a:r>
              <a:rPr lang="en-US" sz="950" b="1" dirty="0">
                <a:solidFill>
                  <a:srgbClr val="5AA8D8"/>
                </a:solidFill>
              </a:rPr>
              <a:t>1.500 Bytes</a:t>
            </a:r>
            <a:endParaRPr lang="en-US" sz="950" dirty="0"/>
          </a:p>
        </p:txBody>
      </p:sp>
      <p:sp>
        <p:nvSpPr>
          <p:cNvPr id="25" name="Shape 23"/>
          <p:cNvSpPr/>
          <p:nvPr/>
        </p:nvSpPr>
        <p:spPr>
          <a:xfrm>
            <a:off x="5303520" y="2633472"/>
            <a:ext cx="2011680" cy="365760"/>
          </a:xfrm>
          <a:prstGeom prst="rect">
            <a:avLst/>
          </a:prstGeom>
          <a:solidFill>
            <a:srgbClr val="FFFFFF"/>
          </a:solidFill>
          <a:ln w="12700">
            <a:solidFill>
              <a:srgbClr val="BBCCDD"/>
            </a:solidFill>
            <a:prstDash val="solid"/>
          </a:ln>
        </p:spPr>
        <p:txBody>
          <a:bodyPr/>
          <a:lstStyle/>
          <a:p>
            <a:endParaRPr lang="en-US"/>
          </a:p>
        </p:txBody>
      </p:sp>
      <p:sp>
        <p:nvSpPr>
          <p:cNvPr id="26" name="Shape 24"/>
          <p:cNvSpPr/>
          <p:nvPr/>
        </p:nvSpPr>
        <p:spPr>
          <a:xfrm>
            <a:off x="7315200" y="2633472"/>
            <a:ext cx="1463040" cy="365760"/>
          </a:xfrm>
          <a:prstGeom prst="rect">
            <a:avLst/>
          </a:prstGeom>
          <a:solidFill>
            <a:srgbClr val="FFFFFF"/>
          </a:solidFill>
          <a:ln w="12700">
            <a:solidFill>
              <a:srgbClr val="BBCCDD"/>
            </a:solidFill>
            <a:prstDash val="solid"/>
          </a:ln>
        </p:spPr>
        <p:txBody>
          <a:bodyPr/>
          <a:lstStyle/>
          <a:p>
            <a:endParaRPr lang="en-US"/>
          </a:p>
        </p:txBody>
      </p:sp>
      <p:sp>
        <p:nvSpPr>
          <p:cNvPr id="27" name="Shape 25"/>
          <p:cNvSpPr/>
          <p:nvPr/>
        </p:nvSpPr>
        <p:spPr>
          <a:xfrm>
            <a:off x="5303520" y="2633472"/>
            <a:ext cx="73152" cy="365760"/>
          </a:xfrm>
          <a:prstGeom prst="rect">
            <a:avLst/>
          </a:prstGeom>
          <a:solidFill>
            <a:srgbClr val="3A7BAA"/>
          </a:solidFill>
          <a:ln w="12700">
            <a:solidFill>
              <a:srgbClr val="3A7BAA"/>
            </a:solidFill>
            <a:prstDash val="solid"/>
          </a:ln>
        </p:spPr>
        <p:txBody>
          <a:bodyPr/>
          <a:lstStyle/>
          <a:p>
            <a:endParaRPr lang="en-US"/>
          </a:p>
        </p:txBody>
      </p:sp>
      <p:sp>
        <p:nvSpPr>
          <p:cNvPr id="28" name="Text 26"/>
          <p:cNvSpPr/>
          <p:nvPr/>
        </p:nvSpPr>
        <p:spPr>
          <a:xfrm>
            <a:off x="5413248" y="2633472"/>
            <a:ext cx="1883664" cy="365760"/>
          </a:xfrm>
          <a:prstGeom prst="rect">
            <a:avLst/>
          </a:prstGeom>
          <a:noFill/>
          <a:ln/>
        </p:spPr>
        <p:txBody>
          <a:bodyPr wrap="square" rtlCol="0" anchor="ctr"/>
          <a:lstStyle/>
          <a:p>
            <a:pPr marL="0" indent="0">
              <a:buNone/>
            </a:pPr>
            <a:r>
              <a:rPr lang="en-US" sz="950" dirty="0">
                <a:solidFill>
                  <a:srgbClr val="2D3030"/>
                </a:solidFill>
              </a:rPr>
              <a:t>PPPoE (xDSL)</a:t>
            </a:r>
            <a:endParaRPr lang="en-US" sz="950" dirty="0"/>
          </a:p>
        </p:txBody>
      </p:sp>
      <p:sp>
        <p:nvSpPr>
          <p:cNvPr id="29" name="Text 27"/>
          <p:cNvSpPr/>
          <p:nvPr/>
        </p:nvSpPr>
        <p:spPr>
          <a:xfrm>
            <a:off x="7333488" y="2633472"/>
            <a:ext cx="1426464" cy="365760"/>
          </a:xfrm>
          <a:prstGeom prst="rect">
            <a:avLst/>
          </a:prstGeom>
          <a:noFill/>
          <a:ln/>
        </p:spPr>
        <p:txBody>
          <a:bodyPr wrap="square" rtlCol="0" anchor="ctr"/>
          <a:lstStyle/>
          <a:p>
            <a:pPr marL="0" indent="0">
              <a:buNone/>
            </a:pPr>
            <a:r>
              <a:rPr lang="en-US" sz="950" b="1" dirty="0">
                <a:solidFill>
                  <a:srgbClr val="3A7BAA"/>
                </a:solidFill>
              </a:rPr>
              <a:t>1.492 – 1.480 Bytes</a:t>
            </a:r>
            <a:endParaRPr lang="en-US" sz="950" dirty="0"/>
          </a:p>
        </p:txBody>
      </p:sp>
      <p:sp>
        <p:nvSpPr>
          <p:cNvPr id="30" name="Shape 28"/>
          <p:cNvSpPr/>
          <p:nvPr/>
        </p:nvSpPr>
        <p:spPr>
          <a:xfrm>
            <a:off x="5303520" y="3017520"/>
            <a:ext cx="2011680" cy="365760"/>
          </a:xfrm>
          <a:prstGeom prst="rect">
            <a:avLst/>
          </a:prstGeom>
          <a:solidFill>
            <a:srgbClr val="F0F7FC"/>
          </a:solidFill>
          <a:ln w="12700">
            <a:solidFill>
              <a:srgbClr val="BBCCDD"/>
            </a:solidFill>
            <a:prstDash val="solid"/>
          </a:ln>
        </p:spPr>
        <p:txBody>
          <a:bodyPr/>
          <a:lstStyle/>
          <a:p>
            <a:endParaRPr lang="en-US"/>
          </a:p>
        </p:txBody>
      </p:sp>
      <p:sp>
        <p:nvSpPr>
          <p:cNvPr id="31" name="Shape 29"/>
          <p:cNvSpPr/>
          <p:nvPr/>
        </p:nvSpPr>
        <p:spPr>
          <a:xfrm>
            <a:off x="7315200" y="3017520"/>
            <a:ext cx="1463040" cy="365760"/>
          </a:xfrm>
          <a:prstGeom prst="rect">
            <a:avLst/>
          </a:prstGeom>
          <a:solidFill>
            <a:srgbClr val="F0F7FC"/>
          </a:solidFill>
          <a:ln w="12700">
            <a:solidFill>
              <a:srgbClr val="BBCCDD"/>
            </a:solidFill>
            <a:prstDash val="solid"/>
          </a:ln>
        </p:spPr>
        <p:txBody>
          <a:bodyPr/>
          <a:lstStyle/>
          <a:p>
            <a:endParaRPr lang="en-US"/>
          </a:p>
        </p:txBody>
      </p:sp>
      <p:sp>
        <p:nvSpPr>
          <p:cNvPr id="32" name="Shape 30"/>
          <p:cNvSpPr/>
          <p:nvPr/>
        </p:nvSpPr>
        <p:spPr>
          <a:xfrm>
            <a:off x="5303520" y="3017520"/>
            <a:ext cx="73152" cy="365760"/>
          </a:xfrm>
          <a:prstGeom prst="rect">
            <a:avLst/>
          </a:prstGeom>
          <a:solidFill>
            <a:srgbClr val="C06000"/>
          </a:solidFill>
          <a:ln w="12700">
            <a:solidFill>
              <a:srgbClr val="C06000"/>
            </a:solidFill>
            <a:prstDash val="solid"/>
          </a:ln>
        </p:spPr>
        <p:txBody>
          <a:bodyPr/>
          <a:lstStyle/>
          <a:p>
            <a:endParaRPr lang="en-US"/>
          </a:p>
        </p:txBody>
      </p:sp>
      <p:sp>
        <p:nvSpPr>
          <p:cNvPr id="33" name="Text 31"/>
          <p:cNvSpPr/>
          <p:nvPr/>
        </p:nvSpPr>
        <p:spPr>
          <a:xfrm>
            <a:off x="5413248" y="3017520"/>
            <a:ext cx="1883664" cy="365760"/>
          </a:xfrm>
          <a:prstGeom prst="rect">
            <a:avLst/>
          </a:prstGeom>
          <a:noFill/>
          <a:ln/>
        </p:spPr>
        <p:txBody>
          <a:bodyPr wrap="square" rtlCol="0" anchor="ctr"/>
          <a:lstStyle/>
          <a:p>
            <a:pPr marL="0" indent="0">
              <a:buNone/>
            </a:pPr>
            <a:r>
              <a:rPr lang="en-US" sz="950" dirty="0">
                <a:solidFill>
                  <a:srgbClr val="2D3030"/>
                </a:solidFill>
              </a:rPr>
              <a:t>Dial-up / Línea telefónica</a:t>
            </a:r>
            <a:endParaRPr lang="en-US" sz="950" dirty="0"/>
          </a:p>
        </p:txBody>
      </p:sp>
      <p:sp>
        <p:nvSpPr>
          <p:cNvPr id="34" name="Text 32"/>
          <p:cNvSpPr/>
          <p:nvPr/>
        </p:nvSpPr>
        <p:spPr>
          <a:xfrm>
            <a:off x="7333488" y="3017520"/>
            <a:ext cx="1426464" cy="365760"/>
          </a:xfrm>
          <a:prstGeom prst="rect">
            <a:avLst/>
          </a:prstGeom>
          <a:noFill/>
          <a:ln/>
        </p:spPr>
        <p:txBody>
          <a:bodyPr wrap="square" rtlCol="0" anchor="ctr"/>
          <a:lstStyle/>
          <a:p>
            <a:pPr marL="0" indent="0">
              <a:buNone/>
            </a:pPr>
            <a:r>
              <a:rPr lang="en-US" sz="950" b="1" dirty="0">
                <a:solidFill>
                  <a:srgbClr val="C06000"/>
                </a:solidFill>
              </a:rPr>
              <a:t>576 Bytes</a:t>
            </a:r>
            <a:endParaRPr lang="en-US" sz="950" dirty="0"/>
          </a:p>
        </p:txBody>
      </p:sp>
      <p:sp>
        <p:nvSpPr>
          <p:cNvPr id="35" name="Shape 33"/>
          <p:cNvSpPr/>
          <p:nvPr/>
        </p:nvSpPr>
        <p:spPr>
          <a:xfrm>
            <a:off x="274320" y="3246120"/>
            <a:ext cx="8412480" cy="548640"/>
          </a:xfrm>
          <a:prstGeom prst="rect">
            <a:avLst/>
          </a:prstGeom>
          <a:solidFill>
            <a:srgbClr val="B9DEF8"/>
          </a:solidFill>
          <a:ln w="19050">
            <a:solidFill>
              <a:srgbClr val="5AA8D8"/>
            </a:solidFill>
            <a:prstDash val="solid"/>
          </a:ln>
        </p:spPr>
        <p:txBody>
          <a:bodyPr/>
          <a:lstStyle/>
          <a:p>
            <a:endParaRPr lang="en-US"/>
          </a:p>
        </p:txBody>
      </p:sp>
      <p:sp>
        <p:nvSpPr>
          <p:cNvPr id="36" name="Text 34"/>
          <p:cNvSpPr/>
          <p:nvPr/>
        </p:nvSpPr>
        <p:spPr>
          <a:xfrm>
            <a:off x="411480" y="3273552"/>
            <a:ext cx="8138160" cy="493776"/>
          </a:xfrm>
          <a:prstGeom prst="rect">
            <a:avLst/>
          </a:prstGeom>
          <a:noFill/>
          <a:ln/>
        </p:spPr>
        <p:txBody>
          <a:bodyPr wrap="square" rtlCol="0" anchor="ctr"/>
          <a:lstStyle/>
          <a:p>
            <a:pPr marL="0" indent="0">
              <a:buNone/>
            </a:pPr>
            <a:r>
              <a:rPr lang="en-US" sz="1100" b="1" dirty="0">
                <a:solidFill>
                  <a:srgbClr val="2D3030"/>
                </a:solidFill>
              </a:rPr>
              <a:t>MTU = Encabezados TCP/IP + MSS (Maximum Segment Size)   →   Ethernet: 1500 = 28 bytes header + 1472 bytes datos</a:t>
            </a:r>
            <a:endParaRPr lang="en-US" sz="1100" dirty="0"/>
          </a:p>
        </p:txBody>
      </p:sp>
      <p:sp>
        <p:nvSpPr>
          <p:cNvPr id="37" name="Shape 3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8" name="Text 3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MTU es el límite de tamaño impuesto por el hardware de red. Ethernet dice '1500 bytes máximo'. Si el datagrama es más grande, hay que partirlo en trozos más pequeños: eso es la fragmentación.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La Idea Central de la Fragmentación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¿Qué pasa cuando un datagrama es demasiado grande para la red que debe cruzar?</a:t>
            </a:r>
            <a:endParaRPr lang="en-US" sz="1300" dirty="0"/>
          </a:p>
        </p:txBody>
      </p:sp>
      <p:sp>
        <p:nvSpPr>
          <p:cNvPr id="6" name="Shape 4"/>
          <p:cNvSpPr/>
          <p:nvPr/>
        </p:nvSpPr>
        <p:spPr>
          <a:xfrm>
            <a:off x="182880" y="1737360"/>
            <a:ext cx="2011680" cy="1280160"/>
          </a:xfrm>
          <a:prstGeom prst="ellipse">
            <a:avLst/>
          </a:prstGeom>
          <a:solidFill>
            <a:srgbClr val="3A7BAA"/>
          </a:solidFill>
          <a:ln w="19050">
            <a:solidFill>
              <a:srgbClr val="5AA8D8"/>
            </a:solidFill>
            <a:prstDash val="solid"/>
          </a:ln>
        </p:spPr>
        <p:txBody>
          <a:bodyPr/>
          <a:lstStyle/>
          <a:p>
            <a:endParaRPr lang="en-US"/>
          </a:p>
        </p:txBody>
      </p:sp>
      <p:sp>
        <p:nvSpPr>
          <p:cNvPr id="7" name="Text 5"/>
          <p:cNvSpPr/>
          <p:nvPr/>
        </p:nvSpPr>
        <p:spPr>
          <a:xfrm>
            <a:off x="182880" y="1737360"/>
            <a:ext cx="2011680" cy="1280160"/>
          </a:xfrm>
          <a:prstGeom prst="rect">
            <a:avLst/>
          </a:prstGeom>
          <a:noFill/>
          <a:ln/>
        </p:spPr>
        <p:txBody>
          <a:bodyPr wrap="square" rtlCol="0" anchor="ctr"/>
          <a:lstStyle/>
          <a:p>
            <a:pPr marL="0" indent="0" algn="ctr">
              <a:buNone/>
            </a:pPr>
            <a:r>
              <a:rPr lang="en-US" sz="900" b="1" dirty="0">
                <a:solidFill>
                  <a:srgbClr val="FFFFFF"/>
                </a:solidFill>
              </a:rPr>
              <a:t>Red 1</a:t>
            </a:r>
            <a:endParaRPr lang="en-US" sz="900" dirty="0"/>
          </a:p>
          <a:p>
            <a:pPr marL="0" indent="0" algn="ctr">
              <a:buNone/>
            </a:pPr>
            <a:r>
              <a:rPr lang="en-US" sz="900" b="1" dirty="0">
                <a:solidFill>
                  <a:srgbClr val="FFFFFF"/>
                </a:solidFill>
              </a:rPr>
              <a:t>MTU: 1500 B</a:t>
            </a:r>
            <a:endParaRPr lang="en-US" sz="900" dirty="0"/>
          </a:p>
          <a:p>
            <a:pPr marL="0" indent="0" algn="ctr">
              <a:buNone/>
            </a:pPr>
            <a:r>
              <a:rPr lang="en-US" sz="900" b="1" dirty="0">
                <a:solidFill>
                  <a:srgbClr val="FFFFFF"/>
                </a:solidFill>
              </a:rPr>
              <a:t>(Ethernet)</a:t>
            </a:r>
            <a:endParaRPr lang="en-US" sz="900" dirty="0"/>
          </a:p>
        </p:txBody>
      </p:sp>
      <p:sp>
        <p:nvSpPr>
          <p:cNvPr id="8" name="Shape 6"/>
          <p:cNvSpPr/>
          <p:nvPr/>
        </p:nvSpPr>
        <p:spPr>
          <a:xfrm>
            <a:off x="3566160" y="1737360"/>
            <a:ext cx="2011680" cy="1280160"/>
          </a:xfrm>
          <a:prstGeom prst="ellipse">
            <a:avLst/>
          </a:prstGeom>
          <a:solidFill>
            <a:srgbClr val="8B2A2A"/>
          </a:solidFill>
          <a:ln w="19050">
            <a:solidFill>
              <a:srgbClr val="5AA8D8"/>
            </a:solidFill>
            <a:prstDash val="solid"/>
          </a:ln>
        </p:spPr>
        <p:txBody>
          <a:bodyPr/>
          <a:lstStyle/>
          <a:p>
            <a:endParaRPr lang="en-US"/>
          </a:p>
        </p:txBody>
      </p:sp>
      <p:sp>
        <p:nvSpPr>
          <p:cNvPr id="9" name="Text 7"/>
          <p:cNvSpPr/>
          <p:nvPr/>
        </p:nvSpPr>
        <p:spPr>
          <a:xfrm>
            <a:off x="3566160" y="1737360"/>
            <a:ext cx="2011680" cy="1280160"/>
          </a:xfrm>
          <a:prstGeom prst="rect">
            <a:avLst/>
          </a:prstGeom>
          <a:noFill/>
          <a:ln/>
        </p:spPr>
        <p:txBody>
          <a:bodyPr wrap="square" rtlCol="0" anchor="ctr"/>
          <a:lstStyle/>
          <a:p>
            <a:pPr marL="0" indent="0" algn="ctr">
              <a:buNone/>
            </a:pPr>
            <a:r>
              <a:rPr lang="en-US" sz="900" b="1" dirty="0">
                <a:solidFill>
                  <a:srgbClr val="FFFFFF"/>
                </a:solidFill>
              </a:rPr>
              <a:t>Red 2</a:t>
            </a:r>
            <a:endParaRPr lang="en-US" sz="900" dirty="0"/>
          </a:p>
          <a:p>
            <a:pPr marL="0" indent="0" algn="ctr">
              <a:buNone/>
            </a:pPr>
            <a:r>
              <a:rPr lang="en-US" sz="900" b="1" dirty="0">
                <a:solidFill>
                  <a:srgbClr val="FFFFFF"/>
                </a:solidFill>
              </a:rPr>
              <a:t>MTU: 620 B</a:t>
            </a:r>
            <a:endParaRPr lang="en-US" sz="900" dirty="0"/>
          </a:p>
          <a:p>
            <a:pPr marL="0" indent="0" algn="ctr">
              <a:buNone/>
            </a:pPr>
            <a:r>
              <a:rPr lang="en-US" sz="900" b="1" dirty="0">
                <a:solidFill>
                  <a:srgbClr val="FFFFFF"/>
                </a:solidFill>
              </a:rPr>
              <a:t>(Cuello de botella)</a:t>
            </a:r>
            <a:endParaRPr lang="en-US" sz="900" dirty="0"/>
          </a:p>
        </p:txBody>
      </p:sp>
      <p:sp>
        <p:nvSpPr>
          <p:cNvPr id="10" name="Shape 8"/>
          <p:cNvSpPr/>
          <p:nvPr/>
        </p:nvSpPr>
        <p:spPr>
          <a:xfrm>
            <a:off x="6858000" y="1737360"/>
            <a:ext cx="2011680" cy="1280160"/>
          </a:xfrm>
          <a:prstGeom prst="ellipse">
            <a:avLst/>
          </a:prstGeom>
          <a:solidFill>
            <a:srgbClr val="3A7BAA"/>
          </a:solidFill>
          <a:ln w="19050">
            <a:solidFill>
              <a:srgbClr val="5AA8D8"/>
            </a:solidFill>
            <a:prstDash val="solid"/>
          </a:ln>
        </p:spPr>
        <p:txBody>
          <a:bodyPr/>
          <a:lstStyle/>
          <a:p>
            <a:endParaRPr lang="en-US"/>
          </a:p>
        </p:txBody>
      </p:sp>
      <p:sp>
        <p:nvSpPr>
          <p:cNvPr id="11" name="Text 9"/>
          <p:cNvSpPr/>
          <p:nvPr/>
        </p:nvSpPr>
        <p:spPr>
          <a:xfrm>
            <a:off x="6858000" y="1737360"/>
            <a:ext cx="2011680" cy="1280160"/>
          </a:xfrm>
          <a:prstGeom prst="rect">
            <a:avLst/>
          </a:prstGeom>
          <a:noFill/>
          <a:ln/>
        </p:spPr>
        <p:txBody>
          <a:bodyPr wrap="square" rtlCol="0" anchor="ctr"/>
          <a:lstStyle/>
          <a:p>
            <a:pPr marL="0" indent="0" algn="ctr">
              <a:buNone/>
            </a:pPr>
            <a:r>
              <a:rPr lang="en-US" sz="900" b="1" dirty="0">
                <a:solidFill>
                  <a:srgbClr val="FFFFFF"/>
                </a:solidFill>
              </a:rPr>
              <a:t>Red 3</a:t>
            </a:r>
            <a:endParaRPr lang="en-US" sz="900" dirty="0"/>
          </a:p>
          <a:p>
            <a:pPr marL="0" indent="0" algn="ctr">
              <a:buNone/>
            </a:pPr>
            <a:r>
              <a:rPr lang="en-US" sz="900" b="1" dirty="0">
                <a:solidFill>
                  <a:srgbClr val="FFFFFF"/>
                </a:solidFill>
              </a:rPr>
              <a:t>MTU: 1500 B</a:t>
            </a:r>
            <a:endParaRPr lang="en-US" sz="900" dirty="0"/>
          </a:p>
          <a:p>
            <a:pPr marL="0" indent="0" algn="ctr">
              <a:buNone/>
            </a:pPr>
            <a:r>
              <a:rPr lang="en-US" sz="900" b="1" dirty="0">
                <a:solidFill>
                  <a:srgbClr val="FFFFFF"/>
                </a:solidFill>
              </a:rPr>
              <a:t>(Ethernet)</a:t>
            </a:r>
            <a:endParaRPr lang="en-US" sz="900" dirty="0"/>
          </a:p>
        </p:txBody>
      </p:sp>
      <p:sp>
        <p:nvSpPr>
          <p:cNvPr id="12" name="Shape 10"/>
          <p:cNvSpPr/>
          <p:nvPr/>
        </p:nvSpPr>
        <p:spPr>
          <a:xfrm>
            <a:off x="91440" y="2148840"/>
            <a:ext cx="640080" cy="457200"/>
          </a:xfrm>
          <a:prstGeom prst="rect">
            <a:avLst/>
          </a:prstGeom>
          <a:solidFill>
            <a:srgbClr val="5AA8D8"/>
          </a:solidFill>
          <a:ln w="12700">
            <a:solidFill>
              <a:srgbClr val="FFFFFF"/>
            </a:solidFill>
            <a:prstDash val="solid"/>
          </a:ln>
        </p:spPr>
        <p:txBody>
          <a:bodyPr/>
          <a:lstStyle/>
          <a:p>
            <a:endParaRPr lang="en-US"/>
          </a:p>
        </p:txBody>
      </p:sp>
      <p:sp>
        <p:nvSpPr>
          <p:cNvPr id="13" name="Text 11"/>
          <p:cNvSpPr/>
          <p:nvPr/>
        </p:nvSpPr>
        <p:spPr>
          <a:xfrm>
            <a:off x="91440" y="2148840"/>
            <a:ext cx="640080" cy="457200"/>
          </a:xfrm>
          <a:prstGeom prst="rect">
            <a:avLst/>
          </a:prstGeom>
          <a:noFill/>
          <a:ln/>
        </p:spPr>
        <p:txBody>
          <a:bodyPr wrap="square" rtlCol="0" anchor="ctr"/>
          <a:lstStyle/>
          <a:p>
            <a:pPr marL="0" indent="0" algn="ctr">
              <a:buNone/>
            </a:pPr>
            <a:r>
              <a:rPr lang="en-US" sz="800" dirty="0">
                <a:solidFill>
                  <a:srgbClr val="FFFFFF"/>
                </a:solidFill>
              </a:rPr>
              <a:t>Host 1</a:t>
            </a:r>
            <a:endParaRPr lang="en-US" sz="800" dirty="0"/>
          </a:p>
        </p:txBody>
      </p:sp>
      <p:sp>
        <p:nvSpPr>
          <p:cNvPr id="14" name="Shape 12"/>
          <p:cNvSpPr/>
          <p:nvPr/>
        </p:nvSpPr>
        <p:spPr>
          <a:xfrm>
            <a:off x="8321040" y="2148840"/>
            <a:ext cx="640080" cy="457200"/>
          </a:xfrm>
          <a:prstGeom prst="rect">
            <a:avLst/>
          </a:prstGeom>
          <a:solidFill>
            <a:srgbClr val="5AA8D8"/>
          </a:solidFill>
          <a:ln w="12700">
            <a:solidFill>
              <a:srgbClr val="FFFFFF"/>
            </a:solidFill>
            <a:prstDash val="solid"/>
          </a:ln>
        </p:spPr>
        <p:txBody>
          <a:bodyPr/>
          <a:lstStyle/>
          <a:p>
            <a:endParaRPr lang="en-US"/>
          </a:p>
        </p:txBody>
      </p:sp>
      <p:sp>
        <p:nvSpPr>
          <p:cNvPr id="15" name="Text 13"/>
          <p:cNvSpPr/>
          <p:nvPr/>
        </p:nvSpPr>
        <p:spPr>
          <a:xfrm>
            <a:off x="8321040" y="2148840"/>
            <a:ext cx="640080" cy="457200"/>
          </a:xfrm>
          <a:prstGeom prst="rect">
            <a:avLst/>
          </a:prstGeom>
          <a:noFill/>
          <a:ln/>
        </p:spPr>
        <p:txBody>
          <a:bodyPr wrap="square" rtlCol="0" anchor="ctr"/>
          <a:lstStyle/>
          <a:p>
            <a:pPr marL="0" indent="0" algn="ctr">
              <a:buNone/>
            </a:pPr>
            <a:r>
              <a:rPr lang="en-US" sz="800" dirty="0">
                <a:solidFill>
                  <a:srgbClr val="FFFFFF"/>
                </a:solidFill>
              </a:rPr>
              <a:t>Host 5</a:t>
            </a:r>
            <a:endParaRPr lang="en-US" sz="800" dirty="0"/>
          </a:p>
        </p:txBody>
      </p:sp>
      <p:sp>
        <p:nvSpPr>
          <p:cNvPr id="16" name="Shape 14"/>
          <p:cNvSpPr/>
          <p:nvPr/>
        </p:nvSpPr>
        <p:spPr>
          <a:xfrm>
            <a:off x="2331720" y="2194560"/>
            <a:ext cx="1097280" cy="457200"/>
          </a:xfrm>
          <a:prstGeom prst="rect">
            <a:avLst/>
          </a:prstGeom>
          <a:solidFill>
            <a:srgbClr val="5A8030"/>
          </a:solidFill>
          <a:ln w="12700">
            <a:solidFill>
              <a:srgbClr val="FFFFFF"/>
            </a:solidFill>
            <a:prstDash val="solid"/>
          </a:ln>
        </p:spPr>
        <p:txBody>
          <a:bodyPr/>
          <a:lstStyle/>
          <a:p>
            <a:endParaRPr lang="en-US"/>
          </a:p>
        </p:txBody>
      </p:sp>
      <p:sp>
        <p:nvSpPr>
          <p:cNvPr id="17" name="Text 15"/>
          <p:cNvSpPr/>
          <p:nvPr/>
        </p:nvSpPr>
        <p:spPr>
          <a:xfrm>
            <a:off x="2331720" y="2194560"/>
            <a:ext cx="1097280" cy="457200"/>
          </a:xfrm>
          <a:prstGeom prst="rect">
            <a:avLst/>
          </a:prstGeom>
          <a:noFill/>
          <a:ln/>
        </p:spPr>
        <p:txBody>
          <a:bodyPr wrap="square" rtlCol="0" anchor="ctr"/>
          <a:lstStyle/>
          <a:p>
            <a:pPr marL="0" indent="0" algn="ctr">
              <a:buNone/>
            </a:pPr>
            <a:r>
              <a:rPr lang="en-US" sz="850" dirty="0">
                <a:solidFill>
                  <a:srgbClr val="FFFFFF"/>
                </a:solidFill>
              </a:rPr>
              <a:t>Router 1</a:t>
            </a:r>
            <a:endParaRPr lang="en-US" sz="850" dirty="0"/>
          </a:p>
        </p:txBody>
      </p:sp>
      <p:sp>
        <p:nvSpPr>
          <p:cNvPr id="18" name="Shape 16"/>
          <p:cNvSpPr/>
          <p:nvPr/>
        </p:nvSpPr>
        <p:spPr>
          <a:xfrm>
            <a:off x="5715000" y="2194560"/>
            <a:ext cx="1097280" cy="457200"/>
          </a:xfrm>
          <a:prstGeom prst="rect">
            <a:avLst/>
          </a:prstGeom>
          <a:solidFill>
            <a:srgbClr val="5A8030"/>
          </a:solidFill>
          <a:ln w="12700">
            <a:solidFill>
              <a:srgbClr val="FFFFFF"/>
            </a:solidFill>
            <a:prstDash val="solid"/>
          </a:ln>
        </p:spPr>
        <p:txBody>
          <a:bodyPr/>
          <a:lstStyle/>
          <a:p>
            <a:endParaRPr lang="en-US"/>
          </a:p>
        </p:txBody>
      </p:sp>
      <p:sp>
        <p:nvSpPr>
          <p:cNvPr id="19" name="Text 17"/>
          <p:cNvSpPr/>
          <p:nvPr/>
        </p:nvSpPr>
        <p:spPr>
          <a:xfrm>
            <a:off x="5715000" y="2194560"/>
            <a:ext cx="1097280" cy="457200"/>
          </a:xfrm>
          <a:prstGeom prst="rect">
            <a:avLst/>
          </a:prstGeom>
          <a:noFill/>
          <a:ln/>
        </p:spPr>
        <p:txBody>
          <a:bodyPr wrap="square" rtlCol="0" anchor="ctr"/>
          <a:lstStyle/>
          <a:p>
            <a:pPr marL="0" indent="0" algn="ctr">
              <a:buNone/>
            </a:pPr>
            <a:r>
              <a:rPr lang="en-US" sz="850" dirty="0">
                <a:solidFill>
                  <a:srgbClr val="FFFFFF"/>
                </a:solidFill>
              </a:rPr>
              <a:t>Router 2</a:t>
            </a:r>
            <a:endParaRPr lang="en-US" sz="850" dirty="0"/>
          </a:p>
        </p:txBody>
      </p:sp>
      <p:sp>
        <p:nvSpPr>
          <p:cNvPr id="20" name="Text 18"/>
          <p:cNvSpPr/>
          <p:nvPr/>
        </p:nvSpPr>
        <p:spPr>
          <a:xfrm>
            <a:off x="274320" y="1463040"/>
            <a:ext cx="8595360" cy="256032"/>
          </a:xfrm>
          <a:prstGeom prst="rect">
            <a:avLst/>
          </a:prstGeom>
          <a:noFill/>
          <a:ln/>
        </p:spPr>
        <p:txBody>
          <a:bodyPr wrap="square" rtlCol="0" anchor="ctr"/>
          <a:lstStyle/>
          <a:p>
            <a:pPr marL="0" indent="0">
              <a:buNone/>
            </a:pPr>
            <a:r>
              <a:rPr lang="en-US" sz="950" i="1" dirty="0">
                <a:solidFill>
                  <a:srgbClr val="5AA8D8"/>
                </a:solidFill>
              </a:rPr>
              <a:t>Datagrama: 1400 Bytes ──────────────────────────────────────────────────────────────────────►</a:t>
            </a:r>
            <a:endParaRPr lang="en-US" sz="950" dirty="0"/>
          </a:p>
        </p:txBody>
      </p:sp>
      <p:sp>
        <p:nvSpPr>
          <p:cNvPr id="21" name="Shape 19"/>
          <p:cNvSpPr/>
          <p:nvPr/>
        </p:nvSpPr>
        <p:spPr>
          <a:xfrm>
            <a:off x="274320" y="3200400"/>
            <a:ext cx="8412480" cy="621792"/>
          </a:xfrm>
          <a:prstGeom prst="rect">
            <a:avLst/>
          </a:prstGeom>
          <a:solidFill>
            <a:srgbClr val="1A2530"/>
          </a:solidFill>
          <a:ln w="25400">
            <a:solidFill>
              <a:srgbClr val="5AA8D8"/>
            </a:solidFill>
            <a:prstDash val="solid"/>
          </a:ln>
        </p:spPr>
        <p:txBody>
          <a:bodyPr/>
          <a:lstStyle/>
          <a:p>
            <a:endParaRPr lang="en-US"/>
          </a:p>
        </p:txBody>
      </p:sp>
      <p:sp>
        <p:nvSpPr>
          <p:cNvPr id="22" name="Text 20"/>
          <p:cNvSpPr/>
          <p:nvPr/>
        </p:nvSpPr>
        <p:spPr>
          <a:xfrm>
            <a:off x="411480" y="3227832"/>
            <a:ext cx="8138160" cy="566928"/>
          </a:xfrm>
          <a:prstGeom prst="rect">
            <a:avLst/>
          </a:prstGeom>
          <a:noFill/>
          <a:ln/>
        </p:spPr>
        <p:txBody>
          <a:bodyPr wrap="square" rtlCol="0" anchor="ctr"/>
          <a:lstStyle/>
          <a:p>
            <a:pPr marL="0" indent="0">
              <a:buNone/>
            </a:pPr>
            <a:r>
              <a:rPr lang="en-US" sz="1150" b="1" dirty="0">
                <a:solidFill>
                  <a:srgbClr val="FFFFFF"/>
                </a:solidFill>
              </a:rPr>
              <a:t>REGLA CLAVE:  Los routers realizan fragmentaciones cuando las redes que comunican tienen diferente MTU,  pero NO efectúan reensamblados.</a:t>
            </a:r>
            <a:endParaRPr lang="en-US" sz="1150" dirty="0"/>
          </a:p>
        </p:txBody>
      </p:sp>
      <p:sp>
        <p:nvSpPr>
          <p:cNvPr id="23" name="Shape 21"/>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4" name="Text 22"/>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Host 1 envía 1400 bytes. Red 1 OK (MTU 1500). En el Router 1, la red destino tiene MTU 620: hay que fragmentar. El rearmado ocurre solo en el destino final (Host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Cálculo de Fragmentos — Ejemplo Práctico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Datagrama de 1400 B → MTU de red intermedia: 620 B</a:t>
            </a:r>
            <a:endParaRPr lang="en-US" sz="1300" dirty="0"/>
          </a:p>
        </p:txBody>
      </p:sp>
      <p:sp>
        <p:nvSpPr>
          <p:cNvPr id="6" name="Shape 4"/>
          <p:cNvSpPr/>
          <p:nvPr/>
        </p:nvSpPr>
        <p:spPr>
          <a:xfrm>
            <a:off x="274320" y="1188720"/>
            <a:ext cx="5120640" cy="658368"/>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7" name="Shape 5"/>
          <p:cNvSpPr/>
          <p:nvPr/>
        </p:nvSpPr>
        <p:spPr>
          <a:xfrm>
            <a:off x="274320" y="1188720"/>
            <a:ext cx="457200" cy="658368"/>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188720"/>
            <a:ext cx="457200" cy="658368"/>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786384" y="1243584"/>
            <a:ext cx="4553712" cy="347472"/>
          </a:xfrm>
          <a:prstGeom prst="rect">
            <a:avLst/>
          </a:prstGeom>
          <a:noFill/>
          <a:ln/>
        </p:spPr>
        <p:txBody>
          <a:bodyPr wrap="square" rtlCol="0" anchor="ctr"/>
          <a:lstStyle/>
          <a:p>
            <a:pPr marL="0" indent="0">
              <a:buNone/>
            </a:pPr>
            <a:r>
              <a:rPr lang="en-US" sz="1200" b="1" dirty="0">
                <a:solidFill>
                  <a:srgbClr val="2D3030"/>
                </a:solidFill>
              </a:rPr>
              <a:t>MTU de la red a cruzar = 620 Bytes</a:t>
            </a:r>
            <a:endParaRPr lang="en-US" sz="1200" dirty="0"/>
          </a:p>
        </p:txBody>
      </p:sp>
      <p:sp>
        <p:nvSpPr>
          <p:cNvPr id="10" name="Shape 8"/>
          <p:cNvSpPr/>
          <p:nvPr/>
        </p:nvSpPr>
        <p:spPr>
          <a:xfrm>
            <a:off x="274320" y="1965960"/>
            <a:ext cx="5120640" cy="658368"/>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11" name="Shape 9"/>
          <p:cNvSpPr/>
          <p:nvPr/>
        </p:nvSpPr>
        <p:spPr>
          <a:xfrm>
            <a:off x="274320" y="1965960"/>
            <a:ext cx="457200" cy="658368"/>
          </a:xfrm>
          <a:prstGeom prst="rect">
            <a:avLst/>
          </a:prstGeom>
          <a:solidFill>
            <a:srgbClr val="5AA8D8"/>
          </a:solidFill>
          <a:ln w="12700">
            <a:solidFill>
              <a:srgbClr val="5AA8D8"/>
            </a:solidFill>
            <a:prstDash val="solid"/>
          </a:ln>
        </p:spPr>
        <p:txBody>
          <a:bodyPr/>
          <a:lstStyle/>
          <a:p>
            <a:endParaRPr lang="en-US"/>
          </a:p>
        </p:txBody>
      </p:sp>
      <p:sp>
        <p:nvSpPr>
          <p:cNvPr id="12" name="Text 10"/>
          <p:cNvSpPr/>
          <p:nvPr/>
        </p:nvSpPr>
        <p:spPr>
          <a:xfrm>
            <a:off x="274320" y="1965960"/>
            <a:ext cx="457200" cy="658368"/>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786384" y="2020824"/>
            <a:ext cx="4553712" cy="347472"/>
          </a:xfrm>
          <a:prstGeom prst="rect">
            <a:avLst/>
          </a:prstGeom>
          <a:noFill/>
          <a:ln/>
        </p:spPr>
        <p:txBody>
          <a:bodyPr wrap="square" rtlCol="0" anchor="ctr"/>
          <a:lstStyle/>
          <a:p>
            <a:pPr marL="0" indent="0">
              <a:buNone/>
            </a:pPr>
            <a:r>
              <a:rPr lang="en-US" sz="1200" b="1" dirty="0">
                <a:solidFill>
                  <a:srgbClr val="2D3030"/>
                </a:solidFill>
              </a:rPr>
              <a:t>Encabezado IP típico = 20 Bytes (5 palabras × 4 Bytes)</a:t>
            </a:r>
            <a:endParaRPr lang="en-US" sz="1200" dirty="0"/>
          </a:p>
        </p:txBody>
      </p:sp>
      <p:sp>
        <p:nvSpPr>
          <p:cNvPr id="14" name="Shape 12"/>
          <p:cNvSpPr/>
          <p:nvPr/>
        </p:nvSpPr>
        <p:spPr>
          <a:xfrm>
            <a:off x="274320" y="2743200"/>
            <a:ext cx="5120640" cy="658368"/>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15" name="Shape 13"/>
          <p:cNvSpPr/>
          <p:nvPr/>
        </p:nvSpPr>
        <p:spPr>
          <a:xfrm>
            <a:off x="274320" y="2743200"/>
            <a:ext cx="457200" cy="658368"/>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274320" y="2743200"/>
            <a:ext cx="457200" cy="658368"/>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786384" y="2798064"/>
            <a:ext cx="4553712" cy="347472"/>
          </a:xfrm>
          <a:prstGeom prst="rect">
            <a:avLst/>
          </a:prstGeom>
          <a:noFill/>
          <a:ln/>
        </p:spPr>
        <p:txBody>
          <a:bodyPr wrap="square" rtlCol="0" anchor="ctr"/>
          <a:lstStyle/>
          <a:p>
            <a:pPr marL="0" indent="0">
              <a:buNone/>
            </a:pPr>
            <a:r>
              <a:rPr lang="en-US" sz="1200" b="1" dirty="0">
                <a:solidFill>
                  <a:srgbClr val="2D3030"/>
                </a:solidFill>
              </a:rPr>
              <a:t>Datos disponibles = 620 – 20 = 600 Bytes</a:t>
            </a:r>
            <a:endParaRPr lang="en-US" sz="1200" dirty="0"/>
          </a:p>
        </p:txBody>
      </p:sp>
      <p:sp>
        <p:nvSpPr>
          <p:cNvPr id="18" name="Text 16"/>
          <p:cNvSpPr/>
          <p:nvPr/>
        </p:nvSpPr>
        <p:spPr>
          <a:xfrm>
            <a:off x="786384" y="3127248"/>
            <a:ext cx="4553712" cy="237744"/>
          </a:xfrm>
          <a:prstGeom prst="rect">
            <a:avLst/>
          </a:prstGeom>
          <a:noFill/>
          <a:ln/>
        </p:spPr>
        <p:txBody>
          <a:bodyPr wrap="square" rtlCol="0" anchor="ctr"/>
          <a:lstStyle/>
          <a:p>
            <a:pPr marL="0" indent="0">
              <a:buNone/>
            </a:pPr>
            <a:r>
              <a:rPr lang="en-US" sz="1000" i="1" dirty="0">
                <a:solidFill>
                  <a:srgbClr val="5AA8D8"/>
                </a:solidFill>
              </a:rPr>
              <a:t>600 es múltiplo de 8 ✓</a:t>
            </a:r>
            <a:endParaRPr lang="en-US" sz="1000" dirty="0"/>
          </a:p>
        </p:txBody>
      </p:sp>
      <p:sp>
        <p:nvSpPr>
          <p:cNvPr id="19" name="Shape 17"/>
          <p:cNvSpPr/>
          <p:nvPr/>
        </p:nvSpPr>
        <p:spPr>
          <a:xfrm>
            <a:off x="274320" y="3520440"/>
            <a:ext cx="5120640" cy="658368"/>
          </a:xfrm>
          <a:prstGeom prst="rect">
            <a:avLst/>
          </a:prstGeom>
          <a:solidFill>
            <a:srgbClr val="FFFFFF"/>
          </a:solidFill>
          <a:ln w="19050">
            <a:solidFill>
              <a:srgbClr val="5AA8D8"/>
            </a:solidFill>
            <a:prstDash val="solid"/>
          </a:ln>
          <a:effectLst>
            <a:outerShdw blurRad="38100" dist="25400" dir="8100000" algn="bl" rotWithShape="0">
              <a:srgbClr val="000000">
                <a:alpha val="10000"/>
              </a:srgbClr>
            </a:outerShdw>
          </a:effectLst>
        </p:spPr>
        <p:txBody>
          <a:bodyPr/>
          <a:lstStyle/>
          <a:p>
            <a:endParaRPr lang="en-US"/>
          </a:p>
        </p:txBody>
      </p:sp>
      <p:sp>
        <p:nvSpPr>
          <p:cNvPr id="20" name="Shape 18"/>
          <p:cNvSpPr/>
          <p:nvPr/>
        </p:nvSpPr>
        <p:spPr>
          <a:xfrm>
            <a:off x="274320" y="3520440"/>
            <a:ext cx="457200" cy="658368"/>
          </a:xfrm>
          <a:prstGeom prst="rect">
            <a:avLst/>
          </a:prstGeom>
          <a:solidFill>
            <a:srgbClr val="5AA8D8"/>
          </a:solidFill>
          <a:ln w="12700">
            <a:solidFill>
              <a:srgbClr val="5AA8D8"/>
            </a:solidFill>
            <a:prstDash val="solid"/>
          </a:ln>
        </p:spPr>
        <p:txBody>
          <a:bodyPr/>
          <a:lstStyle/>
          <a:p>
            <a:endParaRPr lang="en-US"/>
          </a:p>
        </p:txBody>
      </p:sp>
      <p:sp>
        <p:nvSpPr>
          <p:cNvPr id="21" name="Text 19"/>
          <p:cNvSpPr/>
          <p:nvPr/>
        </p:nvSpPr>
        <p:spPr>
          <a:xfrm>
            <a:off x="274320" y="3520440"/>
            <a:ext cx="457200" cy="658368"/>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2" name="Text 20"/>
          <p:cNvSpPr/>
          <p:nvPr/>
        </p:nvSpPr>
        <p:spPr>
          <a:xfrm>
            <a:off x="786384" y="3575304"/>
            <a:ext cx="4553712" cy="347472"/>
          </a:xfrm>
          <a:prstGeom prst="rect">
            <a:avLst/>
          </a:prstGeom>
          <a:noFill/>
          <a:ln/>
        </p:spPr>
        <p:txBody>
          <a:bodyPr wrap="square" rtlCol="0" anchor="ctr"/>
          <a:lstStyle/>
          <a:p>
            <a:pPr marL="0" indent="0">
              <a:buNone/>
            </a:pPr>
            <a:r>
              <a:rPr lang="en-US" sz="1200" b="1" dirty="0">
                <a:solidFill>
                  <a:srgbClr val="2D3030"/>
                </a:solidFill>
              </a:rPr>
              <a:t>Fragmentos: 600 B + 600 B + 200 B = 1400 B</a:t>
            </a:r>
            <a:endParaRPr lang="en-US" sz="1200" dirty="0"/>
          </a:p>
        </p:txBody>
      </p:sp>
      <p:sp>
        <p:nvSpPr>
          <p:cNvPr id="23" name="Text 21"/>
          <p:cNvSpPr/>
          <p:nvPr/>
        </p:nvSpPr>
        <p:spPr>
          <a:xfrm>
            <a:off x="786384" y="3904488"/>
            <a:ext cx="4553712" cy="237744"/>
          </a:xfrm>
          <a:prstGeom prst="rect">
            <a:avLst/>
          </a:prstGeom>
          <a:noFill/>
          <a:ln/>
        </p:spPr>
        <p:txBody>
          <a:bodyPr wrap="square" rtlCol="0" anchor="ctr"/>
          <a:lstStyle/>
          <a:p>
            <a:pPr marL="0" indent="0">
              <a:buNone/>
            </a:pPr>
            <a:r>
              <a:rPr lang="en-US" sz="1000" i="1" dirty="0">
                <a:solidFill>
                  <a:srgbClr val="5AA8D8"/>
                </a:solidFill>
              </a:rPr>
              <a:t>3 fragmentos en total</a:t>
            </a:r>
            <a:endParaRPr lang="en-US" sz="1000" dirty="0"/>
          </a:p>
        </p:txBody>
      </p:sp>
      <p:sp>
        <p:nvSpPr>
          <p:cNvPr id="24" name="Shape 22"/>
          <p:cNvSpPr/>
          <p:nvPr/>
        </p:nvSpPr>
        <p:spPr>
          <a:xfrm>
            <a:off x="5669280" y="1143000"/>
            <a:ext cx="3154680" cy="384048"/>
          </a:xfrm>
          <a:prstGeom prst="rect">
            <a:avLst/>
          </a:prstGeom>
          <a:solidFill>
            <a:srgbClr val="2D3030"/>
          </a:solidFill>
          <a:ln w="12700">
            <a:solidFill>
              <a:srgbClr val="5AA8D8"/>
            </a:solidFill>
            <a:prstDash val="solid"/>
          </a:ln>
        </p:spPr>
        <p:txBody>
          <a:bodyPr/>
          <a:lstStyle/>
          <a:p>
            <a:endParaRPr lang="en-US"/>
          </a:p>
        </p:txBody>
      </p:sp>
      <p:sp>
        <p:nvSpPr>
          <p:cNvPr id="25" name="Text 23"/>
          <p:cNvSpPr/>
          <p:nvPr/>
        </p:nvSpPr>
        <p:spPr>
          <a:xfrm>
            <a:off x="5669280" y="1143000"/>
            <a:ext cx="3154680" cy="384048"/>
          </a:xfrm>
          <a:prstGeom prst="rect">
            <a:avLst/>
          </a:prstGeom>
          <a:noFill/>
          <a:ln/>
        </p:spPr>
        <p:txBody>
          <a:bodyPr wrap="square" rtlCol="0" anchor="ctr"/>
          <a:lstStyle/>
          <a:p>
            <a:pPr marL="0" indent="0" algn="ctr">
              <a:buNone/>
            </a:pPr>
            <a:r>
              <a:rPr lang="en-US" sz="950" b="1" dirty="0">
                <a:solidFill>
                  <a:srgbClr val="FFFFFF"/>
                </a:solidFill>
              </a:rPr>
              <a:t>Datagrama original (1400 B)</a:t>
            </a:r>
            <a:endParaRPr lang="en-US" sz="950" dirty="0"/>
          </a:p>
        </p:txBody>
      </p:sp>
      <p:sp>
        <p:nvSpPr>
          <p:cNvPr id="26" name="Shape 24"/>
          <p:cNvSpPr/>
          <p:nvPr/>
        </p:nvSpPr>
        <p:spPr>
          <a:xfrm>
            <a:off x="5669280" y="1527048"/>
            <a:ext cx="640080" cy="566928"/>
          </a:xfrm>
          <a:prstGeom prst="rect">
            <a:avLst/>
          </a:prstGeom>
          <a:solidFill>
            <a:srgbClr val="3A7BAA"/>
          </a:solidFill>
          <a:ln w="12700">
            <a:solidFill>
              <a:srgbClr val="FFFFFF"/>
            </a:solidFill>
            <a:prstDash val="solid"/>
          </a:ln>
        </p:spPr>
        <p:txBody>
          <a:bodyPr/>
          <a:lstStyle/>
          <a:p>
            <a:endParaRPr lang="en-US"/>
          </a:p>
        </p:txBody>
      </p:sp>
      <p:sp>
        <p:nvSpPr>
          <p:cNvPr id="27" name="Text 25"/>
          <p:cNvSpPr/>
          <p:nvPr/>
        </p:nvSpPr>
        <p:spPr>
          <a:xfrm>
            <a:off x="5669280" y="1527048"/>
            <a:ext cx="640080" cy="566928"/>
          </a:xfrm>
          <a:prstGeom prst="rect">
            <a:avLst/>
          </a:prstGeom>
          <a:noFill/>
          <a:ln/>
        </p:spPr>
        <p:txBody>
          <a:bodyPr wrap="square" rtlCol="0" anchor="ctr"/>
          <a:lstStyle/>
          <a:p>
            <a:pPr marL="0" indent="0" algn="ctr">
              <a:buNone/>
            </a:pPr>
            <a:r>
              <a:rPr lang="en-US" sz="800" dirty="0">
                <a:solidFill>
                  <a:srgbClr val="FFFFFF"/>
                </a:solidFill>
              </a:rPr>
              <a:t>HIP</a:t>
            </a:r>
            <a:endParaRPr lang="en-US" sz="800" dirty="0"/>
          </a:p>
          <a:p>
            <a:pPr marL="0" indent="0" algn="ctr">
              <a:buNone/>
            </a:pPr>
            <a:r>
              <a:rPr lang="en-US" sz="800" dirty="0">
                <a:solidFill>
                  <a:srgbClr val="FFFFFF"/>
                </a:solidFill>
              </a:rPr>
              <a:t>20B</a:t>
            </a:r>
            <a:endParaRPr lang="en-US" sz="800" dirty="0"/>
          </a:p>
        </p:txBody>
      </p:sp>
      <p:sp>
        <p:nvSpPr>
          <p:cNvPr id="28" name="Shape 26"/>
          <p:cNvSpPr/>
          <p:nvPr/>
        </p:nvSpPr>
        <p:spPr>
          <a:xfrm>
            <a:off x="6309360" y="1527048"/>
            <a:ext cx="2514600" cy="566928"/>
          </a:xfrm>
          <a:prstGeom prst="rect">
            <a:avLst/>
          </a:prstGeom>
          <a:solidFill>
            <a:srgbClr val="3A5A7A"/>
          </a:solidFill>
          <a:ln w="12700">
            <a:solidFill>
              <a:srgbClr val="FFFFFF"/>
            </a:solidFill>
            <a:prstDash val="solid"/>
          </a:ln>
        </p:spPr>
        <p:txBody>
          <a:bodyPr/>
          <a:lstStyle/>
          <a:p>
            <a:endParaRPr lang="en-US"/>
          </a:p>
        </p:txBody>
      </p:sp>
      <p:sp>
        <p:nvSpPr>
          <p:cNvPr id="29" name="Text 27"/>
          <p:cNvSpPr/>
          <p:nvPr/>
        </p:nvSpPr>
        <p:spPr>
          <a:xfrm>
            <a:off x="6309360" y="1527048"/>
            <a:ext cx="2514600" cy="566928"/>
          </a:xfrm>
          <a:prstGeom prst="rect">
            <a:avLst/>
          </a:prstGeom>
          <a:noFill/>
          <a:ln/>
        </p:spPr>
        <p:txBody>
          <a:bodyPr wrap="square" rtlCol="0" anchor="ctr"/>
          <a:lstStyle/>
          <a:p>
            <a:pPr marL="0" indent="0" algn="ctr">
              <a:buNone/>
            </a:pPr>
            <a:r>
              <a:rPr lang="en-US" sz="950" dirty="0">
                <a:solidFill>
                  <a:srgbClr val="FFFFFF"/>
                </a:solidFill>
              </a:rPr>
              <a:t>Datos: 1400 Bytes</a:t>
            </a:r>
            <a:endParaRPr lang="en-US" sz="950" dirty="0"/>
          </a:p>
        </p:txBody>
      </p:sp>
      <p:sp>
        <p:nvSpPr>
          <p:cNvPr id="30" name="Text 28"/>
          <p:cNvSpPr/>
          <p:nvPr/>
        </p:nvSpPr>
        <p:spPr>
          <a:xfrm>
            <a:off x="5669280" y="2212848"/>
            <a:ext cx="3154680" cy="274320"/>
          </a:xfrm>
          <a:prstGeom prst="rect">
            <a:avLst/>
          </a:prstGeom>
          <a:noFill/>
          <a:ln/>
        </p:spPr>
        <p:txBody>
          <a:bodyPr wrap="square" rtlCol="0" anchor="ctr"/>
          <a:lstStyle/>
          <a:p>
            <a:pPr marL="0" indent="0">
              <a:buNone/>
            </a:pPr>
            <a:r>
              <a:rPr lang="en-US" sz="1000" b="1" dirty="0">
                <a:solidFill>
                  <a:srgbClr val="2D3030"/>
                </a:solidFill>
              </a:rPr>
              <a:t>Se fragmenta en 3:</a:t>
            </a:r>
            <a:endParaRPr lang="en-US" sz="1000" dirty="0"/>
          </a:p>
        </p:txBody>
      </p:sp>
      <p:sp>
        <p:nvSpPr>
          <p:cNvPr id="31" name="Shape 29"/>
          <p:cNvSpPr/>
          <p:nvPr/>
        </p:nvSpPr>
        <p:spPr>
          <a:xfrm>
            <a:off x="5669280" y="2487168"/>
            <a:ext cx="548640" cy="530352"/>
          </a:xfrm>
          <a:prstGeom prst="rect">
            <a:avLst/>
          </a:prstGeom>
          <a:solidFill>
            <a:srgbClr val="3A7BAA"/>
          </a:solidFill>
          <a:ln w="12700">
            <a:solidFill>
              <a:srgbClr val="FFFFFF"/>
            </a:solidFill>
            <a:prstDash val="solid"/>
          </a:ln>
        </p:spPr>
        <p:txBody>
          <a:bodyPr/>
          <a:lstStyle/>
          <a:p>
            <a:endParaRPr lang="en-US"/>
          </a:p>
        </p:txBody>
      </p:sp>
      <p:sp>
        <p:nvSpPr>
          <p:cNvPr id="32" name="Text 30"/>
          <p:cNvSpPr/>
          <p:nvPr/>
        </p:nvSpPr>
        <p:spPr>
          <a:xfrm>
            <a:off x="5669280" y="2487168"/>
            <a:ext cx="548640" cy="530352"/>
          </a:xfrm>
          <a:prstGeom prst="rect">
            <a:avLst/>
          </a:prstGeom>
          <a:noFill/>
          <a:ln/>
        </p:spPr>
        <p:txBody>
          <a:bodyPr wrap="square" rtlCol="0" anchor="ctr"/>
          <a:lstStyle/>
          <a:p>
            <a:pPr marL="0" indent="0" algn="ctr">
              <a:buNone/>
            </a:pPr>
            <a:r>
              <a:rPr lang="en-US" sz="750" dirty="0">
                <a:solidFill>
                  <a:srgbClr val="FFFFFF"/>
                </a:solidFill>
              </a:rPr>
              <a:t>HIP</a:t>
            </a:r>
            <a:endParaRPr lang="en-US" sz="750" dirty="0"/>
          </a:p>
          <a:p>
            <a:pPr marL="0" indent="0" algn="ctr">
              <a:buNone/>
            </a:pPr>
            <a:r>
              <a:rPr lang="en-US" sz="750" dirty="0">
                <a:solidFill>
                  <a:srgbClr val="FFFFFF"/>
                </a:solidFill>
              </a:rPr>
              <a:t>20B</a:t>
            </a:r>
            <a:endParaRPr lang="en-US" sz="750" dirty="0"/>
          </a:p>
        </p:txBody>
      </p:sp>
      <p:sp>
        <p:nvSpPr>
          <p:cNvPr id="33" name="Shape 31"/>
          <p:cNvSpPr/>
          <p:nvPr/>
        </p:nvSpPr>
        <p:spPr>
          <a:xfrm>
            <a:off x="6217920" y="2487168"/>
            <a:ext cx="2606040" cy="530352"/>
          </a:xfrm>
          <a:prstGeom prst="rect">
            <a:avLst/>
          </a:prstGeom>
          <a:solidFill>
            <a:srgbClr val="1A4A1A"/>
          </a:solidFill>
          <a:ln w="12700">
            <a:solidFill>
              <a:srgbClr val="FFFFFF"/>
            </a:solidFill>
            <a:prstDash val="solid"/>
          </a:ln>
        </p:spPr>
        <p:txBody>
          <a:bodyPr/>
          <a:lstStyle/>
          <a:p>
            <a:endParaRPr lang="en-US"/>
          </a:p>
        </p:txBody>
      </p:sp>
      <p:sp>
        <p:nvSpPr>
          <p:cNvPr id="34" name="Text 32"/>
          <p:cNvSpPr/>
          <p:nvPr/>
        </p:nvSpPr>
        <p:spPr>
          <a:xfrm>
            <a:off x="6217920" y="2487168"/>
            <a:ext cx="2606040" cy="530352"/>
          </a:xfrm>
          <a:prstGeom prst="rect">
            <a:avLst/>
          </a:prstGeom>
          <a:noFill/>
          <a:ln/>
        </p:spPr>
        <p:txBody>
          <a:bodyPr wrap="square" rtlCol="0" anchor="ctr"/>
          <a:lstStyle/>
          <a:p>
            <a:pPr marL="0" indent="0" algn="ctr">
              <a:buNone/>
            </a:pPr>
            <a:r>
              <a:rPr lang="en-US" sz="1000" dirty="0">
                <a:solidFill>
                  <a:srgbClr val="FFFFFF"/>
                </a:solidFill>
              </a:rPr>
              <a:t>Datos: 600 B</a:t>
            </a:r>
            <a:endParaRPr lang="en-US" sz="1000" dirty="0"/>
          </a:p>
        </p:txBody>
      </p:sp>
      <p:sp>
        <p:nvSpPr>
          <p:cNvPr id="35" name="Shape 33"/>
          <p:cNvSpPr/>
          <p:nvPr/>
        </p:nvSpPr>
        <p:spPr>
          <a:xfrm>
            <a:off x="5669280" y="3108960"/>
            <a:ext cx="548640" cy="530352"/>
          </a:xfrm>
          <a:prstGeom prst="rect">
            <a:avLst/>
          </a:prstGeom>
          <a:solidFill>
            <a:srgbClr val="3A7BAA"/>
          </a:solidFill>
          <a:ln w="12700">
            <a:solidFill>
              <a:srgbClr val="FFFFFF"/>
            </a:solidFill>
            <a:prstDash val="solid"/>
          </a:ln>
        </p:spPr>
        <p:txBody>
          <a:bodyPr/>
          <a:lstStyle/>
          <a:p>
            <a:endParaRPr lang="en-US"/>
          </a:p>
        </p:txBody>
      </p:sp>
      <p:sp>
        <p:nvSpPr>
          <p:cNvPr id="36" name="Text 34"/>
          <p:cNvSpPr/>
          <p:nvPr/>
        </p:nvSpPr>
        <p:spPr>
          <a:xfrm>
            <a:off x="5669280" y="3108960"/>
            <a:ext cx="548640" cy="530352"/>
          </a:xfrm>
          <a:prstGeom prst="rect">
            <a:avLst/>
          </a:prstGeom>
          <a:noFill/>
          <a:ln/>
        </p:spPr>
        <p:txBody>
          <a:bodyPr wrap="square" rtlCol="0" anchor="ctr"/>
          <a:lstStyle/>
          <a:p>
            <a:pPr marL="0" indent="0" algn="ctr">
              <a:buNone/>
            </a:pPr>
            <a:r>
              <a:rPr lang="en-US" sz="750" dirty="0">
                <a:solidFill>
                  <a:srgbClr val="FFFFFF"/>
                </a:solidFill>
              </a:rPr>
              <a:t>HIP</a:t>
            </a:r>
            <a:endParaRPr lang="en-US" sz="750" dirty="0"/>
          </a:p>
          <a:p>
            <a:pPr marL="0" indent="0" algn="ctr">
              <a:buNone/>
            </a:pPr>
            <a:r>
              <a:rPr lang="en-US" sz="750" dirty="0">
                <a:solidFill>
                  <a:srgbClr val="FFFFFF"/>
                </a:solidFill>
              </a:rPr>
              <a:t>20B</a:t>
            </a:r>
            <a:endParaRPr lang="en-US" sz="750" dirty="0"/>
          </a:p>
        </p:txBody>
      </p:sp>
      <p:sp>
        <p:nvSpPr>
          <p:cNvPr id="37" name="Shape 35"/>
          <p:cNvSpPr/>
          <p:nvPr/>
        </p:nvSpPr>
        <p:spPr>
          <a:xfrm>
            <a:off x="6217920" y="3108960"/>
            <a:ext cx="2606040" cy="530352"/>
          </a:xfrm>
          <a:prstGeom prst="rect">
            <a:avLst/>
          </a:prstGeom>
          <a:solidFill>
            <a:srgbClr val="1A4A1A"/>
          </a:solidFill>
          <a:ln w="12700">
            <a:solidFill>
              <a:srgbClr val="FFFFFF"/>
            </a:solidFill>
            <a:prstDash val="solid"/>
          </a:ln>
        </p:spPr>
        <p:txBody>
          <a:bodyPr/>
          <a:lstStyle/>
          <a:p>
            <a:endParaRPr lang="en-US"/>
          </a:p>
        </p:txBody>
      </p:sp>
      <p:sp>
        <p:nvSpPr>
          <p:cNvPr id="38" name="Text 36"/>
          <p:cNvSpPr/>
          <p:nvPr/>
        </p:nvSpPr>
        <p:spPr>
          <a:xfrm>
            <a:off x="6217920" y="3108960"/>
            <a:ext cx="2606040" cy="530352"/>
          </a:xfrm>
          <a:prstGeom prst="rect">
            <a:avLst/>
          </a:prstGeom>
          <a:noFill/>
          <a:ln/>
        </p:spPr>
        <p:txBody>
          <a:bodyPr wrap="square" rtlCol="0" anchor="ctr"/>
          <a:lstStyle/>
          <a:p>
            <a:pPr marL="0" indent="0" algn="ctr">
              <a:buNone/>
            </a:pPr>
            <a:r>
              <a:rPr lang="en-US" sz="1000" dirty="0">
                <a:solidFill>
                  <a:srgbClr val="FFFFFF"/>
                </a:solidFill>
              </a:rPr>
              <a:t>Datos: 600 B</a:t>
            </a:r>
            <a:endParaRPr lang="en-US" sz="1000" dirty="0"/>
          </a:p>
        </p:txBody>
      </p:sp>
      <p:sp>
        <p:nvSpPr>
          <p:cNvPr id="39" name="Shape 37"/>
          <p:cNvSpPr/>
          <p:nvPr/>
        </p:nvSpPr>
        <p:spPr>
          <a:xfrm>
            <a:off x="5669280" y="3730752"/>
            <a:ext cx="548640" cy="530352"/>
          </a:xfrm>
          <a:prstGeom prst="rect">
            <a:avLst/>
          </a:prstGeom>
          <a:solidFill>
            <a:srgbClr val="3A7BAA"/>
          </a:solidFill>
          <a:ln w="12700">
            <a:solidFill>
              <a:srgbClr val="FFFFFF"/>
            </a:solidFill>
            <a:prstDash val="solid"/>
          </a:ln>
        </p:spPr>
        <p:txBody>
          <a:bodyPr/>
          <a:lstStyle/>
          <a:p>
            <a:endParaRPr lang="en-US"/>
          </a:p>
        </p:txBody>
      </p:sp>
      <p:sp>
        <p:nvSpPr>
          <p:cNvPr id="40" name="Text 38"/>
          <p:cNvSpPr/>
          <p:nvPr/>
        </p:nvSpPr>
        <p:spPr>
          <a:xfrm>
            <a:off x="5669280" y="3730752"/>
            <a:ext cx="548640" cy="530352"/>
          </a:xfrm>
          <a:prstGeom prst="rect">
            <a:avLst/>
          </a:prstGeom>
          <a:noFill/>
          <a:ln/>
        </p:spPr>
        <p:txBody>
          <a:bodyPr wrap="square" rtlCol="0" anchor="ctr"/>
          <a:lstStyle/>
          <a:p>
            <a:pPr marL="0" indent="0" algn="ctr">
              <a:buNone/>
            </a:pPr>
            <a:r>
              <a:rPr lang="en-US" sz="750" dirty="0">
                <a:solidFill>
                  <a:srgbClr val="FFFFFF"/>
                </a:solidFill>
              </a:rPr>
              <a:t>HIP</a:t>
            </a:r>
            <a:endParaRPr lang="en-US" sz="750" dirty="0"/>
          </a:p>
          <a:p>
            <a:pPr marL="0" indent="0" algn="ctr">
              <a:buNone/>
            </a:pPr>
            <a:r>
              <a:rPr lang="en-US" sz="750" dirty="0">
                <a:solidFill>
                  <a:srgbClr val="FFFFFF"/>
                </a:solidFill>
              </a:rPr>
              <a:t>20B</a:t>
            </a:r>
            <a:endParaRPr lang="en-US" sz="750" dirty="0"/>
          </a:p>
        </p:txBody>
      </p:sp>
      <p:sp>
        <p:nvSpPr>
          <p:cNvPr id="41" name="Shape 39"/>
          <p:cNvSpPr/>
          <p:nvPr/>
        </p:nvSpPr>
        <p:spPr>
          <a:xfrm>
            <a:off x="6217920" y="3730752"/>
            <a:ext cx="2606040" cy="530352"/>
          </a:xfrm>
          <a:prstGeom prst="rect">
            <a:avLst/>
          </a:prstGeom>
          <a:solidFill>
            <a:srgbClr val="3A3A7A"/>
          </a:solidFill>
          <a:ln w="12700">
            <a:solidFill>
              <a:srgbClr val="FFFFFF"/>
            </a:solidFill>
            <a:prstDash val="solid"/>
          </a:ln>
        </p:spPr>
        <p:txBody>
          <a:bodyPr/>
          <a:lstStyle/>
          <a:p>
            <a:endParaRPr lang="en-US"/>
          </a:p>
        </p:txBody>
      </p:sp>
      <p:sp>
        <p:nvSpPr>
          <p:cNvPr id="42" name="Text 40"/>
          <p:cNvSpPr/>
          <p:nvPr/>
        </p:nvSpPr>
        <p:spPr>
          <a:xfrm>
            <a:off x="6217920" y="3730752"/>
            <a:ext cx="2606040" cy="530352"/>
          </a:xfrm>
          <a:prstGeom prst="rect">
            <a:avLst/>
          </a:prstGeom>
          <a:noFill/>
          <a:ln/>
        </p:spPr>
        <p:txBody>
          <a:bodyPr wrap="square" rtlCol="0" anchor="ctr"/>
          <a:lstStyle/>
          <a:p>
            <a:pPr marL="0" indent="0" algn="ctr">
              <a:buNone/>
            </a:pPr>
            <a:r>
              <a:rPr lang="en-US" sz="1000" dirty="0">
                <a:solidFill>
                  <a:srgbClr val="FFFFFF"/>
                </a:solidFill>
              </a:rPr>
              <a:t>Datos: 200 B</a:t>
            </a:r>
            <a:endParaRPr lang="en-US" sz="1000" dirty="0"/>
          </a:p>
        </p:txBody>
      </p:sp>
      <p:sp>
        <p:nvSpPr>
          <p:cNvPr id="43" name="Shape 41"/>
          <p:cNvSpPr/>
          <p:nvPr/>
        </p:nvSpPr>
        <p:spPr>
          <a:xfrm>
            <a:off x="274320" y="4297680"/>
            <a:ext cx="8412480" cy="347472"/>
          </a:xfrm>
          <a:prstGeom prst="rect">
            <a:avLst/>
          </a:prstGeom>
          <a:solidFill>
            <a:srgbClr val="B9DEF8"/>
          </a:solidFill>
          <a:ln w="12700">
            <a:solidFill>
              <a:srgbClr val="5AA8D8"/>
            </a:solidFill>
            <a:prstDash val="solid"/>
          </a:ln>
        </p:spPr>
        <p:txBody>
          <a:bodyPr/>
          <a:lstStyle/>
          <a:p>
            <a:endParaRPr lang="en-US"/>
          </a:p>
        </p:txBody>
      </p:sp>
      <p:sp>
        <p:nvSpPr>
          <p:cNvPr id="44" name="Text 42"/>
          <p:cNvSpPr/>
          <p:nvPr/>
        </p:nvSpPr>
        <p:spPr>
          <a:xfrm>
            <a:off x="411480" y="4315968"/>
            <a:ext cx="8138160" cy="310896"/>
          </a:xfrm>
          <a:prstGeom prst="rect">
            <a:avLst/>
          </a:prstGeom>
          <a:noFill/>
          <a:ln/>
        </p:spPr>
        <p:txBody>
          <a:bodyPr wrap="square" rtlCol="0" anchor="ctr"/>
          <a:lstStyle/>
          <a:p>
            <a:pPr marL="0" indent="0">
              <a:buNone/>
            </a:pPr>
            <a:r>
              <a:rPr lang="en-US" sz="1000" dirty="0">
                <a:solidFill>
                  <a:srgbClr val="2D3030"/>
                </a:solidFill>
              </a:rPr>
              <a:t>Regla: tamaño del fragmento = múltiplo de 8   |   campo 'Desplazamiento' del encabezado IP lo requiere</a:t>
            </a:r>
            <a:endParaRPr lang="en-US" sz="1000" dirty="0"/>
          </a:p>
        </p:txBody>
      </p:sp>
      <p:sp>
        <p:nvSpPr>
          <p:cNvPr id="45" name="Shape 43"/>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46" name="Text 44"/>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cálculo es: MTU (620) menos encabezado IP (20) = 600 bytes de datos por fragmento. 600 es múltiplo de 8, perfecto. Resultado: 3 fragmentos (600 + 600 + 200). Cada uno lleva su propio encabezado IP.</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El Proceso de Fragmentación — Paso a Paso</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Desde Host 1 hasta Host 5 cruzando tres redes</a:t>
            </a:r>
            <a:endParaRPr lang="en-US" sz="1300" dirty="0"/>
          </a:p>
        </p:txBody>
      </p:sp>
      <p:sp>
        <p:nvSpPr>
          <p:cNvPr id="6" name="Shape 4"/>
          <p:cNvSpPr/>
          <p:nvPr/>
        </p:nvSpPr>
        <p:spPr>
          <a:xfrm>
            <a:off x="274320" y="1188720"/>
            <a:ext cx="4206240" cy="960120"/>
          </a:xfrm>
          <a:prstGeom prst="rect">
            <a:avLst/>
          </a:prstGeom>
          <a:solidFill>
            <a:srgbClr val="1A2530"/>
          </a:solidFill>
          <a:ln w="12700">
            <a:solidFill>
              <a:srgbClr val="5AA8D8"/>
            </a:solidFill>
            <a:prstDash val="solid"/>
          </a:ln>
        </p:spPr>
        <p:txBody>
          <a:bodyPr/>
          <a:lstStyle/>
          <a:p>
            <a:endParaRPr lang="en-US"/>
          </a:p>
        </p:txBody>
      </p:sp>
      <p:sp>
        <p:nvSpPr>
          <p:cNvPr id="7" name="Shape 5"/>
          <p:cNvSpPr/>
          <p:nvPr/>
        </p:nvSpPr>
        <p:spPr>
          <a:xfrm>
            <a:off x="274320" y="1188720"/>
            <a:ext cx="457200" cy="96012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417320"/>
            <a:ext cx="457200" cy="502920"/>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9" name="Text 7"/>
          <p:cNvSpPr/>
          <p:nvPr/>
        </p:nvSpPr>
        <p:spPr>
          <a:xfrm>
            <a:off x="786384" y="1243584"/>
            <a:ext cx="3621024" cy="292608"/>
          </a:xfrm>
          <a:prstGeom prst="rect">
            <a:avLst/>
          </a:prstGeom>
          <a:noFill/>
          <a:ln/>
        </p:spPr>
        <p:txBody>
          <a:bodyPr wrap="square" rtlCol="0" anchor="ctr"/>
          <a:lstStyle/>
          <a:p>
            <a:pPr marL="0" indent="0">
              <a:buNone/>
            </a:pPr>
            <a:r>
              <a:rPr lang="en-US" sz="1100" b="1" dirty="0">
                <a:solidFill>
                  <a:srgbClr val="5AA8D8"/>
                </a:solidFill>
              </a:rPr>
              <a:t>Host 1 arma el datagrama</a:t>
            </a:r>
            <a:endParaRPr lang="en-US" sz="1100" dirty="0"/>
          </a:p>
        </p:txBody>
      </p:sp>
      <p:sp>
        <p:nvSpPr>
          <p:cNvPr id="10" name="Text 8"/>
          <p:cNvSpPr/>
          <p:nvPr/>
        </p:nvSpPr>
        <p:spPr>
          <a:xfrm>
            <a:off x="786384" y="1536192"/>
            <a:ext cx="3621024" cy="530352"/>
          </a:xfrm>
          <a:prstGeom prst="rect">
            <a:avLst/>
          </a:prstGeom>
          <a:noFill/>
          <a:ln/>
        </p:spPr>
        <p:txBody>
          <a:bodyPr wrap="square" rtlCol="0" anchor="t"/>
          <a:lstStyle/>
          <a:p>
            <a:pPr marL="0" indent="0">
              <a:buNone/>
            </a:pPr>
            <a:r>
              <a:rPr lang="en-US" sz="950" dirty="0">
                <a:solidFill>
                  <a:srgbClr val="FFFFFF"/>
                </a:solidFill>
              </a:rPr>
              <a:t>El software IP genera el datagrama (1400 B). Ethernet MTU=1500, cabe. ARP resuelve la dirección del Router 1.</a:t>
            </a:r>
            <a:endParaRPr lang="en-US" sz="950" dirty="0"/>
          </a:p>
        </p:txBody>
      </p:sp>
      <p:sp>
        <p:nvSpPr>
          <p:cNvPr id="11" name="Shape 9"/>
          <p:cNvSpPr/>
          <p:nvPr/>
        </p:nvSpPr>
        <p:spPr>
          <a:xfrm>
            <a:off x="274320" y="2286000"/>
            <a:ext cx="4206240" cy="960120"/>
          </a:xfrm>
          <a:prstGeom prst="rect">
            <a:avLst/>
          </a:prstGeom>
          <a:solidFill>
            <a:srgbClr val="1A2530"/>
          </a:solidFill>
          <a:ln w="12700">
            <a:solidFill>
              <a:srgbClr val="5AA8D8"/>
            </a:solidFill>
            <a:prstDash val="solid"/>
          </a:ln>
        </p:spPr>
        <p:txBody>
          <a:bodyPr/>
          <a:lstStyle/>
          <a:p>
            <a:endParaRPr lang="en-US"/>
          </a:p>
        </p:txBody>
      </p:sp>
      <p:sp>
        <p:nvSpPr>
          <p:cNvPr id="12" name="Shape 10"/>
          <p:cNvSpPr/>
          <p:nvPr/>
        </p:nvSpPr>
        <p:spPr>
          <a:xfrm>
            <a:off x="274320" y="2286000"/>
            <a:ext cx="457200" cy="960120"/>
          </a:xfrm>
          <a:prstGeom prst="rect">
            <a:avLst/>
          </a:prstGeom>
          <a:solidFill>
            <a:srgbClr val="5AA8D8"/>
          </a:solidFill>
          <a:ln w="12700">
            <a:solidFill>
              <a:srgbClr val="5AA8D8"/>
            </a:solidFill>
            <a:prstDash val="solid"/>
          </a:ln>
        </p:spPr>
        <p:txBody>
          <a:bodyPr/>
          <a:lstStyle/>
          <a:p>
            <a:endParaRPr lang="en-US"/>
          </a:p>
        </p:txBody>
      </p:sp>
      <p:sp>
        <p:nvSpPr>
          <p:cNvPr id="13" name="Text 11"/>
          <p:cNvSpPr/>
          <p:nvPr/>
        </p:nvSpPr>
        <p:spPr>
          <a:xfrm>
            <a:off x="274320" y="2514600"/>
            <a:ext cx="457200" cy="502920"/>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4" name="Text 12"/>
          <p:cNvSpPr/>
          <p:nvPr/>
        </p:nvSpPr>
        <p:spPr>
          <a:xfrm>
            <a:off x="786384" y="2340864"/>
            <a:ext cx="3621024" cy="292608"/>
          </a:xfrm>
          <a:prstGeom prst="rect">
            <a:avLst/>
          </a:prstGeom>
          <a:noFill/>
          <a:ln/>
        </p:spPr>
        <p:txBody>
          <a:bodyPr wrap="square" rtlCol="0" anchor="ctr"/>
          <a:lstStyle/>
          <a:p>
            <a:pPr marL="0" indent="0">
              <a:buNone/>
            </a:pPr>
            <a:r>
              <a:rPr lang="en-US" sz="1100" b="1" dirty="0">
                <a:solidFill>
                  <a:srgbClr val="5AA8D8"/>
                </a:solidFill>
              </a:rPr>
              <a:t>Router 1 detecta MTU menor</a:t>
            </a:r>
            <a:endParaRPr lang="en-US" sz="1100" dirty="0"/>
          </a:p>
        </p:txBody>
      </p:sp>
      <p:sp>
        <p:nvSpPr>
          <p:cNvPr id="15" name="Text 13"/>
          <p:cNvSpPr/>
          <p:nvPr/>
        </p:nvSpPr>
        <p:spPr>
          <a:xfrm>
            <a:off x="786384" y="2633472"/>
            <a:ext cx="3621024" cy="530352"/>
          </a:xfrm>
          <a:prstGeom prst="rect">
            <a:avLst/>
          </a:prstGeom>
          <a:noFill/>
          <a:ln/>
        </p:spPr>
        <p:txBody>
          <a:bodyPr wrap="square" rtlCol="0" anchor="t"/>
          <a:lstStyle/>
          <a:p>
            <a:pPr marL="0" indent="0">
              <a:buNone/>
            </a:pPr>
            <a:r>
              <a:rPr lang="en-US" sz="950" dirty="0">
                <a:solidFill>
                  <a:srgbClr val="FFFFFF"/>
                </a:solidFill>
              </a:rPr>
              <a:t>Recibe el paquete, elimina encabezado ARP, lee IP destino. La red siguiente tiene MTU 620. Decide fragmentar.</a:t>
            </a:r>
            <a:endParaRPr lang="en-US" sz="950" dirty="0"/>
          </a:p>
        </p:txBody>
      </p:sp>
      <p:sp>
        <p:nvSpPr>
          <p:cNvPr id="16" name="Shape 14"/>
          <p:cNvSpPr/>
          <p:nvPr/>
        </p:nvSpPr>
        <p:spPr>
          <a:xfrm>
            <a:off x="274320" y="3383280"/>
            <a:ext cx="4206240" cy="960120"/>
          </a:xfrm>
          <a:prstGeom prst="rect">
            <a:avLst/>
          </a:prstGeom>
          <a:solidFill>
            <a:srgbClr val="1A2530"/>
          </a:solidFill>
          <a:ln w="12700">
            <a:solidFill>
              <a:srgbClr val="5AA8D8"/>
            </a:solidFill>
            <a:prstDash val="solid"/>
          </a:ln>
        </p:spPr>
        <p:txBody>
          <a:bodyPr/>
          <a:lstStyle/>
          <a:p>
            <a:endParaRPr lang="en-US"/>
          </a:p>
        </p:txBody>
      </p:sp>
      <p:sp>
        <p:nvSpPr>
          <p:cNvPr id="17" name="Shape 15"/>
          <p:cNvSpPr/>
          <p:nvPr/>
        </p:nvSpPr>
        <p:spPr>
          <a:xfrm>
            <a:off x="274320" y="3383280"/>
            <a:ext cx="457200" cy="960120"/>
          </a:xfrm>
          <a:prstGeom prst="rect">
            <a:avLst/>
          </a:prstGeom>
          <a:solidFill>
            <a:srgbClr val="5AA8D8"/>
          </a:solidFill>
          <a:ln w="12700">
            <a:solidFill>
              <a:srgbClr val="5AA8D8"/>
            </a:solidFill>
            <a:prstDash val="solid"/>
          </a:ln>
        </p:spPr>
        <p:txBody>
          <a:bodyPr/>
          <a:lstStyle/>
          <a:p>
            <a:endParaRPr lang="en-US"/>
          </a:p>
        </p:txBody>
      </p:sp>
      <p:sp>
        <p:nvSpPr>
          <p:cNvPr id="18" name="Text 16"/>
          <p:cNvSpPr/>
          <p:nvPr/>
        </p:nvSpPr>
        <p:spPr>
          <a:xfrm>
            <a:off x="274320" y="3611880"/>
            <a:ext cx="457200" cy="502920"/>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19" name="Text 17"/>
          <p:cNvSpPr/>
          <p:nvPr/>
        </p:nvSpPr>
        <p:spPr>
          <a:xfrm>
            <a:off x="786384" y="3438144"/>
            <a:ext cx="3621024" cy="292608"/>
          </a:xfrm>
          <a:prstGeom prst="rect">
            <a:avLst/>
          </a:prstGeom>
          <a:noFill/>
          <a:ln/>
        </p:spPr>
        <p:txBody>
          <a:bodyPr wrap="square" rtlCol="0" anchor="ctr"/>
          <a:lstStyle/>
          <a:p>
            <a:pPr marL="0" indent="0">
              <a:buNone/>
            </a:pPr>
            <a:r>
              <a:rPr lang="en-US" sz="1100" b="1" dirty="0">
                <a:solidFill>
                  <a:srgbClr val="5AA8D8"/>
                </a:solidFill>
              </a:rPr>
              <a:t>Fragmentación en Router 1</a:t>
            </a:r>
            <a:endParaRPr lang="en-US" sz="1100" dirty="0"/>
          </a:p>
        </p:txBody>
      </p:sp>
      <p:sp>
        <p:nvSpPr>
          <p:cNvPr id="20" name="Text 18"/>
          <p:cNvSpPr/>
          <p:nvPr/>
        </p:nvSpPr>
        <p:spPr>
          <a:xfrm>
            <a:off x="786384" y="3730752"/>
            <a:ext cx="3621024" cy="530352"/>
          </a:xfrm>
          <a:prstGeom prst="rect">
            <a:avLst/>
          </a:prstGeom>
          <a:noFill/>
          <a:ln/>
        </p:spPr>
        <p:txBody>
          <a:bodyPr wrap="square" rtlCol="0" anchor="t"/>
          <a:lstStyle/>
          <a:p>
            <a:pPr marL="0" indent="0">
              <a:buNone/>
            </a:pPr>
            <a:r>
              <a:rPr lang="en-US" sz="950" dirty="0">
                <a:solidFill>
                  <a:srgbClr val="FFFFFF"/>
                </a:solidFill>
              </a:rPr>
              <a:t>Divide en 3 fragmentos: 620B + 620B + 220B (encabezado 20B + datos). Cada uno lleva IPs Origen/Destino originales.</a:t>
            </a:r>
            <a:endParaRPr lang="en-US" sz="950" dirty="0"/>
          </a:p>
        </p:txBody>
      </p:sp>
      <p:sp>
        <p:nvSpPr>
          <p:cNvPr id="21" name="Shape 19"/>
          <p:cNvSpPr/>
          <p:nvPr/>
        </p:nvSpPr>
        <p:spPr>
          <a:xfrm>
            <a:off x="4846320" y="1188720"/>
            <a:ext cx="4206240" cy="960120"/>
          </a:xfrm>
          <a:prstGeom prst="rect">
            <a:avLst/>
          </a:prstGeom>
          <a:solidFill>
            <a:srgbClr val="1A2530"/>
          </a:solidFill>
          <a:ln w="12700">
            <a:solidFill>
              <a:srgbClr val="5AA8D8"/>
            </a:solidFill>
            <a:prstDash val="solid"/>
          </a:ln>
        </p:spPr>
        <p:txBody>
          <a:bodyPr/>
          <a:lstStyle/>
          <a:p>
            <a:endParaRPr lang="en-US"/>
          </a:p>
        </p:txBody>
      </p:sp>
      <p:sp>
        <p:nvSpPr>
          <p:cNvPr id="22" name="Shape 20"/>
          <p:cNvSpPr/>
          <p:nvPr/>
        </p:nvSpPr>
        <p:spPr>
          <a:xfrm>
            <a:off x="4846320" y="1188720"/>
            <a:ext cx="457200" cy="960120"/>
          </a:xfrm>
          <a:prstGeom prst="rect">
            <a:avLst/>
          </a:prstGeom>
          <a:solidFill>
            <a:srgbClr val="5AA8D8"/>
          </a:solidFill>
          <a:ln w="12700">
            <a:solidFill>
              <a:srgbClr val="5AA8D8"/>
            </a:solidFill>
            <a:prstDash val="solid"/>
          </a:ln>
        </p:spPr>
        <p:txBody>
          <a:bodyPr/>
          <a:lstStyle/>
          <a:p>
            <a:endParaRPr lang="en-US"/>
          </a:p>
        </p:txBody>
      </p:sp>
      <p:sp>
        <p:nvSpPr>
          <p:cNvPr id="23" name="Text 21"/>
          <p:cNvSpPr/>
          <p:nvPr/>
        </p:nvSpPr>
        <p:spPr>
          <a:xfrm>
            <a:off x="4846320" y="1417320"/>
            <a:ext cx="457200" cy="502920"/>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24" name="Text 22"/>
          <p:cNvSpPr/>
          <p:nvPr/>
        </p:nvSpPr>
        <p:spPr>
          <a:xfrm>
            <a:off x="5358384" y="1243584"/>
            <a:ext cx="3621024" cy="292608"/>
          </a:xfrm>
          <a:prstGeom prst="rect">
            <a:avLst/>
          </a:prstGeom>
          <a:noFill/>
          <a:ln/>
        </p:spPr>
        <p:txBody>
          <a:bodyPr wrap="square" rtlCol="0" anchor="ctr"/>
          <a:lstStyle/>
          <a:p>
            <a:pPr marL="0" indent="0">
              <a:buNone/>
            </a:pPr>
            <a:r>
              <a:rPr lang="en-US" sz="1100" b="1" dirty="0">
                <a:solidFill>
                  <a:srgbClr val="5AA8D8"/>
                </a:solidFill>
              </a:rPr>
              <a:t>Router 2 reenvía sin reensamblar</a:t>
            </a:r>
            <a:endParaRPr lang="en-US" sz="1100" dirty="0"/>
          </a:p>
        </p:txBody>
      </p:sp>
      <p:sp>
        <p:nvSpPr>
          <p:cNvPr id="25" name="Text 23"/>
          <p:cNvSpPr/>
          <p:nvPr/>
        </p:nvSpPr>
        <p:spPr>
          <a:xfrm>
            <a:off x="5358384" y="1536192"/>
            <a:ext cx="3621024" cy="530352"/>
          </a:xfrm>
          <a:prstGeom prst="rect">
            <a:avLst/>
          </a:prstGeom>
          <a:noFill/>
          <a:ln/>
        </p:spPr>
        <p:txBody>
          <a:bodyPr wrap="square" rtlCol="0" anchor="t"/>
          <a:lstStyle/>
          <a:p>
            <a:pPr marL="0" indent="0">
              <a:buNone/>
            </a:pPr>
            <a:r>
              <a:rPr lang="en-US" sz="950" dirty="0">
                <a:solidFill>
                  <a:srgbClr val="FFFFFF"/>
                </a:solidFill>
              </a:rPr>
              <a:t>Recibe los 3 fragmentos. Red destino tiene MTU 1500. Los reenvía sin reensamblado hacia la Red 3.</a:t>
            </a:r>
            <a:endParaRPr lang="en-US" sz="950" dirty="0"/>
          </a:p>
        </p:txBody>
      </p:sp>
      <p:sp>
        <p:nvSpPr>
          <p:cNvPr id="26" name="Shape 24"/>
          <p:cNvSpPr/>
          <p:nvPr/>
        </p:nvSpPr>
        <p:spPr>
          <a:xfrm>
            <a:off x="4846320" y="2286000"/>
            <a:ext cx="4206240" cy="960120"/>
          </a:xfrm>
          <a:prstGeom prst="rect">
            <a:avLst/>
          </a:prstGeom>
          <a:solidFill>
            <a:srgbClr val="1A2530"/>
          </a:solidFill>
          <a:ln w="12700">
            <a:solidFill>
              <a:srgbClr val="5AA8D8"/>
            </a:solidFill>
            <a:prstDash val="solid"/>
          </a:ln>
        </p:spPr>
        <p:txBody>
          <a:bodyPr/>
          <a:lstStyle/>
          <a:p>
            <a:endParaRPr lang="en-US"/>
          </a:p>
        </p:txBody>
      </p:sp>
      <p:sp>
        <p:nvSpPr>
          <p:cNvPr id="27" name="Shape 25"/>
          <p:cNvSpPr/>
          <p:nvPr/>
        </p:nvSpPr>
        <p:spPr>
          <a:xfrm>
            <a:off x="4846320" y="2286000"/>
            <a:ext cx="457200" cy="960120"/>
          </a:xfrm>
          <a:prstGeom prst="rect">
            <a:avLst/>
          </a:prstGeom>
          <a:solidFill>
            <a:srgbClr val="5AA8D8"/>
          </a:solidFill>
          <a:ln w="12700">
            <a:solidFill>
              <a:srgbClr val="5AA8D8"/>
            </a:solidFill>
            <a:prstDash val="solid"/>
          </a:ln>
        </p:spPr>
        <p:txBody>
          <a:bodyPr/>
          <a:lstStyle/>
          <a:p>
            <a:endParaRPr lang="en-US"/>
          </a:p>
        </p:txBody>
      </p:sp>
      <p:sp>
        <p:nvSpPr>
          <p:cNvPr id="28" name="Text 26"/>
          <p:cNvSpPr/>
          <p:nvPr/>
        </p:nvSpPr>
        <p:spPr>
          <a:xfrm>
            <a:off x="4846320" y="2514600"/>
            <a:ext cx="457200" cy="502920"/>
          </a:xfrm>
          <a:prstGeom prst="rect">
            <a:avLst/>
          </a:prstGeom>
          <a:noFill/>
          <a:ln/>
        </p:spPr>
        <p:txBody>
          <a:bodyPr wrap="square" rtlCol="0" anchor="ctr"/>
          <a:lstStyle/>
          <a:p>
            <a:pPr marL="0" indent="0" algn="ctr">
              <a:buNone/>
            </a:pPr>
            <a:r>
              <a:rPr lang="en-US" sz="1500" b="1" dirty="0">
                <a:solidFill>
                  <a:srgbClr val="FFFFFF"/>
                </a:solidFill>
              </a:rPr>
              <a:t>5</a:t>
            </a:r>
            <a:endParaRPr lang="en-US" sz="1500" dirty="0"/>
          </a:p>
        </p:txBody>
      </p:sp>
      <p:sp>
        <p:nvSpPr>
          <p:cNvPr id="29" name="Text 27"/>
          <p:cNvSpPr/>
          <p:nvPr/>
        </p:nvSpPr>
        <p:spPr>
          <a:xfrm>
            <a:off x="5358384" y="2340864"/>
            <a:ext cx="3621024" cy="292608"/>
          </a:xfrm>
          <a:prstGeom prst="rect">
            <a:avLst/>
          </a:prstGeom>
          <a:noFill/>
          <a:ln/>
        </p:spPr>
        <p:txBody>
          <a:bodyPr wrap="square" rtlCol="0" anchor="ctr"/>
          <a:lstStyle/>
          <a:p>
            <a:pPr marL="0" indent="0">
              <a:buNone/>
            </a:pPr>
            <a:r>
              <a:rPr lang="en-US" sz="1100" b="1" dirty="0">
                <a:solidFill>
                  <a:srgbClr val="5AA8D8"/>
                </a:solidFill>
              </a:rPr>
              <a:t>Host 5 reensambla</a:t>
            </a:r>
            <a:endParaRPr lang="en-US" sz="1100" dirty="0"/>
          </a:p>
        </p:txBody>
      </p:sp>
      <p:sp>
        <p:nvSpPr>
          <p:cNvPr id="30" name="Text 28"/>
          <p:cNvSpPr/>
          <p:nvPr/>
        </p:nvSpPr>
        <p:spPr>
          <a:xfrm>
            <a:off x="5358384" y="2633472"/>
            <a:ext cx="3621024" cy="530352"/>
          </a:xfrm>
          <a:prstGeom prst="rect">
            <a:avLst/>
          </a:prstGeom>
          <a:noFill/>
          <a:ln/>
        </p:spPr>
        <p:txBody>
          <a:bodyPr wrap="square" rtlCol="0" anchor="t"/>
          <a:lstStyle/>
          <a:p>
            <a:pPr marL="0" indent="0">
              <a:buNone/>
            </a:pPr>
            <a:r>
              <a:rPr lang="en-US" sz="950" dirty="0">
                <a:solidFill>
                  <a:srgbClr val="FFFFFF"/>
                </a:solidFill>
              </a:rPr>
              <a:t>El host destino recibe los 3 fragmentos y los reensambla en el datagrama original. Solo el destino final reensambla.</a:t>
            </a:r>
            <a:endParaRPr lang="en-US" sz="950" dirty="0"/>
          </a:p>
        </p:txBody>
      </p:sp>
      <p:sp>
        <p:nvSpPr>
          <p:cNvPr id="31" name="Shape 29"/>
          <p:cNvSpPr/>
          <p:nvPr/>
        </p:nvSpPr>
        <p:spPr>
          <a:xfrm>
            <a:off x="274320" y="4114800"/>
            <a:ext cx="8412480" cy="384048"/>
          </a:xfrm>
          <a:prstGeom prst="rect">
            <a:avLst/>
          </a:prstGeom>
          <a:solidFill>
            <a:srgbClr val="1A3A1A"/>
          </a:solidFill>
          <a:ln w="12700">
            <a:solidFill>
              <a:srgbClr val="217346"/>
            </a:solidFill>
            <a:prstDash val="solid"/>
          </a:ln>
        </p:spPr>
        <p:txBody>
          <a:bodyPr/>
          <a:lstStyle/>
          <a:p>
            <a:endParaRPr lang="en-US"/>
          </a:p>
        </p:txBody>
      </p:sp>
      <p:sp>
        <p:nvSpPr>
          <p:cNvPr id="32" name="Text 30"/>
          <p:cNvSpPr/>
          <p:nvPr/>
        </p:nvSpPr>
        <p:spPr>
          <a:xfrm>
            <a:off x="411480" y="4133088"/>
            <a:ext cx="8138160" cy="347472"/>
          </a:xfrm>
          <a:prstGeom prst="rect">
            <a:avLst/>
          </a:prstGeom>
          <a:noFill/>
          <a:ln/>
        </p:spPr>
        <p:txBody>
          <a:bodyPr wrap="square" rtlCol="0" anchor="ctr"/>
          <a:lstStyle/>
          <a:p>
            <a:pPr marL="0" indent="0">
              <a:buNone/>
            </a:pPr>
            <a:r>
              <a:rPr lang="en-US" sz="1050" b="1" dirty="0">
                <a:solidFill>
                  <a:srgbClr val="90EE90"/>
                </a:solidFill>
              </a:rPr>
              <a:t>IMPORTANTE:  Los routers FRAGMENTAN pero NO reensamblados.  Solo el HOST DESTINO reensambla los fragmentos.</a:t>
            </a:r>
            <a:endParaRPr lang="en-US" sz="1050" dirty="0"/>
          </a:p>
        </p:txBody>
      </p:sp>
      <p:sp>
        <p:nvSpPr>
          <p:cNvPr id="33" name="Shape 31"/>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4" name="Text 32"/>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reensamblado SOLO lo hace el host destino. Los routers intermedios nunca reensamblan. Esto es porque un router no sabe si recibirá todos los fragmentos, ni en qué orden.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MTU, MSS y los Encabezados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La fórmula que explica qué datos realmente viajan</a:t>
            </a:r>
            <a:endParaRPr lang="en-US" sz="1300" dirty="0"/>
          </a:p>
        </p:txBody>
      </p:sp>
      <p:sp>
        <p:nvSpPr>
          <p:cNvPr id="6" name="Text 4"/>
          <p:cNvSpPr/>
          <p:nvPr/>
        </p:nvSpPr>
        <p:spPr>
          <a:xfrm>
            <a:off x="274320" y="1143000"/>
            <a:ext cx="5303520" cy="1097280"/>
          </a:xfrm>
          <a:prstGeom prst="rect">
            <a:avLst/>
          </a:prstGeom>
          <a:noFill/>
          <a:ln/>
        </p:spPr>
        <p:txBody>
          <a:bodyPr wrap="square" lIns="101600" tIns="101600" rIns="101600" bIns="101600" rtlCol="0" anchor="ctr"/>
          <a:lstStyle/>
          <a:p>
            <a:pPr marL="0" indent="0">
              <a:buNone/>
            </a:pPr>
            <a:r>
              <a:rPr lang="en-US" sz="1600" b="1" dirty="0">
                <a:solidFill>
                  <a:srgbClr val="2D3030"/>
                </a:solidFill>
              </a:rPr>
              <a:t>MTU = Encabezados + MSS
</a:t>
            </a:r>
            <a:r>
              <a:rPr lang="en-US" sz="1200" dirty="0">
                <a:solidFill>
                  <a:srgbClr val="404040"/>
                </a:solidFill>
              </a:rPr>
              <a:t>MSS (Maximum Segment Size) es la cantidad real de datos útiles. MTU incluye también los encabezados TCP/IP.</a:t>
            </a:r>
            <a:endParaRPr lang="en-US" sz="1600" dirty="0"/>
          </a:p>
        </p:txBody>
      </p:sp>
      <p:sp>
        <p:nvSpPr>
          <p:cNvPr id="7" name="Shape 5"/>
          <p:cNvSpPr/>
          <p:nvPr/>
        </p:nvSpPr>
        <p:spPr>
          <a:xfrm>
            <a:off x="274320" y="2286000"/>
            <a:ext cx="8412480" cy="822960"/>
          </a:xfrm>
          <a:prstGeom prst="rect">
            <a:avLst/>
          </a:prstGeom>
          <a:solidFill>
            <a:srgbClr val="2D3030"/>
          </a:solidFill>
          <a:ln w="25400">
            <a:solidFill>
              <a:srgbClr val="5AA8D8"/>
            </a:solidFill>
            <a:prstDash val="solid"/>
          </a:ln>
        </p:spPr>
        <p:txBody>
          <a:bodyPr/>
          <a:lstStyle/>
          <a:p>
            <a:endParaRPr lang="en-US"/>
          </a:p>
        </p:txBody>
      </p:sp>
      <p:sp>
        <p:nvSpPr>
          <p:cNvPr id="8" name="Shape 6"/>
          <p:cNvSpPr/>
          <p:nvPr/>
        </p:nvSpPr>
        <p:spPr>
          <a:xfrm>
            <a:off x="365760" y="2359152"/>
            <a:ext cx="1371600" cy="658368"/>
          </a:xfrm>
          <a:prstGeom prst="rect">
            <a:avLst/>
          </a:prstGeom>
          <a:solidFill>
            <a:srgbClr val="3A7BAA"/>
          </a:solidFill>
          <a:ln w="12700">
            <a:solidFill>
              <a:srgbClr val="FFFFFF"/>
            </a:solidFill>
            <a:prstDash val="solid"/>
          </a:ln>
        </p:spPr>
        <p:txBody>
          <a:bodyPr/>
          <a:lstStyle/>
          <a:p>
            <a:endParaRPr lang="en-US"/>
          </a:p>
        </p:txBody>
      </p:sp>
      <p:sp>
        <p:nvSpPr>
          <p:cNvPr id="9" name="Text 7"/>
          <p:cNvSpPr/>
          <p:nvPr/>
        </p:nvSpPr>
        <p:spPr>
          <a:xfrm>
            <a:off x="365760" y="2359152"/>
            <a:ext cx="1371600" cy="658368"/>
          </a:xfrm>
          <a:prstGeom prst="rect">
            <a:avLst/>
          </a:prstGeom>
          <a:noFill/>
          <a:ln/>
        </p:spPr>
        <p:txBody>
          <a:bodyPr wrap="square" rtlCol="0" anchor="ctr"/>
          <a:lstStyle/>
          <a:p>
            <a:pPr marL="0" indent="0" algn="ctr">
              <a:buNone/>
            </a:pPr>
            <a:r>
              <a:rPr lang="en-US" sz="900" b="1" dirty="0">
                <a:solidFill>
                  <a:srgbClr val="FFFFFF"/>
                </a:solidFill>
              </a:rPr>
              <a:t>Encabezado IP</a:t>
            </a:r>
            <a:endParaRPr lang="en-US" sz="900" dirty="0"/>
          </a:p>
          <a:p>
            <a:pPr marL="0" indent="0" algn="ctr">
              <a:buNone/>
            </a:pPr>
            <a:r>
              <a:rPr lang="en-US" sz="900" b="1" dirty="0">
                <a:solidFill>
                  <a:srgbClr val="FFFFFF"/>
                </a:solidFill>
              </a:rPr>
              <a:t>20 Bytes</a:t>
            </a:r>
            <a:endParaRPr lang="en-US" sz="900" dirty="0"/>
          </a:p>
        </p:txBody>
      </p:sp>
      <p:sp>
        <p:nvSpPr>
          <p:cNvPr id="10" name="Shape 8"/>
          <p:cNvSpPr/>
          <p:nvPr/>
        </p:nvSpPr>
        <p:spPr>
          <a:xfrm>
            <a:off x="1755648" y="2359152"/>
            <a:ext cx="1097280" cy="658368"/>
          </a:xfrm>
          <a:prstGeom prst="rect">
            <a:avLst/>
          </a:prstGeom>
          <a:solidFill>
            <a:srgbClr val="3A5A7A"/>
          </a:solidFill>
          <a:ln w="12700">
            <a:solidFill>
              <a:srgbClr val="FFFFFF"/>
            </a:solidFill>
            <a:prstDash val="solid"/>
          </a:ln>
        </p:spPr>
        <p:txBody>
          <a:bodyPr/>
          <a:lstStyle/>
          <a:p>
            <a:endParaRPr lang="en-US"/>
          </a:p>
        </p:txBody>
      </p:sp>
      <p:sp>
        <p:nvSpPr>
          <p:cNvPr id="11" name="Text 9"/>
          <p:cNvSpPr/>
          <p:nvPr/>
        </p:nvSpPr>
        <p:spPr>
          <a:xfrm>
            <a:off x="1755648" y="2359152"/>
            <a:ext cx="1097280" cy="658368"/>
          </a:xfrm>
          <a:prstGeom prst="rect">
            <a:avLst/>
          </a:prstGeom>
          <a:noFill/>
          <a:ln/>
        </p:spPr>
        <p:txBody>
          <a:bodyPr wrap="square" rtlCol="0" anchor="ctr"/>
          <a:lstStyle/>
          <a:p>
            <a:pPr marL="0" indent="0" algn="ctr">
              <a:buNone/>
            </a:pPr>
            <a:r>
              <a:rPr lang="en-US" sz="900" b="1" dirty="0">
                <a:solidFill>
                  <a:srgbClr val="FFFFFF"/>
                </a:solidFill>
              </a:rPr>
              <a:t>ICMP/TCP</a:t>
            </a:r>
            <a:endParaRPr lang="en-US" sz="900" dirty="0"/>
          </a:p>
          <a:p>
            <a:pPr marL="0" indent="0" algn="ctr">
              <a:buNone/>
            </a:pPr>
            <a:r>
              <a:rPr lang="en-US" sz="900" b="1" dirty="0">
                <a:solidFill>
                  <a:srgbClr val="FFFFFF"/>
                </a:solidFill>
              </a:rPr>
              <a:t>8 Bytes</a:t>
            </a:r>
            <a:endParaRPr lang="en-US" sz="900" dirty="0"/>
          </a:p>
        </p:txBody>
      </p:sp>
      <p:sp>
        <p:nvSpPr>
          <p:cNvPr id="12" name="Shape 10"/>
          <p:cNvSpPr/>
          <p:nvPr/>
        </p:nvSpPr>
        <p:spPr>
          <a:xfrm>
            <a:off x="2871216" y="2359152"/>
            <a:ext cx="5687568" cy="658368"/>
          </a:xfrm>
          <a:prstGeom prst="rect">
            <a:avLst/>
          </a:prstGeom>
          <a:solidFill>
            <a:srgbClr val="217346"/>
          </a:solidFill>
          <a:ln w="12700">
            <a:solidFill>
              <a:srgbClr val="FFFFFF"/>
            </a:solidFill>
            <a:prstDash val="solid"/>
          </a:ln>
        </p:spPr>
        <p:txBody>
          <a:bodyPr/>
          <a:lstStyle/>
          <a:p>
            <a:endParaRPr lang="en-US"/>
          </a:p>
        </p:txBody>
      </p:sp>
      <p:sp>
        <p:nvSpPr>
          <p:cNvPr id="13" name="Text 11"/>
          <p:cNvSpPr/>
          <p:nvPr/>
        </p:nvSpPr>
        <p:spPr>
          <a:xfrm>
            <a:off x="2871216" y="2359152"/>
            <a:ext cx="5687568" cy="658368"/>
          </a:xfrm>
          <a:prstGeom prst="rect">
            <a:avLst/>
          </a:prstGeom>
          <a:noFill/>
          <a:ln/>
        </p:spPr>
        <p:txBody>
          <a:bodyPr wrap="square" rtlCol="0" anchor="ctr"/>
          <a:lstStyle/>
          <a:p>
            <a:pPr marL="0" indent="0" algn="ctr">
              <a:buNone/>
            </a:pPr>
            <a:r>
              <a:rPr lang="en-US" sz="1050" b="1" dirty="0">
                <a:solidFill>
                  <a:srgbClr val="FFFFFF"/>
                </a:solidFill>
              </a:rPr>
              <a:t>MSS — Datos útiles: 1472 Bytes (para Ethernet MTU=1500)</a:t>
            </a:r>
            <a:endParaRPr lang="en-US" sz="1050" dirty="0"/>
          </a:p>
        </p:txBody>
      </p:sp>
      <p:sp>
        <p:nvSpPr>
          <p:cNvPr id="14" name="Text 12"/>
          <p:cNvSpPr/>
          <p:nvPr/>
        </p:nvSpPr>
        <p:spPr>
          <a:xfrm>
            <a:off x="274320" y="3063240"/>
            <a:ext cx="8412480" cy="274320"/>
          </a:xfrm>
          <a:prstGeom prst="rect">
            <a:avLst/>
          </a:prstGeom>
          <a:noFill/>
          <a:ln/>
        </p:spPr>
        <p:txBody>
          <a:bodyPr wrap="square" rtlCol="0" anchor="ctr"/>
          <a:lstStyle/>
          <a:p>
            <a:pPr marL="0" indent="0" algn="ctr">
              <a:buNone/>
            </a:pPr>
            <a:r>
              <a:rPr lang="en-US" sz="950" dirty="0">
                <a:solidFill>
                  <a:srgbClr val="5AA8D8"/>
                </a:solidFill>
              </a:rPr>
              <a:t>◄────────────────────── MTU = 1500 Bytes (Ethernet) ──────────────────────────►</a:t>
            </a:r>
            <a:endParaRPr lang="en-US" sz="950" dirty="0"/>
          </a:p>
        </p:txBody>
      </p:sp>
      <p:sp>
        <p:nvSpPr>
          <p:cNvPr id="15" name="Shape 13"/>
          <p:cNvSpPr/>
          <p:nvPr/>
        </p:nvSpPr>
        <p:spPr>
          <a:xfrm>
            <a:off x="274320" y="3383280"/>
            <a:ext cx="8412480" cy="1005840"/>
          </a:xfrm>
          <a:prstGeom prst="rect">
            <a:avLst/>
          </a:prstGeom>
          <a:solidFill>
            <a:srgbClr val="E8F4FC"/>
          </a:solidFill>
          <a:ln w="19050">
            <a:solidFill>
              <a:srgbClr val="5AA8D8"/>
            </a:solidFill>
            <a:prstDash val="solid"/>
          </a:ln>
        </p:spPr>
        <p:txBody>
          <a:bodyPr/>
          <a:lstStyle/>
          <a:p>
            <a:endParaRPr lang="en-US"/>
          </a:p>
        </p:txBody>
      </p:sp>
      <p:sp>
        <p:nvSpPr>
          <p:cNvPr id="16" name="Text 14"/>
          <p:cNvSpPr/>
          <p:nvPr/>
        </p:nvSpPr>
        <p:spPr>
          <a:xfrm>
            <a:off x="411480" y="3429000"/>
            <a:ext cx="8229600" cy="292608"/>
          </a:xfrm>
          <a:prstGeom prst="rect">
            <a:avLst/>
          </a:prstGeom>
          <a:noFill/>
          <a:ln/>
        </p:spPr>
        <p:txBody>
          <a:bodyPr wrap="square" rtlCol="0" anchor="ctr"/>
          <a:lstStyle/>
          <a:p>
            <a:pPr marL="0" indent="0">
              <a:buNone/>
            </a:pPr>
            <a:r>
              <a:rPr lang="en-US" sz="1150" b="1" dirty="0">
                <a:solidFill>
                  <a:srgbClr val="2D3030"/>
                </a:solidFill>
              </a:rPr>
              <a:t>Cálculo típico para Ethernet (MTU = 1500 B):</a:t>
            </a:r>
            <a:endParaRPr lang="en-US" sz="1150" dirty="0"/>
          </a:p>
        </p:txBody>
      </p:sp>
      <p:sp>
        <p:nvSpPr>
          <p:cNvPr id="17" name="Text 15"/>
          <p:cNvSpPr/>
          <p:nvPr/>
        </p:nvSpPr>
        <p:spPr>
          <a:xfrm>
            <a:off x="411480" y="3712464"/>
            <a:ext cx="8229600" cy="292608"/>
          </a:xfrm>
          <a:prstGeom prst="rect">
            <a:avLst/>
          </a:prstGeom>
          <a:noFill/>
          <a:ln/>
        </p:spPr>
        <p:txBody>
          <a:bodyPr wrap="square" rtlCol="0" anchor="ctr"/>
          <a:lstStyle/>
          <a:p>
            <a:pPr marL="0" indent="0">
              <a:buNone/>
            </a:pPr>
            <a:r>
              <a:rPr lang="en-US" sz="1100" dirty="0">
                <a:solidFill>
                  <a:srgbClr val="2D3030"/>
                </a:solidFill>
              </a:rPr>
              <a:t>Encabezado IP (20 B) + Encabezado ICMP (8 B) = 28 B de headers   →   MSS = 1500 – 28 = 1472 Bytes de datos</a:t>
            </a:r>
            <a:endParaRPr lang="en-US" sz="1100" dirty="0"/>
          </a:p>
        </p:txBody>
      </p:sp>
      <p:sp>
        <p:nvSpPr>
          <p:cNvPr id="18" name="Text 16"/>
          <p:cNvSpPr/>
          <p:nvPr/>
        </p:nvSpPr>
        <p:spPr>
          <a:xfrm>
            <a:off x="411480" y="4005072"/>
            <a:ext cx="8229600" cy="274320"/>
          </a:xfrm>
          <a:prstGeom prst="rect">
            <a:avLst/>
          </a:prstGeom>
          <a:noFill/>
          <a:ln/>
        </p:spPr>
        <p:txBody>
          <a:bodyPr wrap="square" rtlCol="0" anchor="ctr"/>
          <a:lstStyle/>
          <a:p>
            <a:pPr marL="0" indent="0">
              <a:buNone/>
            </a:pPr>
            <a:r>
              <a:rPr lang="en-US" sz="1050" i="1" dirty="0">
                <a:solidFill>
                  <a:srgbClr val="404040"/>
                </a:solidFill>
              </a:rPr>
              <a:t>Si usamos PING con parámetro -l 1472 sin fragmentación → ese es el MSS óptimo para la conexión.</a:t>
            </a:r>
            <a:endParaRPr lang="en-US" sz="1050" dirty="0"/>
          </a:p>
        </p:txBody>
      </p:sp>
      <p:sp>
        <p:nvSpPr>
          <p:cNvPr id="19" name="Shape 1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0" name="Text 1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MSS es la parte útil del paquete. Todo lo demás son encabezados. Para Ethernet: 1500 - 20 (IP) - 8 (ICMP) = 1472 bytes de datos reales. Este número es el que usamos para el comando PING de diagnóstico.</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Valores MTU según el Tipo de Conexión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Windows asigna automáticamente el MTU según la interfaz de red</a:t>
            </a:r>
            <a:endParaRPr lang="en-US" sz="1300" dirty="0"/>
          </a:p>
        </p:txBody>
      </p:sp>
      <p:sp>
        <p:nvSpPr>
          <p:cNvPr id="6" name="Shape 4"/>
          <p:cNvSpPr/>
          <p:nvPr/>
        </p:nvSpPr>
        <p:spPr>
          <a:xfrm>
            <a:off x="274320" y="1188720"/>
            <a:ext cx="4160520" cy="987552"/>
          </a:xfrm>
          <a:prstGeom prst="rect">
            <a:avLst/>
          </a:prstGeom>
          <a:solidFill>
            <a:srgbClr val="1A2530"/>
          </a:solidFill>
          <a:ln w="19050">
            <a:solidFill>
              <a:srgbClr val="5AA8D8"/>
            </a:solidFill>
            <a:prstDash val="solid"/>
          </a:ln>
        </p:spPr>
        <p:txBody>
          <a:bodyPr/>
          <a:lstStyle/>
          <a:p>
            <a:endParaRPr lang="en-US"/>
          </a:p>
        </p:txBody>
      </p:sp>
      <p:sp>
        <p:nvSpPr>
          <p:cNvPr id="7" name="Shape 5"/>
          <p:cNvSpPr/>
          <p:nvPr/>
        </p:nvSpPr>
        <p:spPr>
          <a:xfrm>
            <a:off x="274320" y="1188720"/>
            <a:ext cx="109728" cy="987552"/>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475488" y="1243584"/>
            <a:ext cx="3858768" cy="292608"/>
          </a:xfrm>
          <a:prstGeom prst="rect">
            <a:avLst/>
          </a:prstGeom>
          <a:noFill/>
          <a:ln/>
        </p:spPr>
        <p:txBody>
          <a:bodyPr wrap="square" rtlCol="0" anchor="ctr"/>
          <a:lstStyle/>
          <a:p>
            <a:pPr marL="0" indent="0">
              <a:buNone/>
            </a:pPr>
            <a:r>
              <a:rPr lang="en-US" sz="1150" b="1" dirty="0">
                <a:solidFill>
                  <a:srgbClr val="5AA8D8"/>
                </a:solidFill>
              </a:rPr>
              <a:t>Ethernet (LAN)</a:t>
            </a:r>
            <a:endParaRPr lang="en-US" sz="1150" dirty="0"/>
          </a:p>
        </p:txBody>
      </p:sp>
      <p:sp>
        <p:nvSpPr>
          <p:cNvPr id="9" name="Shape 7"/>
          <p:cNvSpPr/>
          <p:nvPr/>
        </p:nvSpPr>
        <p:spPr>
          <a:xfrm>
            <a:off x="475488" y="1554480"/>
            <a:ext cx="1371600" cy="274320"/>
          </a:xfrm>
          <a:prstGeom prst="rect">
            <a:avLst/>
          </a:prstGeom>
          <a:solidFill>
            <a:srgbClr val="5AA8D8"/>
          </a:solidFill>
          <a:ln w="12700">
            <a:solidFill>
              <a:srgbClr val="5AA8D8"/>
            </a:solidFill>
            <a:prstDash val="solid"/>
          </a:ln>
        </p:spPr>
        <p:txBody>
          <a:bodyPr/>
          <a:lstStyle/>
          <a:p>
            <a:endParaRPr lang="en-US"/>
          </a:p>
        </p:txBody>
      </p:sp>
      <p:sp>
        <p:nvSpPr>
          <p:cNvPr id="10" name="Text 8"/>
          <p:cNvSpPr/>
          <p:nvPr/>
        </p:nvSpPr>
        <p:spPr>
          <a:xfrm>
            <a:off x="475488" y="1554480"/>
            <a:ext cx="1371600" cy="274320"/>
          </a:xfrm>
          <a:prstGeom prst="rect">
            <a:avLst/>
          </a:prstGeom>
          <a:noFill/>
          <a:ln/>
        </p:spPr>
        <p:txBody>
          <a:bodyPr wrap="square" rtlCol="0" anchor="ctr"/>
          <a:lstStyle/>
          <a:p>
            <a:pPr marL="0" indent="0" algn="ctr">
              <a:buNone/>
            </a:pPr>
            <a:r>
              <a:rPr lang="en-US" sz="950" b="1" dirty="0">
                <a:solidFill>
                  <a:srgbClr val="FFFFFF"/>
                </a:solidFill>
              </a:rPr>
              <a:t>1500 Bytes</a:t>
            </a:r>
            <a:endParaRPr lang="en-US" sz="950" dirty="0"/>
          </a:p>
        </p:txBody>
      </p:sp>
      <p:sp>
        <p:nvSpPr>
          <p:cNvPr id="11" name="Text 9"/>
          <p:cNvSpPr/>
          <p:nvPr/>
        </p:nvSpPr>
        <p:spPr>
          <a:xfrm>
            <a:off x="475488" y="1847088"/>
            <a:ext cx="3858768" cy="274320"/>
          </a:xfrm>
          <a:prstGeom prst="rect">
            <a:avLst/>
          </a:prstGeom>
          <a:noFill/>
          <a:ln/>
        </p:spPr>
        <p:txBody>
          <a:bodyPr wrap="square" rtlCol="0" anchor="ctr"/>
          <a:lstStyle/>
          <a:p>
            <a:pPr marL="0" indent="0">
              <a:buNone/>
            </a:pPr>
            <a:r>
              <a:rPr lang="en-US" sz="900" dirty="0">
                <a:solidFill>
                  <a:srgbClr val="FFFFFF"/>
                </a:solidFill>
              </a:rPr>
              <a:t>Estándar para redes locales cableadas. El más común.</a:t>
            </a:r>
            <a:endParaRPr lang="en-US" sz="900" dirty="0"/>
          </a:p>
        </p:txBody>
      </p:sp>
      <p:sp>
        <p:nvSpPr>
          <p:cNvPr id="12" name="Shape 10"/>
          <p:cNvSpPr/>
          <p:nvPr/>
        </p:nvSpPr>
        <p:spPr>
          <a:xfrm>
            <a:off x="4709160" y="1188720"/>
            <a:ext cx="4160520" cy="987552"/>
          </a:xfrm>
          <a:prstGeom prst="rect">
            <a:avLst/>
          </a:prstGeom>
          <a:solidFill>
            <a:srgbClr val="1A2530"/>
          </a:solidFill>
          <a:ln w="19050">
            <a:solidFill>
              <a:srgbClr val="3A7BAA"/>
            </a:solidFill>
            <a:prstDash val="solid"/>
          </a:ln>
        </p:spPr>
        <p:txBody>
          <a:bodyPr/>
          <a:lstStyle/>
          <a:p>
            <a:endParaRPr lang="en-US"/>
          </a:p>
        </p:txBody>
      </p:sp>
      <p:sp>
        <p:nvSpPr>
          <p:cNvPr id="13" name="Shape 11"/>
          <p:cNvSpPr/>
          <p:nvPr/>
        </p:nvSpPr>
        <p:spPr>
          <a:xfrm>
            <a:off x="4709160" y="1188720"/>
            <a:ext cx="109728" cy="987552"/>
          </a:xfrm>
          <a:prstGeom prst="rect">
            <a:avLst/>
          </a:prstGeom>
          <a:solidFill>
            <a:srgbClr val="3A7BAA"/>
          </a:solidFill>
          <a:ln w="12700">
            <a:solidFill>
              <a:srgbClr val="3A7BAA"/>
            </a:solidFill>
            <a:prstDash val="solid"/>
          </a:ln>
        </p:spPr>
        <p:txBody>
          <a:bodyPr/>
          <a:lstStyle/>
          <a:p>
            <a:endParaRPr lang="en-US"/>
          </a:p>
        </p:txBody>
      </p:sp>
      <p:sp>
        <p:nvSpPr>
          <p:cNvPr id="14" name="Text 12"/>
          <p:cNvSpPr/>
          <p:nvPr/>
        </p:nvSpPr>
        <p:spPr>
          <a:xfrm>
            <a:off x="4910328" y="1243584"/>
            <a:ext cx="3858768" cy="292608"/>
          </a:xfrm>
          <a:prstGeom prst="rect">
            <a:avLst/>
          </a:prstGeom>
          <a:noFill/>
          <a:ln/>
        </p:spPr>
        <p:txBody>
          <a:bodyPr wrap="square" rtlCol="0" anchor="ctr"/>
          <a:lstStyle/>
          <a:p>
            <a:pPr marL="0" indent="0">
              <a:buNone/>
            </a:pPr>
            <a:r>
              <a:rPr lang="en-US" sz="1150" b="1" dirty="0">
                <a:solidFill>
                  <a:srgbClr val="3A7BAA"/>
                </a:solidFill>
              </a:rPr>
              <a:t>PPPoE (xDSL / fibra)</a:t>
            </a:r>
            <a:endParaRPr lang="en-US" sz="1150" dirty="0"/>
          </a:p>
        </p:txBody>
      </p:sp>
      <p:sp>
        <p:nvSpPr>
          <p:cNvPr id="15" name="Shape 13"/>
          <p:cNvSpPr/>
          <p:nvPr/>
        </p:nvSpPr>
        <p:spPr>
          <a:xfrm>
            <a:off x="4910328" y="1554480"/>
            <a:ext cx="1371600" cy="274320"/>
          </a:xfrm>
          <a:prstGeom prst="rect">
            <a:avLst/>
          </a:prstGeom>
          <a:solidFill>
            <a:srgbClr val="3A7BAA"/>
          </a:solidFill>
          <a:ln w="12700">
            <a:solidFill>
              <a:srgbClr val="3A7BAA"/>
            </a:solidFill>
            <a:prstDash val="solid"/>
          </a:ln>
        </p:spPr>
        <p:txBody>
          <a:bodyPr/>
          <a:lstStyle/>
          <a:p>
            <a:endParaRPr lang="en-US"/>
          </a:p>
        </p:txBody>
      </p:sp>
      <p:sp>
        <p:nvSpPr>
          <p:cNvPr id="16" name="Text 14"/>
          <p:cNvSpPr/>
          <p:nvPr/>
        </p:nvSpPr>
        <p:spPr>
          <a:xfrm>
            <a:off x="4910328" y="1554480"/>
            <a:ext cx="1371600" cy="274320"/>
          </a:xfrm>
          <a:prstGeom prst="rect">
            <a:avLst/>
          </a:prstGeom>
          <a:noFill/>
          <a:ln/>
        </p:spPr>
        <p:txBody>
          <a:bodyPr wrap="square" rtlCol="0" anchor="ctr"/>
          <a:lstStyle/>
          <a:p>
            <a:pPr marL="0" indent="0" algn="ctr">
              <a:buNone/>
            </a:pPr>
            <a:r>
              <a:rPr lang="en-US" sz="950" b="1" dirty="0">
                <a:solidFill>
                  <a:srgbClr val="FFFFFF"/>
                </a:solidFill>
              </a:rPr>
              <a:t>1492 – 1480 Bytes</a:t>
            </a:r>
            <a:endParaRPr lang="en-US" sz="950" dirty="0"/>
          </a:p>
        </p:txBody>
      </p:sp>
      <p:sp>
        <p:nvSpPr>
          <p:cNvPr id="17" name="Text 15"/>
          <p:cNvSpPr/>
          <p:nvPr/>
        </p:nvSpPr>
        <p:spPr>
          <a:xfrm>
            <a:off x="4910328" y="1847088"/>
            <a:ext cx="3858768" cy="274320"/>
          </a:xfrm>
          <a:prstGeom prst="rect">
            <a:avLst/>
          </a:prstGeom>
          <a:noFill/>
          <a:ln/>
        </p:spPr>
        <p:txBody>
          <a:bodyPr wrap="square" rtlCol="0" anchor="ctr"/>
          <a:lstStyle/>
          <a:p>
            <a:pPr marL="0" indent="0">
              <a:buNone/>
            </a:pPr>
            <a:r>
              <a:rPr lang="en-US" sz="900" dirty="0">
                <a:solidFill>
                  <a:srgbClr val="FFFFFF"/>
                </a:solidFill>
              </a:rPr>
              <a:t>Reducido por overhead del protocolo PPP sobre Ethernet.</a:t>
            </a:r>
            <a:endParaRPr lang="en-US" sz="900" dirty="0"/>
          </a:p>
        </p:txBody>
      </p:sp>
      <p:sp>
        <p:nvSpPr>
          <p:cNvPr id="18" name="Shape 16"/>
          <p:cNvSpPr/>
          <p:nvPr/>
        </p:nvSpPr>
        <p:spPr>
          <a:xfrm>
            <a:off x="274320" y="2286000"/>
            <a:ext cx="4160520" cy="987552"/>
          </a:xfrm>
          <a:prstGeom prst="rect">
            <a:avLst/>
          </a:prstGeom>
          <a:solidFill>
            <a:srgbClr val="1A2530"/>
          </a:solidFill>
          <a:ln w="19050">
            <a:solidFill>
              <a:srgbClr val="C06000"/>
            </a:solidFill>
            <a:prstDash val="solid"/>
          </a:ln>
        </p:spPr>
        <p:txBody>
          <a:bodyPr/>
          <a:lstStyle/>
          <a:p>
            <a:endParaRPr lang="en-US"/>
          </a:p>
        </p:txBody>
      </p:sp>
      <p:sp>
        <p:nvSpPr>
          <p:cNvPr id="19" name="Shape 17"/>
          <p:cNvSpPr/>
          <p:nvPr/>
        </p:nvSpPr>
        <p:spPr>
          <a:xfrm>
            <a:off x="274320" y="2286000"/>
            <a:ext cx="109728" cy="987552"/>
          </a:xfrm>
          <a:prstGeom prst="rect">
            <a:avLst/>
          </a:prstGeom>
          <a:solidFill>
            <a:srgbClr val="C06000"/>
          </a:solidFill>
          <a:ln w="12700">
            <a:solidFill>
              <a:srgbClr val="C06000"/>
            </a:solidFill>
            <a:prstDash val="solid"/>
          </a:ln>
        </p:spPr>
        <p:txBody>
          <a:bodyPr/>
          <a:lstStyle/>
          <a:p>
            <a:endParaRPr lang="en-US"/>
          </a:p>
        </p:txBody>
      </p:sp>
      <p:sp>
        <p:nvSpPr>
          <p:cNvPr id="20" name="Text 18"/>
          <p:cNvSpPr/>
          <p:nvPr/>
        </p:nvSpPr>
        <p:spPr>
          <a:xfrm>
            <a:off x="475488" y="2340864"/>
            <a:ext cx="3858768" cy="292608"/>
          </a:xfrm>
          <a:prstGeom prst="rect">
            <a:avLst/>
          </a:prstGeom>
          <a:noFill/>
          <a:ln/>
        </p:spPr>
        <p:txBody>
          <a:bodyPr wrap="square" rtlCol="0" anchor="ctr"/>
          <a:lstStyle/>
          <a:p>
            <a:pPr marL="0" indent="0">
              <a:buNone/>
            </a:pPr>
            <a:r>
              <a:rPr lang="en-US" sz="1150" b="1" dirty="0">
                <a:solidFill>
                  <a:srgbClr val="C06000"/>
                </a:solidFill>
              </a:rPr>
              <a:t>Dial-up / Línea telefónica</a:t>
            </a:r>
            <a:endParaRPr lang="en-US" sz="1150" dirty="0"/>
          </a:p>
        </p:txBody>
      </p:sp>
      <p:sp>
        <p:nvSpPr>
          <p:cNvPr id="21" name="Shape 19"/>
          <p:cNvSpPr/>
          <p:nvPr/>
        </p:nvSpPr>
        <p:spPr>
          <a:xfrm>
            <a:off x="475488" y="2651760"/>
            <a:ext cx="1371600" cy="274320"/>
          </a:xfrm>
          <a:prstGeom prst="rect">
            <a:avLst/>
          </a:prstGeom>
          <a:solidFill>
            <a:srgbClr val="C06000"/>
          </a:solidFill>
          <a:ln w="12700">
            <a:solidFill>
              <a:srgbClr val="C06000"/>
            </a:solidFill>
            <a:prstDash val="solid"/>
          </a:ln>
        </p:spPr>
        <p:txBody>
          <a:bodyPr/>
          <a:lstStyle/>
          <a:p>
            <a:endParaRPr lang="en-US"/>
          </a:p>
        </p:txBody>
      </p:sp>
      <p:sp>
        <p:nvSpPr>
          <p:cNvPr id="22" name="Text 20"/>
          <p:cNvSpPr/>
          <p:nvPr/>
        </p:nvSpPr>
        <p:spPr>
          <a:xfrm>
            <a:off x="475488" y="2651760"/>
            <a:ext cx="1371600" cy="274320"/>
          </a:xfrm>
          <a:prstGeom prst="rect">
            <a:avLst/>
          </a:prstGeom>
          <a:noFill/>
          <a:ln/>
        </p:spPr>
        <p:txBody>
          <a:bodyPr wrap="square" rtlCol="0" anchor="ctr"/>
          <a:lstStyle/>
          <a:p>
            <a:pPr marL="0" indent="0" algn="ctr">
              <a:buNone/>
            </a:pPr>
            <a:r>
              <a:rPr lang="en-US" sz="950" b="1" dirty="0">
                <a:solidFill>
                  <a:srgbClr val="FFFFFF"/>
                </a:solidFill>
              </a:rPr>
              <a:t>576 Bytes</a:t>
            </a:r>
            <a:endParaRPr lang="en-US" sz="950" dirty="0"/>
          </a:p>
        </p:txBody>
      </p:sp>
      <p:sp>
        <p:nvSpPr>
          <p:cNvPr id="23" name="Text 21"/>
          <p:cNvSpPr/>
          <p:nvPr/>
        </p:nvSpPr>
        <p:spPr>
          <a:xfrm>
            <a:off x="475488" y="2944368"/>
            <a:ext cx="3858768" cy="274320"/>
          </a:xfrm>
          <a:prstGeom prst="rect">
            <a:avLst/>
          </a:prstGeom>
          <a:noFill/>
          <a:ln/>
        </p:spPr>
        <p:txBody>
          <a:bodyPr wrap="square" rtlCol="0" anchor="ctr"/>
          <a:lstStyle/>
          <a:p>
            <a:pPr marL="0" indent="0">
              <a:buNone/>
            </a:pPr>
            <a:r>
              <a:rPr lang="en-US" sz="900" dirty="0">
                <a:solidFill>
                  <a:srgbClr val="FFFFFF"/>
                </a:solidFill>
              </a:rPr>
              <a:t>Routers telefónicos diseñados para este tamaño máximo.</a:t>
            </a:r>
            <a:endParaRPr lang="en-US" sz="900" dirty="0"/>
          </a:p>
        </p:txBody>
      </p:sp>
      <p:sp>
        <p:nvSpPr>
          <p:cNvPr id="24" name="Shape 22"/>
          <p:cNvSpPr/>
          <p:nvPr/>
        </p:nvSpPr>
        <p:spPr>
          <a:xfrm>
            <a:off x="4709160" y="2286000"/>
            <a:ext cx="4160520" cy="987552"/>
          </a:xfrm>
          <a:prstGeom prst="rect">
            <a:avLst/>
          </a:prstGeom>
          <a:solidFill>
            <a:srgbClr val="1A2530"/>
          </a:solidFill>
          <a:ln w="19050">
            <a:solidFill>
              <a:srgbClr val="5A8A3A"/>
            </a:solidFill>
            <a:prstDash val="solid"/>
          </a:ln>
        </p:spPr>
        <p:txBody>
          <a:bodyPr/>
          <a:lstStyle/>
          <a:p>
            <a:endParaRPr lang="en-US"/>
          </a:p>
        </p:txBody>
      </p:sp>
      <p:sp>
        <p:nvSpPr>
          <p:cNvPr id="25" name="Shape 23"/>
          <p:cNvSpPr/>
          <p:nvPr/>
        </p:nvSpPr>
        <p:spPr>
          <a:xfrm>
            <a:off x="4709160" y="2286000"/>
            <a:ext cx="109728" cy="987552"/>
          </a:xfrm>
          <a:prstGeom prst="rect">
            <a:avLst/>
          </a:prstGeom>
          <a:solidFill>
            <a:srgbClr val="5A8A3A"/>
          </a:solidFill>
          <a:ln w="12700">
            <a:solidFill>
              <a:srgbClr val="5A8A3A"/>
            </a:solidFill>
            <a:prstDash val="solid"/>
          </a:ln>
        </p:spPr>
        <p:txBody>
          <a:bodyPr/>
          <a:lstStyle/>
          <a:p>
            <a:endParaRPr lang="en-US"/>
          </a:p>
        </p:txBody>
      </p:sp>
      <p:sp>
        <p:nvSpPr>
          <p:cNvPr id="26" name="Text 24"/>
          <p:cNvSpPr/>
          <p:nvPr/>
        </p:nvSpPr>
        <p:spPr>
          <a:xfrm>
            <a:off x="4910328" y="2340864"/>
            <a:ext cx="3858768" cy="292608"/>
          </a:xfrm>
          <a:prstGeom prst="rect">
            <a:avLst/>
          </a:prstGeom>
          <a:noFill/>
          <a:ln/>
        </p:spPr>
        <p:txBody>
          <a:bodyPr wrap="square" rtlCol="0" anchor="ctr"/>
          <a:lstStyle/>
          <a:p>
            <a:pPr marL="0" indent="0">
              <a:buNone/>
            </a:pPr>
            <a:r>
              <a:rPr lang="en-US" sz="1150" b="1" dirty="0">
                <a:solidFill>
                  <a:srgbClr val="5A8A3A"/>
                </a:solidFill>
              </a:rPr>
              <a:t>Wi-Fi (802.11)</a:t>
            </a:r>
            <a:endParaRPr lang="en-US" sz="1150" dirty="0"/>
          </a:p>
        </p:txBody>
      </p:sp>
      <p:sp>
        <p:nvSpPr>
          <p:cNvPr id="27" name="Shape 25"/>
          <p:cNvSpPr/>
          <p:nvPr/>
        </p:nvSpPr>
        <p:spPr>
          <a:xfrm>
            <a:off x="4910328" y="2651760"/>
            <a:ext cx="1371600" cy="274320"/>
          </a:xfrm>
          <a:prstGeom prst="rect">
            <a:avLst/>
          </a:prstGeom>
          <a:solidFill>
            <a:srgbClr val="5A8A3A"/>
          </a:solidFill>
          <a:ln w="12700">
            <a:solidFill>
              <a:srgbClr val="5A8A3A"/>
            </a:solidFill>
            <a:prstDash val="solid"/>
          </a:ln>
        </p:spPr>
        <p:txBody>
          <a:bodyPr/>
          <a:lstStyle/>
          <a:p>
            <a:endParaRPr lang="en-US"/>
          </a:p>
        </p:txBody>
      </p:sp>
      <p:sp>
        <p:nvSpPr>
          <p:cNvPr id="28" name="Text 26"/>
          <p:cNvSpPr/>
          <p:nvPr/>
        </p:nvSpPr>
        <p:spPr>
          <a:xfrm>
            <a:off x="4910328" y="2651760"/>
            <a:ext cx="1371600" cy="274320"/>
          </a:xfrm>
          <a:prstGeom prst="rect">
            <a:avLst/>
          </a:prstGeom>
          <a:noFill/>
          <a:ln/>
        </p:spPr>
        <p:txBody>
          <a:bodyPr wrap="square" rtlCol="0" anchor="ctr"/>
          <a:lstStyle/>
          <a:p>
            <a:pPr marL="0" indent="0" algn="ctr">
              <a:buNone/>
            </a:pPr>
            <a:r>
              <a:rPr lang="en-US" sz="950" b="1" dirty="0">
                <a:solidFill>
                  <a:srgbClr val="FFFFFF"/>
                </a:solidFill>
              </a:rPr>
              <a:t>1500 Bytes</a:t>
            </a:r>
            <a:endParaRPr lang="en-US" sz="950" dirty="0"/>
          </a:p>
        </p:txBody>
      </p:sp>
      <p:sp>
        <p:nvSpPr>
          <p:cNvPr id="29" name="Text 27"/>
          <p:cNvSpPr/>
          <p:nvPr/>
        </p:nvSpPr>
        <p:spPr>
          <a:xfrm>
            <a:off x="4910328" y="2944368"/>
            <a:ext cx="3858768" cy="274320"/>
          </a:xfrm>
          <a:prstGeom prst="rect">
            <a:avLst/>
          </a:prstGeom>
          <a:noFill/>
          <a:ln/>
        </p:spPr>
        <p:txBody>
          <a:bodyPr wrap="square" rtlCol="0" anchor="ctr"/>
          <a:lstStyle/>
          <a:p>
            <a:pPr marL="0" indent="0">
              <a:buNone/>
            </a:pPr>
            <a:r>
              <a:rPr lang="en-US" sz="900" dirty="0">
                <a:solidFill>
                  <a:srgbClr val="FFFFFF"/>
                </a:solidFill>
              </a:rPr>
              <a:t>Igual que Ethernet; el protocolo 802.11 adapta el tamaño.</a:t>
            </a:r>
            <a:endParaRPr lang="en-US" sz="900" dirty="0"/>
          </a:p>
        </p:txBody>
      </p:sp>
      <p:sp>
        <p:nvSpPr>
          <p:cNvPr id="30" name="Shape 28"/>
          <p:cNvSpPr/>
          <p:nvPr/>
        </p:nvSpPr>
        <p:spPr>
          <a:xfrm>
            <a:off x="274320" y="3383280"/>
            <a:ext cx="4160520" cy="987552"/>
          </a:xfrm>
          <a:prstGeom prst="rect">
            <a:avLst/>
          </a:prstGeom>
          <a:solidFill>
            <a:srgbClr val="1A2530"/>
          </a:solidFill>
          <a:ln w="19050">
            <a:solidFill>
              <a:srgbClr val="5A7A9A"/>
            </a:solidFill>
            <a:prstDash val="solid"/>
          </a:ln>
        </p:spPr>
        <p:txBody>
          <a:bodyPr/>
          <a:lstStyle/>
          <a:p>
            <a:endParaRPr lang="en-US"/>
          </a:p>
        </p:txBody>
      </p:sp>
      <p:sp>
        <p:nvSpPr>
          <p:cNvPr id="31" name="Shape 29"/>
          <p:cNvSpPr/>
          <p:nvPr/>
        </p:nvSpPr>
        <p:spPr>
          <a:xfrm>
            <a:off x="274320" y="3383280"/>
            <a:ext cx="109728" cy="987552"/>
          </a:xfrm>
          <a:prstGeom prst="rect">
            <a:avLst/>
          </a:prstGeom>
          <a:solidFill>
            <a:srgbClr val="5A7A9A"/>
          </a:solidFill>
          <a:ln w="12700">
            <a:solidFill>
              <a:srgbClr val="5A7A9A"/>
            </a:solidFill>
            <a:prstDash val="solid"/>
          </a:ln>
        </p:spPr>
        <p:txBody>
          <a:bodyPr/>
          <a:lstStyle/>
          <a:p>
            <a:endParaRPr lang="en-US"/>
          </a:p>
        </p:txBody>
      </p:sp>
      <p:sp>
        <p:nvSpPr>
          <p:cNvPr id="32" name="Text 30"/>
          <p:cNvSpPr/>
          <p:nvPr/>
        </p:nvSpPr>
        <p:spPr>
          <a:xfrm>
            <a:off x="475488" y="3438144"/>
            <a:ext cx="3858768" cy="292608"/>
          </a:xfrm>
          <a:prstGeom prst="rect">
            <a:avLst/>
          </a:prstGeom>
          <a:noFill/>
          <a:ln/>
        </p:spPr>
        <p:txBody>
          <a:bodyPr wrap="square" rtlCol="0" anchor="ctr"/>
          <a:lstStyle/>
          <a:p>
            <a:pPr marL="0" indent="0">
              <a:buNone/>
            </a:pPr>
            <a:r>
              <a:rPr lang="en-US" sz="1150" b="1" dirty="0">
                <a:solidFill>
                  <a:srgbClr val="5A7A9A"/>
                </a:solidFill>
              </a:rPr>
              <a:t>4G / LTE</a:t>
            </a:r>
            <a:endParaRPr lang="en-US" sz="1150" dirty="0"/>
          </a:p>
        </p:txBody>
      </p:sp>
      <p:sp>
        <p:nvSpPr>
          <p:cNvPr id="33" name="Shape 31"/>
          <p:cNvSpPr/>
          <p:nvPr/>
        </p:nvSpPr>
        <p:spPr>
          <a:xfrm>
            <a:off x="475488" y="3749040"/>
            <a:ext cx="1371600" cy="274320"/>
          </a:xfrm>
          <a:prstGeom prst="rect">
            <a:avLst/>
          </a:prstGeom>
          <a:solidFill>
            <a:srgbClr val="5A7A9A"/>
          </a:solidFill>
          <a:ln w="12700">
            <a:solidFill>
              <a:srgbClr val="5A7A9A"/>
            </a:solidFill>
            <a:prstDash val="solid"/>
          </a:ln>
        </p:spPr>
        <p:txBody>
          <a:bodyPr/>
          <a:lstStyle/>
          <a:p>
            <a:endParaRPr lang="en-US"/>
          </a:p>
        </p:txBody>
      </p:sp>
      <p:sp>
        <p:nvSpPr>
          <p:cNvPr id="34" name="Text 32"/>
          <p:cNvSpPr/>
          <p:nvPr/>
        </p:nvSpPr>
        <p:spPr>
          <a:xfrm>
            <a:off x="475488" y="3749040"/>
            <a:ext cx="1371600" cy="274320"/>
          </a:xfrm>
          <a:prstGeom prst="rect">
            <a:avLst/>
          </a:prstGeom>
          <a:noFill/>
          <a:ln/>
        </p:spPr>
        <p:txBody>
          <a:bodyPr wrap="square" rtlCol="0" anchor="ctr"/>
          <a:lstStyle/>
          <a:p>
            <a:pPr marL="0" indent="0" algn="ctr">
              <a:buNone/>
            </a:pPr>
            <a:r>
              <a:rPr lang="en-US" sz="950" b="1" dirty="0">
                <a:solidFill>
                  <a:srgbClr val="FFFFFF"/>
                </a:solidFill>
              </a:rPr>
              <a:t>1500 Bytes</a:t>
            </a:r>
            <a:endParaRPr lang="en-US" sz="950" dirty="0"/>
          </a:p>
        </p:txBody>
      </p:sp>
      <p:sp>
        <p:nvSpPr>
          <p:cNvPr id="35" name="Text 33"/>
          <p:cNvSpPr/>
          <p:nvPr/>
        </p:nvSpPr>
        <p:spPr>
          <a:xfrm>
            <a:off x="475488" y="4041648"/>
            <a:ext cx="3858768" cy="274320"/>
          </a:xfrm>
          <a:prstGeom prst="rect">
            <a:avLst/>
          </a:prstGeom>
          <a:noFill/>
          <a:ln/>
        </p:spPr>
        <p:txBody>
          <a:bodyPr wrap="square" rtlCol="0" anchor="ctr"/>
          <a:lstStyle/>
          <a:p>
            <a:pPr marL="0" indent="0">
              <a:buNone/>
            </a:pPr>
            <a:r>
              <a:rPr lang="en-US" sz="900" dirty="0">
                <a:solidFill>
                  <a:srgbClr val="FFFFFF"/>
                </a:solidFill>
              </a:rPr>
              <a:t>La red celular transporta IP sobre tramas de 1500 B.</a:t>
            </a:r>
            <a:endParaRPr lang="en-US" sz="900" dirty="0"/>
          </a:p>
        </p:txBody>
      </p:sp>
      <p:sp>
        <p:nvSpPr>
          <p:cNvPr id="36" name="Shape 34"/>
          <p:cNvSpPr/>
          <p:nvPr/>
        </p:nvSpPr>
        <p:spPr>
          <a:xfrm>
            <a:off x="4709160" y="3383280"/>
            <a:ext cx="4160520" cy="987552"/>
          </a:xfrm>
          <a:prstGeom prst="rect">
            <a:avLst/>
          </a:prstGeom>
          <a:solidFill>
            <a:srgbClr val="1A2530"/>
          </a:solidFill>
          <a:ln w="19050">
            <a:solidFill>
              <a:srgbClr val="9A5A9A"/>
            </a:solidFill>
            <a:prstDash val="solid"/>
          </a:ln>
        </p:spPr>
        <p:txBody>
          <a:bodyPr/>
          <a:lstStyle/>
          <a:p>
            <a:endParaRPr lang="en-US"/>
          </a:p>
        </p:txBody>
      </p:sp>
      <p:sp>
        <p:nvSpPr>
          <p:cNvPr id="37" name="Shape 35"/>
          <p:cNvSpPr/>
          <p:nvPr/>
        </p:nvSpPr>
        <p:spPr>
          <a:xfrm>
            <a:off x="4709160" y="3383280"/>
            <a:ext cx="109728" cy="987552"/>
          </a:xfrm>
          <a:prstGeom prst="rect">
            <a:avLst/>
          </a:prstGeom>
          <a:solidFill>
            <a:srgbClr val="9A5A9A"/>
          </a:solidFill>
          <a:ln w="12700">
            <a:solidFill>
              <a:srgbClr val="9A5A9A"/>
            </a:solidFill>
            <a:prstDash val="solid"/>
          </a:ln>
        </p:spPr>
        <p:txBody>
          <a:bodyPr/>
          <a:lstStyle/>
          <a:p>
            <a:endParaRPr lang="en-US"/>
          </a:p>
        </p:txBody>
      </p:sp>
      <p:sp>
        <p:nvSpPr>
          <p:cNvPr id="38" name="Text 36"/>
          <p:cNvSpPr/>
          <p:nvPr/>
        </p:nvSpPr>
        <p:spPr>
          <a:xfrm>
            <a:off x="4910328" y="3438144"/>
            <a:ext cx="3858768" cy="292608"/>
          </a:xfrm>
          <a:prstGeom prst="rect">
            <a:avLst/>
          </a:prstGeom>
          <a:noFill/>
          <a:ln/>
        </p:spPr>
        <p:txBody>
          <a:bodyPr wrap="square" rtlCol="0" anchor="ctr"/>
          <a:lstStyle/>
          <a:p>
            <a:pPr marL="0" indent="0">
              <a:buNone/>
            </a:pPr>
            <a:r>
              <a:rPr lang="en-US" sz="1150" b="1" dirty="0">
                <a:solidFill>
                  <a:srgbClr val="9A5A9A"/>
                </a:solidFill>
              </a:rPr>
              <a:t>IPv6 (mínimo)</a:t>
            </a:r>
            <a:endParaRPr lang="en-US" sz="1150" dirty="0"/>
          </a:p>
        </p:txBody>
      </p:sp>
      <p:sp>
        <p:nvSpPr>
          <p:cNvPr id="39" name="Shape 37"/>
          <p:cNvSpPr/>
          <p:nvPr/>
        </p:nvSpPr>
        <p:spPr>
          <a:xfrm>
            <a:off x="4910328" y="3749040"/>
            <a:ext cx="1371600" cy="274320"/>
          </a:xfrm>
          <a:prstGeom prst="rect">
            <a:avLst/>
          </a:prstGeom>
          <a:solidFill>
            <a:srgbClr val="9A5A9A"/>
          </a:solidFill>
          <a:ln w="12700">
            <a:solidFill>
              <a:srgbClr val="9A5A9A"/>
            </a:solidFill>
            <a:prstDash val="solid"/>
          </a:ln>
        </p:spPr>
        <p:txBody>
          <a:bodyPr/>
          <a:lstStyle/>
          <a:p>
            <a:endParaRPr lang="en-US"/>
          </a:p>
        </p:txBody>
      </p:sp>
      <p:sp>
        <p:nvSpPr>
          <p:cNvPr id="40" name="Text 38"/>
          <p:cNvSpPr/>
          <p:nvPr/>
        </p:nvSpPr>
        <p:spPr>
          <a:xfrm>
            <a:off x="4910328" y="3749040"/>
            <a:ext cx="1371600" cy="274320"/>
          </a:xfrm>
          <a:prstGeom prst="rect">
            <a:avLst/>
          </a:prstGeom>
          <a:noFill/>
          <a:ln/>
        </p:spPr>
        <p:txBody>
          <a:bodyPr wrap="square" rtlCol="0" anchor="ctr"/>
          <a:lstStyle/>
          <a:p>
            <a:pPr marL="0" indent="0" algn="ctr">
              <a:buNone/>
            </a:pPr>
            <a:r>
              <a:rPr lang="en-US" sz="950" b="1" dirty="0">
                <a:solidFill>
                  <a:srgbClr val="FFFFFF"/>
                </a:solidFill>
              </a:rPr>
              <a:t>1280 Bytes</a:t>
            </a:r>
            <a:endParaRPr lang="en-US" sz="950" dirty="0"/>
          </a:p>
        </p:txBody>
      </p:sp>
      <p:sp>
        <p:nvSpPr>
          <p:cNvPr id="41" name="Text 39"/>
          <p:cNvSpPr/>
          <p:nvPr/>
        </p:nvSpPr>
        <p:spPr>
          <a:xfrm>
            <a:off x="4910328" y="4041648"/>
            <a:ext cx="3858768" cy="274320"/>
          </a:xfrm>
          <a:prstGeom prst="rect">
            <a:avLst/>
          </a:prstGeom>
          <a:noFill/>
          <a:ln/>
        </p:spPr>
        <p:txBody>
          <a:bodyPr wrap="square" rtlCol="0" anchor="ctr"/>
          <a:lstStyle/>
          <a:p>
            <a:pPr marL="0" indent="0">
              <a:buNone/>
            </a:pPr>
            <a:r>
              <a:rPr lang="en-US" sz="900" dirty="0">
                <a:solidFill>
                  <a:srgbClr val="FFFFFF"/>
                </a:solidFill>
              </a:rPr>
              <a:t>IPv6 exige que cada enlace soporte al menos 1280 B.</a:t>
            </a:r>
            <a:endParaRPr lang="en-US" sz="900" dirty="0"/>
          </a:p>
        </p:txBody>
      </p:sp>
      <p:sp>
        <p:nvSpPr>
          <p:cNvPr id="42" name="Shape 40"/>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43" name="Text 41"/>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ISP establece el MTU máximo de su red. Windows asigna automáticamente según el tipo de interfaz. Para conexiones xDSL, la reducción de MTU se debe al encapsulamiento PPP que agrega sus propios bytes.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Cómo Conocer el MTU de tu Conexión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Comandos prácticos en Windows: NETSH y PING</a:t>
            </a:r>
            <a:endParaRPr lang="en-US" sz="1300" dirty="0"/>
          </a:p>
        </p:txBody>
      </p:sp>
      <p:sp>
        <p:nvSpPr>
          <p:cNvPr id="6" name="Text 4"/>
          <p:cNvSpPr/>
          <p:nvPr/>
        </p:nvSpPr>
        <p:spPr>
          <a:xfrm>
            <a:off x="274320" y="1170432"/>
            <a:ext cx="4206240" cy="320040"/>
          </a:xfrm>
          <a:prstGeom prst="rect">
            <a:avLst/>
          </a:prstGeom>
          <a:noFill/>
          <a:ln/>
        </p:spPr>
        <p:txBody>
          <a:bodyPr wrap="square" rtlCol="0" anchor="ctr"/>
          <a:lstStyle/>
          <a:p>
            <a:pPr marL="0" indent="0">
              <a:buNone/>
            </a:pPr>
            <a:r>
              <a:rPr lang="en-US" sz="1200" b="1" dirty="0">
                <a:solidFill>
                  <a:srgbClr val="2D3030"/>
                </a:solidFill>
              </a:rPr>
              <a:t>Paso 1: Ver el MTU actual</a:t>
            </a:r>
            <a:endParaRPr lang="en-US" sz="1200" dirty="0"/>
          </a:p>
        </p:txBody>
      </p:sp>
      <p:sp>
        <p:nvSpPr>
          <p:cNvPr id="7" name="Shape 5"/>
          <p:cNvSpPr/>
          <p:nvPr/>
        </p:nvSpPr>
        <p:spPr>
          <a:xfrm>
            <a:off x="274320" y="1508760"/>
            <a:ext cx="4206240" cy="1188720"/>
          </a:xfrm>
          <a:prstGeom prst="rect">
            <a:avLst/>
          </a:prstGeom>
          <a:solidFill>
            <a:srgbClr val="1E2126"/>
          </a:solidFill>
          <a:ln w="12700">
            <a:solidFill>
              <a:srgbClr val="5AA8D8"/>
            </a:solidFill>
            <a:prstDash val="solid"/>
          </a:ln>
        </p:spPr>
        <p:txBody>
          <a:bodyPr/>
          <a:lstStyle/>
          <a:p>
            <a:endParaRPr lang="en-US"/>
          </a:p>
        </p:txBody>
      </p:sp>
      <p:sp>
        <p:nvSpPr>
          <p:cNvPr id="8" name="Text 6"/>
          <p:cNvSpPr/>
          <p:nvPr/>
        </p:nvSpPr>
        <p:spPr>
          <a:xfrm>
            <a:off x="384048" y="1572768"/>
            <a:ext cx="4005072" cy="1051560"/>
          </a:xfrm>
          <a:prstGeom prst="rect">
            <a:avLst/>
          </a:prstGeom>
          <a:noFill/>
          <a:ln/>
        </p:spPr>
        <p:txBody>
          <a:bodyPr wrap="square" lIns="76200" tIns="76200" rIns="76200" bIns="76200" rtlCol="0" anchor="ctr"/>
          <a:lstStyle/>
          <a:p>
            <a:pPr marL="0" indent="0">
              <a:buNone/>
            </a:pPr>
            <a:r>
              <a:rPr lang="en-US" sz="1000" dirty="0">
                <a:solidFill>
                  <a:srgbClr val="5AA8D8"/>
                </a:solidFill>
              </a:rPr>
              <a:t>netsh interface ipv4 show subinterfaces</a:t>
            </a:r>
            <a:endParaRPr lang="en-US" sz="1000" dirty="0"/>
          </a:p>
          <a:p>
            <a:pPr marL="0" indent="0">
              <a:buNone/>
            </a:pPr>
            <a:r>
              <a:rPr lang="en-US" sz="600" dirty="0">
                <a:solidFill>
                  <a:srgbClr val="FFFFFF"/>
                </a:solidFill>
              </a:rPr>
              <a:t>
</a:t>
            </a:r>
            <a:r>
              <a:rPr lang="en-US" sz="950" dirty="0">
                <a:solidFill>
                  <a:srgbClr val="90EE90"/>
                </a:solidFill>
              </a:rPr>
              <a:t>Resultado: MTU = 1500  (Local Area Connection)</a:t>
            </a:r>
            <a:endParaRPr lang="en-US" sz="1000" dirty="0"/>
          </a:p>
        </p:txBody>
      </p:sp>
      <p:sp>
        <p:nvSpPr>
          <p:cNvPr id="9" name="Text 7"/>
          <p:cNvSpPr/>
          <p:nvPr/>
        </p:nvSpPr>
        <p:spPr>
          <a:xfrm>
            <a:off x="274320" y="2788920"/>
            <a:ext cx="4206240" cy="320040"/>
          </a:xfrm>
          <a:prstGeom prst="rect">
            <a:avLst/>
          </a:prstGeom>
          <a:noFill/>
          <a:ln/>
        </p:spPr>
        <p:txBody>
          <a:bodyPr wrap="square" rtlCol="0" anchor="ctr"/>
          <a:lstStyle/>
          <a:p>
            <a:pPr marL="0" indent="0">
              <a:buNone/>
            </a:pPr>
            <a:r>
              <a:rPr lang="en-US" sz="1200" b="1" dirty="0">
                <a:solidFill>
                  <a:srgbClr val="2D3030"/>
                </a:solidFill>
              </a:rPr>
              <a:t>Paso 2: Calcular MSS</a:t>
            </a:r>
            <a:endParaRPr lang="en-US" sz="1200" dirty="0"/>
          </a:p>
        </p:txBody>
      </p:sp>
      <p:sp>
        <p:nvSpPr>
          <p:cNvPr id="10" name="Shape 8"/>
          <p:cNvSpPr/>
          <p:nvPr/>
        </p:nvSpPr>
        <p:spPr>
          <a:xfrm>
            <a:off x="274320" y="3127248"/>
            <a:ext cx="4206240" cy="594360"/>
          </a:xfrm>
          <a:prstGeom prst="rect">
            <a:avLst/>
          </a:prstGeom>
          <a:solidFill>
            <a:srgbClr val="E8F4FC"/>
          </a:solidFill>
          <a:ln w="12700">
            <a:solidFill>
              <a:srgbClr val="5AA8D8"/>
            </a:solidFill>
            <a:prstDash val="solid"/>
          </a:ln>
        </p:spPr>
        <p:txBody>
          <a:bodyPr/>
          <a:lstStyle/>
          <a:p>
            <a:endParaRPr lang="en-US"/>
          </a:p>
        </p:txBody>
      </p:sp>
      <p:sp>
        <p:nvSpPr>
          <p:cNvPr id="11" name="Text 9"/>
          <p:cNvSpPr/>
          <p:nvPr/>
        </p:nvSpPr>
        <p:spPr>
          <a:xfrm>
            <a:off x="411480" y="3163824"/>
            <a:ext cx="3931920" cy="530352"/>
          </a:xfrm>
          <a:prstGeom prst="rect">
            <a:avLst/>
          </a:prstGeom>
          <a:noFill/>
          <a:ln/>
        </p:spPr>
        <p:txBody>
          <a:bodyPr wrap="square" rtlCol="0" anchor="ctr"/>
          <a:lstStyle/>
          <a:p>
            <a:pPr marL="0" indent="0">
              <a:buNone/>
            </a:pPr>
            <a:r>
              <a:rPr lang="en-US" sz="1050" dirty="0">
                <a:solidFill>
                  <a:srgbClr val="2D3030"/>
                </a:solidFill>
              </a:rPr>
              <a:t>MSS = MTU – 28  →  1500 – 28 = 1472 Bytes</a:t>
            </a:r>
            <a:endParaRPr lang="en-US" sz="1050" dirty="0"/>
          </a:p>
          <a:p>
            <a:pPr marL="0" indent="0">
              <a:buNone/>
            </a:pPr>
            <a:r>
              <a:rPr lang="en-US" sz="1050" dirty="0">
                <a:solidFill>
                  <a:srgbClr val="2D3030"/>
                </a:solidFill>
              </a:rPr>
              <a:t>(20 bytes encabezado IP + 8 bytes ICMP)</a:t>
            </a:r>
            <a:endParaRPr lang="en-US" sz="1050" dirty="0"/>
          </a:p>
        </p:txBody>
      </p:sp>
      <p:sp>
        <p:nvSpPr>
          <p:cNvPr id="12" name="Text 10"/>
          <p:cNvSpPr/>
          <p:nvPr/>
        </p:nvSpPr>
        <p:spPr>
          <a:xfrm>
            <a:off x="4754880" y="1170432"/>
            <a:ext cx="4114800" cy="320040"/>
          </a:xfrm>
          <a:prstGeom prst="rect">
            <a:avLst/>
          </a:prstGeom>
          <a:noFill/>
          <a:ln/>
        </p:spPr>
        <p:txBody>
          <a:bodyPr wrap="square" rtlCol="0" anchor="ctr"/>
          <a:lstStyle/>
          <a:p>
            <a:pPr marL="0" indent="0">
              <a:buNone/>
            </a:pPr>
            <a:r>
              <a:rPr lang="en-US" sz="1200" b="1" dirty="0">
                <a:solidFill>
                  <a:srgbClr val="2D3030"/>
                </a:solidFill>
              </a:rPr>
              <a:t>Paso 3: Verificar con PING</a:t>
            </a:r>
            <a:endParaRPr lang="en-US" sz="1200" dirty="0"/>
          </a:p>
        </p:txBody>
      </p:sp>
      <p:sp>
        <p:nvSpPr>
          <p:cNvPr id="13" name="Shape 11"/>
          <p:cNvSpPr/>
          <p:nvPr/>
        </p:nvSpPr>
        <p:spPr>
          <a:xfrm>
            <a:off x="4754880" y="1508760"/>
            <a:ext cx="4114800" cy="594360"/>
          </a:xfrm>
          <a:prstGeom prst="rect">
            <a:avLst/>
          </a:prstGeom>
          <a:solidFill>
            <a:srgbClr val="1E2126"/>
          </a:solidFill>
          <a:ln w="12700">
            <a:solidFill>
              <a:srgbClr val="217346"/>
            </a:solidFill>
            <a:prstDash val="solid"/>
          </a:ln>
        </p:spPr>
        <p:txBody>
          <a:bodyPr/>
          <a:lstStyle/>
          <a:p>
            <a:endParaRPr lang="en-US"/>
          </a:p>
        </p:txBody>
      </p:sp>
      <p:sp>
        <p:nvSpPr>
          <p:cNvPr id="14" name="Text 12"/>
          <p:cNvSpPr/>
          <p:nvPr/>
        </p:nvSpPr>
        <p:spPr>
          <a:xfrm>
            <a:off x="4864608" y="1554480"/>
            <a:ext cx="3886200" cy="502920"/>
          </a:xfrm>
          <a:prstGeom prst="rect">
            <a:avLst/>
          </a:prstGeom>
          <a:noFill/>
          <a:ln/>
        </p:spPr>
        <p:txBody>
          <a:bodyPr wrap="square" lIns="50800" tIns="50800" rIns="50800" bIns="50800" rtlCol="0" anchor="ctr"/>
          <a:lstStyle/>
          <a:p>
            <a:pPr marL="0" indent="0">
              <a:buNone/>
            </a:pPr>
            <a:r>
              <a:rPr lang="en-US" sz="950" dirty="0">
                <a:solidFill>
                  <a:srgbClr val="5AA8D8"/>
                </a:solidFill>
              </a:rPr>
              <a:t>ping www.google.com.ar -f -l 1472</a:t>
            </a:r>
            <a:endParaRPr lang="en-US" sz="950" dirty="0"/>
          </a:p>
          <a:p>
            <a:pPr marL="0" indent="0">
              <a:buNone/>
            </a:pPr>
            <a:r>
              <a:rPr lang="en-US" sz="950" dirty="0">
                <a:solidFill>
                  <a:srgbClr val="90EE90"/>
                </a:solidFill>
              </a:rPr>
              <a:t>→  Sin fragmentación  ✓</a:t>
            </a:r>
            <a:endParaRPr lang="en-US" sz="950" dirty="0"/>
          </a:p>
        </p:txBody>
      </p:sp>
      <p:sp>
        <p:nvSpPr>
          <p:cNvPr id="15" name="Shape 13"/>
          <p:cNvSpPr/>
          <p:nvPr/>
        </p:nvSpPr>
        <p:spPr>
          <a:xfrm>
            <a:off x="4754880" y="2212848"/>
            <a:ext cx="4114800" cy="594360"/>
          </a:xfrm>
          <a:prstGeom prst="rect">
            <a:avLst/>
          </a:prstGeom>
          <a:solidFill>
            <a:srgbClr val="1E2126"/>
          </a:solidFill>
          <a:ln w="12700">
            <a:solidFill>
              <a:srgbClr val="CC4444"/>
            </a:solidFill>
            <a:prstDash val="solid"/>
          </a:ln>
        </p:spPr>
        <p:txBody>
          <a:bodyPr/>
          <a:lstStyle/>
          <a:p>
            <a:endParaRPr lang="en-US"/>
          </a:p>
        </p:txBody>
      </p:sp>
      <p:sp>
        <p:nvSpPr>
          <p:cNvPr id="16" name="Text 14"/>
          <p:cNvSpPr/>
          <p:nvPr/>
        </p:nvSpPr>
        <p:spPr>
          <a:xfrm>
            <a:off x="4864608" y="2258568"/>
            <a:ext cx="3886200" cy="502920"/>
          </a:xfrm>
          <a:prstGeom prst="rect">
            <a:avLst/>
          </a:prstGeom>
          <a:noFill/>
          <a:ln/>
        </p:spPr>
        <p:txBody>
          <a:bodyPr wrap="square" lIns="50800" tIns="50800" rIns="50800" bIns="50800" rtlCol="0" anchor="ctr"/>
          <a:lstStyle/>
          <a:p>
            <a:pPr marL="0" indent="0">
              <a:buNone/>
            </a:pPr>
            <a:r>
              <a:rPr lang="en-US" sz="950" dirty="0">
                <a:solidFill>
                  <a:srgbClr val="5AA8D8"/>
                </a:solidFill>
              </a:rPr>
              <a:t>ping www.google.com.ar -f -l 1473</a:t>
            </a:r>
            <a:endParaRPr lang="en-US" sz="950" dirty="0"/>
          </a:p>
          <a:p>
            <a:pPr marL="0" indent="0">
              <a:buNone/>
            </a:pPr>
            <a:r>
              <a:rPr lang="en-US" sz="950" dirty="0">
                <a:solidFill>
                  <a:srgbClr val="FF8080"/>
                </a:solidFill>
              </a:rPr>
              <a:t>→  Packet needs to be fragmented  ✗</a:t>
            </a:r>
            <a:endParaRPr lang="en-US" sz="950" dirty="0"/>
          </a:p>
        </p:txBody>
      </p:sp>
      <p:sp>
        <p:nvSpPr>
          <p:cNvPr id="17" name="Text 15"/>
          <p:cNvSpPr/>
          <p:nvPr/>
        </p:nvSpPr>
        <p:spPr>
          <a:xfrm>
            <a:off x="4754880" y="2907792"/>
            <a:ext cx="4114800" cy="274320"/>
          </a:xfrm>
          <a:prstGeom prst="rect">
            <a:avLst/>
          </a:prstGeom>
          <a:noFill/>
          <a:ln/>
        </p:spPr>
        <p:txBody>
          <a:bodyPr wrap="square" rtlCol="0" anchor="ctr"/>
          <a:lstStyle/>
          <a:p>
            <a:pPr marL="0" indent="0">
              <a:buNone/>
            </a:pPr>
            <a:r>
              <a:rPr lang="en-US" sz="1100" b="1" dirty="0">
                <a:solidFill>
                  <a:srgbClr val="2D3030"/>
                </a:solidFill>
              </a:rPr>
              <a:t>Busqueda del valor óptimo:</a:t>
            </a:r>
            <a:endParaRPr lang="en-US" sz="1100" dirty="0"/>
          </a:p>
        </p:txBody>
      </p:sp>
      <p:sp>
        <p:nvSpPr>
          <p:cNvPr id="18" name="Text 16"/>
          <p:cNvSpPr/>
          <p:nvPr/>
        </p:nvSpPr>
        <p:spPr>
          <a:xfrm>
            <a:off x="4754880" y="3200400"/>
            <a:ext cx="4114800" cy="731520"/>
          </a:xfrm>
          <a:prstGeom prst="rect">
            <a:avLst/>
          </a:prstGeom>
          <a:noFill/>
          <a:ln/>
        </p:spPr>
        <p:txBody>
          <a:bodyPr wrap="square" rtlCol="0" anchor="t"/>
          <a:lstStyle/>
          <a:p>
            <a:pPr marL="0" indent="0">
              <a:buNone/>
            </a:pPr>
            <a:r>
              <a:rPr lang="en-US" sz="1000" dirty="0">
                <a:solidFill>
                  <a:srgbClr val="404040"/>
                </a:solidFill>
              </a:rPr>
              <a:t>Si 1473 da error, bajar de 10 en 10 hasta encontrar valor sin error. Luego subir de 1 en 1 hasta el límite exacto. Sumarle 28 → ese es el MTU óptimo de la conexión.</a:t>
            </a:r>
            <a:endParaRPr lang="en-US" sz="1000" dirty="0"/>
          </a:p>
        </p:txBody>
      </p:sp>
      <p:sp>
        <p:nvSpPr>
          <p:cNvPr id="19" name="Shape 17"/>
          <p:cNvSpPr/>
          <p:nvPr/>
        </p:nvSpPr>
        <p:spPr>
          <a:xfrm>
            <a:off x="274320" y="4041648"/>
            <a:ext cx="8412480" cy="457200"/>
          </a:xfrm>
          <a:prstGeom prst="rect">
            <a:avLst/>
          </a:prstGeom>
          <a:solidFill>
            <a:srgbClr val="1E2126"/>
          </a:solidFill>
          <a:ln w="12700">
            <a:solidFill>
              <a:srgbClr val="5AA8D8"/>
            </a:solidFill>
            <a:prstDash val="solid"/>
          </a:ln>
        </p:spPr>
        <p:txBody>
          <a:bodyPr/>
          <a:lstStyle/>
          <a:p>
            <a:endParaRPr lang="en-US"/>
          </a:p>
        </p:txBody>
      </p:sp>
      <p:sp>
        <p:nvSpPr>
          <p:cNvPr id="20" name="Text 18"/>
          <p:cNvSpPr/>
          <p:nvPr/>
        </p:nvSpPr>
        <p:spPr>
          <a:xfrm>
            <a:off x="384048" y="4087368"/>
            <a:ext cx="8229600" cy="365760"/>
          </a:xfrm>
          <a:prstGeom prst="rect">
            <a:avLst/>
          </a:prstGeom>
          <a:noFill/>
          <a:ln/>
        </p:spPr>
        <p:txBody>
          <a:bodyPr wrap="square" lIns="50800" tIns="50800" rIns="50800" bIns="50800" rtlCol="0" anchor="ctr"/>
          <a:lstStyle/>
          <a:p>
            <a:pPr marL="0" indent="0">
              <a:buNone/>
            </a:pPr>
            <a:r>
              <a:rPr lang="en-US" sz="950" dirty="0">
                <a:solidFill>
                  <a:srgbClr val="5AA8D8"/>
                </a:solidFill>
              </a:rPr>
              <a:t>Asignar MTU: </a:t>
            </a:r>
            <a:r>
              <a:rPr lang="en-US" sz="950" dirty="0">
                <a:solidFill>
                  <a:srgbClr val="90EE90"/>
                </a:solidFill>
              </a:rPr>
              <a:t>netsh interface ipv4 set subinterface "Local Area Connection" mtu=1500 store=persistent</a:t>
            </a:r>
            <a:endParaRPr lang="en-US" sz="950" dirty="0"/>
          </a:p>
        </p:txBody>
      </p:sp>
      <p:sp>
        <p:nvSpPr>
          <p:cNvPr id="21" name="Shape 19"/>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2" name="Text 20"/>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Mostrar el flujo: 1) NETSH para ver MTU actual, 2) calcular MSS, 3) verificar con PING. Si 1472 no da error pero 1473 sí, el MTU es correcto. Este es un diagnóstico real que los técnicos de red usan.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Efecto de un MTU Inadecuado y Optimización</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¿Por qué ajustar el MTU puede acelerar tu conexión a Internet?</a:t>
            </a:r>
            <a:endParaRPr lang="en-US" sz="1300" dirty="0"/>
          </a:p>
        </p:txBody>
      </p:sp>
      <p:sp>
        <p:nvSpPr>
          <p:cNvPr id="6" name="Shape 4"/>
          <p:cNvSpPr/>
          <p:nvPr/>
        </p:nvSpPr>
        <p:spPr>
          <a:xfrm>
            <a:off x="274320" y="1188720"/>
            <a:ext cx="2743200" cy="3108960"/>
          </a:xfrm>
          <a:prstGeom prst="rect">
            <a:avLst/>
          </a:prstGeom>
          <a:solidFill>
            <a:srgbClr val="2A1A1A"/>
          </a:solidFill>
          <a:ln w="19050">
            <a:solidFill>
              <a:srgbClr val="C0392B"/>
            </a:solidFill>
            <a:prstDash val="solid"/>
          </a:ln>
        </p:spPr>
        <p:txBody>
          <a:bodyPr/>
          <a:lstStyle/>
          <a:p>
            <a:endParaRPr lang="en-US"/>
          </a:p>
        </p:txBody>
      </p:sp>
      <p:sp>
        <p:nvSpPr>
          <p:cNvPr id="7" name="Shape 5"/>
          <p:cNvSpPr/>
          <p:nvPr/>
        </p:nvSpPr>
        <p:spPr>
          <a:xfrm>
            <a:off x="274320" y="1188720"/>
            <a:ext cx="2743200" cy="457200"/>
          </a:xfrm>
          <a:prstGeom prst="rect">
            <a:avLst/>
          </a:prstGeom>
          <a:solidFill>
            <a:srgbClr val="C0392B"/>
          </a:solidFill>
          <a:ln w="12700">
            <a:solidFill>
              <a:srgbClr val="C0392B"/>
            </a:solidFill>
            <a:prstDash val="solid"/>
          </a:ln>
        </p:spPr>
        <p:txBody>
          <a:bodyPr/>
          <a:lstStyle/>
          <a:p>
            <a:endParaRPr lang="en-US"/>
          </a:p>
        </p:txBody>
      </p:sp>
      <p:sp>
        <p:nvSpPr>
          <p:cNvPr id="8" name="Text 6"/>
          <p:cNvSpPr/>
          <p:nvPr/>
        </p:nvSpPr>
        <p:spPr>
          <a:xfrm>
            <a:off x="274320" y="1188720"/>
            <a:ext cx="2743200" cy="457200"/>
          </a:xfrm>
          <a:prstGeom prst="rect">
            <a:avLst/>
          </a:prstGeom>
          <a:noFill/>
          <a:ln/>
        </p:spPr>
        <p:txBody>
          <a:bodyPr wrap="square" rtlCol="0" anchor="ctr"/>
          <a:lstStyle/>
          <a:p>
            <a:pPr marL="0" indent="0" algn="ctr">
              <a:buNone/>
            </a:pPr>
            <a:r>
              <a:rPr lang="en-US" sz="1200" b="1" dirty="0">
                <a:solidFill>
                  <a:srgbClr val="FFFFFF"/>
                </a:solidFill>
              </a:rPr>
              <a:t>MTU ALTO</a:t>
            </a:r>
            <a:endParaRPr lang="en-US" sz="1200" dirty="0"/>
          </a:p>
        </p:txBody>
      </p:sp>
      <p:sp>
        <p:nvSpPr>
          <p:cNvPr id="9" name="Text 7"/>
          <p:cNvSpPr/>
          <p:nvPr/>
        </p:nvSpPr>
        <p:spPr>
          <a:xfrm>
            <a:off x="365760" y="1691640"/>
            <a:ext cx="2560320" cy="320040"/>
          </a:xfrm>
          <a:prstGeom prst="rect">
            <a:avLst/>
          </a:prstGeom>
          <a:noFill/>
          <a:ln/>
        </p:spPr>
        <p:txBody>
          <a:bodyPr wrap="square" rtlCol="0" anchor="ctr"/>
          <a:lstStyle/>
          <a:p>
            <a:pPr marL="0" indent="0">
              <a:buNone/>
            </a:pPr>
            <a:r>
              <a:rPr lang="en-US" sz="1150" b="1" dirty="0">
                <a:solidFill>
                  <a:srgbClr val="C0392B"/>
                </a:solidFill>
              </a:rPr>
              <a:t>MTU demasiado alto</a:t>
            </a:r>
            <a:endParaRPr lang="en-US" sz="1150" dirty="0"/>
          </a:p>
        </p:txBody>
      </p:sp>
      <p:sp>
        <p:nvSpPr>
          <p:cNvPr id="10" name="Text 8"/>
          <p:cNvSpPr/>
          <p:nvPr/>
        </p:nvSpPr>
        <p:spPr>
          <a:xfrm>
            <a:off x="365760" y="2029968"/>
            <a:ext cx="2560320" cy="2011680"/>
          </a:xfrm>
          <a:prstGeom prst="rect">
            <a:avLst/>
          </a:prstGeom>
          <a:noFill/>
          <a:ln/>
        </p:spPr>
        <p:txBody>
          <a:bodyPr wrap="square" lIns="50800" tIns="50800" rIns="50800" bIns="50800" rtlCol="0" anchor="t"/>
          <a:lstStyle/>
          <a:p>
            <a:pPr marL="0" indent="0">
              <a:buNone/>
            </a:pPr>
            <a:r>
              <a:rPr lang="en-US" sz="1050" dirty="0">
                <a:solidFill>
                  <a:srgbClr val="FFFFFF"/>
                </a:solidFill>
              </a:rPr>
              <a:t>Causa fragmentación en routers intermedios. El router trabaja más; la transferencia se vuelve lenta e ineficiente.</a:t>
            </a:r>
            <a:endParaRPr lang="en-US" sz="1050" dirty="0"/>
          </a:p>
        </p:txBody>
      </p:sp>
      <p:sp>
        <p:nvSpPr>
          <p:cNvPr id="11" name="Shape 9"/>
          <p:cNvSpPr/>
          <p:nvPr/>
        </p:nvSpPr>
        <p:spPr>
          <a:xfrm>
            <a:off x="3200400" y="1188720"/>
            <a:ext cx="2743200" cy="3108960"/>
          </a:xfrm>
          <a:prstGeom prst="rect">
            <a:avLst/>
          </a:prstGeom>
          <a:solidFill>
            <a:srgbClr val="2A1A10"/>
          </a:solidFill>
          <a:ln w="19050">
            <a:solidFill>
              <a:srgbClr val="C06000"/>
            </a:solidFill>
            <a:prstDash val="solid"/>
          </a:ln>
        </p:spPr>
        <p:txBody>
          <a:bodyPr/>
          <a:lstStyle/>
          <a:p>
            <a:endParaRPr lang="en-US"/>
          </a:p>
        </p:txBody>
      </p:sp>
      <p:sp>
        <p:nvSpPr>
          <p:cNvPr id="12" name="Shape 10"/>
          <p:cNvSpPr/>
          <p:nvPr/>
        </p:nvSpPr>
        <p:spPr>
          <a:xfrm>
            <a:off x="3200400" y="1188720"/>
            <a:ext cx="2743200" cy="457200"/>
          </a:xfrm>
          <a:prstGeom prst="rect">
            <a:avLst/>
          </a:prstGeom>
          <a:solidFill>
            <a:srgbClr val="C06000"/>
          </a:solidFill>
          <a:ln w="12700">
            <a:solidFill>
              <a:srgbClr val="C06000"/>
            </a:solidFill>
            <a:prstDash val="solid"/>
          </a:ln>
        </p:spPr>
        <p:txBody>
          <a:bodyPr/>
          <a:lstStyle/>
          <a:p>
            <a:endParaRPr lang="en-US"/>
          </a:p>
        </p:txBody>
      </p:sp>
      <p:sp>
        <p:nvSpPr>
          <p:cNvPr id="13" name="Text 11"/>
          <p:cNvSpPr/>
          <p:nvPr/>
        </p:nvSpPr>
        <p:spPr>
          <a:xfrm>
            <a:off x="3200400" y="1188720"/>
            <a:ext cx="2743200" cy="457200"/>
          </a:xfrm>
          <a:prstGeom prst="rect">
            <a:avLst/>
          </a:prstGeom>
          <a:noFill/>
          <a:ln/>
        </p:spPr>
        <p:txBody>
          <a:bodyPr wrap="square" rtlCol="0" anchor="ctr"/>
          <a:lstStyle/>
          <a:p>
            <a:pPr marL="0" indent="0" algn="ctr">
              <a:buNone/>
            </a:pPr>
            <a:r>
              <a:rPr lang="en-US" sz="1200" b="1" dirty="0">
                <a:solidFill>
                  <a:srgbClr val="FFFFFF"/>
                </a:solidFill>
              </a:rPr>
              <a:t>MTU BAJO</a:t>
            </a:r>
            <a:endParaRPr lang="en-US" sz="1200" dirty="0"/>
          </a:p>
        </p:txBody>
      </p:sp>
      <p:sp>
        <p:nvSpPr>
          <p:cNvPr id="14" name="Text 12"/>
          <p:cNvSpPr/>
          <p:nvPr/>
        </p:nvSpPr>
        <p:spPr>
          <a:xfrm>
            <a:off x="3291840" y="1691640"/>
            <a:ext cx="2560320" cy="320040"/>
          </a:xfrm>
          <a:prstGeom prst="rect">
            <a:avLst/>
          </a:prstGeom>
          <a:noFill/>
          <a:ln/>
        </p:spPr>
        <p:txBody>
          <a:bodyPr wrap="square" rtlCol="0" anchor="ctr"/>
          <a:lstStyle/>
          <a:p>
            <a:pPr marL="0" indent="0">
              <a:buNone/>
            </a:pPr>
            <a:r>
              <a:rPr lang="en-US" sz="1150" b="1" dirty="0">
                <a:solidFill>
                  <a:srgbClr val="C06000"/>
                </a:solidFill>
              </a:rPr>
              <a:t>MTU demasiado bajo</a:t>
            </a:r>
            <a:endParaRPr lang="en-US" sz="1150" dirty="0"/>
          </a:p>
        </p:txBody>
      </p:sp>
      <p:sp>
        <p:nvSpPr>
          <p:cNvPr id="15" name="Text 13"/>
          <p:cNvSpPr/>
          <p:nvPr/>
        </p:nvSpPr>
        <p:spPr>
          <a:xfrm>
            <a:off x="3291840" y="2029968"/>
            <a:ext cx="2560320" cy="2011680"/>
          </a:xfrm>
          <a:prstGeom prst="rect">
            <a:avLst/>
          </a:prstGeom>
          <a:noFill/>
          <a:ln/>
        </p:spPr>
        <p:txBody>
          <a:bodyPr wrap="square" lIns="50800" tIns="50800" rIns="50800" bIns="50800" rtlCol="0" anchor="t"/>
          <a:lstStyle/>
          <a:p>
            <a:pPr marL="0" indent="0">
              <a:buNone/>
            </a:pPr>
            <a:r>
              <a:rPr lang="en-US" sz="1050" dirty="0">
                <a:solidFill>
                  <a:srgbClr val="FFFFFF"/>
                </a:solidFill>
              </a:rPr>
              <a:t>No se aprovecha la capacidad máxima de la red. Cada paquete lleva menos datos; se necesitan más paquetes para transmitir la misma información.</a:t>
            </a:r>
            <a:endParaRPr lang="en-US" sz="1050" dirty="0"/>
          </a:p>
        </p:txBody>
      </p:sp>
      <p:sp>
        <p:nvSpPr>
          <p:cNvPr id="16" name="Shape 14"/>
          <p:cNvSpPr/>
          <p:nvPr/>
        </p:nvSpPr>
        <p:spPr>
          <a:xfrm>
            <a:off x="6126480" y="1188720"/>
            <a:ext cx="2743200" cy="3108960"/>
          </a:xfrm>
          <a:prstGeom prst="rect">
            <a:avLst/>
          </a:prstGeom>
          <a:solidFill>
            <a:srgbClr val="1A2A1A"/>
          </a:solidFill>
          <a:ln w="19050">
            <a:solidFill>
              <a:srgbClr val="217346"/>
            </a:solidFill>
            <a:prstDash val="solid"/>
          </a:ln>
        </p:spPr>
        <p:txBody>
          <a:bodyPr/>
          <a:lstStyle/>
          <a:p>
            <a:endParaRPr lang="en-US"/>
          </a:p>
        </p:txBody>
      </p:sp>
      <p:sp>
        <p:nvSpPr>
          <p:cNvPr id="17" name="Shape 15"/>
          <p:cNvSpPr/>
          <p:nvPr/>
        </p:nvSpPr>
        <p:spPr>
          <a:xfrm>
            <a:off x="6126480" y="1188720"/>
            <a:ext cx="2743200" cy="457200"/>
          </a:xfrm>
          <a:prstGeom prst="rect">
            <a:avLst/>
          </a:prstGeom>
          <a:solidFill>
            <a:srgbClr val="217346"/>
          </a:solidFill>
          <a:ln w="12700">
            <a:solidFill>
              <a:srgbClr val="217346"/>
            </a:solidFill>
            <a:prstDash val="solid"/>
          </a:ln>
        </p:spPr>
        <p:txBody>
          <a:bodyPr/>
          <a:lstStyle/>
          <a:p>
            <a:endParaRPr lang="en-US"/>
          </a:p>
        </p:txBody>
      </p:sp>
      <p:sp>
        <p:nvSpPr>
          <p:cNvPr id="18" name="Text 16"/>
          <p:cNvSpPr/>
          <p:nvPr/>
        </p:nvSpPr>
        <p:spPr>
          <a:xfrm>
            <a:off x="6126480" y="1188720"/>
            <a:ext cx="2743200" cy="457200"/>
          </a:xfrm>
          <a:prstGeom prst="rect">
            <a:avLst/>
          </a:prstGeom>
          <a:noFill/>
          <a:ln/>
        </p:spPr>
        <p:txBody>
          <a:bodyPr wrap="square" rtlCol="0" anchor="ctr"/>
          <a:lstStyle/>
          <a:p>
            <a:pPr marL="0" indent="0" algn="ctr">
              <a:buNone/>
            </a:pPr>
            <a:r>
              <a:rPr lang="en-US" sz="1200" b="1" dirty="0">
                <a:solidFill>
                  <a:srgbClr val="FFFFFF"/>
                </a:solidFill>
              </a:rPr>
              <a:t>MTU OPT.</a:t>
            </a:r>
            <a:endParaRPr lang="en-US" sz="1200" dirty="0"/>
          </a:p>
        </p:txBody>
      </p:sp>
      <p:sp>
        <p:nvSpPr>
          <p:cNvPr id="19" name="Text 17"/>
          <p:cNvSpPr/>
          <p:nvPr/>
        </p:nvSpPr>
        <p:spPr>
          <a:xfrm>
            <a:off x="6217920" y="1691640"/>
            <a:ext cx="2560320" cy="320040"/>
          </a:xfrm>
          <a:prstGeom prst="rect">
            <a:avLst/>
          </a:prstGeom>
          <a:noFill/>
          <a:ln/>
        </p:spPr>
        <p:txBody>
          <a:bodyPr wrap="square" rtlCol="0" anchor="ctr"/>
          <a:lstStyle/>
          <a:p>
            <a:pPr marL="0" indent="0">
              <a:buNone/>
            </a:pPr>
            <a:r>
              <a:rPr lang="en-US" sz="1150" b="1" dirty="0">
                <a:solidFill>
                  <a:srgbClr val="217346"/>
                </a:solidFill>
              </a:rPr>
              <a:t>MTU óptimo</a:t>
            </a:r>
            <a:endParaRPr lang="en-US" sz="1150" dirty="0"/>
          </a:p>
        </p:txBody>
      </p:sp>
      <p:sp>
        <p:nvSpPr>
          <p:cNvPr id="20" name="Text 18"/>
          <p:cNvSpPr/>
          <p:nvPr/>
        </p:nvSpPr>
        <p:spPr>
          <a:xfrm>
            <a:off x="6217920" y="2029968"/>
            <a:ext cx="2560320" cy="2011680"/>
          </a:xfrm>
          <a:prstGeom prst="rect">
            <a:avLst/>
          </a:prstGeom>
          <a:noFill/>
          <a:ln/>
        </p:spPr>
        <p:txBody>
          <a:bodyPr wrap="square" lIns="50800" tIns="50800" rIns="50800" bIns="50800" rtlCol="0" anchor="t"/>
          <a:lstStyle/>
          <a:p>
            <a:pPr marL="0" indent="0">
              <a:buNone/>
            </a:pPr>
            <a:r>
              <a:rPr lang="en-US" sz="1050" dirty="0">
                <a:solidFill>
                  <a:srgbClr val="FFFFFF"/>
                </a:solidFill>
              </a:rPr>
              <a:t>El paquete ocupa exactamente la capacidad de la red. Sin fragmentación, sin desperdicio. Transferencia eficiente.</a:t>
            </a:r>
            <a:endParaRPr lang="en-US" sz="1050" dirty="0"/>
          </a:p>
        </p:txBody>
      </p:sp>
      <p:sp>
        <p:nvSpPr>
          <p:cNvPr id="21" name="Shape 19"/>
          <p:cNvSpPr/>
          <p:nvPr/>
        </p:nvSpPr>
        <p:spPr>
          <a:xfrm>
            <a:off x="274320" y="4370832"/>
            <a:ext cx="8412480" cy="384048"/>
          </a:xfrm>
          <a:prstGeom prst="rect">
            <a:avLst/>
          </a:prstGeom>
          <a:solidFill>
            <a:srgbClr val="1A3A1A"/>
          </a:solidFill>
          <a:ln w="12700">
            <a:solidFill>
              <a:srgbClr val="217346"/>
            </a:solidFill>
            <a:prstDash val="solid"/>
          </a:ln>
        </p:spPr>
        <p:txBody>
          <a:bodyPr/>
          <a:lstStyle/>
          <a:p>
            <a:endParaRPr lang="en-US"/>
          </a:p>
        </p:txBody>
      </p:sp>
      <p:sp>
        <p:nvSpPr>
          <p:cNvPr id="22" name="Text 20"/>
          <p:cNvSpPr/>
          <p:nvPr/>
        </p:nvSpPr>
        <p:spPr>
          <a:xfrm>
            <a:off x="411480" y="4389120"/>
            <a:ext cx="8138160" cy="347472"/>
          </a:xfrm>
          <a:prstGeom prst="rect">
            <a:avLst/>
          </a:prstGeom>
          <a:noFill/>
          <a:ln/>
        </p:spPr>
        <p:txBody>
          <a:bodyPr wrap="square" rtlCol="0" anchor="ctr"/>
          <a:lstStyle/>
          <a:p>
            <a:pPr marL="0" indent="0">
              <a:buNone/>
            </a:pPr>
            <a:r>
              <a:rPr lang="en-US" sz="1000" dirty="0">
                <a:solidFill>
                  <a:srgbClr val="90EE90"/>
                </a:solidFill>
              </a:rPr>
              <a:t>TRUCO: Configurar el SO para usar datagramas de 576 B traslada el trabajo de fragmentación del router al host, acelerando la conexión en algunas situaciones.</a:t>
            </a:r>
            <a:endParaRPr lang="en-US" sz="1000" dirty="0"/>
          </a:p>
        </p:txBody>
      </p:sp>
      <p:sp>
        <p:nvSpPr>
          <p:cNvPr id="23" name="Shape 21"/>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4" name="Text 22"/>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El 'truco' de los 576 bytes funciona porque el host fragmenta antes de enviar, evitando que el router lo haga. El router trabaja menos y la transferencia es más fluida. Este concepto conecta la teoría con el rendimiento real.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Routers: Interconexión de Redes Heterogéneas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Internet conecta muchos tipos de redes a través de routers</a:t>
            </a:r>
            <a:endParaRPr lang="en-US" sz="1300" dirty="0"/>
          </a:p>
        </p:txBody>
      </p:sp>
      <p:sp>
        <p:nvSpPr>
          <p:cNvPr id="6" name="Text 4"/>
          <p:cNvSpPr/>
          <p:nvPr/>
        </p:nvSpPr>
        <p:spPr>
          <a:xfrm>
            <a:off x="274320" y="1170432"/>
            <a:ext cx="5029200" cy="2103120"/>
          </a:xfrm>
          <a:prstGeom prst="rect">
            <a:avLst/>
          </a:prstGeom>
          <a:noFill/>
          <a:ln/>
        </p:spPr>
        <p:txBody>
          <a:bodyPr wrap="square" lIns="101600" tIns="101600" rIns="101600" bIns="101600" rtlCol="0" anchor="ctr"/>
          <a:lstStyle/>
          <a:p>
            <a:pPr marL="0" indent="0">
              <a:buNone/>
            </a:pPr>
            <a:r>
              <a:rPr lang="en-US" sz="1300" b="1" dirty="0">
                <a:solidFill>
                  <a:srgbClr val="2D3030"/>
                </a:solidFill>
              </a:rPr>
              <a:t>El rol del Router
</a:t>
            </a:r>
            <a:r>
              <a:rPr lang="en-US" sz="1100" dirty="0">
                <a:solidFill>
                  <a:srgbClr val="404040"/>
                </a:solidFill>
              </a:rPr>
              <a:t>Los routers transmiten datagramas y permiten encaminamiento adaptativo. Interconectan redes públicas de conmutación de paquetes y redes locales Ethernet.
</a:t>
            </a:r>
            <a:r>
              <a:rPr lang="en-US" sz="1100" b="1" dirty="0">
                <a:solidFill>
                  <a:srgbClr val="2D3030"/>
                </a:solidFill>
              </a:rPr>
              <a:t>La función principal: </a:t>
            </a:r>
            <a:r>
              <a:rPr lang="en-US" sz="1100" dirty="0">
                <a:solidFill>
                  <a:srgbClr val="404040"/>
                </a:solidFill>
              </a:rPr>
              <a:t>tomar una decisión de encaminamiento entre redes. Determinan dinámicamente el mejor camino disponible.</a:t>
            </a:r>
            <a:endParaRPr lang="en-US" sz="1300" dirty="0"/>
          </a:p>
        </p:txBody>
      </p:sp>
      <p:sp>
        <p:nvSpPr>
          <p:cNvPr id="7" name="Shape 5"/>
          <p:cNvSpPr/>
          <p:nvPr/>
        </p:nvSpPr>
        <p:spPr>
          <a:xfrm>
            <a:off x="5486400" y="1143000"/>
            <a:ext cx="3291840" cy="2148840"/>
          </a:xfrm>
          <a:prstGeom prst="rect">
            <a:avLst/>
          </a:prstGeom>
          <a:solidFill>
            <a:srgbClr val="FFFFFF"/>
          </a:solidFill>
          <a:ln w="19050">
            <a:solidFill>
              <a:srgbClr val="5AA8D8"/>
            </a:solidFill>
            <a:prstDash val="solid"/>
          </a:ln>
        </p:spPr>
        <p:txBody>
          <a:bodyPr/>
          <a:lstStyle/>
          <a:p>
            <a:endParaRPr lang="en-US"/>
          </a:p>
        </p:txBody>
      </p:sp>
      <p:sp>
        <p:nvSpPr>
          <p:cNvPr id="8" name="Text 6"/>
          <p:cNvSpPr/>
          <p:nvPr/>
        </p:nvSpPr>
        <p:spPr>
          <a:xfrm>
            <a:off x="5577840" y="1188720"/>
            <a:ext cx="3108960" cy="320040"/>
          </a:xfrm>
          <a:prstGeom prst="rect">
            <a:avLst/>
          </a:prstGeom>
          <a:noFill/>
          <a:ln/>
        </p:spPr>
        <p:txBody>
          <a:bodyPr wrap="square" rtlCol="0" anchor="ctr"/>
          <a:lstStyle/>
          <a:p>
            <a:pPr marL="0" indent="0">
              <a:buNone/>
            </a:pPr>
            <a:r>
              <a:rPr lang="en-US" sz="1100" b="1" dirty="0">
                <a:solidFill>
                  <a:srgbClr val="2D3030"/>
                </a:solidFill>
              </a:rPr>
              <a:t>Dos métodos de interconexión:</a:t>
            </a:r>
            <a:endParaRPr lang="en-US" sz="1100" dirty="0"/>
          </a:p>
        </p:txBody>
      </p:sp>
      <p:sp>
        <p:nvSpPr>
          <p:cNvPr id="9" name="Shape 7"/>
          <p:cNvSpPr/>
          <p:nvPr/>
        </p:nvSpPr>
        <p:spPr>
          <a:xfrm>
            <a:off x="5577840" y="1554480"/>
            <a:ext cx="3108960" cy="685800"/>
          </a:xfrm>
          <a:prstGeom prst="rect">
            <a:avLst/>
          </a:prstGeom>
          <a:solidFill>
            <a:srgbClr val="E8F4FC"/>
          </a:solidFill>
          <a:ln w="12700">
            <a:solidFill>
              <a:srgbClr val="5AA8D8"/>
            </a:solidFill>
            <a:prstDash val="solid"/>
          </a:ln>
        </p:spPr>
        <p:txBody>
          <a:bodyPr/>
          <a:lstStyle/>
          <a:p>
            <a:endParaRPr lang="en-US"/>
          </a:p>
        </p:txBody>
      </p:sp>
      <p:sp>
        <p:nvSpPr>
          <p:cNvPr id="10" name="Text 8"/>
          <p:cNvSpPr/>
          <p:nvPr/>
        </p:nvSpPr>
        <p:spPr>
          <a:xfrm>
            <a:off x="5623560" y="1572768"/>
            <a:ext cx="3017520" cy="256032"/>
          </a:xfrm>
          <a:prstGeom prst="rect">
            <a:avLst/>
          </a:prstGeom>
          <a:noFill/>
          <a:ln/>
        </p:spPr>
        <p:txBody>
          <a:bodyPr wrap="square" rtlCol="0" anchor="ctr"/>
          <a:lstStyle/>
          <a:p>
            <a:pPr marL="0" indent="0">
              <a:buNone/>
            </a:pPr>
            <a:r>
              <a:rPr lang="en-US" sz="1100" b="1" dirty="0">
                <a:solidFill>
                  <a:srgbClr val="2D3030"/>
                </a:solidFill>
              </a:rPr>
              <a:t>Datagramas</a:t>
            </a:r>
            <a:endParaRPr lang="en-US" sz="1100" dirty="0"/>
          </a:p>
        </p:txBody>
      </p:sp>
      <p:sp>
        <p:nvSpPr>
          <p:cNvPr id="11" name="Text 9"/>
          <p:cNvSpPr/>
          <p:nvPr/>
        </p:nvSpPr>
        <p:spPr>
          <a:xfrm>
            <a:off x="5623560" y="1828800"/>
            <a:ext cx="3017520" cy="365760"/>
          </a:xfrm>
          <a:prstGeom prst="rect">
            <a:avLst/>
          </a:prstGeom>
          <a:noFill/>
          <a:ln/>
        </p:spPr>
        <p:txBody>
          <a:bodyPr wrap="square" rtlCol="0" anchor="ctr"/>
          <a:lstStyle/>
          <a:p>
            <a:pPr marL="0" indent="0">
              <a:buNone/>
            </a:pPr>
            <a:r>
              <a:rPr lang="en-US" sz="950" dirty="0">
                <a:solidFill>
                  <a:srgbClr val="404040"/>
                </a:solidFill>
              </a:rPr>
              <a:t>Ruta determinada dinámicamente paquete a paquete.</a:t>
            </a:r>
            <a:endParaRPr lang="en-US" sz="950" dirty="0"/>
          </a:p>
        </p:txBody>
      </p:sp>
      <p:sp>
        <p:nvSpPr>
          <p:cNvPr id="12" name="Shape 10"/>
          <p:cNvSpPr/>
          <p:nvPr/>
        </p:nvSpPr>
        <p:spPr>
          <a:xfrm>
            <a:off x="5577840" y="2286000"/>
            <a:ext cx="3108960" cy="685800"/>
          </a:xfrm>
          <a:prstGeom prst="rect">
            <a:avLst/>
          </a:prstGeom>
          <a:solidFill>
            <a:srgbClr val="B9DEF8"/>
          </a:solidFill>
          <a:ln w="12700">
            <a:solidFill>
              <a:srgbClr val="5AA8D8"/>
            </a:solidFill>
            <a:prstDash val="solid"/>
          </a:ln>
        </p:spPr>
        <p:txBody>
          <a:bodyPr/>
          <a:lstStyle/>
          <a:p>
            <a:endParaRPr lang="en-US"/>
          </a:p>
        </p:txBody>
      </p:sp>
      <p:sp>
        <p:nvSpPr>
          <p:cNvPr id="13" name="Text 11"/>
          <p:cNvSpPr/>
          <p:nvPr/>
        </p:nvSpPr>
        <p:spPr>
          <a:xfrm>
            <a:off x="5623560" y="2304288"/>
            <a:ext cx="3017520" cy="256032"/>
          </a:xfrm>
          <a:prstGeom prst="rect">
            <a:avLst/>
          </a:prstGeom>
          <a:noFill/>
          <a:ln/>
        </p:spPr>
        <p:txBody>
          <a:bodyPr wrap="square" rtlCol="0" anchor="ctr"/>
          <a:lstStyle/>
          <a:p>
            <a:pPr marL="0" indent="0">
              <a:buNone/>
            </a:pPr>
            <a:r>
              <a:rPr lang="en-US" sz="1100" b="1" dirty="0">
                <a:solidFill>
                  <a:srgbClr val="2D3030"/>
                </a:solidFill>
              </a:rPr>
              <a:t>Circuito Virtual</a:t>
            </a:r>
            <a:endParaRPr lang="en-US" sz="1100" dirty="0"/>
          </a:p>
        </p:txBody>
      </p:sp>
      <p:sp>
        <p:nvSpPr>
          <p:cNvPr id="14" name="Text 12"/>
          <p:cNvSpPr/>
          <p:nvPr/>
        </p:nvSpPr>
        <p:spPr>
          <a:xfrm>
            <a:off x="5623560" y="2560320"/>
            <a:ext cx="3017520" cy="365760"/>
          </a:xfrm>
          <a:prstGeom prst="rect">
            <a:avLst/>
          </a:prstGeom>
          <a:noFill/>
          <a:ln/>
        </p:spPr>
        <p:txBody>
          <a:bodyPr wrap="square" rtlCol="0" anchor="ctr"/>
          <a:lstStyle/>
          <a:p>
            <a:pPr marL="0" indent="0">
              <a:buNone/>
            </a:pPr>
            <a:r>
              <a:rPr lang="en-US" sz="950" dirty="0">
                <a:solidFill>
                  <a:srgbClr val="404040"/>
                </a:solidFill>
              </a:rPr>
              <a:t>Ruta establecida antes de transmitir. Luego todos los paquetes siguen esa ruta.</a:t>
            </a:r>
            <a:endParaRPr lang="en-US" sz="950" dirty="0"/>
          </a:p>
        </p:txBody>
      </p:sp>
      <p:sp>
        <p:nvSpPr>
          <p:cNvPr id="15" name="Shape 13"/>
          <p:cNvSpPr/>
          <p:nvPr/>
        </p:nvSpPr>
        <p:spPr>
          <a:xfrm>
            <a:off x="274320" y="3337560"/>
            <a:ext cx="320040" cy="292608"/>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274320" y="3337560"/>
            <a:ext cx="320040" cy="292608"/>
          </a:xfrm>
          <a:prstGeom prst="rect">
            <a:avLst/>
          </a:prstGeom>
          <a:noFill/>
          <a:ln/>
        </p:spPr>
        <p:txBody>
          <a:bodyPr wrap="square" rtlCol="0" anchor="ctr"/>
          <a:lstStyle/>
          <a:p>
            <a:pPr marL="0" indent="0" algn="ctr">
              <a:buNone/>
            </a:pPr>
            <a:r>
              <a:rPr lang="en-US" sz="1100" b="1" dirty="0">
                <a:solidFill>
                  <a:srgbClr val="FFFFFF"/>
                </a:solidFill>
              </a:rPr>
              <a:t>1</a:t>
            </a:r>
            <a:endParaRPr lang="en-US" sz="1100" dirty="0"/>
          </a:p>
        </p:txBody>
      </p:sp>
      <p:sp>
        <p:nvSpPr>
          <p:cNvPr id="17" name="Text 15"/>
          <p:cNvSpPr/>
          <p:nvPr/>
        </p:nvSpPr>
        <p:spPr>
          <a:xfrm>
            <a:off x="658368" y="3337560"/>
            <a:ext cx="8229600" cy="292608"/>
          </a:xfrm>
          <a:prstGeom prst="rect">
            <a:avLst/>
          </a:prstGeom>
          <a:noFill/>
          <a:ln/>
        </p:spPr>
        <p:txBody>
          <a:bodyPr wrap="square" rtlCol="0" anchor="ctr"/>
          <a:lstStyle/>
          <a:p>
            <a:pPr marL="0" indent="0">
              <a:buNone/>
            </a:pPr>
            <a:r>
              <a:rPr lang="en-US" sz="1050" dirty="0">
                <a:solidFill>
                  <a:srgbClr val="404040"/>
                </a:solidFill>
              </a:rPr>
              <a:t>Extienden el acceso a máquinas remotas</a:t>
            </a:r>
            <a:endParaRPr lang="en-US" sz="1050" dirty="0"/>
          </a:p>
        </p:txBody>
      </p:sp>
      <p:sp>
        <p:nvSpPr>
          <p:cNvPr id="18" name="Shape 16"/>
          <p:cNvSpPr/>
          <p:nvPr/>
        </p:nvSpPr>
        <p:spPr>
          <a:xfrm>
            <a:off x="274320" y="3685032"/>
            <a:ext cx="320040" cy="292608"/>
          </a:xfrm>
          <a:prstGeom prst="rect">
            <a:avLst/>
          </a:prstGeom>
          <a:solidFill>
            <a:srgbClr val="5AA8D8"/>
          </a:solidFill>
          <a:ln w="12700">
            <a:solidFill>
              <a:srgbClr val="5AA8D8"/>
            </a:solidFill>
            <a:prstDash val="solid"/>
          </a:ln>
        </p:spPr>
        <p:txBody>
          <a:bodyPr/>
          <a:lstStyle/>
          <a:p>
            <a:endParaRPr lang="en-US"/>
          </a:p>
        </p:txBody>
      </p:sp>
      <p:sp>
        <p:nvSpPr>
          <p:cNvPr id="19" name="Text 17"/>
          <p:cNvSpPr/>
          <p:nvPr/>
        </p:nvSpPr>
        <p:spPr>
          <a:xfrm>
            <a:off x="274320" y="3685032"/>
            <a:ext cx="320040" cy="292608"/>
          </a:xfrm>
          <a:prstGeom prst="rect">
            <a:avLst/>
          </a:prstGeom>
          <a:noFill/>
          <a:ln/>
        </p:spPr>
        <p:txBody>
          <a:bodyPr wrap="square" rtlCol="0" anchor="ctr"/>
          <a:lstStyle/>
          <a:p>
            <a:pPr marL="0" indent="0" algn="ctr">
              <a:buNone/>
            </a:pPr>
            <a:r>
              <a:rPr lang="en-US" sz="1100" b="1" dirty="0">
                <a:solidFill>
                  <a:srgbClr val="FFFFFF"/>
                </a:solidFill>
              </a:rPr>
              <a:t>2</a:t>
            </a:r>
            <a:endParaRPr lang="en-US" sz="1100" dirty="0"/>
          </a:p>
        </p:txBody>
      </p:sp>
      <p:sp>
        <p:nvSpPr>
          <p:cNvPr id="20" name="Text 18"/>
          <p:cNvSpPr/>
          <p:nvPr/>
        </p:nvSpPr>
        <p:spPr>
          <a:xfrm>
            <a:off x="658368" y="3685032"/>
            <a:ext cx="8229600" cy="292608"/>
          </a:xfrm>
          <a:prstGeom prst="rect">
            <a:avLst/>
          </a:prstGeom>
          <a:noFill/>
          <a:ln/>
        </p:spPr>
        <p:txBody>
          <a:bodyPr wrap="square" rtlCol="0" anchor="ctr"/>
          <a:lstStyle/>
          <a:p>
            <a:pPr marL="0" indent="0">
              <a:buNone/>
            </a:pPr>
            <a:r>
              <a:rPr lang="en-US" sz="1050" dirty="0">
                <a:solidFill>
                  <a:srgbClr val="404040"/>
                </a:solidFill>
              </a:rPr>
              <a:t>Permiten usar diferentes métodos de interconexión según la aplicación</a:t>
            </a:r>
            <a:endParaRPr lang="en-US" sz="1050" dirty="0"/>
          </a:p>
        </p:txBody>
      </p:sp>
      <p:sp>
        <p:nvSpPr>
          <p:cNvPr id="21" name="Shape 19"/>
          <p:cNvSpPr/>
          <p:nvPr/>
        </p:nvSpPr>
        <p:spPr>
          <a:xfrm>
            <a:off x="274320" y="4032504"/>
            <a:ext cx="320040" cy="292608"/>
          </a:xfrm>
          <a:prstGeom prst="rect">
            <a:avLst/>
          </a:prstGeom>
          <a:solidFill>
            <a:srgbClr val="5AA8D8"/>
          </a:solidFill>
          <a:ln w="12700">
            <a:solidFill>
              <a:srgbClr val="5AA8D8"/>
            </a:solidFill>
            <a:prstDash val="solid"/>
          </a:ln>
        </p:spPr>
        <p:txBody>
          <a:bodyPr/>
          <a:lstStyle/>
          <a:p>
            <a:endParaRPr lang="en-US"/>
          </a:p>
        </p:txBody>
      </p:sp>
      <p:sp>
        <p:nvSpPr>
          <p:cNvPr id="22" name="Text 20"/>
          <p:cNvSpPr/>
          <p:nvPr/>
        </p:nvSpPr>
        <p:spPr>
          <a:xfrm>
            <a:off x="274320" y="4032504"/>
            <a:ext cx="320040" cy="292608"/>
          </a:xfrm>
          <a:prstGeom prst="rect">
            <a:avLst/>
          </a:prstGeom>
          <a:noFill/>
          <a:ln/>
        </p:spPr>
        <p:txBody>
          <a:bodyPr wrap="square" rtlCol="0" anchor="ctr"/>
          <a:lstStyle/>
          <a:p>
            <a:pPr marL="0" indent="0" algn="ctr">
              <a:buNone/>
            </a:pPr>
            <a:r>
              <a:rPr lang="en-US" sz="1100" b="1" dirty="0">
                <a:solidFill>
                  <a:srgbClr val="FFFFFF"/>
                </a:solidFill>
              </a:rPr>
              <a:t>3</a:t>
            </a:r>
            <a:endParaRPr lang="en-US" sz="1100" dirty="0"/>
          </a:p>
        </p:txBody>
      </p:sp>
      <p:sp>
        <p:nvSpPr>
          <p:cNvPr id="23" name="Text 21"/>
          <p:cNvSpPr/>
          <p:nvPr/>
        </p:nvSpPr>
        <p:spPr>
          <a:xfrm>
            <a:off x="658368" y="4032504"/>
            <a:ext cx="8229600" cy="292608"/>
          </a:xfrm>
          <a:prstGeom prst="rect">
            <a:avLst/>
          </a:prstGeom>
          <a:noFill/>
          <a:ln/>
        </p:spPr>
        <p:txBody>
          <a:bodyPr wrap="square" rtlCol="0" anchor="ctr"/>
          <a:lstStyle/>
          <a:p>
            <a:pPr marL="0" indent="0">
              <a:buNone/>
            </a:pPr>
            <a:r>
              <a:rPr lang="en-US" sz="1050" dirty="0">
                <a:solidFill>
                  <a:srgbClr val="404040"/>
                </a:solidFill>
              </a:rPr>
              <a:t>Routers múltiples proveen redundancia y carga adicional</a:t>
            </a:r>
            <a:endParaRPr lang="en-US" sz="1050" dirty="0"/>
          </a:p>
        </p:txBody>
      </p:sp>
      <p:sp>
        <p:nvSpPr>
          <p:cNvPr id="24" name="Shape 22"/>
          <p:cNvSpPr/>
          <p:nvPr/>
        </p:nvSpPr>
        <p:spPr>
          <a:xfrm>
            <a:off x="274320" y="4379976"/>
            <a:ext cx="320040" cy="292608"/>
          </a:xfrm>
          <a:prstGeom prst="rect">
            <a:avLst/>
          </a:prstGeom>
          <a:solidFill>
            <a:srgbClr val="5AA8D8"/>
          </a:solidFill>
          <a:ln w="12700">
            <a:solidFill>
              <a:srgbClr val="5AA8D8"/>
            </a:solidFill>
            <a:prstDash val="solid"/>
          </a:ln>
        </p:spPr>
        <p:txBody>
          <a:bodyPr/>
          <a:lstStyle/>
          <a:p>
            <a:endParaRPr lang="en-US"/>
          </a:p>
        </p:txBody>
      </p:sp>
      <p:sp>
        <p:nvSpPr>
          <p:cNvPr id="25" name="Text 23"/>
          <p:cNvSpPr/>
          <p:nvPr/>
        </p:nvSpPr>
        <p:spPr>
          <a:xfrm>
            <a:off x="274320" y="4379976"/>
            <a:ext cx="320040" cy="292608"/>
          </a:xfrm>
          <a:prstGeom prst="rect">
            <a:avLst/>
          </a:prstGeom>
          <a:noFill/>
          <a:ln/>
        </p:spPr>
        <p:txBody>
          <a:bodyPr wrap="square" rtlCol="0" anchor="ctr"/>
          <a:lstStyle/>
          <a:p>
            <a:pPr marL="0" indent="0" algn="ctr">
              <a:buNone/>
            </a:pPr>
            <a:r>
              <a:rPr lang="en-US" sz="1100" b="1" dirty="0">
                <a:solidFill>
                  <a:srgbClr val="FFFFFF"/>
                </a:solidFill>
              </a:rPr>
              <a:t>4</a:t>
            </a:r>
            <a:endParaRPr lang="en-US" sz="1100" dirty="0"/>
          </a:p>
        </p:txBody>
      </p:sp>
      <p:sp>
        <p:nvSpPr>
          <p:cNvPr id="26" name="Text 24"/>
          <p:cNvSpPr/>
          <p:nvPr/>
        </p:nvSpPr>
        <p:spPr>
          <a:xfrm>
            <a:off x="658368" y="4379976"/>
            <a:ext cx="8229600" cy="292608"/>
          </a:xfrm>
          <a:prstGeom prst="rect">
            <a:avLst/>
          </a:prstGeom>
          <a:noFill/>
          <a:ln/>
        </p:spPr>
        <p:txBody>
          <a:bodyPr wrap="square" rtlCol="0" anchor="ctr"/>
          <a:lstStyle/>
          <a:p>
            <a:pPr marL="0" indent="0">
              <a:buNone/>
            </a:pPr>
            <a:r>
              <a:rPr lang="en-US" sz="1050" dirty="0">
                <a:solidFill>
                  <a:srgbClr val="404040"/>
                </a:solidFill>
              </a:rPr>
              <a:t>El gateway se visualiza como nodo de conmutación de la red</a:t>
            </a:r>
            <a:endParaRPr lang="en-US" sz="1050" dirty="0"/>
          </a:p>
        </p:txBody>
      </p:sp>
      <p:sp>
        <p:nvSpPr>
          <p:cNvPr id="27" name="Shape 25"/>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28" name="Text 26"/>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Los routers son los 'cerebros' de Internet. Deciden qué camino tomar paquete a paquete (datagramas) o pre-establecen un circuito (circuito virtual). Internet usa datagramas: más flexible y tolerante a fallos.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3030"/>
          </a:solidFill>
          <a:ln w="25400">
            <a:solidFill>
              <a:srgbClr val="5AA8D8"/>
            </a:solidFill>
            <a:prstDash val="solid"/>
          </a:ln>
        </p:spPr>
        <p:txBody>
          <a:bodyPr/>
          <a:lstStyle/>
          <a:p>
            <a:endParaRPr lang="en-US"/>
          </a:p>
        </p:txBody>
      </p:sp>
      <p:sp>
        <p:nvSpPr>
          <p:cNvPr id="3" name="Shape 1"/>
          <p:cNvSpPr/>
          <p:nvPr/>
        </p:nvSpPr>
        <p:spPr>
          <a:xfrm>
            <a:off x="0" y="987552"/>
            <a:ext cx="9144000" cy="54864"/>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74320" y="73152"/>
            <a:ext cx="8595360" cy="5486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MTU en la Era de los Celulares y Redes Modernas</a:t>
            </a:r>
            <a:endParaRPr lang="en-US" sz="2200" dirty="0"/>
          </a:p>
        </p:txBody>
      </p:sp>
      <p:sp>
        <p:nvSpPr>
          <p:cNvPr id="5" name="Text 3"/>
          <p:cNvSpPr/>
          <p:nvPr/>
        </p:nvSpPr>
        <p:spPr>
          <a:xfrm>
            <a:off x="274320" y="594360"/>
            <a:ext cx="8595360" cy="347472"/>
          </a:xfrm>
          <a:prstGeom prst="rect">
            <a:avLst/>
          </a:prstGeom>
          <a:noFill/>
          <a:ln/>
        </p:spPr>
        <p:txBody>
          <a:bodyPr wrap="square" rtlCol="0" anchor="ctr"/>
          <a:lstStyle/>
          <a:p>
            <a:pPr marL="0" indent="0">
              <a:buNone/>
            </a:pPr>
            <a:r>
              <a:rPr lang="en-US" sz="1300" i="1" dirty="0">
                <a:solidFill>
                  <a:srgbClr val="5AA8D8"/>
                </a:solidFill>
                <a:latin typeface="Arial" pitchFamily="34" charset="0"/>
                <a:ea typeface="Arial" pitchFamily="34" charset="-122"/>
                <a:cs typeface="Arial" pitchFamily="34" charset="-120"/>
              </a:rPr>
              <a:t>Actualización: fragmentación en 4G/5G, Wi-Fi y redes móviles</a:t>
            </a:r>
            <a:endParaRPr lang="en-US" sz="1300" dirty="0"/>
          </a:p>
        </p:txBody>
      </p:sp>
      <p:sp>
        <p:nvSpPr>
          <p:cNvPr id="6" name="Shape 4"/>
          <p:cNvSpPr/>
          <p:nvPr/>
        </p:nvSpPr>
        <p:spPr>
          <a:xfrm>
            <a:off x="274320" y="1188720"/>
            <a:ext cx="4160520" cy="987552"/>
          </a:xfrm>
          <a:prstGeom prst="rect">
            <a:avLst/>
          </a:prstGeom>
          <a:solidFill>
            <a:srgbClr val="1A2530"/>
          </a:solidFill>
          <a:ln w="19050">
            <a:solidFill>
              <a:srgbClr val="5AA8D8"/>
            </a:solidFill>
            <a:prstDash val="solid"/>
          </a:ln>
        </p:spPr>
        <p:txBody>
          <a:bodyPr/>
          <a:lstStyle/>
          <a:p>
            <a:endParaRPr lang="en-US"/>
          </a:p>
        </p:txBody>
      </p:sp>
      <p:sp>
        <p:nvSpPr>
          <p:cNvPr id="7" name="Shape 5"/>
          <p:cNvSpPr/>
          <p:nvPr/>
        </p:nvSpPr>
        <p:spPr>
          <a:xfrm>
            <a:off x="274320" y="1188720"/>
            <a:ext cx="384048" cy="987552"/>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444752"/>
            <a:ext cx="384048" cy="438912"/>
          </a:xfrm>
          <a:prstGeom prst="rect">
            <a:avLst/>
          </a:prstGeom>
          <a:noFill/>
          <a:ln/>
        </p:spPr>
        <p:txBody>
          <a:bodyPr wrap="square" rtlCol="0" anchor="ctr"/>
          <a:lstStyle/>
          <a:p>
            <a:pPr marL="0" indent="0" algn="ctr">
              <a:buNone/>
            </a:pPr>
            <a:r>
              <a:rPr lang="en-US" sz="1500" b="1" dirty="0">
                <a:solidFill>
                  <a:srgbClr val="FFFFFF"/>
                </a:solidFill>
              </a:rPr>
              <a:t>1</a:t>
            </a:r>
            <a:endParaRPr lang="en-US" sz="1500" dirty="0"/>
          </a:p>
        </p:txBody>
      </p:sp>
      <p:sp>
        <p:nvSpPr>
          <p:cNvPr id="9" name="Text 7"/>
          <p:cNvSpPr/>
          <p:nvPr/>
        </p:nvSpPr>
        <p:spPr>
          <a:xfrm>
            <a:off x="731520" y="1234440"/>
            <a:ext cx="3630168" cy="292608"/>
          </a:xfrm>
          <a:prstGeom prst="rect">
            <a:avLst/>
          </a:prstGeom>
          <a:noFill/>
          <a:ln/>
        </p:spPr>
        <p:txBody>
          <a:bodyPr wrap="square" rtlCol="0" anchor="ctr"/>
          <a:lstStyle/>
          <a:p>
            <a:pPr marL="0" indent="0">
              <a:buNone/>
            </a:pPr>
            <a:r>
              <a:rPr lang="en-US" sz="1050" b="1" dirty="0">
                <a:solidFill>
                  <a:srgbClr val="5AA8D8"/>
                </a:solidFill>
              </a:rPr>
              <a:t>4G/LTE y MTU 1500</a:t>
            </a:r>
            <a:endParaRPr lang="en-US" sz="1050" dirty="0"/>
          </a:p>
        </p:txBody>
      </p:sp>
      <p:sp>
        <p:nvSpPr>
          <p:cNvPr id="10" name="Text 8"/>
          <p:cNvSpPr/>
          <p:nvPr/>
        </p:nvSpPr>
        <p:spPr>
          <a:xfrm>
            <a:off x="731520" y="1527048"/>
            <a:ext cx="3630168" cy="566928"/>
          </a:xfrm>
          <a:prstGeom prst="rect">
            <a:avLst/>
          </a:prstGeom>
          <a:noFill/>
          <a:ln/>
        </p:spPr>
        <p:txBody>
          <a:bodyPr wrap="square" rtlCol="0" anchor="t"/>
          <a:lstStyle/>
          <a:p>
            <a:pPr marL="0" indent="0">
              <a:buNone/>
            </a:pPr>
            <a:r>
              <a:rPr lang="en-US" sz="900" dirty="0">
                <a:solidFill>
                  <a:srgbClr val="FFFFFF"/>
                </a:solidFill>
              </a:rPr>
              <a:t>Las redes LTE usan MTU 1500 B. Los paquetes IP se encapsulan en tramas del protocolo GTP sobre UDP. La fragmentación la maneja el núcleo de la red.</a:t>
            </a:r>
            <a:endParaRPr lang="en-US" sz="900" dirty="0"/>
          </a:p>
        </p:txBody>
      </p:sp>
      <p:sp>
        <p:nvSpPr>
          <p:cNvPr id="11" name="Shape 9"/>
          <p:cNvSpPr/>
          <p:nvPr/>
        </p:nvSpPr>
        <p:spPr>
          <a:xfrm>
            <a:off x="4709160" y="1188720"/>
            <a:ext cx="4160520" cy="987552"/>
          </a:xfrm>
          <a:prstGeom prst="rect">
            <a:avLst/>
          </a:prstGeom>
          <a:solidFill>
            <a:srgbClr val="1A2530"/>
          </a:solidFill>
          <a:ln w="19050">
            <a:solidFill>
              <a:srgbClr val="5A9A5A"/>
            </a:solidFill>
            <a:prstDash val="solid"/>
          </a:ln>
        </p:spPr>
        <p:txBody>
          <a:bodyPr/>
          <a:lstStyle/>
          <a:p>
            <a:endParaRPr lang="en-US"/>
          </a:p>
        </p:txBody>
      </p:sp>
      <p:sp>
        <p:nvSpPr>
          <p:cNvPr id="12" name="Shape 10"/>
          <p:cNvSpPr/>
          <p:nvPr/>
        </p:nvSpPr>
        <p:spPr>
          <a:xfrm>
            <a:off x="4709160" y="1188720"/>
            <a:ext cx="384048" cy="987552"/>
          </a:xfrm>
          <a:prstGeom prst="rect">
            <a:avLst/>
          </a:prstGeom>
          <a:solidFill>
            <a:srgbClr val="5A9A5A"/>
          </a:solidFill>
          <a:ln w="12700">
            <a:solidFill>
              <a:srgbClr val="5A9A5A"/>
            </a:solidFill>
            <a:prstDash val="solid"/>
          </a:ln>
        </p:spPr>
        <p:txBody>
          <a:bodyPr/>
          <a:lstStyle/>
          <a:p>
            <a:endParaRPr lang="en-US"/>
          </a:p>
        </p:txBody>
      </p:sp>
      <p:sp>
        <p:nvSpPr>
          <p:cNvPr id="13" name="Text 11"/>
          <p:cNvSpPr/>
          <p:nvPr/>
        </p:nvSpPr>
        <p:spPr>
          <a:xfrm>
            <a:off x="4709160" y="1444752"/>
            <a:ext cx="384048" cy="438912"/>
          </a:xfrm>
          <a:prstGeom prst="rect">
            <a:avLst/>
          </a:prstGeom>
          <a:noFill/>
          <a:ln/>
        </p:spPr>
        <p:txBody>
          <a:bodyPr wrap="square" rtlCol="0" anchor="ctr"/>
          <a:lstStyle/>
          <a:p>
            <a:pPr marL="0" indent="0" algn="ctr">
              <a:buNone/>
            </a:pPr>
            <a:r>
              <a:rPr lang="en-US" sz="1500" b="1" dirty="0">
                <a:solidFill>
                  <a:srgbClr val="FFFFFF"/>
                </a:solidFill>
              </a:rPr>
              <a:t>2</a:t>
            </a:r>
            <a:endParaRPr lang="en-US" sz="1500" dirty="0"/>
          </a:p>
        </p:txBody>
      </p:sp>
      <p:sp>
        <p:nvSpPr>
          <p:cNvPr id="14" name="Text 12"/>
          <p:cNvSpPr/>
          <p:nvPr/>
        </p:nvSpPr>
        <p:spPr>
          <a:xfrm>
            <a:off x="5166360" y="1234440"/>
            <a:ext cx="3630168" cy="292608"/>
          </a:xfrm>
          <a:prstGeom prst="rect">
            <a:avLst/>
          </a:prstGeom>
          <a:noFill/>
          <a:ln/>
        </p:spPr>
        <p:txBody>
          <a:bodyPr wrap="square" rtlCol="0" anchor="ctr"/>
          <a:lstStyle/>
          <a:p>
            <a:pPr marL="0" indent="0">
              <a:buNone/>
            </a:pPr>
            <a:r>
              <a:rPr lang="en-US" sz="1050" b="1" dirty="0">
                <a:solidFill>
                  <a:srgbClr val="5A9A5A"/>
                </a:solidFill>
              </a:rPr>
              <a:t>5G y PMTU Discovery</a:t>
            </a:r>
            <a:endParaRPr lang="en-US" sz="1050" dirty="0"/>
          </a:p>
        </p:txBody>
      </p:sp>
      <p:sp>
        <p:nvSpPr>
          <p:cNvPr id="15" name="Text 13"/>
          <p:cNvSpPr/>
          <p:nvPr/>
        </p:nvSpPr>
        <p:spPr>
          <a:xfrm>
            <a:off x="5166360" y="1527048"/>
            <a:ext cx="3630168" cy="566928"/>
          </a:xfrm>
          <a:prstGeom prst="rect">
            <a:avLst/>
          </a:prstGeom>
          <a:noFill/>
          <a:ln/>
        </p:spPr>
        <p:txBody>
          <a:bodyPr wrap="square" rtlCol="0" anchor="t"/>
          <a:lstStyle/>
          <a:p>
            <a:pPr marL="0" indent="0">
              <a:buNone/>
            </a:pPr>
            <a:r>
              <a:rPr lang="en-US" sz="900" dirty="0">
                <a:solidFill>
                  <a:srgbClr val="FFFFFF"/>
                </a:solidFill>
              </a:rPr>
              <a:t>5G introduce Path MTU Discovery (PMTUD): el sistema detecta automáticamente el MTU mínimo del camino completo. Evita fragmentación proactivamente.</a:t>
            </a:r>
            <a:endParaRPr lang="en-US" sz="900" dirty="0"/>
          </a:p>
        </p:txBody>
      </p:sp>
      <p:sp>
        <p:nvSpPr>
          <p:cNvPr id="16" name="Shape 14"/>
          <p:cNvSpPr/>
          <p:nvPr/>
        </p:nvSpPr>
        <p:spPr>
          <a:xfrm>
            <a:off x="274320" y="2286000"/>
            <a:ext cx="4160520" cy="987552"/>
          </a:xfrm>
          <a:prstGeom prst="rect">
            <a:avLst/>
          </a:prstGeom>
          <a:solidFill>
            <a:srgbClr val="1A2530"/>
          </a:solidFill>
          <a:ln w="19050">
            <a:solidFill>
              <a:srgbClr val="5A7A9A"/>
            </a:solidFill>
            <a:prstDash val="solid"/>
          </a:ln>
        </p:spPr>
        <p:txBody>
          <a:bodyPr/>
          <a:lstStyle/>
          <a:p>
            <a:endParaRPr lang="en-US"/>
          </a:p>
        </p:txBody>
      </p:sp>
      <p:sp>
        <p:nvSpPr>
          <p:cNvPr id="17" name="Shape 15"/>
          <p:cNvSpPr/>
          <p:nvPr/>
        </p:nvSpPr>
        <p:spPr>
          <a:xfrm>
            <a:off x="274320" y="2286000"/>
            <a:ext cx="384048" cy="987552"/>
          </a:xfrm>
          <a:prstGeom prst="rect">
            <a:avLst/>
          </a:prstGeom>
          <a:solidFill>
            <a:srgbClr val="5A7A9A"/>
          </a:solidFill>
          <a:ln w="12700">
            <a:solidFill>
              <a:srgbClr val="5A7A9A"/>
            </a:solidFill>
            <a:prstDash val="solid"/>
          </a:ln>
        </p:spPr>
        <p:txBody>
          <a:bodyPr/>
          <a:lstStyle/>
          <a:p>
            <a:endParaRPr lang="en-US"/>
          </a:p>
        </p:txBody>
      </p:sp>
      <p:sp>
        <p:nvSpPr>
          <p:cNvPr id="18" name="Text 16"/>
          <p:cNvSpPr/>
          <p:nvPr/>
        </p:nvSpPr>
        <p:spPr>
          <a:xfrm>
            <a:off x="274320" y="2542032"/>
            <a:ext cx="384048" cy="438912"/>
          </a:xfrm>
          <a:prstGeom prst="rect">
            <a:avLst/>
          </a:prstGeom>
          <a:noFill/>
          <a:ln/>
        </p:spPr>
        <p:txBody>
          <a:bodyPr wrap="square" rtlCol="0" anchor="ctr"/>
          <a:lstStyle/>
          <a:p>
            <a:pPr marL="0" indent="0" algn="ctr">
              <a:buNone/>
            </a:pPr>
            <a:r>
              <a:rPr lang="en-US" sz="1500" b="1" dirty="0">
                <a:solidFill>
                  <a:srgbClr val="FFFFFF"/>
                </a:solidFill>
              </a:rPr>
              <a:t>3</a:t>
            </a:r>
            <a:endParaRPr lang="en-US" sz="1500" dirty="0"/>
          </a:p>
        </p:txBody>
      </p:sp>
      <p:sp>
        <p:nvSpPr>
          <p:cNvPr id="19" name="Text 17"/>
          <p:cNvSpPr/>
          <p:nvPr/>
        </p:nvSpPr>
        <p:spPr>
          <a:xfrm>
            <a:off x="731520" y="2331720"/>
            <a:ext cx="3630168" cy="292608"/>
          </a:xfrm>
          <a:prstGeom prst="rect">
            <a:avLst/>
          </a:prstGeom>
          <a:noFill/>
          <a:ln/>
        </p:spPr>
        <p:txBody>
          <a:bodyPr wrap="square" rtlCol="0" anchor="ctr"/>
          <a:lstStyle/>
          <a:p>
            <a:pPr marL="0" indent="0">
              <a:buNone/>
            </a:pPr>
            <a:r>
              <a:rPr lang="en-US" sz="1050" b="1" dirty="0">
                <a:solidFill>
                  <a:srgbClr val="5A7A9A"/>
                </a:solidFill>
              </a:rPr>
              <a:t>Wi-Fi y cambios de MTU</a:t>
            </a:r>
            <a:endParaRPr lang="en-US" sz="1050" dirty="0"/>
          </a:p>
        </p:txBody>
      </p:sp>
      <p:sp>
        <p:nvSpPr>
          <p:cNvPr id="20" name="Text 18"/>
          <p:cNvSpPr/>
          <p:nvPr/>
        </p:nvSpPr>
        <p:spPr>
          <a:xfrm>
            <a:off x="731520" y="2624328"/>
            <a:ext cx="3630168" cy="566928"/>
          </a:xfrm>
          <a:prstGeom prst="rect">
            <a:avLst/>
          </a:prstGeom>
          <a:noFill/>
          <a:ln/>
        </p:spPr>
        <p:txBody>
          <a:bodyPr wrap="square" rtlCol="0" anchor="t"/>
          <a:lstStyle/>
          <a:p>
            <a:pPr marL="0" indent="0">
              <a:buNone/>
            </a:pPr>
            <a:r>
              <a:rPr lang="en-US" sz="900" dirty="0">
                <a:solidFill>
                  <a:srgbClr val="FFFFFF"/>
                </a:solidFill>
              </a:rPr>
              <a:t>Al roaming entre WiFi y 4G, el MTU puede cambiar. QUIC (HTTP/3) maneja esto sin cortar la sesión, adaptando el tamaño de paquetes.</a:t>
            </a:r>
            <a:endParaRPr lang="en-US" sz="900" dirty="0"/>
          </a:p>
        </p:txBody>
      </p:sp>
      <p:sp>
        <p:nvSpPr>
          <p:cNvPr id="21" name="Shape 19"/>
          <p:cNvSpPr/>
          <p:nvPr/>
        </p:nvSpPr>
        <p:spPr>
          <a:xfrm>
            <a:off x="4709160" y="2286000"/>
            <a:ext cx="4160520" cy="987552"/>
          </a:xfrm>
          <a:prstGeom prst="rect">
            <a:avLst/>
          </a:prstGeom>
          <a:solidFill>
            <a:srgbClr val="1A2530"/>
          </a:solidFill>
          <a:ln w="19050">
            <a:solidFill>
              <a:srgbClr val="C06000"/>
            </a:solidFill>
            <a:prstDash val="solid"/>
          </a:ln>
        </p:spPr>
        <p:txBody>
          <a:bodyPr/>
          <a:lstStyle/>
          <a:p>
            <a:endParaRPr lang="en-US"/>
          </a:p>
        </p:txBody>
      </p:sp>
      <p:sp>
        <p:nvSpPr>
          <p:cNvPr id="22" name="Shape 20"/>
          <p:cNvSpPr/>
          <p:nvPr/>
        </p:nvSpPr>
        <p:spPr>
          <a:xfrm>
            <a:off x="4709160" y="2286000"/>
            <a:ext cx="384048" cy="987552"/>
          </a:xfrm>
          <a:prstGeom prst="rect">
            <a:avLst/>
          </a:prstGeom>
          <a:solidFill>
            <a:srgbClr val="C06000"/>
          </a:solidFill>
          <a:ln w="12700">
            <a:solidFill>
              <a:srgbClr val="C06000"/>
            </a:solidFill>
            <a:prstDash val="solid"/>
          </a:ln>
        </p:spPr>
        <p:txBody>
          <a:bodyPr/>
          <a:lstStyle/>
          <a:p>
            <a:endParaRPr lang="en-US"/>
          </a:p>
        </p:txBody>
      </p:sp>
      <p:sp>
        <p:nvSpPr>
          <p:cNvPr id="23" name="Text 21"/>
          <p:cNvSpPr/>
          <p:nvPr/>
        </p:nvSpPr>
        <p:spPr>
          <a:xfrm>
            <a:off x="4709160" y="2542032"/>
            <a:ext cx="384048" cy="438912"/>
          </a:xfrm>
          <a:prstGeom prst="rect">
            <a:avLst/>
          </a:prstGeom>
          <a:noFill/>
          <a:ln/>
        </p:spPr>
        <p:txBody>
          <a:bodyPr wrap="square" rtlCol="0" anchor="ctr"/>
          <a:lstStyle/>
          <a:p>
            <a:pPr marL="0" indent="0" algn="ctr">
              <a:buNone/>
            </a:pPr>
            <a:r>
              <a:rPr lang="en-US" sz="1500" b="1" dirty="0">
                <a:solidFill>
                  <a:srgbClr val="FFFFFF"/>
                </a:solidFill>
              </a:rPr>
              <a:t>4</a:t>
            </a:r>
            <a:endParaRPr lang="en-US" sz="1500" dirty="0"/>
          </a:p>
        </p:txBody>
      </p:sp>
      <p:sp>
        <p:nvSpPr>
          <p:cNvPr id="24" name="Text 22"/>
          <p:cNvSpPr/>
          <p:nvPr/>
        </p:nvSpPr>
        <p:spPr>
          <a:xfrm>
            <a:off x="5166360" y="2331720"/>
            <a:ext cx="3630168" cy="292608"/>
          </a:xfrm>
          <a:prstGeom prst="rect">
            <a:avLst/>
          </a:prstGeom>
          <a:noFill/>
          <a:ln/>
        </p:spPr>
        <p:txBody>
          <a:bodyPr wrap="square" rtlCol="0" anchor="ctr"/>
          <a:lstStyle/>
          <a:p>
            <a:pPr marL="0" indent="0">
              <a:buNone/>
            </a:pPr>
            <a:r>
              <a:rPr lang="en-US" sz="1050" b="1" dirty="0">
                <a:solidFill>
                  <a:srgbClr val="C06000"/>
                </a:solidFill>
              </a:rPr>
              <a:t>VPN y reducción de MTU</a:t>
            </a:r>
            <a:endParaRPr lang="en-US" sz="1050" dirty="0"/>
          </a:p>
        </p:txBody>
      </p:sp>
      <p:sp>
        <p:nvSpPr>
          <p:cNvPr id="25" name="Text 23"/>
          <p:cNvSpPr/>
          <p:nvPr/>
        </p:nvSpPr>
        <p:spPr>
          <a:xfrm>
            <a:off x="5166360" y="2624328"/>
            <a:ext cx="3630168" cy="566928"/>
          </a:xfrm>
          <a:prstGeom prst="rect">
            <a:avLst/>
          </a:prstGeom>
          <a:noFill/>
          <a:ln/>
        </p:spPr>
        <p:txBody>
          <a:bodyPr wrap="square" rtlCol="0" anchor="t"/>
          <a:lstStyle/>
          <a:p>
            <a:pPr marL="0" indent="0">
              <a:buNone/>
            </a:pPr>
            <a:r>
              <a:rPr lang="en-US" sz="900" dirty="0">
                <a:solidFill>
                  <a:srgbClr val="FFFFFF"/>
                </a:solidFill>
              </a:rPr>
              <a:t>Las VPN en celulares reducen el MTU efectivo (overhead del encapsulamiento). Una VPN puede reducir el MTU de 1500 a ~1400 B.</a:t>
            </a:r>
            <a:endParaRPr lang="en-US" sz="900" dirty="0"/>
          </a:p>
        </p:txBody>
      </p:sp>
      <p:sp>
        <p:nvSpPr>
          <p:cNvPr id="26" name="Shape 24"/>
          <p:cNvSpPr/>
          <p:nvPr/>
        </p:nvSpPr>
        <p:spPr>
          <a:xfrm>
            <a:off x="274320" y="3383280"/>
            <a:ext cx="4160520" cy="987552"/>
          </a:xfrm>
          <a:prstGeom prst="rect">
            <a:avLst/>
          </a:prstGeom>
          <a:solidFill>
            <a:srgbClr val="1A2530"/>
          </a:solidFill>
          <a:ln w="19050">
            <a:solidFill>
              <a:srgbClr val="9A5A9A"/>
            </a:solidFill>
            <a:prstDash val="solid"/>
          </a:ln>
        </p:spPr>
        <p:txBody>
          <a:bodyPr/>
          <a:lstStyle/>
          <a:p>
            <a:endParaRPr lang="en-US"/>
          </a:p>
        </p:txBody>
      </p:sp>
      <p:sp>
        <p:nvSpPr>
          <p:cNvPr id="27" name="Shape 25"/>
          <p:cNvSpPr/>
          <p:nvPr/>
        </p:nvSpPr>
        <p:spPr>
          <a:xfrm>
            <a:off x="274320" y="3383280"/>
            <a:ext cx="384048" cy="987552"/>
          </a:xfrm>
          <a:prstGeom prst="rect">
            <a:avLst/>
          </a:prstGeom>
          <a:solidFill>
            <a:srgbClr val="9A5A9A"/>
          </a:solidFill>
          <a:ln w="12700">
            <a:solidFill>
              <a:srgbClr val="9A5A9A"/>
            </a:solidFill>
            <a:prstDash val="solid"/>
          </a:ln>
        </p:spPr>
        <p:txBody>
          <a:bodyPr/>
          <a:lstStyle/>
          <a:p>
            <a:endParaRPr lang="en-US"/>
          </a:p>
        </p:txBody>
      </p:sp>
      <p:sp>
        <p:nvSpPr>
          <p:cNvPr id="28" name="Text 26"/>
          <p:cNvSpPr/>
          <p:nvPr/>
        </p:nvSpPr>
        <p:spPr>
          <a:xfrm>
            <a:off x="274320" y="3639312"/>
            <a:ext cx="384048" cy="438912"/>
          </a:xfrm>
          <a:prstGeom prst="rect">
            <a:avLst/>
          </a:prstGeom>
          <a:noFill/>
          <a:ln/>
        </p:spPr>
        <p:txBody>
          <a:bodyPr wrap="square" rtlCol="0" anchor="ctr"/>
          <a:lstStyle/>
          <a:p>
            <a:pPr marL="0" indent="0" algn="ctr">
              <a:buNone/>
            </a:pPr>
            <a:r>
              <a:rPr lang="en-US" sz="1500" b="1" dirty="0">
                <a:solidFill>
                  <a:srgbClr val="FFFFFF"/>
                </a:solidFill>
              </a:rPr>
              <a:t>5</a:t>
            </a:r>
            <a:endParaRPr lang="en-US" sz="1500" dirty="0"/>
          </a:p>
        </p:txBody>
      </p:sp>
      <p:sp>
        <p:nvSpPr>
          <p:cNvPr id="29" name="Text 27"/>
          <p:cNvSpPr/>
          <p:nvPr/>
        </p:nvSpPr>
        <p:spPr>
          <a:xfrm>
            <a:off x="731520" y="3429000"/>
            <a:ext cx="3630168" cy="292608"/>
          </a:xfrm>
          <a:prstGeom prst="rect">
            <a:avLst/>
          </a:prstGeom>
          <a:noFill/>
          <a:ln/>
        </p:spPr>
        <p:txBody>
          <a:bodyPr wrap="square" rtlCol="0" anchor="ctr"/>
          <a:lstStyle/>
          <a:p>
            <a:pPr marL="0" indent="0">
              <a:buNone/>
            </a:pPr>
            <a:r>
              <a:rPr lang="en-US" sz="1050" b="1" dirty="0">
                <a:solidFill>
                  <a:srgbClr val="9A5A9A"/>
                </a:solidFill>
              </a:rPr>
              <a:t>Jumbo Frames en 5G</a:t>
            </a:r>
            <a:endParaRPr lang="en-US" sz="1050" dirty="0"/>
          </a:p>
        </p:txBody>
      </p:sp>
      <p:sp>
        <p:nvSpPr>
          <p:cNvPr id="30" name="Text 28"/>
          <p:cNvSpPr/>
          <p:nvPr/>
        </p:nvSpPr>
        <p:spPr>
          <a:xfrm>
            <a:off x="731520" y="3721608"/>
            <a:ext cx="3630168" cy="566928"/>
          </a:xfrm>
          <a:prstGeom prst="rect">
            <a:avLst/>
          </a:prstGeom>
          <a:noFill/>
          <a:ln/>
        </p:spPr>
        <p:txBody>
          <a:bodyPr wrap="square" rtlCol="0" anchor="t"/>
          <a:lstStyle/>
          <a:p>
            <a:pPr marL="0" indent="0">
              <a:buNone/>
            </a:pPr>
            <a:r>
              <a:rPr lang="en-US" sz="900" dirty="0">
                <a:solidFill>
                  <a:srgbClr val="FFFFFF"/>
                </a:solidFill>
              </a:rPr>
              <a:t>Redes empresariales 5G usan Jumbo Frames (hasta 9000 B) en el backhaul. Reduce overhead de encabezados y mejora throughput.</a:t>
            </a:r>
            <a:endParaRPr lang="en-US" sz="900" dirty="0"/>
          </a:p>
        </p:txBody>
      </p:sp>
      <p:sp>
        <p:nvSpPr>
          <p:cNvPr id="31" name="Shape 29"/>
          <p:cNvSpPr/>
          <p:nvPr/>
        </p:nvSpPr>
        <p:spPr>
          <a:xfrm>
            <a:off x="4709160" y="3383280"/>
            <a:ext cx="4160520" cy="987552"/>
          </a:xfrm>
          <a:prstGeom prst="rect">
            <a:avLst/>
          </a:prstGeom>
          <a:solidFill>
            <a:srgbClr val="1A2530"/>
          </a:solidFill>
          <a:ln w="19050">
            <a:solidFill>
              <a:srgbClr val="9A7A3A"/>
            </a:solidFill>
            <a:prstDash val="solid"/>
          </a:ln>
        </p:spPr>
        <p:txBody>
          <a:bodyPr/>
          <a:lstStyle/>
          <a:p>
            <a:endParaRPr lang="en-US"/>
          </a:p>
        </p:txBody>
      </p:sp>
      <p:sp>
        <p:nvSpPr>
          <p:cNvPr id="32" name="Shape 30"/>
          <p:cNvSpPr/>
          <p:nvPr/>
        </p:nvSpPr>
        <p:spPr>
          <a:xfrm>
            <a:off x="4709160" y="3383280"/>
            <a:ext cx="384048" cy="987552"/>
          </a:xfrm>
          <a:prstGeom prst="rect">
            <a:avLst/>
          </a:prstGeom>
          <a:solidFill>
            <a:srgbClr val="9A7A3A"/>
          </a:solidFill>
          <a:ln w="12700">
            <a:solidFill>
              <a:srgbClr val="9A7A3A"/>
            </a:solidFill>
            <a:prstDash val="solid"/>
          </a:ln>
        </p:spPr>
        <p:txBody>
          <a:bodyPr/>
          <a:lstStyle/>
          <a:p>
            <a:endParaRPr lang="en-US"/>
          </a:p>
        </p:txBody>
      </p:sp>
      <p:sp>
        <p:nvSpPr>
          <p:cNvPr id="33" name="Text 31"/>
          <p:cNvSpPr/>
          <p:nvPr/>
        </p:nvSpPr>
        <p:spPr>
          <a:xfrm>
            <a:off x="4709160" y="3639312"/>
            <a:ext cx="384048" cy="438912"/>
          </a:xfrm>
          <a:prstGeom prst="rect">
            <a:avLst/>
          </a:prstGeom>
          <a:noFill/>
          <a:ln/>
        </p:spPr>
        <p:txBody>
          <a:bodyPr wrap="square" rtlCol="0" anchor="ctr"/>
          <a:lstStyle/>
          <a:p>
            <a:pPr marL="0" indent="0" algn="ctr">
              <a:buNone/>
            </a:pPr>
            <a:r>
              <a:rPr lang="en-US" sz="1500" b="1" dirty="0">
                <a:solidFill>
                  <a:srgbClr val="FFFFFF"/>
                </a:solidFill>
              </a:rPr>
              <a:t>6</a:t>
            </a:r>
            <a:endParaRPr lang="en-US" sz="1500" dirty="0"/>
          </a:p>
        </p:txBody>
      </p:sp>
      <p:sp>
        <p:nvSpPr>
          <p:cNvPr id="34" name="Text 32"/>
          <p:cNvSpPr/>
          <p:nvPr/>
        </p:nvSpPr>
        <p:spPr>
          <a:xfrm>
            <a:off x="5166360" y="3429000"/>
            <a:ext cx="3630168" cy="292608"/>
          </a:xfrm>
          <a:prstGeom prst="rect">
            <a:avLst/>
          </a:prstGeom>
          <a:noFill/>
          <a:ln/>
        </p:spPr>
        <p:txBody>
          <a:bodyPr wrap="square" rtlCol="0" anchor="ctr"/>
          <a:lstStyle/>
          <a:p>
            <a:pPr marL="0" indent="0">
              <a:buNone/>
            </a:pPr>
            <a:r>
              <a:rPr lang="en-US" sz="1050" b="1" dirty="0">
                <a:solidFill>
                  <a:srgbClr val="9A7A3A"/>
                </a:solidFill>
              </a:rPr>
              <a:t>IPv6 y MTU mínimo</a:t>
            </a:r>
            <a:endParaRPr lang="en-US" sz="1050" dirty="0"/>
          </a:p>
        </p:txBody>
      </p:sp>
      <p:sp>
        <p:nvSpPr>
          <p:cNvPr id="35" name="Text 33"/>
          <p:cNvSpPr/>
          <p:nvPr/>
        </p:nvSpPr>
        <p:spPr>
          <a:xfrm>
            <a:off x="5166360" y="3721608"/>
            <a:ext cx="3630168" cy="566928"/>
          </a:xfrm>
          <a:prstGeom prst="rect">
            <a:avLst/>
          </a:prstGeom>
          <a:noFill/>
          <a:ln/>
        </p:spPr>
        <p:txBody>
          <a:bodyPr wrap="square" rtlCol="0" anchor="t"/>
          <a:lstStyle/>
          <a:p>
            <a:pPr marL="0" indent="0">
              <a:buNone/>
            </a:pPr>
            <a:r>
              <a:rPr lang="en-US" sz="900" dirty="0">
                <a:solidFill>
                  <a:srgbClr val="FFFFFF"/>
                </a:solidFill>
              </a:rPr>
              <a:t>IPv6 requiere MTU mínimo de 1280 B en cada enlace. A diferencia de IPv4, los routers IPv6 NO fragmentan: el emisor debe adaptar el tamaño.</a:t>
            </a:r>
            <a:endParaRPr lang="en-US" sz="900" dirty="0"/>
          </a:p>
        </p:txBody>
      </p:sp>
      <p:sp>
        <p:nvSpPr>
          <p:cNvPr id="36" name="Shape 34"/>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37" name="Text 35"/>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IPv6 cambia el paradigma: los routers IPv6 NO fragmentan. El emisor debe hacer Path MTU Discovery y ajustar el tamaño. Esto es más eficiente pero requiere que los hosts sean más inteligentes.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1</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800" i="1" dirty="0">
                <a:solidFill>
                  <a:srgbClr val="FFFFFF"/>
                </a:solidFill>
              </a:rPr>
              <a:t>"Los routers realizan fragmentaciones cuando las redes que comunican tienen diferente MTU, y además efectúan el reensamblado de los fragmentos."</a:t>
            </a:r>
            <a:endParaRPr lang="en-US" sz="18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1</a:t>
            </a:r>
            <a:endParaRPr lang="en-US" sz="1600" dirty="0"/>
          </a:p>
        </p:txBody>
      </p:sp>
      <p:sp>
        <p:nvSpPr>
          <p:cNvPr id="4" name="Shape 2"/>
          <p:cNvSpPr/>
          <p:nvPr/>
        </p:nvSpPr>
        <p:spPr>
          <a:xfrm>
            <a:off x="1371600" y="822960"/>
            <a:ext cx="6400800" cy="640080"/>
          </a:xfrm>
          <a:prstGeom prst="rect">
            <a:avLst/>
          </a:prstGeom>
          <a:solidFill>
            <a:srgbClr val="4A1A1A"/>
          </a:solidFill>
          <a:ln w="25400">
            <a:solidFill>
              <a:srgbClr val="FF4444"/>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FF4444"/>
                </a:solidFill>
              </a:rPr>
              <a:t>✗  FALSO</a:t>
            </a:r>
            <a:endParaRPr lang="en-US" sz="2600" dirty="0"/>
          </a:p>
        </p:txBody>
      </p:sp>
      <p:sp>
        <p:nvSpPr>
          <p:cNvPr id="6" name="Shape 4"/>
          <p:cNvSpPr/>
          <p:nvPr/>
        </p:nvSpPr>
        <p:spPr>
          <a:xfrm>
            <a:off x="457200" y="1600200"/>
            <a:ext cx="8229600" cy="233172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FFFFFF"/>
                </a:solidFill>
              </a:rPr>
              <a:t>Los routers SÍ realizan fragmentaciones cuando las redes que comunican tienen diferente MTU. Pero los routers NO efectúan reensamblados. El reensamblado solo lo realiza el HOST DESTINO. Los routers no saben si recibirán todos los fragmentos ni en qué orden, por lo que no pueden reensamblar. Esta es una de las preguntas más frecuentes y comunes en el examen.</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Memorizar: Routers FRAGMENTAN pero NO reensambladan. El reensamblado es responsabilidad exclusiva del host destino final.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2D3030"/>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2</a:t>
            </a:r>
            <a:endParaRPr lang="en-US" sz="1400" dirty="0"/>
          </a:p>
        </p:txBody>
      </p:sp>
      <p:sp>
        <p:nvSpPr>
          <p:cNvPr id="6" name="Shape 4"/>
          <p:cNvSpPr/>
          <p:nvPr/>
        </p:nvSpPr>
        <p:spPr>
          <a:xfrm>
            <a:off x="914400" y="1325880"/>
            <a:ext cx="7315200" cy="2011680"/>
          </a:xfrm>
          <a:prstGeom prst="rect">
            <a:avLst/>
          </a:prstGeom>
          <a:solidFill>
            <a:srgbClr val="E8F4FC"/>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700" i="1" dirty="0">
                <a:solidFill>
                  <a:srgbClr val="2D3030"/>
                </a:solidFill>
              </a:rPr>
              <a:t>"Un datagrama IP debe ir encapsulado dentro de una trama, lo cual significa que el datagrama a transferir no podrá superar el tamaño permitido por la trama."</a:t>
            </a:r>
            <a:endParaRPr lang="en-US" sz="17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2D3030"/>
                </a:solidFill>
              </a:rPr>
              <a:t>¿Verdadero o Falso?</a:t>
            </a:r>
            <a:endParaRPr lang="en-US" sz="1800" dirty="0"/>
          </a:p>
        </p:txBody>
      </p:sp>
      <p:sp>
        <p:nvSpPr>
          <p:cNvPr id="9" name="Shape 7"/>
          <p:cNvSpPr/>
          <p:nvPr/>
        </p:nvSpPr>
        <p:spPr>
          <a:xfrm>
            <a:off x="1371600" y="4023360"/>
            <a:ext cx="2743200" cy="594360"/>
          </a:xfrm>
          <a:prstGeom prst="rect">
            <a:avLst/>
          </a:prstGeom>
          <a:solidFill>
            <a:srgbClr val="B9DEF8"/>
          </a:solidFill>
          <a:ln w="25400">
            <a:solidFill>
              <a:srgbClr val="5AA8D8"/>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2D3030"/>
                </a:solidFill>
              </a:rPr>
              <a:t>VERDADERO</a:t>
            </a:r>
            <a:endParaRPr lang="en-US" sz="1600" dirty="0"/>
          </a:p>
        </p:txBody>
      </p:sp>
      <p:sp>
        <p:nvSpPr>
          <p:cNvPr id="11" name="Shape 9"/>
          <p:cNvSpPr/>
          <p:nvPr/>
        </p:nvSpPr>
        <p:spPr>
          <a:xfrm>
            <a:off x="5029200" y="4023360"/>
            <a:ext cx="2743200" cy="594360"/>
          </a:xfrm>
          <a:prstGeom prst="rect">
            <a:avLst/>
          </a:prstGeom>
          <a:solidFill>
            <a:srgbClr val="F0E0E0"/>
          </a:solidFill>
          <a:ln w="25400">
            <a:solidFill>
              <a:srgbClr val="CCA0A0"/>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808080"/>
                </a:solidFill>
              </a:rPr>
              <a:t>FALSO</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C"/>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2D3030"/>
                </a:solidFill>
              </a:rPr>
              <a:t>Respuesta — Pregunta 2</a:t>
            </a:r>
            <a:endParaRPr lang="en-US" sz="1600" dirty="0"/>
          </a:p>
        </p:txBody>
      </p:sp>
      <p:sp>
        <p:nvSpPr>
          <p:cNvPr id="4" name="Shape 2"/>
          <p:cNvSpPr/>
          <p:nvPr/>
        </p:nvSpPr>
        <p:spPr>
          <a:xfrm>
            <a:off x="1371600" y="822960"/>
            <a:ext cx="6400800" cy="640080"/>
          </a:xfrm>
          <a:prstGeom prst="rect">
            <a:avLst/>
          </a:prstGeom>
          <a:solidFill>
            <a:srgbClr val="D6EAD6"/>
          </a:solidFill>
          <a:ln w="25400">
            <a:solidFill>
              <a:srgbClr val="217346"/>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217346"/>
                </a:solidFill>
              </a:rPr>
              <a:t>✓  VERDADERO</a:t>
            </a:r>
            <a:endParaRPr lang="en-US" sz="2600" dirty="0"/>
          </a:p>
        </p:txBody>
      </p:sp>
      <p:sp>
        <p:nvSpPr>
          <p:cNvPr id="6" name="Shape 4"/>
          <p:cNvSpPr/>
          <p:nvPr/>
        </p:nvSpPr>
        <p:spPr>
          <a:xfrm>
            <a:off x="457200" y="1600200"/>
            <a:ext cx="8229600" cy="2331720"/>
          </a:xfrm>
          <a:prstGeom prst="rect">
            <a:avLst/>
          </a:prstGeom>
          <a:solidFill>
            <a:srgbClr val="E8F4FC"/>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2D3030"/>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404040"/>
                </a:solidFill>
              </a:rPr>
              <a:t>Correcto. El datagrama IP debe viajar encapsulado dentro de una trama de la capa de acceso a la red. El tamaño de esa trama es limitado por el MTU de la red física. Si el datagrama supera el MTU, debe fragmentarse antes de enviarse. Por eso el MTU es un límite estricto: la trama no puede llevar más datos que los que define su MTU.</a:t>
            </a:r>
            <a:endParaRPr lang="en-US" sz="1100" dirty="0"/>
          </a:p>
        </p:txBody>
      </p:sp>
      <p:sp>
        <p:nvSpPr>
          <p:cNvPr id="9" name="Shape 7"/>
          <p:cNvSpPr/>
          <p:nvPr/>
        </p:nvSpPr>
        <p:spPr>
          <a:xfrm>
            <a:off x="0" y="4663440"/>
            <a:ext cx="9144000" cy="480060"/>
          </a:xfrm>
          <a:prstGeom prst="rect">
            <a:avLst/>
          </a:prstGeom>
          <a:solidFill>
            <a:srgbClr val="2D3030"/>
          </a:solidFill>
          <a:ln w="12700">
            <a:solidFill>
              <a:srgbClr val="5AA8D8"/>
            </a:solidFill>
            <a:prstDash val="solid"/>
          </a:ln>
        </p:spPr>
        <p:txBody>
          <a:bodyPr/>
          <a:lstStyle/>
          <a:p>
            <a:endParaRPr lang="en-US"/>
          </a:p>
        </p:txBody>
      </p:sp>
      <p:sp>
        <p:nvSpPr>
          <p:cNvPr id="10" name="Text 8"/>
          <p:cNvSpPr/>
          <p:nvPr/>
        </p:nvSpPr>
        <p:spPr>
          <a:xfrm>
            <a:off x="137160" y="4681728"/>
            <a:ext cx="8869680" cy="438912"/>
          </a:xfrm>
          <a:prstGeom prst="rect">
            <a:avLst/>
          </a:prstGeom>
          <a:noFill/>
          <a:ln/>
        </p:spPr>
        <p:txBody>
          <a:bodyPr wrap="square" rtlCol="0" anchor="ctr"/>
          <a:lstStyle/>
          <a:p>
            <a:pPr marL="0" indent="0">
              <a:buNone/>
            </a:pPr>
            <a:r>
              <a:rPr lang="en-US" sz="1000" dirty="0">
                <a:solidFill>
                  <a:srgbClr val="6BB8E8"/>
                </a:solidFill>
              </a:rPr>
              <a:t>🎙 </a:t>
            </a:r>
            <a:r>
              <a:rPr lang="en-US" sz="900" i="1" dirty="0">
                <a:solidFill>
                  <a:srgbClr val="6BB8E8"/>
                </a:solidFill>
              </a:rPr>
              <a:t>Esta es la definición base del H4. El encapsulamiento es la razón por la que existe el MTU. Un datagrama de 65.536 B NUNCA puede cruzar Ethernet directamente: debe fragmentarse en trozos de máximo 1500 B.</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3200400" y="228600"/>
            <a:ext cx="2743200" cy="457200"/>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3200400" y="228600"/>
            <a:ext cx="2743200" cy="457200"/>
          </a:xfrm>
          <a:prstGeom prst="rect">
            <a:avLst/>
          </a:prstGeom>
          <a:noFill/>
          <a:ln/>
        </p:spPr>
        <p:txBody>
          <a:bodyPr wrap="square" rtlCol="0" anchor="ctr"/>
          <a:lstStyle/>
          <a:p>
            <a:pPr marL="0" indent="0" algn="ctr">
              <a:buNone/>
            </a:pPr>
            <a:r>
              <a:rPr lang="en-US" sz="1300" b="1" dirty="0">
                <a:solidFill>
                  <a:srgbClr val="FFFFFF"/>
                </a:solidFill>
              </a:rPr>
              <a:t>VERDADERO o FALSO</a:t>
            </a:r>
            <a:endParaRPr lang="en-US" sz="1300" dirty="0"/>
          </a:p>
        </p:txBody>
      </p:sp>
      <p:sp>
        <p:nvSpPr>
          <p:cNvPr id="5" name="Text 3"/>
          <p:cNvSpPr/>
          <p:nvPr/>
        </p:nvSpPr>
        <p:spPr>
          <a:xfrm>
            <a:off x="0" y="822960"/>
            <a:ext cx="9144000" cy="365760"/>
          </a:xfrm>
          <a:prstGeom prst="rect">
            <a:avLst/>
          </a:prstGeom>
          <a:noFill/>
          <a:ln/>
        </p:spPr>
        <p:txBody>
          <a:bodyPr wrap="square" rtlCol="0" anchor="ctr"/>
          <a:lstStyle/>
          <a:p>
            <a:pPr marL="0" indent="0" algn="ctr">
              <a:buNone/>
            </a:pPr>
            <a:r>
              <a:rPr lang="en-US" sz="1400" dirty="0">
                <a:solidFill>
                  <a:srgbClr val="808080"/>
                </a:solidFill>
              </a:rPr>
              <a:t>Pregunta 3</a:t>
            </a:r>
            <a:endParaRPr lang="en-US" sz="1400" dirty="0"/>
          </a:p>
        </p:txBody>
      </p:sp>
      <p:sp>
        <p:nvSpPr>
          <p:cNvPr id="6" name="Shape 4"/>
          <p:cNvSpPr/>
          <p:nvPr/>
        </p:nvSpPr>
        <p:spPr>
          <a:xfrm>
            <a:off x="914400" y="1325880"/>
            <a:ext cx="7315200" cy="2011680"/>
          </a:xfrm>
          <a:prstGeom prst="rect">
            <a:avLst/>
          </a:prstGeom>
          <a:solidFill>
            <a:srgbClr val="1A2530"/>
          </a:solidFill>
          <a:ln w="25400">
            <a:solidFill>
              <a:srgbClr val="5AA8D8"/>
            </a:solidFill>
            <a:prstDash val="solid"/>
          </a:ln>
        </p:spPr>
        <p:txBody>
          <a:bodyPr/>
          <a:lstStyle/>
          <a:p>
            <a:endParaRPr lang="en-US"/>
          </a:p>
        </p:txBody>
      </p:sp>
      <p:sp>
        <p:nvSpPr>
          <p:cNvPr id="7" name="Text 5"/>
          <p:cNvSpPr/>
          <p:nvPr/>
        </p:nvSpPr>
        <p:spPr>
          <a:xfrm>
            <a:off x="1097280" y="1417320"/>
            <a:ext cx="6949440" cy="1828800"/>
          </a:xfrm>
          <a:prstGeom prst="rect">
            <a:avLst/>
          </a:prstGeom>
          <a:noFill/>
          <a:ln/>
        </p:spPr>
        <p:txBody>
          <a:bodyPr wrap="square" rtlCol="0" anchor="ctr"/>
          <a:lstStyle/>
          <a:p>
            <a:pPr marL="0" indent="0" algn="ctr">
              <a:buNone/>
            </a:pPr>
            <a:r>
              <a:rPr lang="en-US" sz="1800" i="1" dirty="0">
                <a:solidFill>
                  <a:srgbClr val="FFFFFF"/>
                </a:solidFill>
              </a:rPr>
              <a:t>"El tamaño de cada fragmento IP debe ser múltiplo de 8 Bytes, porque el campo Desplazamiento del encabezado IP almacena su valor en unidades de 8 Bytes."</a:t>
            </a:r>
            <a:endParaRPr lang="en-US" sz="1800" dirty="0"/>
          </a:p>
        </p:txBody>
      </p:sp>
      <p:sp>
        <p:nvSpPr>
          <p:cNvPr id="8" name="Text 6"/>
          <p:cNvSpPr/>
          <p:nvPr/>
        </p:nvSpPr>
        <p:spPr>
          <a:xfrm>
            <a:off x="0" y="3474720"/>
            <a:ext cx="9144000" cy="457200"/>
          </a:xfrm>
          <a:prstGeom prst="rect">
            <a:avLst/>
          </a:prstGeom>
          <a:noFill/>
          <a:ln/>
        </p:spPr>
        <p:txBody>
          <a:bodyPr wrap="square" rtlCol="0" anchor="ctr"/>
          <a:lstStyle/>
          <a:p>
            <a:pPr marL="0" indent="0" algn="ctr">
              <a:buNone/>
            </a:pPr>
            <a:r>
              <a:rPr lang="en-US" sz="1800" b="1" dirty="0">
                <a:solidFill>
                  <a:srgbClr val="5AA8D8"/>
                </a:solidFill>
              </a:rPr>
              <a:t>¿Verdadero o Falso?</a:t>
            </a:r>
            <a:endParaRPr lang="en-US" sz="1800" dirty="0"/>
          </a:p>
        </p:txBody>
      </p:sp>
      <p:sp>
        <p:nvSpPr>
          <p:cNvPr id="9" name="Shape 7"/>
          <p:cNvSpPr/>
          <p:nvPr/>
        </p:nvSpPr>
        <p:spPr>
          <a:xfrm>
            <a:off x="1371600" y="4023360"/>
            <a:ext cx="2743200" cy="594360"/>
          </a:xfrm>
          <a:prstGeom prst="rect">
            <a:avLst/>
          </a:prstGeom>
          <a:solidFill>
            <a:srgbClr val="1A4A1A"/>
          </a:solidFill>
          <a:ln w="25400">
            <a:solidFill>
              <a:srgbClr val="4A9A4A"/>
            </a:solidFill>
            <a:prstDash val="solid"/>
          </a:ln>
        </p:spPr>
        <p:txBody>
          <a:bodyPr/>
          <a:lstStyle/>
          <a:p>
            <a:endParaRPr lang="en-US"/>
          </a:p>
        </p:txBody>
      </p:sp>
      <p:sp>
        <p:nvSpPr>
          <p:cNvPr id="10" name="Text 8"/>
          <p:cNvSpPr/>
          <p:nvPr/>
        </p:nvSpPr>
        <p:spPr>
          <a:xfrm>
            <a:off x="1371600" y="4023360"/>
            <a:ext cx="2743200" cy="594360"/>
          </a:xfrm>
          <a:prstGeom prst="rect">
            <a:avLst/>
          </a:prstGeom>
          <a:noFill/>
          <a:ln/>
        </p:spPr>
        <p:txBody>
          <a:bodyPr wrap="square" rtlCol="0" anchor="ctr"/>
          <a:lstStyle/>
          <a:p>
            <a:pPr marL="0" indent="0" algn="ctr">
              <a:buNone/>
            </a:pPr>
            <a:r>
              <a:rPr lang="en-US" sz="1600" b="1" dirty="0">
                <a:solidFill>
                  <a:srgbClr val="4AE04A"/>
                </a:solidFill>
              </a:rPr>
              <a:t>VERDADERO</a:t>
            </a:r>
            <a:endParaRPr lang="en-US" sz="1600" dirty="0"/>
          </a:p>
        </p:txBody>
      </p:sp>
      <p:sp>
        <p:nvSpPr>
          <p:cNvPr id="11" name="Shape 9"/>
          <p:cNvSpPr/>
          <p:nvPr/>
        </p:nvSpPr>
        <p:spPr>
          <a:xfrm>
            <a:off x="5029200" y="4023360"/>
            <a:ext cx="2743200" cy="594360"/>
          </a:xfrm>
          <a:prstGeom prst="rect">
            <a:avLst/>
          </a:prstGeom>
          <a:solidFill>
            <a:srgbClr val="4A1A1A"/>
          </a:solidFill>
          <a:ln w="25400">
            <a:solidFill>
              <a:srgbClr val="9A4A4A"/>
            </a:solidFill>
            <a:prstDash val="solid"/>
          </a:ln>
        </p:spPr>
        <p:txBody>
          <a:bodyPr/>
          <a:lstStyle/>
          <a:p>
            <a:endParaRPr lang="en-US"/>
          </a:p>
        </p:txBody>
      </p:sp>
      <p:sp>
        <p:nvSpPr>
          <p:cNvPr id="12" name="Text 10"/>
          <p:cNvSpPr/>
          <p:nvPr/>
        </p:nvSpPr>
        <p:spPr>
          <a:xfrm>
            <a:off x="5029200" y="4023360"/>
            <a:ext cx="2743200" cy="594360"/>
          </a:xfrm>
          <a:prstGeom prst="rect">
            <a:avLst/>
          </a:prstGeom>
          <a:noFill/>
          <a:ln/>
        </p:spPr>
        <p:txBody>
          <a:bodyPr wrap="square" rtlCol="0" anchor="ctr"/>
          <a:lstStyle/>
          <a:p>
            <a:pPr marL="0" indent="0" algn="ctr">
              <a:buNone/>
            </a:pPr>
            <a:r>
              <a:rPr lang="en-US" sz="1600" b="1" dirty="0">
                <a:solidFill>
                  <a:srgbClr val="FF6060"/>
                </a:solidFill>
              </a:rPr>
              <a:t>FALSO</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Text 1"/>
          <p:cNvSpPr/>
          <p:nvPr/>
        </p:nvSpPr>
        <p:spPr>
          <a:xfrm>
            <a:off x="0" y="228600"/>
            <a:ext cx="9144000" cy="457200"/>
          </a:xfrm>
          <a:prstGeom prst="rect">
            <a:avLst/>
          </a:prstGeom>
          <a:noFill/>
          <a:ln/>
        </p:spPr>
        <p:txBody>
          <a:bodyPr wrap="square" rtlCol="0" anchor="ctr"/>
          <a:lstStyle/>
          <a:p>
            <a:pPr marL="0" indent="0" algn="ctr">
              <a:buNone/>
            </a:pPr>
            <a:r>
              <a:rPr lang="en-US" sz="1600" b="1" dirty="0">
                <a:solidFill>
                  <a:srgbClr val="5AA8D8"/>
                </a:solidFill>
              </a:rPr>
              <a:t>Respuesta — Pregunta 3</a:t>
            </a:r>
            <a:endParaRPr lang="en-US" sz="1600" dirty="0"/>
          </a:p>
        </p:txBody>
      </p:sp>
      <p:sp>
        <p:nvSpPr>
          <p:cNvPr id="4" name="Shape 2"/>
          <p:cNvSpPr/>
          <p:nvPr/>
        </p:nvSpPr>
        <p:spPr>
          <a:xfrm>
            <a:off x="1371600" y="822960"/>
            <a:ext cx="6400800" cy="640080"/>
          </a:xfrm>
          <a:prstGeom prst="rect">
            <a:avLst/>
          </a:prstGeom>
          <a:solidFill>
            <a:srgbClr val="1A4A1A"/>
          </a:solidFill>
          <a:ln w="25400">
            <a:solidFill>
              <a:srgbClr val="4A9A4A"/>
            </a:solidFill>
            <a:prstDash val="solid"/>
          </a:ln>
        </p:spPr>
        <p:txBody>
          <a:bodyPr/>
          <a:lstStyle/>
          <a:p>
            <a:endParaRPr lang="en-US"/>
          </a:p>
        </p:txBody>
      </p:sp>
      <p:sp>
        <p:nvSpPr>
          <p:cNvPr id="5" name="Text 3"/>
          <p:cNvSpPr/>
          <p:nvPr/>
        </p:nvSpPr>
        <p:spPr>
          <a:xfrm>
            <a:off x="1371600" y="822960"/>
            <a:ext cx="6400800" cy="640080"/>
          </a:xfrm>
          <a:prstGeom prst="rect">
            <a:avLst/>
          </a:prstGeom>
          <a:noFill/>
          <a:ln/>
        </p:spPr>
        <p:txBody>
          <a:bodyPr wrap="square" rtlCol="0" anchor="ctr"/>
          <a:lstStyle/>
          <a:p>
            <a:pPr marL="0" indent="0" algn="ctr">
              <a:buNone/>
            </a:pPr>
            <a:r>
              <a:rPr lang="en-US" sz="2600" b="1" dirty="0">
                <a:solidFill>
                  <a:srgbClr val="4AE04A"/>
                </a:solidFill>
              </a:rPr>
              <a:t>✓  VERDADERO</a:t>
            </a:r>
            <a:endParaRPr lang="en-US" sz="2600" dirty="0"/>
          </a:p>
        </p:txBody>
      </p:sp>
      <p:sp>
        <p:nvSpPr>
          <p:cNvPr id="6" name="Shape 4"/>
          <p:cNvSpPr/>
          <p:nvPr/>
        </p:nvSpPr>
        <p:spPr>
          <a:xfrm>
            <a:off x="457200" y="1600200"/>
            <a:ext cx="8229600" cy="2331720"/>
          </a:xfrm>
          <a:prstGeom prst="rect">
            <a:avLst/>
          </a:prstGeom>
          <a:solidFill>
            <a:srgbClr val="1A2530"/>
          </a:solidFill>
          <a:ln w="12700">
            <a:solidFill>
              <a:srgbClr val="5AA8D8"/>
            </a:solidFill>
            <a:prstDash val="solid"/>
          </a:ln>
        </p:spPr>
        <p:txBody>
          <a:bodyPr/>
          <a:lstStyle/>
          <a:p>
            <a:endParaRPr lang="en-US"/>
          </a:p>
        </p:txBody>
      </p:sp>
      <p:sp>
        <p:nvSpPr>
          <p:cNvPr id="7" name="Text 5"/>
          <p:cNvSpPr/>
          <p:nvPr/>
        </p:nvSpPr>
        <p:spPr>
          <a:xfrm>
            <a:off x="594360" y="1664208"/>
            <a:ext cx="7955280" cy="320040"/>
          </a:xfrm>
          <a:prstGeom prst="rect">
            <a:avLst/>
          </a:prstGeom>
          <a:noFill/>
          <a:ln/>
        </p:spPr>
        <p:txBody>
          <a:bodyPr wrap="square" rtlCol="0" anchor="ctr"/>
          <a:lstStyle/>
          <a:p>
            <a:pPr marL="0" indent="0">
              <a:buNone/>
            </a:pPr>
            <a:r>
              <a:rPr lang="en-US" sz="1200" b="1" dirty="0">
                <a:solidFill>
                  <a:srgbClr val="5AA8D8"/>
                </a:solidFill>
              </a:rPr>
              <a:t>Justificación:</a:t>
            </a:r>
            <a:endParaRPr lang="en-US" sz="1200" dirty="0"/>
          </a:p>
        </p:txBody>
      </p:sp>
      <p:sp>
        <p:nvSpPr>
          <p:cNvPr id="8" name="Text 6"/>
          <p:cNvSpPr/>
          <p:nvPr/>
        </p:nvSpPr>
        <p:spPr>
          <a:xfrm>
            <a:off x="594360" y="1993392"/>
            <a:ext cx="7955280" cy="1828800"/>
          </a:xfrm>
          <a:prstGeom prst="rect">
            <a:avLst/>
          </a:prstGeom>
          <a:noFill/>
          <a:ln/>
        </p:spPr>
        <p:txBody>
          <a:bodyPr wrap="square" rtlCol="0" anchor="t"/>
          <a:lstStyle/>
          <a:p>
            <a:pPr marL="0" indent="0">
              <a:buNone/>
            </a:pPr>
            <a:r>
              <a:rPr lang="en-US" sz="1100" dirty="0">
                <a:solidFill>
                  <a:srgbClr val="FFFFFF"/>
                </a:solidFill>
              </a:rPr>
              <a:t>Correcto. El campo 'Desplazamiento de fragmento' del encabezado IP guarda su valor en unidades de 8 Bytes. Por eso el tamaño de datos de cada fragmento debe ser múltiplo de 8. Ejemplo: si MTU = 620 y encabezado IP = 20 bytes → datos disponibles = 600 bytes. 600 es múltiplo de 8: OK. Si diera 598 (no múltiplo de 8), habría que elegir el mayor múltiplo de 8 menor a 598, que sería 592.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303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5AA8D8"/>
          </a:solidFill>
          <a:ln w="12700">
            <a:solidFill>
              <a:srgbClr val="5AA8D8"/>
            </a:solidFill>
            <a:prstDash val="solid"/>
          </a:ln>
        </p:spPr>
        <p:txBody>
          <a:bodyPr/>
          <a:lstStyle/>
          <a:p>
            <a:endParaRPr lang="en-US"/>
          </a:p>
        </p:txBody>
      </p:sp>
      <p:sp>
        <p:nvSpPr>
          <p:cNvPr id="3" name="Shape 1"/>
          <p:cNvSpPr/>
          <p:nvPr/>
        </p:nvSpPr>
        <p:spPr>
          <a:xfrm>
            <a:off x="2926080" y="201168"/>
            <a:ext cx="3291840" cy="475488"/>
          </a:xfrm>
          <a:prstGeom prst="rect">
            <a:avLst/>
          </a:prstGeom>
          <a:solidFill>
            <a:srgbClr val="5AA8D8"/>
          </a:solidFill>
          <a:ln w="12700">
            <a:solidFill>
              <a:srgbClr val="5AA8D8"/>
            </a:solidFill>
            <a:prstDash val="solid"/>
          </a:ln>
        </p:spPr>
        <p:txBody>
          <a:bodyPr/>
          <a:lstStyle/>
          <a:p>
            <a:endParaRPr lang="en-US"/>
          </a:p>
        </p:txBody>
      </p:sp>
      <p:sp>
        <p:nvSpPr>
          <p:cNvPr id="4" name="Text 2"/>
          <p:cNvSpPr/>
          <p:nvPr/>
        </p:nvSpPr>
        <p:spPr>
          <a:xfrm>
            <a:off x="2926080" y="201168"/>
            <a:ext cx="3291840" cy="475488"/>
          </a:xfrm>
          <a:prstGeom prst="rect">
            <a:avLst/>
          </a:prstGeom>
          <a:noFill/>
          <a:ln/>
        </p:spPr>
        <p:txBody>
          <a:bodyPr wrap="square" rtlCol="0" anchor="ctr"/>
          <a:lstStyle/>
          <a:p>
            <a:pPr marL="0" indent="0" algn="ctr">
              <a:buNone/>
            </a:pPr>
            <a:r>
              <a:rPr lang="en-US" sz="1400" b="1" dirty="0">
                <a:solidFill>
                  <a:srgbClr val="FFFFFF"/>
                </a:solidFill>
              </a:rPr>
              <a:t>IDEAS CLAVE</a:t>
            </a:r>
            <a:endParaRPr lang="en-US" sz="1400" dirty="0"/>
          </a:p>
        </p:txBody>
      </p:sp>
      <p:sp>
        <p:nvSpPr>
          <p:cNvPr id="5" name="Text 3"/>
          <p:cNvSpPr/>
          <p:nvPr/>
        </p:nvSpPr>
        <p:spPr>
          <a:xfrm>
            <a:off x="0" y="749808"/>
            <a:ext cx="9144000" cy="320040"/>
          </a:xfrm>
          <a:prstGeom prst="rect">
            <a:avLst/>
          </a:prstGeom>
          <a:noFill/>
          <a:ln/>
        </p:spPr>
        <p:txBody>
          <a:bodyPr wrap="square" rtlCol="0" anchor="ctr"/>
          <a:lstStyle/>
          <a:p>
            <a:pPr marL="0" indent="0" algn="ctr">
              <a:buNone/>
            </a:pPr>
            <a:r>
              <a:rPr lang="en-US" sz="1200" dirty="0">
                <a:solidFill>
                  <a:srgbClr val="808080"/>
                </a:solidFill>
              </a:rPr>
              <a:t>SP6 / H4 — MTU y Fragmentación</a:t>
            </a:r>
            <a:endParaRPr lang="en-US" sz="1200" dirty="0"/>
          </a:p>
        </p:txBody>
      </p:sp>
      <p:sp>
        <p:nvSpPr>
          <p:cNvPr id="6" name="Shape 4"/>
          <p:cNvSpPr/>
          <p:nvPr/>
        </p:nvSpPr>
        <p:spPr>
          <a:xfrm>
            <a:off x="274320" y="1207008"/>
            <a:ext cx="4160520" cy="914400"/>
          </a:xfrm>
          <a:prstGeom prst="rect">
            <a:avLst/>
          </a:prstGeom>
          <a:solidFill>
            <a:srgbClr val="1A2530"/>
          </a:solidFill>
          <a:ln w="12700">
            <a:solidFill>
              <a:srgbClr val="5AA8D8"/>
            </a:solidFill>
            <a:prstDash val="solid"/>
          </a:ln>
        </p:spPr>
        <p:txBody>
          <a:bodyPr/>
          <a:lstStyle/>
          <a:p>
            <a:endParaRPr lang="en-US"/>
          </a:p>
        </p:txBody>
      </p:sp>
      <p:sp>
        <p:nvSpPr>
          <p:cNvPr id="7" name="Shape 5"/>
          <p:cNvSpPr/>
          <p:nvPr/>
        </p:nvSpPr>
        <p:spPr>
          <a:xfrm>
            <a:off x="274320" y="1207008"/>
            <a:ext cx="411480" cy="914400"/>
          </a:xfrm>
          <a:prstGeom prst="rect">
            <a:avLst/>
          </a:prstGeom>
          <a:solidFill>
            <a:srgbClr val="5AA8D8"/>
          </a:solidFill>
          <a:ln w="12700">
            <a:solidFill>
              <a:srgbClr val="5AA8D8"/>
            </a:solidFill>
            <a:prstDash val="solid"/>
          </a:ln>
        </p:spPr>
        <p:txBody>
          <a:bodyPr/>
          <a:lstStyle/>
          <a:p>
            <a:endParaRPr lang="en-US"/>
          </a:p>
        </p:txBody>
      </p:sp>
      <p:sp>
        <p:nvSpPr>
          <p:cNvPr id="8" name="Text 6"/>
          <p:cNvSpPr/>
          <p:nvPr/>
        </p:nvSpPr>
        <p:spPr>
          <a:xfrm>
            <a:off x="274320" y="1207008"/>
            <a:ext cx="411480" cy="91440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9" name="Text 7"/>
          <p:cNvSpPr/>
          <p:nvPr/>
        </p:nvSpPr>
        <p:spPr>
          <a:xfrm>
            <a:off x="749808" y="129844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MTU es el mayor paquete que puede transferir una red. Ethernet: 1500 B. Dial-up: 576 B.</a:t>
            </a:r>
            <a:endParaRPr lang="en-US" sz="1050" dirty="0"/>
          </a:p>
        </p:txBody>
      </p:sp>
      <p:sp>
        <p:nvSpPr>
          <p:cNvPr id="10" name="Shape 8"/>
          <p:cNvSpPr/>
          <p:nvPr/>
        </p:nvSpPr>
        <p:spPr>
          <a:xfrm>
            <a:off x="4754880" y="1207008"/>
            <a:ext cx="4160520" cy="914400"/>
          </a:xfrm>
          <a:prstGeom prst="rect">
            <a:avLst/>
          </a:prstGeom>
          <a:solidFill>
            <a:srgbClr val="1A2530"/>
          </a:solidFill>
          <a:ln w="12700">
            <a:solidFill>
              <a:srgbClr val="5AA8D8"/>
            </a:solidFill>
            <a:prstDash val="solid"/>
          </a:ln>
        </p:spPr>
        <p:txBody>
          <a:bodyPr/>
          <a:lstStyle/>
          <a:p>
            <a:endParaRPr lang="en-US"/>
          </a:p>
        </p:txBody>
      </p:sp>
      <p:sp>
        <p:nvSpPr>
          <p:cNvPr id="11" name="Shape 9"/>
          <p:cNvSpPr/>
          <p:nvPr/>
        </p:nvSpPr>
        <p:spPr>
          <a:xfrm>
            <a:off x="4754880" y="1207008"/>
            <a:ext cx="411480" cy="914400"/>
          </a:xfrm>
          <a:prstGeom prst="rect">
            <a:avLst/>
          </a:prstGeom>
          <a:solidFill>
            <a:srgbClr val="5AA8D8"/>
          </a:solidFill>
          <a:ln w="12700">
            <a:solidFill>
              <a:srgbClr val="5AA8D8"/>
            </a:solidFill>
            <a:prstDash val="solid"/>
          </a:ln>
        </p:spPr>
        <p:txBody>
          <a:bodyPr/>
          <a:lstStyle/>
          <a:p>
            <a:endParaRPr lang="en-US"/>
          </a:p>
        </p:txBody>
      </p:sp>
      <p:sp>
        <p:nvSpPr>
          <p:cNvPr id="12" name="Text 10"/>
          <p:cNvSpPr/>
          <p:nvPr/>
        </p:nvSpPr>
        <p:spPr>
          <a:xfrm>
            <a:off x="4754880" y="1207008"/>
            <a:ext cx="411480" cy="91440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3" name="Text 11"/>
          <p:cNvSpPr/>
          <p:nvPr/>
        </p:nvSpPr>
        <p:spPr>
          <a:xfrm>
            <a:off x="5230368" y="129844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Si el datagrama supera el MTU de la red siguiente, el router lo fragmenta en partes más pequeñas.</a:t>
            </a:r>
            <a:endParaRPr lang="en-US" sz="1050" dirty="0"/>
          </a:p>
        </p:txBody>
      </p:sp>
      <p:sp>
        <p:nvSpPr>
          <p:cNvPr id="14" name="Shape 12"/>
          <p:cNvSpPr/>
          <p:nvPr/>
        </p:nvSpPr>
        <p:spPr>
          <a:xfrm>
            <a:off x="274320" y="2258568"/>
            <a:ext cx="4160520" cy="914400"/>
          </a:xfrm>
          <a:prstGeom prst="rect">
            <a:avLst/>
          </a:prstGeom>
          <a:solidFill>
            <a:srgbClr val="1A2530"/>
          </a:solidFill>
          <a:ln w="12700">
            <a:solidFill>
              <a:srgbClr val="5AA8D8"/>
            </a:solidFill>
            <a:prstDash val="solid"/>
          </a:ln>
        </p:spPr>
        <p:txBody>
          <a:bodyPr/>
          <a:lstStyle/>
          <a:p>
            <a:endParaRPr lang="en-US"/>
          </a:p>
        </p:txBody>
      </p:sp>
      <p:sp>
        <p:nvSpPr>
          <p:cNvPr id="15" name="Shape 13"/>
          <p:cNvSpPr/>
          <p:nvPr/>
        </p:nvSpPr>
        <p:spPr>
          <a:xfrm>
            <a:off x="274320" y="2258568"/>
            <a:ext cx="411480" cy="914400"/>
          </a:xfrm>
          <a:prstGeom prst="rect">
            <a:avLst/>
          </a:prstGeom>
          <a:solidFill>
            <a:srgbClr val="5AA8D8"/>
          </a:solidFill>
          <a:ln w="12700">
            <a:solidFill>
              <a:srgbClr val="5AA8D8"/>
            </a:solidFill>
            <a:prstDash val="solid"/>
          </a:ln>
        </p:spPr>
        <p:txBody>
          <a:bodyPr/>
          <a:lstStyle/>
          <a:p>
            <a:endParaRPr lang="en-US"/>
          </a:p>
        </p:txBody>
      </p:sp>
      <p:sp>
        <p:nvSpPr>
          <p:cNvPr id="16" name="Text 14"/>
          <p:cNvSpPr/>
          <p:nvPr/>
        </p:nvSpPr>
        <p:spPr>
          <a:xfrm>
            <a:off x="274320" y="2258568"/>
            <a:ext cx="411480" cy="91440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17" name="Text 15"/>
          <p:cNvSpPr/>
          <p:nvPr/>
        </p:nvSpPr>
        <p:spPr>
          <a:xfrm>
            <a:off x="749808" y="235000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Routers FRAGMENTAN pero NO reensamblán. El reensamblado solo lo hace el HOST DESTINO.</a:t>
            </a:r>
            <a:endParaRPr lang="en-US" sz="1050" dirty="0"/>
          </a:p>
        </p:txBody>
      </p:sp>
      <p:sp>
        <p:nvSpPr>
          <p:cNvPr id="18" name="Shape 16"/>
          <p:cNvSpPr/>
          <p:nvPr/>
        </p:nvSpPr>
        <p:spPr>
          <a:xfrm>
            <a:off x="4754880" y="2258568"/>
            <a:ext cx="4160520" cy="914400"/>
          </a:xfrm>
          <a:prstGeom prst="rect">
            <a:avLst/>
          </a:prstGeom>
          <a:solidFill>
            <a:srgbClr val="1A2530"/>
          </a:solidFill>
          <a:ln w="12700">
            <a:solidFill>
              <a:srgbClr val="5AA8D8"/>
            </a:solidFill>
            <a:prstDash val="solid"/>
          </a:ln>
        </p:spPr>
        <p:txBody>
          <a:bodyPr/>
          <a:lstStyle/>
          <a:p>
            <a:endParaRPr lang="en-US"/>
          </a:p>
        </p:txBody>
      </p:sp>
      <p:sp>
        <p:nvSpPr>
          <p:cNvPr id="19" name="Shape 17"/>
          <p:cNvSpPr/>
          <p:nvPr/>
        </p:nvSpPr>
        <p:spPr>
          <a:xfrm>
            <a:off x="4754880" y="2258568"/>
            <a:ext cx="411480" cy="914400"/>
          </a:xfrm>
          <a:prstGeom prst="rect">
            <a:avLst/>
          </a:prstGeom>
          <a:solidFill>
            <a:srgbClr val="5AA8D8"/>
          </a:solidFill>
          <a:ln w="12700">
            <a:solidFill>
              <a:srgbClr val="5AA8D8"/>
            </a:solidFill>
            <a:prstDash val="solid"/>
          </a:ln>
        </p:spPr>
        <p:txBody>
          <a:bodyPr/>
          <a:lstStyle/>
          <a:p>
            <a:endParaRPr lang="en-US"/>
          </a:p>
        </p:txBody>
      </p:sp>
      <p:sp>
        <p:nvSpPr>
          <p:cNvPr id="20" name="Text 18"/>
          <p:cNvSpPr/>
          <p:nvPr/>
        </p:nvSpPr>
        <p:spPr>
          <a:xfrm>
            <a:off x="4754880" y="2258568"/>
            <a:ext cx="411480" cy="91440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1" name="Text 19"/>
          <p:cNvSpPr/>
          <p:nvPr/>
        </p:nvSpPr>
        <p:spPr>
          <a:xfrm>
            <a:off x="5230368" y="235000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El tamaño de cada fragmento debe ser múltiplo de 8 (campo Desplazamiento del encabezado IP).</a:t>
            </a:r>
            <a:endParaRPr lang="en-US" sz="1050" dirty="0"/>
          </a:p>
        </p:txBody>
      </p:sp>
      <p:sp>
        <p:nvSpPr>
          <p:cNvPr id="22" name="Shape 20"/>
          <p:cNvSpPr/>
          <p:nvPr/>
        </p:nvSpPr>
        <p:spPr>
          <a:xfrm>
            <a:off x="274320" y="3310128"/>
            <a:ext cx="4160520" cy="914400"/>
          </a:xfrm>
          <a:prstGeom prst="rect">
            <a:avLst/>
          </a:prstGeom>
          <a:solidFill>
            <a:srgbClr val="1A2530"/>
          </a:solidFill>
          <a:ln w="12700">
            <a:solidFill>
              <a:srgbClr val="5AA8D8"/>
            </a:solidFill>
            <a:prstDash val="solid"/>
          </a:ln>
        </p:spPr>
        <p:txBody>
          <a:bodyPr/>
          <a:lstStyle/>
          <a:p>
            <a:endParaRPr lang="en-US"/>
          </a:p>
        </p:txBody>
      </p:sp>
      <p:sp>
        <p:nvSpPr>
          <p:cNvPr id="23" name="Shape 21"/>
          <p:cNvSpPr/>
          <p:nvPr/>
        </p:nvSpPr>
        <p:spPr>
          <a:xfrm>
            <a:off x="274320" y="3310128"/>
            <a:ext cx="411480" cy="914400"/>
          </a:xfrm>
          <a:prstGeom prst="rect">
            <a:avLst/>
          </a:prstGeom>
          <a:solidFill>
            <a:srgbClr val="5AA8D8"/>
          </a:solidFill>
          <a:ln w="12700">
            <a:solidFill>
              <a:srgbClr val="5AA8D8"/>
            </a:solidFill>
            <a:prstDash val="solid"/>
          </a:ln>
        </p:spPr>
        <p:txBody>
          <a:bodyPr/>
          <a:lstStyle/>
          <a:p>
            <a:endParaRPr lang="en-US"/>
          </a:p>
        </p:txBody>
      </p:sp>
      <p:sp>
        <p:nvSpPr>
          <p:cNvPr id="24" name="Text 22"/>
          <p:cNvSpPr/>
          <p:nvPr/>
        </p:nvSpPr>
        <p:spPr>
          <a:xfrm>
            <a:off x="274320" y="3310128"/>
            <a:ext cx="411480" cy="91440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25" name="Text 23"/>
          <p:cNvSpPr/>
          <p:nvPr/>
        </p:nvSpPr>
        <p:spPr>
          <a:xfrm>
            <a:off x="749808" y="340156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MTU = Encabezados (28 B) + MSS. Para Ethernet: MSS = 1500 – 28 = 1472 B.</a:t>
            </a:r>
            <a:endParaRPr lang="en-US" sz="1050" dirty="0"/>
          </a:p>
        </p:txBody>
      </p:sp>
      <p:sp>
        <p:nvSpPr>
          <p:cNvPr id="26" name="Shape 24"/>
          <p:cNvSpPr/>
          <p:nvPr/>
        </p:nvSpPr>
        <p:spPr>
          <a:xfrm>
            <a:off x="4754880" y="3310128"/>
            <a:ext cx="4160520" cy="914400"/>
          </a:xfrm>
          <a:prstGeom prst="rect">
            <a:avLst/>
          </a:prstGeom>
          <a:solidFill>
            <a:srgbClr val="1A2530"/>
          </a:solidFill>
          <a:ln w="12700">
            <a:solidFill>
              <a:srgbClr val="5AA8D8"/>
            </a:solidFill>
            <a:prstDash val="solid"/>
          </a:ln>
        </p:spPr>
        <p:txBody>
          <a:bodyPr/>
          <a:lstStyle/>
          <a:p>
            <a:endParaRPr lang="en-US"/>
          </a:p>
        </p:txBody>
      </p:sp>
      <p:sp>
        <p:nvSpPr>
          <p:cNvPr id="27" name="Shape 25"/>
          <p:cNvSpPr/>
          <p:nvPr/>
        </p:nvSpPr>
        <p:spPr>
          <a:xfrm>
            <a:off x="4754880" y="3310128"/>
            <a:ext cx="411480" cy="914400"/>
          </a:xfrm>
          <a:prstGeom prst="rect">
            <a:avLst/>
          </a:prstGeom>
          <a:solidFill>
            <a:srgbClr val="5AA8D8"/>
          </a:solidFill>
          <a:ln w="12700">
            <a:solidFill>
              <a:srgbClr val="5AA8D8"/>
            </a:solidFill>
            <a:prstDash val="solid"/>
          </a:ln>
        </p:spPr>
        <p:txBody>
          <a:bodyPr/>
          <a:lstStyle/>
          <a:p>
            <a:endParaRPr lang="en-US"/>
          </a:p>
        </p:txBody>
      </p:sp>
      <p:sp>
        <p:nvSpPr>
          <p:cNvPr id="28" name="Text 26"/>
          <p:cNvSpPr/>
          <p:nvPr/>
        </p:nvSpPr>
        <p:spPr>
          <a:xfrm>
            <a:off x="4754880" y="3310128"/>
            <a:ext cx="411480" cy="914400"/>
          </a:xfrm>
          <a:prstGeom prst="rect">
            <a:avLst/>
          </a:prstGeom>
          <a:noFill/>
          <a:ln/>
        </p:spPr>
        <p:txBody>
          <a:bodyPr wrap="square" rtlCol="0" anchor="ctr"/>
          <a:lstStyle/>
          <a:p>
            <a:pPr marL="0" indent="0" algn="ctr">
              <a:buNone/>
            </a:pPr>
            <a:r>
              <a:rPr lang="en-US" sz="1600" b="1" dirty="0">
                <a:solidFill>
                  <a:srgbClr val="FFFFFF"/>
                </a:solidFill>
              </a:rPr>
              <a:t>6</a:t>
            </a:r>
            <a:endParaRPr lang="en-US" sz="1600" dirty="0"/>
          </a:p>
        </p:txBody>
      </p:sp>
      <p:sp>
        <p:nvSpPr>
          <p:cNvPr id="29" name="Text 27"/>
          <p:cNvSpPr/>
          <p:nvPr/>
        </p:nvSpPr>
        <p:spPr>
          <a:xfrm>
            <a:off x="5230368" y="3401568"/>
            <a:ext cx="3630168" cy="731520"/>
          </a:xfrm>
          <a:prstGeom prst="rect">
            <a:avLst/>
          </a:prstGeom>
          <a:noFill/>
          <a:ln/>
        </p:spPr>
        <p:txBody>
          <a:bodyPr wrap="square" lIns="50800" tIns="50800" rIns="50800" bIns="50800" rtlCol="0" anchor="ctr"/>
          <a:lstStyle/>
          <a:p>
            <a:pPr marL="0" indent="0">
              <a:buNone/>
            </a:pPr>
            <a:r>
              <a:rPr lang="en-US" sz="1050" dirty="0">
                <a:solidFill>
                  <a:srgbClr val="FFFFFF"/>
                </a:solidFill>
              </a:rPr>
              <a:t>NETSH muestra el MTU; PING -f -l &lt;valor&gt; verifica si hay fragmentación en la conexión.</a:t>
            </a:r>
            <a:endParaRPr lang="en-US" sz="1050" dirty="0"/>
          </a:p>
        </p:txBody>
      </p:sp>
      <p:sp>
        <p:nvSpPr>
          <p:cNvPr id="30" name="Text 28"/>
          <p:cNvSpPr/>
          <p:nvPr/>
        </p:nvSpPr>
        <p:spPr>
          <a:xfrm>
            <a:off x="457200" y="4480560"/>
            <a:ext cx="8229600" cy="320040"/>
          </a:xfrm>
          <a:prstGeom prst="rect">
            <a:avLst/>
          </a:prstGeom>
          <a:noFill/>
          <a:ln/>
        </p:spPr>
        <p:txBody>
          <a:bodyPr wrap="square" rtlCol="0" anchor="ctr"/>
          <a:lstStyle/>
          <a:p>
            <a:pPr marL="0" indent="0" algn="ctr">
              <a:buNone/>
            </a:pPr>
            <a:r>
              <a:rPr lang="en-US" sz="1100" i="1" dirty="0">
                <a:solidFill>
                  <a:srgbClr val="808080"/>
                </a:solidFill>
              </a:rPr>
              <a:t>Prof: Ing. Antonio Víctor Pérez Españón</a:t>
            </a:r>
            <a:endParaRPr lang="en-US" sz="1100" dirty="0"/>
          </a:p>
        </p:txBody>
      </p:sp>
      <p:sp>
        <p:nvSpPr>
          <p:cNvPr id="31" name="Shape 29"/>
          <p:cNvSpPr/>
          <p:nvPr/>
        </p:nvSpPr>
        <p:spPr>
          <a:xfrm>
            <a:off x="0" y="5029200"/>
            <a:ext cx="9144000" cy="109728"/>
          </a:xfrm>
          <a:prstGeom prst="rect">
            <a:avLst/>
          </a:prstGeom>
          <a:solidFill>
            <a:srgbClr val="5AA8D8"/>
          </a:solidFill>
          <a:ln w="12700">
            <a:solidFill>
              <a:srgbClr val="5AA8D8"/>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2497</Words>
  <Application>Microsoft Office PowerPoint</Application>
  <PresentationFormat>Presentación en pantalla (16:9)</PresentationFormat>
  <Paragraphs>262</Paragraphs>
  <Slides>18</Slides>
  <Notes>18</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18</vt:i4>
      </vt:variant>
    </vt:vector>
  </HeadingPairs>
  <TitlesOfParts>
    <vt:vector size="20"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SP6/H4 - MTU y Fragmentación</dc:title>
  <dc:subject>PptxGenJS Presentation</dc:subject>
  <dc:creator>PptxGenJS</dc:creator>
  <cp:lastModifiedBy>user</cp:lastModifiedBy>
  <cp:revision>2</cp:revision>
  <dcterms:created xsi:type="dcterms:W3CDTF">2026-05-12T22:23:16Z</dcterms:created>
  <dcterms:modified xsi:type="dcterms:W3CDTF">2026-05-14T08:24:35Z</dcterms:modified>
</cp:coreProperties>
</file>