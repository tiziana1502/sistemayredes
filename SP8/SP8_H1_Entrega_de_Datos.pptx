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292608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Redes y Comunicaciones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1005840" cy="329184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658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SP8 / H1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Entrega de Datos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" y="2651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IP · Datagrama · Direccionamiento · Encaminamiento · Multiplexación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en Redes Modernas y Dispositivos Móviles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3611880"/>
            <a:ext cx="859536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37947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la unidad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30352"/>
          </a:xfrm>
          <a:prstGeom prst="rect">
            <a:avLst/>
          </a:prstGeom>
          <a:solidFill>
            <a:srgbClr val="F0F7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859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y Gateways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097280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Interconexión de redes mediante dispositivos especializados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26464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2646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1463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1700784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sin conexión y con mejor esfuerzo (best effort)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8595360" cy="530352"/>
          </a:xfrm>
          <a:prstGeom prst="rect">
            <a:avLst/>
          </a:prstGeom>
          <a:solidFill>
            <a:srgbClr val="F0F7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29968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2996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066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Datagrama 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304288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paquete: encabezado + datos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33472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3347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2670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Header 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2907792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Versión, TOS, TTL, Flags, Protocolo y más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36976"/>
            <a:ext cx="8595360" cy="530352"/>
          </a:xfrm>
          <a:prstGeom prst="rect">
            <a:avLst/>
          </a:prstGeom>
          <a:solidFill>
            <a:srgbClr val="F0F7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36976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3697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273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Dir., Encam. y Multiplex.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511296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esquemas de entrega en TCP/IP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840480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4048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" y="3877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en Dispositivos Móviles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" y="4114800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Actualización: IPv6, 4G/5G, redes celulares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43984"/>
            <a:ext cx="8595360" cy="530352"/>
          </a:xfrm>
          <a:prstGeom prst="rect">
            <a:avLst/>
          </a:prstGeom>
          <a:solidFill>
            <a:srgbClr val="F0F7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443984"/>
            <a:ext cx="475488" cy="5303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4398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Verdadero/Falso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4718304"/>
            <a:ext cx="7973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Autoevaluación de los conceptos clave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y Gateways — Interconexión de Redes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Principio fundamental: Los Routers conectan REDES, no hosts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4114800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Procesador de uso específico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Conecta dos o más redes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Retransmite datos de una red a otra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 en la capa de RED (capa 3)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Compatible con: Ethernet, Token Ring,
  Wi-Fi, 4G/5G, WAN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Maneja datagramas IP independientes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89888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89888"/>
            <a:ext cx="4114800" cy="347472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89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Término más amplio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 en capas superiores (OSI)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Traduce entre protocolos diferentes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Puede hacer conversión de formatos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 celulares: el router de tu operadora
  actúa como gateway entre 5G e Internet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Ejemplo: PGW (PDN Gateway) en 4G/LTE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IP — Características del Servicio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207008"/>
          </a:xfrm>
          <a:prstGeom prst="rect">
            <a:avLst/>
          </a:prstGeom>
          <a:solidFill>
            <a:srgbClr val="1A202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Conexión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paquete se trata de forma independiente. Una secuencia de paquetes puede viajar por rutas diferentes.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1207008"/>
          </a:xfrm>
          <a:prstGeom prst="rect">
            <a:avLst/>
          </a:prstGeom>
          <a:solidFill>
            <a:srgbClr val="1A2020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Esfuerzo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1612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software IP intenta entregar los paquetes pero NO garantiza la entrega. Los paquetes no se descartan arbitrariamente.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160520" cy="1207008"/>
          </a:xfrm>
          <a:prstGeom prst="rect">
            <a:avLst/>
          </a:prstGeom>
          <a:solidFill>
            <a:srgbClr val="1A202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4160520" cy="34747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488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paquetes pueden: perderse, duplicarse, retrasarse o entregarse sin orden. IP no detecta ni informa estas condiciones.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4160520" cy="1207008"/>
          </a:xfrm>
          <a:prstGeom prst="rect">
            <a:avLst/>
          </a:prstGeom>
          <a:solidFill>
            <a:srgbClr val="1A2020"/>
          </a:solidFill>
          <a:ln w="12700">
            <a:solidFill>
              <a:srgbClr val="1E6B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48840"/>
            <a:ext cx="4160520" cy="347472"/>
          </a:xfrm>
          <a:prstGeom prst="rect">
            <a:avLst/>
          </a:prstGeom>
          <a:solidFill>
            <a:srgbClr val="1E6B99"/>
          </a:solidFill>
          <a:ln w="12700">
            <a:solidFill>
              <a:srgbClr val="1E6B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488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en Redes Celulares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532888"/>
            <a:ext cx="3886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4G/5G, IP es la base de IMS (IP Multimedia Subsystem). Las llamadas de voz y datos viajan como paquetes IP sobre la red celular.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59536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930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objetivos de IP: Especificar el formato de datos  ·  Realizar el ruteo  ·  Definir el procesamiento de paquetes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791 — Internet Protocol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Datagrama IP — Estructura del Paquete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DATAGRAMA 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4114800" cy="10058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33856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 (Header)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bytes fijos + opciones 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Mín. 5 palabras de 32 bits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133856"/>
            <a:ext cx="44805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133856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DATOS (Payload)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proveniente de las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superiores (TCP/UDP/etc.)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8595360" cy="420624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6771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  Analogía: El datagrama es como una carta postal — el encabezado es el SOBRE (con direcciones y sellos), el área de datos es la CARTA.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principales del encabezado: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90672"/>
          <a:ext cx="8595360" cy="173736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55778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IPv4 o IPv6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IHL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del encabezado en palabras (mín. 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Servicio (TOS)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Prioridad, retardo, desempeño, confiabilidad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Encabezado + datos. Máx: 65.536 bytes (64 KB)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Encabezado IP — Continuación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7863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a qué datagrama pertenece un fragmento. Todos los fragmentos del mismo datagrama comparten el mismo ID.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62456"/>
            <a:ext cx="8595360" cy="5486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62456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990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(DF / MF)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636776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= No fragmentar. MF = Hay más fragmentos. El último fragmento tiene MF=0.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75104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1168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Desplazamiento de fragmento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249424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la posición (número de fragmento) dentro del datagrama original.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8595360" cy="5486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87752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624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(Tiempo de Vida)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2862072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de saltos (máx. 255). Cada router lo decrementa en 1. Evita loops: cuando llega a 0, el paquete se descarta.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00400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369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474720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el protocolo de capa de transporte: TCP (6), UDP (17), ICMP (1), etc.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13048"/>
            <a:ext cx="8595360" cy="548640"/>
          </a:xfrm>
          <a:prstGeom prst="rect">
            <a:avLst/>
          </a:prstGeom>
          <a:solidFill>
            <a:srgbClr val="E8F4FC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13048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4962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 del encabezado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4087368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integridad SÓLO del encabezado, no de los datos.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42569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425696"/>
            <a:ext cx="73152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4622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Dir. Fuente / Destino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" y="4700016"/>
            <a:ext cx="8211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Direcciones IP de 32 bits del emisor y receptor. Identifican red + host específico.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Tipo de Servicio (TOS) — Calidad de Servicio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A202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TOS: [ Prioridad (3 bits) ]  [ D ]  [ T ]  [ R ]  [ Sin uso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8595360" cy="822960"/>
          </a:xfrm>
          <a:prstGeom prst="rect">
            <a:avLst/>
          </a:prstGeom>
          <a:solidFill>
            <a:srgbClr val="1E2626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35024"/>
            <a:ext cx="2011680" cy="8229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35024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(0-7)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408176"/>
            <a:ext cx="6309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niveles de prioridad. 0 = normal, 7 = máxima. Indica a los routers la importancia del datagrama. En redes celulares, los paquetes de llamadas de emergencia tienen prioridad máxima (QCI 1 en 4G).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8595360" cy="822960"/>
          </a:xfrm>
          <a:prstGeom prst="rect">
            <a:avLst/>
          </a:prstGeom>
          <a:solidFill>
            <a:srgbClr val="1E2626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31136"/>
            <a:ext cx="2011680" cy="82296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3113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D — Retardo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2304288"/>
            <a:ext cx="6309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 solicita ruteo con retardos cortos. Ideal para voz digitalizada (VoIP, llamadas 4G/5G) donde 1 ms extra se nota en la conversación.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8595360" cy="822960"/>
          </a:xfrm>
          <a:prstGeom prst="rect">
            <a:avLst/>
          </a:prstGeom>
          <a:solidFill>
            <a:srgbClr val="1E2626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27248"/>
            <a:ext cx="2011680" cy="82296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12724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T — Desempeño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200400"/>
            <a:ext cx="6309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T=1 solicita alta capacidad de throughput. Ideal para transferencias masivas de datos, streaming de video en 5G.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1E2626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23360"/>
            <a:ext cx="2011680" cy="82296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233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R — Confiabilidad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4096512"/>
            <a:ext cx="6309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R=1 solicita alta confiabilidad. Para transferencias críticas donde un paquete perdido tiene consecuencias graves.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Esquemas de Entrega en TCP/IP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entregar datos entre dos aplicaciones en Internet, TCP/IP utiliza tres mecanismos complementarios: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8595360" cy="1170432"/>
          </a:xfrm>
          <a:prstGeom prst="rect">
            <a:avLst/>
          </a:prstGeom>
          <a:solidFill>
            <a:srgbClr val="F0F7FC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75488" cy="11704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DIRECCIONAMIENTO (Addressing)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direcciones IP de 32 bits (IPv4) o 128 bits (IPv6) identifican de forma única cada dispositivo en Internet. Entrega datos al HOST correcto.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celulares: cada dispositivo 4G/5G recibe una dirección IP asignada por el operador (APN).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1170432"/>
          </a:xfrm>
          <a:prstGeom prst="rect">
            <a:avLst/>
          </a:prstGeom>
          <a:solidFill>
            <a:srgbClr val="F0F7FC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475488" cy="117043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68880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5237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ENCAMINAMIENTO (Routing)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routers entregan datos a la RED correcta. Cada router toma decisiones independientes paquete a paquete.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celulares: los paquetes de tu celular pasan por varios routers del operador antes de llegar a Internet.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30752"/>
            <a:ext cx="8595360" cy="1170432"/>
          </a:xfrm>
          <a:prstGeom prst="rect">
            <a:avLst/>
          </a:prstGeom>
          <a:solidFill>
            <a:srgbClr val="F0F7FC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730752"/>
            <a:ext cx="475488" cy="1170432"/>
          </a:xfrm>
          <a:prstGeom prst="rect">
            <a:avLst/>
          </a:prstGeom>
          <a:solidFill>
            <a:srgbClr val="3A5A8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30752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378561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MULTIPLEXACIÓN (Multiplexing)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078224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protocolos y NÚMEROS DE PUERTO entregan datos al módulo de software correcto dentro del host.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Puerto 80 = HTTP (web), 443 = HTTPS, 5060 = SIP (VoIP). Tu celular usa esto para separar WhatsApp de Instagram.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IP en Dispositivos Móviles — Actualización 2024–2025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828800"/>
          </a:xfrm>
          <a:prstGeom prst="rect">
            <a:avLst/>
          </a:prstGeom>
          <a:solidFill>
            <a:srgbClr val="1A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 IPv6 en celulares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70% del tráfico móvil ya utiliza IPv6. Los operadores asignan direcciones /64 a cada dispositivo. Con IPv6 no hay necesidad de NAT, cada celular tiene su propia dirección global.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206240" cy="1828800"/>
          </a:xfrm>
          <a:prstGeom prst="rect">
            <a:avLst/>
          </a:prstGeom>
          <a:solidFill>
            <a:srgbClr val="1A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IPsec en 4G/5G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25272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protocolos de seguridad del plano de usuario (IPsec/GTP-U) encapsulan datagramas IP dentro de túneles entre el celular y la red del operador (eNodeB → PGW en LTE).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206240" cy="1828800"/>
          </a:xfrm>
          <a:prstGeom prst="rect">
            <a:avLst/>
          </a:prstGeom>
          <a:solidFill>
            <a:srgbClr val="1A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QoS en 5G (QCI/5QI)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implementa hasta 256 niveles de prioridad (5QI). Las llamadas de emergencia, video en tiempo real y datos best-effort tienen QoS diferente, similar al campo TOS de IP.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206240" cy="1828800"/>
          </a:xfrm>
          <a:prstGeom prst="rect">
            <a:avLst/>
          </a:prstGeom>
          <a:solidFill>
            <a:srgbClr val="1A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34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QUIC y HTTP/3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218688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 transporte de Google sobre UDP/IP. Reduce la latencia a cero en reconexiones. Ya usado por Chrome, YouTube, WhatsApp Web. Reemplaza parte de TCP en redes móviles.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GSMA Intelligence, IETF RFC 9000 (QUIC), 3GPP TS 23.501 (5G)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Comparativa: IPv4 vs IPv6 — Lo que necesitás saber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2834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A8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IPv6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 de dirección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bits (~4.3 mil millones)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bits (~340 undecillones)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Decimal: 192.168.1.1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Hexadecimal: 2001:db8::1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20-60 bytes 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bytes fijo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routers y en origen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en el origen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QoS / 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 TOS (8 bits)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Class + Flow Label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IPsec opcional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IPsec nativo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en celulares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Disminuyendo (NAT)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Creciendo: &gt;70% tráfico móvil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PREGUNTA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IP garantiza la entrega de todos los paquetes, detecta errores en el recorrido e informa al emisor cuando un paquete se pierde.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solidFill>
            <a:srgbClr val="1E3A1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solidFill>
            <a:srgbClr val="3A1E1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Pensá bien antes de responder...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1E1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8229600" cy="2286000"/>
          </a:xfrm>
          <a:prstGeom prst="rect">
            <a:avLst/>
          </a:prstGeom>
          <a:solidFill>
            <a:srgbClr val="1E202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servicio IP es NO CONFIABLE por definición. Los paquetes pueden perderse, duplicarse, retrasarse o llegar en desorden. IP NO detecta estas condiciones NI informa al emisor. Es un servicio 'best effort' (mejor esfuerzo) y sin conexión. La confiabilidad es responsabilidad de las capas superiores (TCP en la capa de transporte).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para recordar: IP = best effort. TCP = confiable. UDP = rápido pero no confiable.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PREGUNTA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TTL (Tiempo de Vida) del encabezado IP es, en realidad, un contador de saltos por routers, no un contador de tiempo en segundos.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solidFill>
            <a:srgbClr val="1E3A1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solidFill>
            <a:srgbClr val="3A1E1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Pensá bien antes de responder...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1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8229600" cy="2286000"/>
          </a:xfrm>
          <a:prstGeom prst="rect">
            <a:avLst/>
          </a:prstGeom>
          <a:solidFill>
            <a:srgbClr val="1E202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se llama 'Tiempo de Vida', el TTL funciona como contador de SALTOS (hops). Cada router que procesa el datagrama decrementa el TTL en 1. Cuando llega a 0, el router descarta el paquete y envía un mensaje ICMP al origen. Esto previene que paquetes queden circulando indefinidamente en loops de ruteo. Valor máximo: 255 saltos.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Truco: traceroute/tracert usa precisamente el TTL para mapear la ruta de un paquete por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PREGUNTA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64208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TCP/IP, la multiplexación se encarga de seleccionar la ruta correcta entre distintas redes para que los paquetes lleguen a destino.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solidFill>
            <a:srgbClr val="1E3A1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VERDADERO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solidFill>
            <a:srgbClr val="3A1E1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Pensá bien antes de responder...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A1E1E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FALSO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8229600" cy="2286000"/>
          </a:xfrm>
          <a:prstGeom prst="rect">
            <a:avLst/>
          </a:prstGeom>
          <a:solidFill>
            <a:srgbClr val="1E202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es la función del ENCAMINAMIENTO (Routing), no de la Multiplexación. Los roles son bien distintos: el Direccionamiento identifica al host correcto, el Encaminamiento elige la red correcta (función de los routers), y la Multiplexación —mediante protocolos y números de puerto— dirige los datos al proceso de software correcto DENTRO del host (ej: puerto 80 = servidor web).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Esquema: IP → red correcta (routing)  |  Puerto → proceso correcto (multiplexing)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74320"/>
            <a:ext cx="859536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SP8 / H1 — Resumen de conceptos clave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595360" cy="493776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5953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Routers conectan REDES, no hosts. Los Gateways operan en capas superiores.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8595360" cy="493776"/>
          </a:xfrm>
          <a:prstGeom prst="rect">
            <a:avLst/>
          </a:prstGeom>
          <a:solidFill>
            <a:srgbClr val="1A202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71600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2646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es un servicio sin conexión, best-effort y no confiable. TCP agrega confiabilidad.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938528"/>
            <a:ext cx="8595360" cy="493776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938528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933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Datagrama IP = Encabezado (≥20 bytes) + Datos. Máx. total: 65.536 bytes.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505456"/>
            <a:ext cx="8595360" cy="493776"/>
          </a:xfrm>
          <a:prstGeom prst="rect">
            <a:avLst/>
          </a:prstGeom>
          <a:solidFill>
            <a:srgbClr val="1A202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505456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5603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= contador de saltos (máx. 255). Evita loops en la red. Base de traceroute.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8595360" cy="493776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072384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1272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TOS/DSCP define prioridad de servicio. En 5G se implementa como QCI/5QI.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639312"/>
            <a:ext cx="8595360" cy="493776"/>
          </a:xfrm>
          <a:prstGeom prst="rect">
            <a:avLst/>
          </a:prstGeom>
          <a:solidFill>
            <a:srgbClr val="1A2020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639312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6941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3 esquemas de entrega: Direccionamiento (host), Encaminamiento (red), Multiplexación (proceso).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206240"/>
            <a:ext cx="8595360" cy="493776"/>
          </a:xfrm>
          <a:prstGeom prst="rect">
            <a:avLst/>
          </a:prstGeom>
          <a:solidFill>
            <a:srgbClr val="1E282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4206240"/>
            <a:ext cx="73152" cy="4937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426110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domina el tráfico móvil actual (&gt;70%). QUIC/HTTP3 reemplaza TCP en móviles.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4709160"/>
            <a:ext cx="859536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  —  Colegio Universitario 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SP8 H1 - La Entrega de Datos</dc:title>
  <dc:subject>PptxGenJS Presentation</dc:subject>
  <dc:creator>Prof. Ing. Antonio Víctor Pérez Españón</dc:creator>
  <cp:lastModifiedBy>Prof. Ing. Antonio Víctor Pérez Españón</cp:lastModifiedBy>
  <cp:revision>1</cp:revision>
  <dcterms:created xsi:type="dcterms:W3CDTF">2026-05-28T19:01:31Z</dcterms:created>
  <dcterms:modified xsi:type="dcterms:W3CDTF">2026-05-28T19:01:31Z</dcterms:modified>
</cp:coreProperties>
</file>