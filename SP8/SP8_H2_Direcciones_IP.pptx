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92608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Redes y Comunicaciones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Direcciones IP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AA8D8"/>
                </a:solidFill>
              </a:rPr>
              <a:t>SP8 · Handout 2 — Direccionamiento IPv4, subredes y CIDR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1097280" cy="457200"/>
          </a:xfrm>
          <a:prstGeom prst="rect">
            <a:avLst/>
          </a:prstGeom>
          <a:solidFill>
            <a:srgbClr val="2D3030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40690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A8D8"/>
                </a:solidFill>
              </a:rPr>
              <a:t>Prof: Ing. Antonio Víctor Pérez Españón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Contenidos de esta clase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1. ¿Qué es una dirección IP?  |  IPv4 vs IPv6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2. Interfaces de red y tarjetas NIC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3. Dirección MAC vs dirección 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4. Jerarquía de las direcciones IP (prefijo / sufijo)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5. Clases de direcciones (Classful)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6. Direcciones IP públicas, privadas y especiales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7. Autoridad y asignación (ICANN / ISP)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8. Máscara de subred y operación AND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9. Direccionamiento sin clases (CIDR)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E8F5"/>
                </a:solidFill>
              </a:rPr>
              <a:t>10. Ejercicios prácticos + Verdadero o Falso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¿Qué es una dirección IP?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El direccionamiento IP es el componente principal de la capa de red en el modelo TCP/IP.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Especificado en RFC 791 (IPv4) y RFC 2460 (IPv6).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Proporciona un esquema de identificación lógica para enviar y recibir paquetes en una red IP.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Cada dirección IP es única para cada interfaz de red de cada host.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Una misma placa de red puede tener múltiples direcciones IP asignadas.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Las IPs son asignadas manual o automáticamente (DHCP) por el administrador de red.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IPv4 vs IPv6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40690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IPv4 — 32 bits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32 bits = 4 bytes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Notación decimal con puntos: 192.168.0.1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Cada grupo (octeto): 0 a 255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~4.300 millones de direcciones únicas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Agotadas desde ~2011 (IANA)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Aún dominante en redes locales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40690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IPv6 — 128 bits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28016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128 bits = 16 bytes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Notación hexadecimal con ":" : 8000:0000:...:CDEF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Cada grupo: 4 dígitos hexadecimales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340 sextillones de direcciones (~3.4×10³⁸)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Diseñado para el crecimiento de Internet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Presente en smartphones, IoT, 5G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Interfaz de red y NIC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Una interfaz de red es la conexión entre un host y un enlace físico conectado a la 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En los hosts, la interfaz está en la NIC (Network Interface Card) — tarjeta de 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NIC especiales: Duo (2 puertos), Quad (4 puertos), con balanceo de carga.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Los equipos de escritorio suelen tener una sola interfaz (Ethernet).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Las notebooks modernas tienen además una interfaz inalámbrica (Wi-Fi 802.11).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Los routers tienen múltiples interfaces de red (una por cada red conectada).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Los smartphones tienen: Wi-Fi (802.11), 4G/5G, Bluetooth y a veces Ethernet por USB.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Dirección MAC — Dirección Física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Cada tarjeta NIC tiene una dirección MAC (Media Access Control) grabada en hardware.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48 bits = 12 dígitos hexadecimales. Ej: 00:1A:2B:3C:4D:5E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Tecnologías que usan MAC: Ethernet (cableada) y Wi-Fi 802.11 (inalámbrica).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La MAC es única por fabricante (los primeros 3 bytes = OUI del fabricante).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Es posible cambiarla por software ("MAC spoofing") aunque no es recomendable.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En smartphones: cada interfaz (Wi-Fi, BT) tiene su propia MAC. Desde iOS/Android 14, se usa MAC aleatoria por privacidad.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Comparativa: Dirección MAC vs Dirección 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Dirección MAC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Dirección IP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Capa OSI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Capa 2 — Enlace de Datos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Capa 3 — Red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Longitud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48 bits (12 hex)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32 bits IPv4 / 128 bits IPv6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Asignación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Fija por fabricante (hardware)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Lógica — asignada por admin/DHCP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Alcance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Red local (LAN)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Global (Internet)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Uso principal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Entrega final en LAN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Entrega entre routers (Internet)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Unicidad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Global (en teoría)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Única en su ámbito de aplicación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Jerarquía de las Direcciones 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Una dirección IPv4 se divide en dos segmentos: prefijo y sufijo.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El PREFIJO identifica la red (Net ID): compartido por todos los hosts de la misma 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El SUFIJO identifica al host (Host ID): único dentro de la 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Esta jerarquía de dos niveles hace el enrutamiento más eficiente.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Dos redes distintas no pueden tener el mismo Net ID.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Dos hosts en la misma red no pueden tener el mismo Host ID.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Un mismo Host ID puede repetirse en redes con diferente Net ID (son hosts distintos).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Clases de Direcciones IPv4 (Classful)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Clase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Primer bit(s)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Rango 1er octeto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Redes posibles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Hosts por red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Uso típico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 – 126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16.777.214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Grandes corporaciones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128 – 191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16.384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65.534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Medianas organizaciones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192 – 223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2.097.152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254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Redes pequeñas / ISP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1110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224 – 239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Multicast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1111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240 – 255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Experimental / Reservado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Tipos de Direcciones 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Públicas: asignadas por ICANN a través de ISPs. Únicas y enrutables en Internet.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ICANN administra el espacio global de IPs, coordina DNS y resuelve conflictos de nombres.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Privadas (RFC 1918): usadas en intranets sin autorización previa.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  Clase A: 10.0.0.0 – 10.255.255.255  (1 red / 16 M hosts)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  Clase B: 172.16.0.0 – 172.31.255.255  (16 redes / 64 K hosts c/u)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  Clase C: 192.168.0.0 – 192.168.255.255  (256 redes / 254 hosts c/u)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Para conectar redes privadas a Internet se usa NAT o proxy.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Los smartphones en redes Wi-Fi hogar usan IPs privadas (192.168.x.x); con datos móviles reciben IPs públicas asignadas por el operador.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Direcciones IP Especiales (Reservadas)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Formato / Valor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Dirección de red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Net ID + Host ID = 0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Identifica la red; no se asigna a hosts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Broadcast dirigido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Net ID + Host ID = todos 1s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Envío a todos los hosts de una red específica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Broadcast limitado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255.255.255.255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Broadcast local; se usa en el arranque (DHCP Discovery)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"Este equipo"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0.0.0.0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Usado cuando el host aún no conoce su dirección IP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Loopback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127.x.x.x (típico 127.0.0.1)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Pruebas locales; paquetes no salen del equipo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APIPA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169.254.x.x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Autoasignación cuando falla DHCP (Windows/Android)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Limitaciones del Direccionamiento Classful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1. Falta de flexibilidad interna: tamaños de red fijos (A, B, C) no se adaptan a todas las organizaciones.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2. Uso ineficiente: una red Clase B entrega 65.534 hosts aunque la org. solo necesite 500.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3. Proliferación de tablas de enrutamiento: millones de entradas en los routers.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4. Agotamiento del espacio IPv4: el crecimiento de Internet aceleró el consumo de IPs.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5. En respuesta surgieron dos mecanismos: SUBREDES (subdividen una red) y CIDR (direccionamiento sin clases).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6. En el celular: la explosión de smartphones demandó IPv6 y NAT masivo (CGN) en operadoras.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Máscara de Subred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Es un número de 32 bits que separa el prefijo de red del sufijo de host en una dirección IP.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Estructura: secuencia continua de 1s (red) seguida de 0s (hosts).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Tres notaciones equivalentes: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  Binaria:   11111111.11111111.11111111.00000000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  Decimal:   255.255.255.0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  CIDR:      /24  (indica cuántos bits son de red)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Los routers y hosts aplican la máscara para saber si el destino está en la misma red o en otra.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Operación clave: IP AND Máscara = Dirección de Red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Operación AND — Cálculo de Dirección de 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3840480" cy="16459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Reglas AND Booleano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x AND 1 = x   (0·1=0 ; 1·1=1)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x AND 0 = 0   (0·0=0 ; 1·0=0)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A7BAA"/>
                </a:solidFill>
              </a:rPr>
              <a:t>Resultado: IP AND Máscara = IP de 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868680"/>
            <a:ext cx="4434840" cy="16459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Ejemplo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28016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194.23.18.4  AND  255.255.255.0  =  194.23.18.0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195.243.79.45  AND  255.255.192.0  =  195.243.64.0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A7BAA"/>
                </a:solidFill>
              </a:rPr>
              <a:t>79=01001111 ; 192=11000000 → AND=01000000=64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850392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030"/>
                </a:solidFill>
              </a:rPr>
              <a:t>🔑 Ejercicio Resuelto: 184.35.77.15 / 22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Máscara /22 → 255.255.252.0  (22 unos: 11111111.11111111.11111100.00000000)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Tercer octeto: 77 = 01001101  ;  252 = 11111100  →  AND = 01001100 = 76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Dirección de red: 184.35.76.0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Direccionamiento sin Clases (CIDR)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CIDR (Classless Inter-Domain Routing) supera las limitaciones del esquema classful.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Formato: a.b.c.d/x  donde x = cantidad de bits de prefijo de 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Permite asignar bloques de cualquier tamaño, no solo /8, /16 o /24.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Ejemplo: 200.23.16.0/23 → la máscara de subred tiene 23 bits en 1.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Facilita la agregación de rutas (supernetting) y reduce tablas de enrutamiento.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Los ISPs de telefonía móvil usan CIDR para gestionar eficientemente millones de IPs.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F5"/>
                </a:solidFill>
              </a:rPr>
              <a:t>IPv6 también usa notación CIDR: 2001:db8::/32 identifica un prefijo de 32 bits.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Ejercicio Resuelto: 198.211.0.32/28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Respuesta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Máscara de subred (decimal)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255.255.255.240   (/28 → 28 bits en 1 → último octeto: 11110000 = 240)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Bits de red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28 bits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Bits de host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4 bits (32 − 28 = 4)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Total de IPs en el bloque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2⁴ = 16  (incluye red y broadcast)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Hosts válidos (asignables)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16 − 2 = 14 hosts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Rango de hosts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198.211.0.33  →  198.211.0.46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Dirección de red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198.211.0.32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Dirección de broadcast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198.211.0.47</a:t>
                      </a:r>
                      <a:endParaRPr lang="en-US" sz="11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3030"/>
                </a:solidFill>
              </a:rPr>
              <a:t>Actualización Tecnológica — Direcciones IP hoy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27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IPv4 agotado: IANA entregó el último bloque a los RIR en 2011; la transición a IPv6 es inevitable.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IPv6 en smartphones: Android 10+ y iOS 11+ soportan IPv6 nativamente. Las redes 5G son dual-stack (IPv4+IPv6).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NAT masivo (CGN/CGNAT): operadoras móviles comparten una sola IPv4 pública entre miles de usuarios.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Private 5G: empresas despliegan redes 5G privadas con bloques IPv4 privados (192.168.x.x / 10.x.x.x).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IoT y direccionamiento: millones de dispositivos (medidores, sensores, autos conectados) hacen imprescindible IPv6.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Wi-Fi 7 (802.11be) introduce multi-link operation y exige gestión avanzada de IPs por interfaz.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</a:rPr>
              <a:t>CGNAT desafía a videojuegos online y VoIP (latencia adicional por traducción doble).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Verdadero o Falso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❓ "Una dirección IPv4 de 32 bits puede representarse como cuatro números decimales separados por puntos, donde cada número va de 0 a 255."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A8D8"/>
                </a:solidFill>
              </a:rPr>
              <a:t>¿Verdadero o Falso?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0116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VERDADERO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3030"/>
                </a:solidFill>
              </a:rPr>
              <a:t>"Una dirección IPv4 de 32 bits puede representarse como cuatro números decimales separados por puntos, donde cada número va de 0 a 255."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📌 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32 bits se dividen en 4 grupos de 8 bits (octetos). Cada octeto puede valer entre 0 (00000000) y 255 (11111111). La notación decimal con puntos (ej. 192.168.1.1) es la representación estándar de IPv4.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Verdadero o Falso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❓ "Las direcciones IP privadas (como 192.168.x.x) son reconocidas y enrutadas directamente por los routers de Internet."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A8D8"/>
                </a:solidFill>
              </a:rPr>
              <a:t>¿Verdadero o Falso?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01168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FALSO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3030"/>
                </a:solidFill>
              </a:rPr>
              <a:t>"Las direcciones IP privadas (como 192.168.x.x) son reconocidas y enrutadas directamente por los routers de Internet."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📌 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Las IPs privadas definidas en RFC 1918 (10.x.x.x, 172.16–31.x.x, 192.168.x.x) NO son enrutables en Internet. Los routers de borde las descartan. Para salir a Internet se requiere NAT (Network Address Translation) o un proxy.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Verdadero o Falso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❓ "Para calcular la dirección de red a partir de una IP y su máscara, se aplica la operación AND bit a bit entre ambas."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A8D8"/>
                </a:solidFill>
              </a:rPr>
              <a:t>¿Verdadero o Falso?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20116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VERDADERO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3030"/>
                </a:solidFill>
              </a:rPr>
              <a:t>"Para calcular la dirección de red a partir de una IP y su máscara, se aplica la operación AND bit a bit entre ambas."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📌 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La operación AND entre la dirección IP y la máscara de subred pone a cero todos los bits de host, revelando así la dirección de red. Ejemplo: 194.23.18.4 AND 255.255.255.0 = 194.23.18.0. Esta operación la realizan automáticamente routers y sistemas operativos para tomar decisiones de enrutamiento.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Resumen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0E8F5"/>
                </a:solidFill>
              </a:rPr>
              <a:t>Las IPs son identificadores lógicos únicos de 32 bits (IPv4) o 128 bits (IPv6).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0E8F5"/>
                </a:solidFill>
              </a:rPr>
              <a:t>Se dividen en prefijo (red) y sufijo (host) formando una jerarquía de dos niveles.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0E8F5"/>
                </a:solidFill>
              </a:rPr>
              <a:t>Las clases (A/B/C/D/E) definieron tamaños fijos; CIDR permite tamaños flexibles.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0E8F5"/>
                </a:solidFill>
              </a:rPr>
              <a:t>La máscara de subred + operación AND determinan la dirección de red.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0E8F5"/>
                </a:solidFill>
              </a:rPr>
              <a:t>IPv6 y NAT son respuestas al agotamiento de IPv4, crítico en la era móvil.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1097280" cy="457200"/>
          </a:xfrm>
          <a:prstGeom prst="rect">
            <a:avLst/>
          </a:prstGeom>
          <a:solidFill>
            <a:srgbClr val="2D3030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39776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A8D8"/>
                </a:solidFill>
              </a:rPr>
              <a:t>Prof: Ing. Antonio Víctor Pérez Españón  ·  Redes y Comunicaciones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SP8 H2 - Direcciones IP</dc:title>
  <dc:subject>PptxGenJS Presentation</dc:subject>
  <dc:creator>PptxGenJS</dc:creator>
  <cp:lastModifiedBy>PptxGenJS</cp:lastModifiedBy>
  <cp:revision>1</cp:revision>
  <dcterms:created xsi:type="dcterms:W3CDTF">2026-05-28T19:30:25Z</dcterms:created>
  <dcterms:modified xsi:type="dcterms:W3CDTF">2026-05-28T19:30:25Z</dcterms:modified>
</cp:coreProperties>
</file>