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7372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9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2103120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SP3  ·  Herramienta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54864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CAPAS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SUPERIORES: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SESIÓN,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APLICACIÓN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4160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se comunican las aplicaciones en una red?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455371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Materia: Redes y Comunicaciones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83680" y="914400"/>
            <a:ext cx="2286000" cy="6217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83680" y="914400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583680" y="1664208"/>
            <a:ext cx="2286000" cy="621792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83680" y="1664208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0" y="2414016"/>
            <a:ext cx="2286000" cy="62179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83680" y="2414016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83680" y="3163824"/>
            <a:ext cx="2286000" cy="621792"/>
          </a:xfrm>
          <a:prstGeom prst="rect">
            <a:avLst/>
          </a:prstGeom>
          <a:solidFill>
            <a:srgbClr val="0E6B8A"/>
          </a:solidFill>
          <a:ln w="12700">
            <a:solidFill>
              <a:srgbClr val="0E6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83680" y="3163824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583680" y="3913632"/>
            <a:ext cx="2286000" cy="621792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83680" y="3913632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29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CAPA DE SESIÓN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que los usuarios establezcan sesiones de trabajo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36576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8412480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170432"/>
            <a:ext cx="8412480" cy="65836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"El propósito de la Capa de Sesión consiste en proveer a las capas superiores un canal libre de errores, independiente de la tecnología de las capas inferiores."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901952"/>
            <a:ext cx="8412480" cy="36576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956816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principales de la Capa de Sesión: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340864"/>
            <a:ext cx="4114800" cy="1216152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2340864"/>
            <a:ext cx="41148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" y="2432304"/>
            <a:ext cx="38953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[CHAT]  Control de diálogo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" y="2798064"/>
            <a:ext cx="38953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 el flujo de mensajes entre dos partes, controlando quién puede transmitir en cada momento.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2340864"/>
            <a:ext cx="4114800" cy="1216152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63440" y="2340864"/>
            <a:ext cx="4114800" cy="54864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73168" y="2432304"/>
            <a:ext cx="38953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[FLOW]  Control de tráfico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73168" y="2798064"/>
            <a:ext cx="38953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sesiones controlan el tráfico de mensajes en ambas direcciones (bidireccional).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666744"/>
            <a:ext cx="4114800" cy="1216152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5760" y="3666744"/>
            <a:ext cx="4114800" cy="5486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488" y="3758184"/>
            <a:ext cx="38953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[TOKEN]  Administración del testigo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5488" y="4123944"/>
            <a:ext cx="38953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en redes TOKEN RING. Controla el acceso al medio mediante un testigo (token) que circula por la red.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63440" y="3666744"/>
            <a:ext cx="4114800" cy="1216152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663440" y="3666744"/>
            <a:ext cx="4114800" cy="54864"/>
          </a:xfrm>
          <a:prstGeom prst="rect">
            <a:avLst/>
          </a:prstGeom>
          <a:solidFill>
            <a:srgbClr val="0E6B8A"/>
          </a:solidFill>
          <a:ln w="12700">
            <a:solidFill>
              <a:srgbClr val="0E6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73168" y="3758184"/>
            <a:ext cx="38953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[SYNC]  Sincronización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73168" y="4123944"/>
            <a:ext cx="38953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Proporciona puntos de verificación en el flujo de datos. Ante una caída, solo se reenvían los mensajes desde el último punto verificado.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29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CAPA DE PRESENTACIÓN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Sintaxis y semántica de la información transmitida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36576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8412480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170432"/>
            <a:ext cx="8412480" cy="65836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diferencia de las capas anteriores, la capa de presentación se ocupa de los aspectos de sintaxis y semántica de la información que transmite."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901952"/>
            <a:ext cx="8412480" cy="36576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956816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funciones clave: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340864"/>
            <a:ext cx="2743200" cy="2487168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2340864"/>
            <a:ext cx="27432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" y="2414016"/>
            <a:ext cx="25420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Conversión y codificación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" y="2962656"/>
            <a:ext cx="2542032" cy="1810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Traduce entre distintas representaciones de datos: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ASCII, EBCDIC, enteros, complementos a 1, a 2, etc.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la comunicación entre equipos con formatos distintos.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0" y="2340864"/>
            <a:ext cx="2743200" cy="2487168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0" y="2340864"/>
            <a:ext cx="2743200" cy="54864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310128" y="2414016"/>
            <a:ext cx="25420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Compresión de datos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10128" y="2962656"/>
            <a:ext cx="2542032" cy="1810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el tamaño de los mensajes antes de transmitirlos, disminuyendo el ancho de banda necesario y acelerando la transmisión.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35040" y="2340864"/>
            <a:ext cx="2743200" cy="2487168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035040" y="2340864"/>
            <a:ext cx="2743200" cy="5486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44768" y="2414016"/>
            <a:ext cx="25420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Criptografía / Encriptación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44768" y="2962656"/>
            <a:ext cx="2542032" cy="1810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la representación de los datos por razones de seguridad. Protege la información para que solo el destinatario autorizado pueda interpretarla.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29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CAPA DE APLICACIÓN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Protocolos para compatibilizar distintas aplicaciones de usuario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36576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8412480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170432"/>
            <a:ext cx="8412480" cy="5943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"Contiene una variedad de protocolos necesarios para hacer compatibles las distintas aplicaciones que corren sobre la red."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837944"/>
            <a:ext cx="8412480" cy="36576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892808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y funciones principales: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4114800" cy="1280160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2286000"/>
            <a:ext cx="41148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" y="2377440"/>
            <a:ext cx="3895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[TV]  Terminal virtual de red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" y="2761488"/>
            <a:ext cx="3895344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una terminal virtual abstracta para que los programas funcionen con distintos tipos de terminales físicas, sin reescribir el software.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2286000"/>
            <a:ext cx="4114800" cy="1280160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63440" y="2286000"/>
            <a:ext cx="4114800" cy="54864"/>
          </a:xfrm>
          <a:prstGeom prst="rect">
            <a:avLst/>
          </a:prstGeom>
          <a:solidFill>
            <a:srgbClr val="0E6B8A"/>
          </a:solidFill>
          <a:ln w="12700">
            <a:solidFill>
              <a:srgbClr val="0E6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73168" y="2377440"/>
            <a:ext cx="3895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[FILE]  Transferencia de archivos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73168" y="2761488"/>
            <a:ext cx="3895344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Resuelve las incompatibilidades entre sistemas de archivos distintos para transferir archivos entre diferentes equipos.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675888"/>
            <a:ext cx="4114800" cy="1280160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5760" y="3675888"/>
            <a:ext cx="4114800" cy="5486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488" y="3767328"/>
            <a:ext cx="3895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[WEB]  Navegadores de Internet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5488" y="4151376"/>
            <a:ext cx="3895344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Chrome, Mozilla, Explorer, Netscape, etc. Son software cliente que permiten recorrer sitios de Internet (HTTP, HTTPS).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63440" y="3675888"/>
            <a:ext cx="4114800" cy="1280160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663440" y="3675888"/>
            <a:ext cx="4114800" cy="54864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73168" y="3767328"/>
            <a:ext cx="3895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[MAIL]  Correo electrónico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73168" y="4151376"/>
            <a:ext cx="3895344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de mensajería electrónica entre usuarios. Protocolos como SMTP, POP3, IMAP operan en esta capa.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29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TRANSMISIÓN DE DATOS EN OSI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proceso de encapsulamiento capa por capa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36576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de encapsulamiento en el emisor: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536192"/>
            <a:ext cx="2286000" cy="42062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536192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Aplicación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97480" y="1536192"/>
            <a:ext cx="5029200" cy="420624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697480" y="1536192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0" y="1536192"/>
            <a:ext cx="1005840" cy="42062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0" y="1536192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APDU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011680"/>
            <a:ext cx="2286000" cy="420624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201168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Presentación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697480" y="2011680"/>
            <a:ext cx="5029200" cy="420624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697480" y="2011680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+ AH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0" y="2011680"/>
            <a:ext cx="1005840" cy="420624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0" y="201168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PPDU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487168"/>
            <a:ext cx="2286000" cy="420624"/>
          </a:xfrm>
          <a:prstGeom prst="rect">
            <a:avLst/>
          </a:prstGeom>
          <a:solidFill>
            <a:srgbClr val="0E6B8A"/>
          </a:solidFill>
          <a:ln w="12700">
            <a:solidFill>
              <a:srgbClr val="0E6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5760" y="248716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Sesión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697480" y="2487168"/>
            <a:ext cx="5029200" cy="420624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697480" y="2487168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 + PH + AH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772400" y="2487168"/>
            <a:ext cx="1005840" cy="420624"/>
          </a:xfrm>
          <a:prstGeom prst="rect">
            <a:avLst/>
          </a:prstGeom>
          <a:solidFill>
            <a:srgbClr val="0E6B8A"/>
          </a:solidFill>
          <a:ln w="12700">
            <a:solidFill>
              <a:srgbClr val="0E6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772400" y="2487168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SPDU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2962656"/>
            <a:ext cx="2286000" cy="42062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5760" y="296265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Transporte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697480" y="2962656"/>
            <a:ext cx="5029200" cy="420624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697480" y="2962656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TH+SH+PH+AH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772400" y="2962656"/>
            <a:ext cx="1005840" cy="42062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772400" y="296265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TPDU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3438144"/>
            <a:ext cx="2286000" cy="420624"/>
          </a:xfrm>
          <a:prstGeom prst="rect">
            <a:avLst/>
          </a:prstGeom>
          <a:solidFill>
            <a:srgbClr val="5B6FA8"/>
          </a:solidFill>
          <a:ln w="12700">
            <a:solidFill>
              <a:srgbClr val="5B6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65760" y="3438144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Red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697480" y="3438144"/>
            <a:ext cx="5029200" cy="420624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697480" y="3438144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NH+TH+SH+PH+AH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772400" y="3438144"/>
            <a:ext cx="1005840" cy="420624"/>
          </a:xfrm>
          <a:prstGeom prst="rect">
            <a:avLst/>
          </a:prstGeom>
          <a:solidFill>
            <a:srgbClr val="5B6FA8"/>
          </a:solidFill>
          <a:ln w="12700">
            <a:solidFill>
              <a:srgbClr val="5B6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772400" y="3438144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" y="3913632"/>
            <a:ext cx="2286000" cy="420624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65760" y="3913632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Enlace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697480" y="3913632"/>
            <a:ext cx="5029200" cy="420624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697480" y="3913632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NH+TH…+Data+NT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772400" y="3913632"/>
            <a:ext cx="1005840" cy="420624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772400" y="3913632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Trama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65760" y="4389120"/>
            <a:ext cx="2286000" cy="420624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65760" y="438912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Física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697480" y="4389120"/>
            <a:ext cx="5029200" cy="420624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2697480" y="4389120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772400" y="4389120"/>
            <a:ext cx="1005840" cy="420624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772400" y="438912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65760" y="4773168"/>
            <a:ext cx="8412480" cy="329184"/>
          </a:xfrm>
          <a:prstGeom prst="rect">
            <a:avLst/>
          </a:prstGeom>
          <a:solidFill>
            <a:srgbClr val="1A3057"/>
          </a:solidFill>
          <a:ln w="12700">
            <a:solidFill>
              <a:srgbClr val="1A3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365760" y="4773168"/>
            <a:ext cx="8412480" cy="329184"/>
          </a:xfrm>
          <a:prstGeom prst="rect">
            <a:avLst/>
          </a:prstGeom>
          <a:solidFill>
            <a:srgbClr val="1A3057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57200" y="477316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En el receptor, el proceso se realiza en sentido inverso: cada capa elimina su cabecera y pasa los datos a la capa superior.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29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ENCAPSULAMIENTO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viajan los datos a través del modelo OSI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36576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8412480" cy="6217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170432"/>
            <a:ext cx="8412480" cy="62179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medida que los datos se desplazan a través de las capas del modelo OSI, reciben encabezados y en algunos casos trailers (colas) con información de control."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865376"/>
            <a:ext cx="8412480" cy="36576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920240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tipos de comunicación: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4023360" cy="2103120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2286000"/>
            <a:ext cx="402336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2286000"/>
            <a:ext cx="4023360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228600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  Comunicación VERTICAL (real)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2761488"/>
            <a:ext cx="3749040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viaje real de los datos es vertical: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Descendente en el EMISOR: datos pasan de capa en capa hacia abajo agregando cabeceras.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Luego viajan por el medio físico.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Ascendente en el RECEPTOR: cada capa elimina su cabecera.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286000"/>
            <a:ext cx="4114800" cy="2103120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663440" y="2286000"/>
            <a:ext cx="4114800" cy="54864"/>
          </a:xfrm>
          <a:prstGeom prst="rect">
            <a:avLst/>
          </a:prstGeom>
          <a:solidFill>
            <a:srgbClr val="0E6B8A"/>
          </a:solidFill>
          <a:ln w="12700">
            <a:solidFill>
              <a:srgbClr val="0E6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63440" y="2286000"/>
            <a:ext cx="4114800" cy="438912"/>
          </a:xfrm>
          <a:prstGeom prst="rect">
            <a:avLst/>
          </a:prstGeom>
          <a:solidFill>
            <a:srgbClr val="0E6B8A"/>
          </a:solidFill>
          <a:ln w="12700">
            <a:solidFill>
              <a:srgbClr val="0E6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63440" y="228600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  Comunicación LÓGICA (horizontal)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00600" y="2761488"/>
            <a:ext cx="3840480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capa "N" está programada como si se comunicara directamente con la capa "N" del otro extremo.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abstracción es VITAL: hace posible el diseño modular de la red.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4462272"/>
            <a:ext cx="8412480" cy="347472"/>
          </a:xfrm>
          <a:prstGeom prst="rect">
            <a:avLst/>
          </a:prstGeom>
          <a:solidFill>
            <a:srgbClr val="1A3057"/>
          </a:solidFill>
          <a:ln w="12700">
            <a:solidFill>
              <a:srgbClr val="1A3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5760" y="4462272"/>
            <a:ext cx="8412480" cy="347472"/>
          </a:xfrm>
          <a:prstGeom prst="rect">
            <a:avLst/>
          </a:prstGeom>
          <a:solidFill>
            <a:srgbClr val="1A3057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44622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Sin la abstracción de capas, el diseño de redes sería un problema intratable. La estratificación lo divide en problemas pequeños y manejables.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29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OSI Y PUNTO DE ACCESO (SAP)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comunican las capas entre sí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36576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clave del modelo de servicios OSI: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536192"/>
            <a:ext cx="2743200" cy="1554480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536192"/>
            <a:ext cx="27432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62763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[ENT]  Entidades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256032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Elementos activos en cada capa (software o hardware). Las entidades de la misma capa en distintas máquinas se llaman capas homólogas o pares.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536192"/>
            <a:ext cx="2743200" cy="1554480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0" y="1536192"/>
            <a:ext cx="2743200" cy="54864"/>
          </a:xfrm>
          <a:prstGeom prst="rect">
            <a:avLst/>
          </a:prstGeom>
          <a:solidFill>
            <a:srgbClr val="0E6B8A"/>
          </a:solidFill>
          <a:ln w="12700">
            <a:solidFill>
              <a:srgbClr val="0E6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91840" y="162763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[SAP]  SAP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91840" y="2011680"/>
            <a:ext cx="256032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Access Point. Punto donde la capa N+1 accede a los servicios de la capa N. Cada SAP tiene una dirección única (como el número de abonado en telefonía).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536192"/>
            <a:ext cx="2743200" cy="1554480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035040" y="1536192"/>
            <a:ext cx="2743200" cy="5486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26480" y="162763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[PDU]  PDU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26480" y="2011680"/>
            <a:ext cx="256032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Data Unit. Unidad de datos de protocolo. TPDU (Transporte), SPDU (Sesión), PPDU (Presentación), APDU (Aplicación). En TCP/IP se llaman Segmentos.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200400"/>
            <a:ext cx="4160520" cy="1554480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5760" y="3200400"/>
            <a:ext cx="4160520" cy="54864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329184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[IDU]  IDU / SDU / ICI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3675888"/>
            <a:ext cx="39776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IDU = Interface Data Unit. Formada por: SDU (Service Data Unit = datos útiles) + ICI (Information Control Interface = información de control).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3200400"/>
            <a:ext cx="4160520" cy="1554480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663440" y="3200400"/>
            <a:ext cx="4160520" cy="54864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54880" y="329184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[FLOW]  Proveedor / Usuario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754880" y="3675888"/>
            <a:ext cx="39776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capa N es PROVEEDOR de servicio para la capa N+1, que es USUARIO del servicio. La capa N no necesita saber qué hace la capa N+1 con sus datos.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29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EMPRESAS ABC Y XYZ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estratificación en capas explicada con una analogía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36576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Analogía: dos empresas en distintos edificios necesitan comunicarse.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536192"/>
            <a:ext cx="347472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53619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EMPRESA ABC (Emisor)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975104"/>
            <a:ext cx="3474720" cy="585216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975104"/>
            <a:ext cx="32004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Gerente Marcelo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633472"/>
            <a:ext cx="3474720" cy="585216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633472"/>
            <a:ext cx="32004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Secretaria María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291840"/>
            <a:ext cx="3474720" cy="585216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3291840"/>
            <a:ext cx="32004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Jefe Pedro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950208"/>
            <a:ext cx="3474720" cy="585216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3950208"/>
            <a:ext cx="32004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Portero Juan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86200" y="1975104"/>
            <a:ext cx="1371600" cy="2633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3749040" y="3794760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Cadete Luis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(medio físico)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03520" y="1536192"/>
            <a:ext cx="3474720" cy="3840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303520" y="153619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EMPRESA XYZ (Receptor)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303520" y="1975104"/>
            <a:ext cx="3474720" cy="585216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40680" y="1975104"/>
            <a:ext cx="32004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Gerente Gustavo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303520" y="2633472"/>
            <a:ext cx="3474720" cy="585216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40680" y="2633472"/>
            <a:ext cx="32004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Secretaria Silvia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303520" y="3291840"/>
            <a:ext cx="3474720" cy="585216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40680" y="3291840"/>
            <a:ext cx="32004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Jefe Alberto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303520" y="3950208"/>
            <a:ext cx="3474720" cy="585216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40680" y="3950208"/>
            <a:ext cx="32004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Portero José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4572000"/>
            <a:ext cx="8412480" cy="347472"/>
          </a:xfrm>
          <a:prstGeom prst="rect">
            <a:avLst/>
          </a:prstGeom>
          <a:solidFill>
            <a:srgbClr val="1A3057"/>
          </a:solidFill>
          <a:ln w="12700">
            <a:solidFill>
              <a:srgbClr val="1A3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65760" y="4572000"/>
            <a:ext cx="8412480" cy="347472"/>
          </a:xfrm>
          <a:prstGeom prst="rect">
            <a:avLst/>
          </a:prstGeom>
          <a:solidFill>
            <a:srgbClr val="1A3057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57200" y="45720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Cada nivel dialoga solo con su par. El encapsulamiento ocurre en cada piso. El cadete es la capa física.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29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DEL EJEMPLO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Principios fundamentales de la comunicación en capas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36576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8412480" cy="676656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207008"/>
            <a:ext cx="566928" cy="67665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207008"/>
            <a:ext cx="5669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24128" y="1261872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vertical (real)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0" y="1243584"/>
            <a:ext cx="5029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viaje físico de los datos es descendente en el emisor y ascendente en el receptor, pasando por el medio físico.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956816"/>
            <a:ext cx="8412480" cy="676656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1956816"/>
            <a:ext cx="566928" cy="676656"/>
          </a:xfrm>
          <a:prstGeom prst="rect">
            <a:avLst/>
          </a:prstGeom>
          <a:solidFill>
            <a:srgbClr val="0E6B8A"/>
          </a:solidFill>
          <a:ln w="12700">
            <a:solidFill>
              <a:srgbClr val="0E6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1956816"/>
            <a:ext cx="5669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24128" y="201168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lógica (horizontal)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0" y="1993392"/>
            <a:ext cx="5029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par de capas homólogas dialoga como si lo hiciera directamente, aunque la comunicación real sea vertical.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06624"/>
            <a:ext cx="8412480" cy="676656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5760" y="2706624"/>
            <a:ext cx="566928" cy="67665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2706624"/>
            <a:ext cx="5669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24128" y="2761488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Encapsulamiento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57600" y="2743200"/>
            <a:ext cx="5029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capa introduce el paquete recibido dentro de uno mayor, agregando su cabecera. Es fundamental para la comunicación extremo a extremo.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676656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5760" y="3456432"/>
            <a:ext cx="566928" cy="676656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5760" y="3456432"/>
            <a:ext cx="5669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024128" y="3511296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– Punto de Acceso al Servicio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657600" y="3493008"/>
            <a:ext cx="5029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capa brinda servicios a la adyacente a través del SAP. El SAP no debe variar aunque cambie el protocolo de la capa.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65760" y="4206240"/>
            <a:ext cx="8412480" cy="676656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65760" y="4206240"/>
            <a:ext cx="566928" cy="676656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65760" y="4206240"/>
            <a:ext cx="5669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024128" y="4261104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 de protocolo sin impacto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657600" y="4242816"/>
            <a:ext cx="5029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puede reemplazar el protocolo de una capa por otro más eficiente sin afectar las demás capas, siempre que el SAP no cambie.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29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SP3 / H4: Las capas superiores: Sesión, Presentación y Aplicación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36576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8412480" cy="804672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115568"/>
            <a:ext cx="54864" cy="804672"/>
          </a:xfrm>
          <a:prstGeom prst="rect">
            <a:avLst/>
          </a:prstGeom>
          <a:solidFill>
            <a:srgbClr val="0E6B8A"/>
          </a:solidFill>
          <a:ln w="12700">
            <a:solidFill>
              <a:srgbClr val="0E6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17043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[SES]  Capa de Sesión (5)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566160" y="1170432"/>
            <a:ext cx="51206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Establece, gestiona y libera sesiones. Control de diálogo, sincronización y administración de testigo.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2029968"/>
            <a:ext cx="8412480" cy="804672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2029968"/>
            <a:ext cx="54864" cy="804672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08483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[CODE]  Capa de Presentación (6)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66160" y="2084832"/>
            <a:ext cx="51206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Convierte formatos (ASCII, EBCDIC), comprime datos y cifra información para seguridad.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2944368"/>
            <a:ext cx="8412480" cy="804672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2944368"/>
            <a:ext cx="54864" cy="8046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299923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[WEB]  Capa de Aplicación (7)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566160" y="2999232"/>
            <a:ext cx="51206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Terminales virtuales, transferencia de archivos, navegadores web, correo electrónico.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" y="3858768"/>
            <a:ext cx="8412480" cy="804672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5760" y="3858768"/>
            <a:ext cx="54864" cy="8046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391363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[PDU]  Encapsulamiento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566160" y="3913632"/>
            <a:ext cx="51206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capa agrega su cabecera (PDU). El receptor las elimina en sentido inverso.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29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AUTOEVALUACIÓN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365760" y="23774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SP3 / H4: Las capas superiores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0" y="2926080"/>
            <a:ext cx="3657600" cy="54864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31089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¿Estás listo para un desafío?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29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1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822960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El propósito de la existencia de la Capa de Sesión consiste en proveer a las capas superiores un canal libre de errores, independiente de la tecnología.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" y="1691640"/>
            <a:ext cx="8595360" cy="566928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Verdadero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" y="2350008"/>
            <a:ext cx="8595360" cy="566928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35000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Falso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29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Respuesta correcta — Pregunta 1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822960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El propósito de la existencia de la Capa de Sesión consiste en proveer a las capas superiores un canal libre de errores, independiente de la tecnología.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" y="1691640"/>
            <a:ext cx="8595360" cy="56692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Verdadero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" y="2350008"/>
            <a:ext cx="8595360" cy="566928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35000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Falso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C29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2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822960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Uno de los servicios de la capa de sesión consiste en gestionar el control de diálogo.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" y="1691640"/>
            <a:ext cx="8595360" cy="566928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Verdadero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" y="2350008"/>
            <a:ext cx="8595360" cy="566928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35000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Falso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C29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Respuesta correcta — Pregunta 2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822960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Uno de los servicios de la capa de sesión consiste en gestionar el control de diálogo.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" y="1691640"/>
            <a:ext cx="8595360" cy="56692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Verdadero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" y="2350008"/>
            <a:ext cx="8595360" cy="566928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35000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Falso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C29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3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822960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Las sesiones pueden controlar el tráfico de los mensajes en ambas direcciones.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" y="1691640"/>
            <a:ext cx="8595360" cy="566928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Verdadero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" y="2350008"/>
            <a:ext cx="8595360" cy="566928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35000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Falso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C29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Respuesta correcta — Pregunta 3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822960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Las sesiones pueden controlar el tráfico de los mensajes en ambas direcciones.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" y="1691640"/>
            <a:ext cx="8595360" cy="56692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Verdadero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" y="2350008"/>
            <a:ext cx="8595360" cy="566928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35000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Falso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C29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4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822960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En la Capa de Presentación se pueden realizar tareas de compresión de datos.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" y="1691640"/>
            <a:ext cx="8595360" cy="566928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Verdadero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" y="2350008"/>
            <a:ext cx="8595360" cy="566928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35000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Falso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C29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Respuesta correcta — Pregunta 4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822960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En la Capa de Presentación se pueden realizar tareas de compresión de datos.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" y="1691640"/>
            <a:ext cx="8595360" cy="56692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Verdadero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" y="2350008"/>
            <a:ext cx="8595360" cy="566928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35000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Falso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C29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5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822960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Los navegadores de Internet utilizan servicios correspondientes a la Capa de: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" y="1691640"/>
            <a:ext cx="8595360" cy="566928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Aplicación.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" y="2350008"/>
            <a:ext cx="8595360" cy="566928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35000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Presentación.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4320" y="3008376"/>
            <a:ext cx="8595360" cy="566928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3008376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Sesión.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74320" y="3666744"/>
            <a:ext cx="8595360" cy="566928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3666744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Transporte.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C29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Respuesta correcta — Pregunta 5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822960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Los navegadores de Internet utilizan servicios correspondientes a la Capa de: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" y="1691640"/>
            <a:ext cx="8595360" cy="56692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Aplicación.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" y="2350008"/>
            <a:ext cx="8595360" cy="566928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35000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Presentación.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4320" y="3008376"/>
            <a:ext cx="8595360" cy="566928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3008376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Sesión.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74320" y="3666744"/>
            <a:ext cx="8595360" cy="566928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3666744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Transporte.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C29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6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822960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La capa que se ocupa de los aspectos de sintaxis y semántica de la información que transmite es la capa de: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" y="1691640"/>
            <a:ext cx="8595360" cy="566928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Aplicación.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" y="2350008"/>
            <a:ext cx="8595360" cy="566928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35000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Presentación.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4320" y="3008376"/>
            <a:ext cx="8595360" cy="566928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3008376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Sesión.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74320" y="3666744"/>
            <a:ext cx="8595360" cy="566928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3666744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Transporte.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C29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Respuesta correcta — Pregunta 6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822960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La capa que se ocupa de los aspectos de sintaxis y semántica de la información que transmite es la capa de: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" y="1691640"/>
            <a:ext cx="8595360" cy="566928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Aplicación.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" y="2350008"/>
            <a:ext cx="8595360" cy="56692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35000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Presentación.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4320" y="3008376"/>
            <a:ext cx="8595360" cy="566928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3008376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Sesión.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74320" y="3666744"/>
            <a:ext cx="8595360" cy="566928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3666744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Transporte.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C29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7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621792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321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Relacione cada concepto con su descripción correspondiente: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144475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/ Descripción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74920" y="14447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755648"/>
            <a:ext cx="4572000" cy="621792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755648"/>
            <a:ext cx="4297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Procedimiento de transmisión de datos a través de las capas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64608" y="1755648"/>
            <a:ext cx="2560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138928" y="1755648"/>
            <a:ext cx="3657600" cy="621792"/>
          </a:xfrm>
          <a:prstGeom prst="rect">
            <a:avLst/>
          </a:prstGeom>
          <a:solidFill>
            <a:srgbClr val="253868"/>
          </a:solidFill>
          <a:ln w="12700">
            <a:solidFill>
              <a:srgbClr val="2538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257800" y="1755648"/>
            <a:ext cx="3429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Encapsulamiento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4320" y="2450592"/>
            <a:ext cx="4572000" cy="621792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" y="2450592"/>
            <a:ext cx="4297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que permite que los usuarios establezcan sesiones de trabajo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64608" y="2450592"/>
            <a:ext cx="2560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138928" y="2450592"/>
            <a:ext cx="3657600" cy="621792"/>
          </a:xfrm>
          <a:prstGeom prst="rect">
            <a:avLst/>
          </a:prstGeom>
          <a:solidFill>
            <a:srgbClr val="253868"/>
          </a:solidFill>
          <a:ln w="12700">
            <a:solidFill>
              <a:srgbClr val="2538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257800" y="2450592"/>
            <a:ext cx="3429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74320" y="3145536"/>
            <a:ext cx="4572000" cy="621792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1480" y="3145536"/>
            <a:ext cx="4297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que se ocupa de los aspectos de sintaxis y semántica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64608" y="3145536"/>
            <a:ext cx="2560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138928" y="3145536"/>
            <a:ext cx="3657600" cy="621792"/>
          </a:xfrm>
          <a:prstGeom prst="rect">
            <a:avLst/>
          </a:prstGeom>
          <a:solidFill>
            <a:srgbClr val="253868"/>
          </a:solidFill>
          <a:ln w="12700">
            <a:solidFill>
              <a:srgbClr val="2538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257800" y="3145536"/>
            <a:ext cx="3429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74320" y="3840480"/>
            <a:ext cx="4572000" cy="621792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11480" y="3840480"/>
            <a:ext cx="4297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que contiene protocolos necesarios para compatibilizar aplicaciones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64608" y="3840480"/>
            <a:ext cx="2560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138928" y="3840480"/>
            <a:ext cx="3657600" cy="621792"/>
          </a:xfrm>
          <a:prstGeom prst="rect">
            <a:avLst/>
          </a:prstGeom>
          <a:solidFill>
            <a:srgbClr val="253868"/>
          </a:solidFill>
          <a:ln w="12700">
            <a:solidFill>
              <a:srgbClr val="2538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257800" y="3840480"/>
            <a:ext cx="3429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C29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Respuesta correcta — Pregunta 7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621792"/>
          </a:xfrm>
          <a:prstGeom prst="rect">
            <a:avLst/>
          </a:prstGeom>
          <a:solidFill>
            <a:srgbClr val="2E3F6F"/>
          </a:solidFill>
          <a:ln w="12700">
            <a:solidFill>
              <a:srgbClr val="2E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321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Relacione cada concepto con su descripción correspondiente: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144475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/ Descripción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74920" y="14447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755648"/>
            <a:ext cx="4572000" cy="621792"/>
          </a:xfrm>
          <a:prstGeom prst="rect">
            <a:avLst/>
          </a:prstGeom>
          <a:solidFill>
            <a:srgbClr val="1A3A22"/>
          </a:solidFill>
          <a:ln w="12700">
            <a:solidFill>
              <a:srgbClr val="1A3A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755648"/>
            <a:ext cx="4297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Procedimiento de transmisión de datos a través de las capas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64608" y="1755648"/>
            <a:ext cx="2560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138928" y="1755648"/>
            <a:ext cx="3657600" cy="62179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257800" y="1755648"/>
            <a:ext cx="3429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Encapsulamiento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4320" y="2450592"/>
            <a:ext cx="4572000" cy="621792"/>
          </a:xfrm>
          <a:prstGeom prst="rect">
            <a:avLst/>
          </a:prstGeom>
          <a:solidFill>
            <a:srgbClr val="1A3A22"/>
          </a:solidFill>
          <a:ln w="12700">
            <a:solidFill>
              <a:srgbClr val="1A3A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" y="2450592"/>
            <a:ext cx="4297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que permite que los usuarios establezcan sesiones de trabajo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64608" y="2450592"/>
            <a:ext cx="2560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138928" y="2450592"/>
            <a:ext cx="3657600" cy="62179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257800" y="2450592"/>
            <a:ext cx="3429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Sesión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74320" y="3145536"/>
            <a:ext cx="4572000" cy="621792"/>
          </a:xfrm>
          <a:prstGeom prst="rect">
            <a:avLst/>
          </a:prstGeom>
          <a:solidFill>
            <a:srgbClr val="1A3A22"/>
          </a:solidFill>
          <a:ln w="12700">
            <a:solidFill>
              <a:srgbClr val="1A3A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1480" y="3145536"/>
            <a:ext cx="4297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que se ocupa de los aspectos de sintaxis y semántica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64608" y="3145536"/>
            <a:ext cx="2560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138928" y="3145536"/>
            <a:ext cx="3657600" cy="62179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257800" y="3145536"/>
            <a:ext cx="3429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Presentación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74320" y="3840480"/>
            <a:ext cx="4572000" cy="621792"/>
          </a:xfrm>
          <a:prstGeom prst="rect">
            <a:avLst/>
          </a:prstGeom>
          <a:solidFill>
            <a:srgbClr val="1A3A22"/>
          </a:solidFill>
          <a:ln w="12700">
            <a:solidFill>
              <a:srgbClr val="1A3A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11480" y="3840480"/>
            <a:ext cx="4297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que contiene protocolos necesarios para compatibilizar aplicaciones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64608" y="3840480"/>
            <a:ext cx="2560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138928" y="3840480"/>
            <a:ext cx="3657600" cy="62179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257800" y="3840480"/>
            <a:ext cx="3429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Aplicación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1835</Words>
  <Application>Microsoft Office PowerPoint</Application>
  <PresentationFormat>Presentación en pantalla (16:9)</PresentationFormat>
  <Paragraphs>287</Paragraphs>
  <Slides>25</Slides>
  <Notes>25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SP3 / H4: Las capas superiores: Sesión, Presentación y Aplicación</dc:title>
  <dc:subject>PptxGenJS Presentation</dc:subject>
  <dc:creator>PptxGenJS</dc:creator>
  <cp:lastModifiedBy>PEREZ ESPAÑON, ANTONIO VICTOR</cp:lastModifiedBy>
  <cp:revision>2</cp:revision>
  <dcterms:created xsi:type="dcterms:W3CDTF">2026-03-18T18:21:17Z</dcterms:created>
  <dcterms:modified xsi:type="dcterms:W3CDTF">2026-03-31T12:17:11Z</dcterms:modified>
</cp:coreProperties>
</file>