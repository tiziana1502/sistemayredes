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529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5943600" y="731520"/>
            <a:ext cx="27432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02920"/>
            <a:ext cx="19202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502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SP3  ·  Herramienta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96012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MODELOS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MULTICAPA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02920" y="370332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AABBCC"/>
                </a:solidFill>
              </a:rPr>
              <a:t>¿Cómo se organiza la comunicación</a:t>
            </a:r>
            <a:endParaRPr lang="en-US" sz="1700" dirty="0"/>
          </a:p>
          <a:p>
            <a:pPr marL="0" indent="0" algn="l">
              <a:buNone/>
            </a:pPr>
            <a:r>
              <a:rPr lang="en-US" sz="1700" i="1" dirty="0">
                <a:solidFill>
                  <a:srgbClr val="AABBCC"/>
                </a:solidFill>
              </a:rPr>
              <a:t>entre capas en una red?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RED?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ABBCC"/>
                </a:solidFill>
              </a:rPr>
              <a:t>Conectar para compartir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"Se llama red a todo sistema de comunicación que soporta múltiples usuarios."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4114800" cy="2286000"/>
          </a:xfrm>
          <a:prstGeom prst="rect">
            <a:avLst/>
          </a:prstGeom>
          <a:solidFill>
            <a:srgbClr val="243A5E"/>
          </a:solidFill>
          <a:ln w="12700">
            <a:solidFill>
              <a:srgbClr val="2B42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411480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0512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" y="18105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C0D"/>
                </a:solidFill>
              </a:rPr>
              <a:t>Elementos de conmutación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2331720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</a:rPr>
              <a:t>Ordenadores especializados para conectar líneas de transmisión.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</a:rPr>
              <a:t>Ej.: Hub, Switch, Router.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17720" y="1691640"/>
            <a:ext cx="4114800" cy="2286000"/>
          </a:xfrm>
          <a:prstGeom prst="rect">
            <a:avLst/>
          </a:prstGeom>
          <a:solidFill>
            <a:srgbClr val="243A5E"/>
          </a:solidFill>
          <a:ln w="12700">
            <a:solidFill>
              <a:srgbClr val="2B42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17720" y="1691640"/>
            <a:ext cx="411480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810512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12080" y="18105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C0D"/>
                </a:solidFill>
              </a:rPr>
              <a:t>Línea de transmisión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754880" y="2331720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</a:rPr>
              <a:t>Circuitos o canales que transportan los datos entre los dispositivos.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</a:rPr>
              <a:t>Ej.: Cable, fibra óptica, Wi-Fi.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65760" y="4114800"/>
            <a:ext cx="8412480" cy="713232"/>
          </a:xfrm>
          <a:prstGeom prst="rect">
            <a:avLst/>
          </a:prstGeom>
          <a:solidFill>
            <a:srgbClr val="1A2F4F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57200" y="4178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C0D"/>
                </a:solidFill>
              </a:rPr>
              <a:t>Tipos de canales:  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Punto a punto</a:t>
            </a:r>
            <a:r>
              <a:rPr lang="en-US" sz="1300" dirty="0">
                <a:solidFill>
                  <a:srgbClr val="CCCCCC"/>
                </a:solidFill>
              </a:rPr>
              <a:t> — El mensaje va de un extremo al otro íntegramente.   </a:t>
            </a:r>
            <a:r>
              <a:rPr lang="en-US" sz="1300" b="1" dirty="0">
                <a:solidFill>
                  <a:srgbClr val="FFFFFF"/>
                </a:solidFill>
              </a:rPr>
              <a:t>Difusión</a:t>
            </a:r>
            <a:r>
              <a:rPr lang="en-US" sz="1300" dirty="0">
                <a:solidFill>
                  <a:srgbClr val="CCCCCC"/>
                </a:solidFill>
              </a:rPr>
              <a:t> — Un canal compartido por todos los hosts; cada máquina lee solo lo que le corresponde.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Y ESTRATIFICACIÓN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ABBCC"/>
                </a:solidFill>
              </a:rPr>
              <a:t>El usuario no debe preocuparse por lo que ocurre "debajo"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3931920" cy="3108960"/>
          </a:xfrm>
          <a:prstGeom prst="rect">
            <a:avLst/>
          </a:prstGeom>
          <a:solidFill>
            <a:srgbClr val="243A5E"/>
          </a:solidFill>
          <a:ln w="12700">
            <a:solidFill>
              <a:srgbClr val="2B42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39319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Sin capas (imposible)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4173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</a:rPr>
              <a:t>Para transferir un archivo el usuario debería especificar: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4C3C"/>
                </a:solidFill>
              </a:rPr>
              <a:t>• </a:t>
            </a:r>
            <a:r>
              <a:rPr lang="en-US" sz="1300" dirty="0">
                <a:solidFill>
                  <a:srgbClr val="CCCCCC"/>
                </a:solidFill>
              </a:rPr>
              <a:t>Tipo de placa de red propia y del compañero
</a:t>
            </a:r>
            <a:r>
              <a:rPr lang="en-US" sz="1300" dirty="0">
                <a:solidFill>
                  <a:srgbClr val="E74C3C"/>
                </a:solidFill>
              </a:rPr>
              <a:t>• </a:t>
            </a:r>
            <a:r>
              <a:rPr lang="en-US" sz="1300" dirty="0">
                <a:solidFill>
                  <a:srgbClr val="CCCCCC"/>
                </a:solidFill>
              </a:rPr>
              <a:t>Tipo de cableado (coaxial, UTP, fibra óptica)
</a:t>
            </a:r>
            <a:r>
              <a:rPr lang="en-US" sz="1300" dirty="0">
                <a:solidFill>
                  <a:srgbClr val="E74C3C"/>
                </a:solidFill>
              </a:rPr>
              <a:t>• </a:t>
            </a:r>
            <a:r>
              <a:rPr lang="en-US" sz="1300" dirty="0">
                <a:solidFill>
                  <a:srgbClr val="CCCCCC"/>
                </a:solidFill>
              </a:rPr>
              <a:t>Longitud de cables
</a:t>
            </a:r>
            <a:r>
              <a:rPr lang="en-US" sz="1300" dirty="0">
                <a:solidFill>
                  <a:srgbClr val="E74C3C"/>
                </a:solidFill>
              </a:rPr>
              <a:t>• </a:t>
            </a:r>
            <a:r>
              <a:rPr lang="en-US" sz="1300" dirty="0">
                <a:solidFill>
                  <a:srgbClr val="CCCCCC"/>
                </a:solidFill>
              </a:rPr>
              <a:t>Control de integridad de bits
</a:t>
            </a:r>
            <a:r>
              <a:rPr lang="en-US" sz="1300" dirty="0">
                <a:solidFill>
                  <a:srgbClr val="E74C3C"/>
                </a:solidFill>
              </a:rPr>
              <a:t>• </a:t>
            </a:r>
            <a:r>
              <a:rPr lang="en-US" sz="1300" dirty="0">
                <a:solidFill>
                  <a:srgbClr val="CCCCCC"/>
                </a:solidFill>
              </a:rPr>
              <a:t>... y mucho más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4206240" cy="3108960"/>
          </a:xfrm>
          <a:prstGeom prst="rect">
            <a:avLst/>
          </a:prstGeom>
          <a:solidFill>
            <a:srgbClr val="243A5E"/>
          </a:solidFill>
          <a:ln w="12700">
            <a:solidFill>
              <a:srgbClr val="2B42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420624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960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✔  Con capas (transparente)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141732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</a:rPr>
              <a:t>El usuario solo necesita: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7AE60"/>
                </a:solidFill>
              </a:rPr>
              <a:t>• </a:t>
            </a:r>
            <a:r>
              <a:rPr lang="en-US" sz="1300" dirty="0">
                <a:solidFill>
                  <a:srgbClr val="CCCCCC"/>
                </a:solidFill>
              </a:rPr>
              <a:t>Indicar la dirección o nombre del equipo destino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</a:rPr>
              <a:t>Todo lo demás se realiza de forma automática y transparente gracias a la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4AC0D"/>
                </a:solidFill>
              </a:rPr>
              <a:t>estratificación por capas.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15968" y="2194560"/>
            <a:ext cx="237744" cy="5029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61104" y="214884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C0D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8412480" cy="621792"/>
          </a:xfrm>
          <a:prstGeom prst="rect">
            <a:avLst/>
          </a:prstGeom>
          <a:solidFill>
            <a:srgbClr val="0F224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4F8"/>
                </a:solidFill>
              </a:rPr>
              <a:t>💡  Esto se logra gracias a la estratificación por capas: cada capa ofrece servicios a la superior, sin que ésta deba saber cómo se implementan.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REDES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ABBCC"/>
                </a:solidFill>
              </a:rPr>
              <a:t>Capas, protocolos y entidades homólogas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2834640" cy="2651760"/>
          </a:xfrm>
          <a:prstGeom prst="rect">
            <a:avLst/>
          </a:prstGeom>
          <a:solidFill>
            <a:srgbClr val="243A5E"/>
          </a:solidFill>
          <a:ln w="12700">
            <a:solidFill>
              <a:srgbClr val="2B42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283464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98448" y="1078992"/>
            <a:ext cx="777240" cy="7772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161288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74320" y="1920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C0D"/>
                </a:solidFill>
              </a:rPr>
              <a:t>CAPAS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2304288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</a:rPr>
              <a:t>Las redes se organizan en capas para reducir la complejidad.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</a:rPr>
              <a:t>Cada capa se construye sobre su predecesora y sirve a la siguiente.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46120" y="960120"/>
            <a:ext cx="2834640" cy="2651760"/>
          </a:xfrm>
          <a:prstGeom prst="rect">
            <a:avLst/>
          </a:prstGeom>
          <a:solidFill>
            <a:srgbClr val="243A5E"/>
          </a:solidFill>
          <a:ln w="12700">
            <a:solidFill>
              <a:srgbClr val="2B42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46120" y="960120"/>
            <a:ext cx="283464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270248" y="1078992"/>
            <a:ext cx="777240" cy="7772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16128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46120" y="1920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C0D"/>
                </a:solidFill>
              </a:rPr>
              <a:t>PROTOCOLOS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337560" y="2304288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</a:rPr>
              <a:t>Entre dos capas homólogas (de igual nivel) se establece un protocolo de comunicación, que define las reglas del diálogo.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217920" y="960120"/>
            <a:ext cx="2834640" cy="2651760"/>
          </a:xfrm>
          <a:prstGeom prst="rect">
            <a:avLst/>
          </a:prstGeom>
          <a:solidFill>
            <a:srgbClr val="243A5E"/>
          </a:solidFill>
          <a:ln w="12700">
            <a:solidFill>
              <a:srgbClr val="2B42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217920" y="960120"/>
            <a:ext cx="283464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7242048" y="1078992"/>
            <a:ext cx="777240" cy="7772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16128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7920" y="1920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C0D"/>
                </a:solidFill>
              </a:rPr>
              <a:t>ARQUITECTURA DE RED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309360" y="2304288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</a:rPr>
              <a:t>El conjunto de capas y protocolos. Debe contener la información necesaria para construir el software y hardware de cada capa.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1A2F4F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365760" y="38221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C0D"/>
                </a:solidFill>
              </a:rPr>
              <a:t>La capa "N" del emisor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65760" y="4050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dialoga con la capa "N" del receptor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228600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Capa N  ─────────────────────  Capa N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2286000" y="4114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BBCC"/>
                </a:solidFill>
              </a:rPr>
              <a:t>protocolo de comunicación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2286000" y="43708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BBCC"/>
                </a:solidFill>
              </a:rPr>
              <a:t>↓ Capa N-1    ·    ·    ·    Capa 1  (física)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212080" y="3822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AABBCC"/>
                </a:solidFill>
              </a:rPr>
              <a:t>"trayectoria real de los bits"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TÍPICAS DE LOS PROTOCOLOS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ABBCC"/>
                </a:solidFill>
              </a:rPr>
              <a:t>Ejemplo: enviando "Hola" por un chat (pila de 4 capas)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206240" cy="1737360"/>
          </a:xfrm>
          <a:prstGeom prst="rect">
            <a:avLst/>
          </a:prstGeom>
          <a:solidFill>
            <a:srgbClr val="243A5E"/>
          </a:solidFill>
          <a:ln w="12700">
            <a:solidFill>
              <a:srgbClr val="2B42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420624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" y="109728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33856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1097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C0D"/>
                </a:solidFill>
              </a:rPr>
              <a:t>Presentación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4048" y="1618488"/>
            <a:ext cx="39867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Define el formato de los datos (ej.: código ASCII). La Capa de Aplicación agrega esta información en la cabecera del mensaje.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960120"/>
            <a:ext cx="4206240" cy="1737360"/>
          </a:xfrm>
          <a:prstGeom prst="rect">
            <a:avLst/>
          </a:prstGeom>
          <a:solidFill>
            <a:srgbClr val="243A5E"/>
          </a:solidFill>
          <a:ln w="12700">
            <a:solidFill>
              <a:srgbClr val="2B42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54880" y="960120"/>
            <a:ext cx="420624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64608" y="109728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133856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40680" y="1097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C0D"/>
                </a:solidFill>
              </a:rPr>
              <a:t>Envío Ordenado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864608" y="1618488"/>
            <a:ext cx="39867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Garantiza que los mensajes lleguen al receptor en el orden correcto, numerando cada mensaje con un encabezado secuencial.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274320" y="2834640"/>
            <a:ext cx="4206240" cy="1737360"/>
          </a:xfrm>
          <a:prstGeom prst="rect">
            <a:avLst/>
          </a:prstGeom>
          <a:solidFill>
            <a:srgbClr val="243A5E"/>
          </a:solidFill>
          <a:ln w="12700">
            <a:solidFill>
              <a:srgbClr val="2B42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274320" y="2834640"/>
            <a:ext cx="420624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84048" y="297180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008376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0120" y="29718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C0D"/>
                </a:solidFill>
              </a:rPr>
              <a:t>Control de Errores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384048" y="3493008"/>
            <a:ext cx="39867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Agrega una suma de verificación (checksum). Si el receptor calcula un valor distinto, solicita el reenvío del mensaje.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754880" y="2834640"/>
            <a:ext cx="4206240" cy="1737360"/>
          </a:xfrm>
          <a:prstGeom prst="rect">
            <a:avLst/>
          </a:prstGeom>
          <a:solidFill>
            <a:srgbClr val="243A5E"/>
          </a:solidFill>
          <a:ln w="12700">
            <a:solidFill>
              <a:srgbClr val="2B42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754880" y="2834640"/>
            <a:ext cx="420624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864608" y="297180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008376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40680" y="29718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C0D"/>
                </a:solidFill>
              </a:rPr>
              <a:t>Direccionamiento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4864608" y="3493008"/>
            <a:ext cx="39867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Indica a quién va dirigido el mensaje (dirección del destinatario en la cabecera) para que llegue al equipo correcto.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274320" y="4736592"/>
            <a:ext cx="8595360" cy="164592"/>
          </a:xfrm>
          <a:prstGeom prst="rect">
            <a:avLst/>
          </a:prstGeom>
          <a:solidFill>
            <a:srgbClr val="1A2F4F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365760" y="473659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BBCC"/>
                </a:solidFill>
              </a:rPr>
              <a:t>⚠  Nota: una función puede repetirse en más de una capa (ej.: Control de Errores aparece en capas bajas y superiores).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TÍPICAS DE LOS PROTOCOLOS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2788920" cy="5486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960120"/>
            <a:ext cx="438912" cy="438912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996696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9601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Segmentación y reensamblado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" y="1463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Se aplica en una o más capas según el modelo.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804672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46120" y="804672"/>
            <a:ext cx="2788920" cy="5486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355848" y="960120"/>
            <a:ext cx="438912" cy="438912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996696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86200" y="9601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Encapsulado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337560" y="1463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Se aplica en una o más capas según el modelo.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17920" y="804672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217920" y="804672"/>
            <a:ext cx="2788920" cy="5486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327648" y="960120"/>
            <a:ext cx="438912" cy="438912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996696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58000" y="9601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Control de Conexión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309360" y="1463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Se aplica en una o más capas según el modelo.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274320" y="2084832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274320" y="2084832"/>
            <a:ext cx="2788920" cy="5486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384048" y="2240280"/>
            <a:ext cx="438912" cy="438912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2276856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4400" y="22402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Envío Ordenado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365760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Se aplica en una o más capas según el modelo.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246120" y="2084832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3246120" y="2084832"/>
            <a:ext cx="2788920" cy="5486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3355848" y="2240280"/>
            <a:ext cx="438912" cy="438912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2276856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886200" y="22402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Control de Flujo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3337560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Se aplica en una o más capas según el modelo.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6217920" y="2084832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6217920" y="2084832"/>
            <a:ext cx="2788920" cy="5486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6327648" y="2240280"/>
            <a:ext cx="438912" cy="438912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2276856"/>
            <a:ext cx="365760" cy="3657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858000" y="22402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Control de Errores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6309360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Se aplica en una o más capas según el modelo.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274320" y="3364992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274320" y="3364992"/>
            <a:ext cx="2788920" cy="5486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384048" y="3520440"/>
            <a:ext cx="438912" cy="438912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" y="3557016"/>
            <a:ext cx="365760" cy="36576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914400" y="352044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Direccionamiento</a:t>
            </a:r>
            <a:endParaRPr lang="en-US" sz="1400" dirty="0"/>
          </a:p>
        </p:txBody>
      </p:sp>
      <p:sp>
        <p:nvSpPr>
          <p:cNvPr id="48" name="Text 39"/>
          <p:cNvSpPr/>
          <p:nvPr/>
        </p:nvSpPr>
        <p:spPr>
          <a:xfrm>
            <a:off x="365760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Se aplica en una o más capas según el modelo.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3246120" y="3364992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1"/>
          <p:cNvSpPr/>
          <p:nvPr/>
        </p:nvSpPr>
        <p:spPr>
          <a:xfrm>
            <a:off x="3246120" y="3364992"/>
            <a:ext cx="2788920" cy="5486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2"/>
          <p:cNvSpPr/>
          <p:nvPr/>
        </p:nvSpPr>
        <p:spPr>
          <a:xfrm>
            <a:off x="3355848" y="3520440"/>
            <a:ext cx="438912" cy="438912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2424" y="3557016"/>
            <a:ext cx="365760" cy="36576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3886200" y="352044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Multiplexación</a:t>
            </a:r>
            <a:endParaRPr lang="en-US" sz="1400" dirty="0"/>
          </a:p>
        </p:txBody>
      </p:sp>
      <p:sp>
        <p:nvSpPr>
          <p:cNvPr id="54" name="Text 44"/>
          <p:cNvSpPr/>
          <p:nvPr/>
        </p:nvSpPr>
        <p:spPr>
          <a:xfrm>
            <a:off x="3337560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Se aplica en una o más capas según el modelo.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6217920" y="3364992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46"/>
          <p:cNvSpPr/>
          <p:nvPr/>
        </p:nvSpPr>
        <p:spPr>
          <a:xfrm>
            <a:off x="6217920" y="3364992"/>
            <a:ext cx="2788920" cy="5486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7"/>
          <p:cNvSpPr/>
          <p:nvPr/>
        </p:nvSpPr>
        <p:spPr>
          <a:xfrm>
            <a:off x="6327648" y="3520440"/>
            <a:ext cx="438912" cy="438912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4224" y="3557016"/>
            <a:ext cx="365760" cy="365760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6858000" y="352044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Servicio de Transporte</a:t>
            </a:r>
            <a:endParaRPr lang="en-US" sz="1400" dirty="0"/>
          </a:p>
        </p:txBody>
      </p:sp>
      <p:sp>
        <p:nvSpPr>
          <p:cNvPr id="60" name="Text 49"/>
          <p:cNvSpPr/>
          <p:nvPr/>
        </p:nvSpPr>
        <p:spPr>
          <a:xfrm>
            <a:off x="6309360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Se aplica en una o más capas según el modelo.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274320" y="4736592"/>
            <a:ext cx="8595360" cy="1828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1"/>
          <p:cNvSpPr/>
          <p:nvPr/>
        </p:nvSpPr>
        <p:spPr>
          <a:xfrm>
            <a:off x="365760" y="473659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Cada función se estudiará en detalle al analizar los modelos reales OSI y TCP/IP.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REFERENCIA OSI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ABBCC"/>
                </a:solidFill>
              </a:rPr>
              <a:t>Open System Interconnection — ISO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3291840" cy="457200"/>
          </a:xfrm>
          <a:prstGeom prst="rect">
            <a:avLst/>
          </a:prstGeom>
          <a:solidFill>
            <a:srgbClr val="1E407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C0D"/>
                </a:solidFill>
              </a:rPr>
              <a:t>CAPA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APLICACIÓN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3291840" cy="457200"/>
          </a:xfrm>
          <a:prstGeom prst="rect">
            <a:avLst/>
          </a:prstGeom>
          <a:solidFill>
            <a:srgbClr val="1E407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508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C0D"/>
                </a:solidFill>
              </a:rPr>
              <a:t>CAPA 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PRESENTACIÓN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3291840" cy="457200"/>
          </a:xfrm>
          <a:prstGeom prst="rect">
            <a:avLst/>
          </a:prstGeom>
          <a:solidFill>
            <a:srgbClr val="1E407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C0D"/>
                </a:solidFill>
              </a:rPr>
              <a:t>CAPA 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SESIÓN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3291840" cy="457200"/>
          </a:xfrm>
          <a:prstGeom prst="rect">
            <a:avLst/>
          </a:prstGeom>
          <a:solidFill>
            <a:srgbClr val="6A301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514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C0D"/>
                </a:solidFill>
              </a:rPr>
              <a:t>CAPA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TRANSPORTE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3291840" cy="457200"/>
          </a:xfrm>
          <a:prstGeom prst="rect">
            <a:avLst/>
          </a:prstGeom>
          <a:solidFill>
            <a:srgbClr val="6A301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017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C0D"/>
                </a:solidFill>
              </a:rPr>
              <a:t>CAPA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3291840" cy="457200"/>
          </a:xfrm>
          <a:prstGeom prst="rect">
            <a:avLst/>
          </a:prstGeom>
          <a:solidFill>
            <a:srgbClr val="16502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520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C0D"/>
                </a:solidFill>
              </a:rPr>
              <a:t>CAPA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ENLACE DE DATOS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023360"/>
            <a:ext cx="3291840" cy="457200"/>
          </a:xfrm>
          <a:prstGeom prst="rect">
            <a:avLst/>
          </a:prstGeom>
          <a:solidFill>
            <a:srgbClr val="16502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023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C0D"/>
                </a:solidFill>
              </a:rPr>
              <a:t>CAPA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FÍSICA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749040" y="1005840"/>
            <a:ext cx="73152" cy="1508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86200" y="14859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</a:rPr>
              <a:t>Capas SUPERIORES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</a:rPr>
              <a:t>Protocolos de APLICACIÓN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749040" y="2514600"/>
            <a:ext cx="73152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8620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</a:rPr>
              <a:t>Capas MEDIAS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</a:rPr>
              <a:t>Protocolos de COMUNICACIÓN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749040" y="3520440"/>
            <a:ext cx="73152" cy="100584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8620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B371"/>
                </a:solidFill>
              </a:rPr>
              <a:t>Capas BAJAS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CB371"/>
                </a:solidFill>
              </a:rPr>
              <a:t>Protocolos de ACCESO AL MEDIO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09360" y="960120"/>
            <a:ext cx="2560320" cy="3566160"/>
          </a:xfrm>
          <a:prstGeom prst="rect">
            <a:avLst/>
          </a:prstGeom>
          <a:solidFill>
            <a:srgbClr val="243A5E"/>
          </a:solidFill>
          <a:ln w="12700">
            <a:solidFill>
              <a:srgbClr val="2B427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09360" y="960120"/>
            <a:ext cx="2560320" cy="7315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0936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C0D"/>
                </a:solidFill>
              </a:rPr>
              <a:t>¿Qué es OSI?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00800" y="141732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</a:rPr>
              <a:t>• Alto valor académico
• Define QUÉ hace cada capa, no cómo
• Es un Modelo de Referencia
• 7 capas bien definidas
• No es una arquitectura de red real
• Creado por ISO (International Standard Organization)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solidFill>
            <a:srgbClr val="0F224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F4F8"/>
                </a:solidFill>
              </a:rPr>
              <a:t>💡  Tendencia actual: usar OSI como estructura conceptual y "regla" para comparar modelos o pilas de protocolos.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6"/>
          <p:cNvSpPr/>
          <p:nvPr/>
        </p:nvSpPr>
        <p:spPr>
          <a:xfrm>
            <a:off x="5120640" y="3127248"/>
            <a:ext cx="3657600" cy="402336"/>
          </a:xfrm>
          <a:prstGeom prst="rect">
            <a:avLst/>
          </a:prstGeom>
          <a:solidFill>
            <a:srgbClr val="6A301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6">
            <a:extLst>
              <a:ext uri="{FF2B5EF4-FFF2-40B4-BE49-F238E27FC236}">
                <a16:creationId xmlns:a16="http://schemas.microsoft.com/office/drawing/2014/main" id="{09662D06-0577-846C-79D0-7ACA85DF1A54}"/>
              </a:ext>
            </a:extLst>
          </p:cNvPr>
          <p:cNvSpPr/>
          <p:nvPr/>
        </p:nvSpPr>
        <p:spPr>
          <a:xfrm>
            <a:off x="5111496" y="2679192"/>
            <a:ext cx="3657600" cy="402336"/>
          </a:xfrm>
          <a:prstGeom prst="rect">
            <a:avLst/>
          </a:prstGeom>
          <a:solidFill>
            <a:srgbClr val="6A301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COMPARACIÓN: OSI vs TCP/IP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ABBCC"/>
                </a:solidFill>
              </a:rPr>
              <a:t>Dos modelos fundamentales para comprender las redes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3657600" cy="365760"/>
          </a:xfrm>
          <a:prstGeom prst="rect">
            <a:avLst/>
          </a:prstGeom>
          <a:solidFill>
            <a:srgbClr val="17365D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</a:rPr>
              <a:t>OSI  (7 capas)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3657600" cy="420624"/>
          </a:xfrm>
          <a:prstGeom prst="rect">
            <a:avLst/>
          </a:prstGeom>
          <a:solidFill>
            <a:srgbClr val="1E407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2984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CAPA 7 — APLICACIÓN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755648"/>
            <a:ext cx="3657600" cy="420624"/>
          </a:xfrm>
          <a:prstGeom prst="rect">
            <a:avLst/>
          </a:prstGeom>
          <a:solidFill>
            <a:srgbClr val="1E407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7556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CAPA 6 — PRESENTACIÓN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3657600" cy="420624"/>
          </a:xfrm>
          <a:prstGeom prst="rect">
            <a:avLst/>
          </a:prstGeom>
          <a:solidFill>
            <a:srgbClr val="1E407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2128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CAPA 5 — SESIÓN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70048"/>
            <a:ext cx="3657600" cy="420624"/>
          </a:xfrm>
          <a:prstGeom prst="rect">
            <a:avLst/>
          </a:prstGeom>
          <a:solidFill>
            <a:srgbClr val="6A301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6700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CAPA 4 — TRANSPORTE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127248"/>
            <a:ext cx="3657600" cy="420624"/>
          </a:xfrm>
          <a:prstGeom prst="rect">
            <a:avLst/>
          </a:prstGeom>
          <a:solidFill>
            <a:srgbClr val="6A301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1272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CAPA 3 — RED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584448"/>
            <a:ext cx="3657600" cy="420624"/>
          </a:xfrm>
          <a:prstGeom prst="rect">
            <a:avLst/>
          </a:prstGeom>
          <a:solidFill>
            <a:srgbClr val="16502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5844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CAPA 2 — ENLACE DE DATOS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041648"/>
            <a:ext cx="3657600" cy="420624"/>
          </a:xfrm>
          <a:prstGeom prst="rect">
            <a:avLst/>
          </a:prstGeom>
          <a:solidFill>
            <a:srgbClr val="16502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0416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CAPA 1 — FÍSICA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914400"/>
            <a:ext cx="3657600" cy="365760"/>
          </a:xfrm>
          <a:prstGeom prst="rect">
            <a:avLst/>
          </a:prstGeom>
          <a:solidFill>
            <a:srgbClr val="17365D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20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</a:rPr>
              <a:t>TCP/IP  (4 capas)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20640" y="1298448"/>
            <a:ext cx="3657600" cy="1335024"/>
          </a:xfrm>
          <a:prstGeom prst="rect">
            <a:avLst/>
          </a:prstGeom>
          <a:solidFill>
            <a:srgbClr val="1E407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0" y="1298448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CAPA DE APLICACIÓN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4752" y="31089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INTERNET / INTERRED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120640" y="3547872"/>
            <a:ext cx="3657600" cy="1362456"/>
          </a:xfrm>
          <a:prstGeom prst="rect">
            <a:avLst/>
          </a:prstGeom>
          <a:solidFill>
            <a:srgbClr val="16502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20640" y="3547872"/>
            <a:ext cx="36576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ACCESO A LA RED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041648" y="1298448"/>
            <a:ext cx="1051560" cy="133502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041648" y="2651760"/>
            <a:ext cx="1051560" cy="87782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041648" y="3547872"/>
            <a:ext cx="105156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041648" y="4023360"/>
            <a:ext cx="1051560" cy="8869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65760" y="4645152"/>
            <a:ext cx="8412480" cy="256032"/>
          </a:xfrm>
          <a:prstGeom prst="rect">
            <a:avLst/>
          </a:prstGeom>
          <a:solidFill>
            <a:srgbClr val="0F2240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</a:rPr>
              <a:t>TCP/IP une las 3 capas superiores de OSI en una sola (Aplicación) y no define las capas inferiores, delegando en estándares existentes.</a:t>
            </a:r>
            <a:endParaRPr lang="en-US" sz="900" dirty="0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A1748ED7-1598-71BA-4A2C-F12915CDBB05}"/>
              </a:ext>
            </a:extLst>
          </p:cNvPr>
          <p:cNvSpPr/>
          <p:nvPr/>
        </p:nvSpPr>
        <p:spPr>
          <a:xfrm>
            <a:off x="5273040" y="26883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TRANSPORTE / TRANSMISIÓN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CUESTIONES DEL DISEÑO POR CAPAS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5555"/>
                </a:solidFill>
              </a:rPr>
              <a:t>Aspectos que el Modelo OSI debe definir en cada capa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54864" cy="8686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005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Establecimiento de conexión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2984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Mecanismo para iniciar una conexión e identificar al destinatario (direccionamiento).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54864" cy="8686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005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Finalización de conexión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2984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Mecanismo para cerrar correctamente la conexión cuando ya no se necesita.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1920240"/>
            <a:ext cx="54864" cy="8686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1965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Reglas de transferencia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22585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Simplex (unidireccional), semidúplex (un sentido a la vez) o dúplex (simultáneo).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9202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920240"/>
            <a:ext cx="54864" cy="8686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965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Canales lógicos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22585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Número de canales lógicos asociados a cada conexión.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8803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880360"/>
            <a:ext cx="54864" cy="8686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2926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Corrección de errores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32186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Procedimientos para detectar y corregir errores en la transmisión.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54864" cy="8686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2926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Confirmación de recepción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92040" y="32186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El receptor indica qué mensajes recibió correctamente.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8404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3840480"/>
            <a:ext cx="54864" cy="8686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38862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Segmentación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11480" y="41788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División de mensajes extensos para transmitirlos y reensamblarlos en destino.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8404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3840480"/>
            <a:ext cx="54864" cy="8686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38862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</a:rPr>
              <a:t>Aspectos de la red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92040" y="41788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Topología, protocolo, interfaces eléctricas, vínculos y recuperación ante fallas.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736592"/>
            <a:ext cx="8595360" cy="18288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473659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Estas cuestiones deben resolverse en el diseño de cada capa para garantizar la interoperabilidad entre equipos de distintos fabricantes.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210312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SP3  ·  Autoevaluación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¡FIN DE LA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1!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AABBCC"/>
                </a:solidFill>
              </a:rPr>
              <a:t>¿Estás listo para un desafío?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6858000" cy="502920"/>
          </a:xfrm>
          <a:prstGeom prst="rect">
            <a:avLst/>
          </a:prstGeom>
          <a:solidFill>
            <a:srgbClr val="243A5E"/>
          </a:solidFill>
          <a:ln w="12700">
            <a:solidFill>
              <a:srgbClr val="2B42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0F4F8"/>
                </a:solidFill>
              </a:rPr>
              <a:t>Autoevaluación 1: Principio de Funcionamiento de los Modelos Multicapa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</a:rPr>
              <a:t>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73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PREGUNTA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BCC"/>
                </a:solidFill>
              </a:rPr>
              <a:t>Autoevaluación 1  ·  Indicá la opción correcta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97840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Los modelos multicapa son planteados para poder "dividir" el problema de las comunicaciones en partes. Cada capa se encarga de ofrecer diversos servicios a las capas superiores, permitiendo que éstas no "deban preocuparse" por estos servicios.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Verdadero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Falso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3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PREGUNTA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BCC"/>
                </a:solidFill>
              </a:rPr>
              <a:t>Autoevaluación 1  ·  Indicá la opción correcta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97840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Los modelos multicapa son planteados para poder "dividir" el problema de las comunicaciones en partes. Cada capa se encarga de ofrecer diversos servicios a las capas superiores, permitiendo que éstas no "deban preocuparse" por estos servicios.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8595360" cy="594360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192024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5"/>
                </a:solidFill>
              </a:rPr>
              <a:t>✔  Verdadero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4320" y="263347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2633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Falso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73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PREGUNTA 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BCC"/>
                </a:solidFill>
              </a:rPr>
              <a:t>Autoevaluación 1  ·  Indicá la opción correcta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97840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Las funciones son exclusivas de cada capa del modelo de red; es imposible, por lo tanto, que en dos capas distintas se realice la misma función.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Verdadero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Falso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3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PREGUNTA 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BCC"/>
                </a:solidFill>
              </a:rPr>
              <a:t>Autoevaluación 1  ·  Indicá la opción correcta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97840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Las funciones son exclusivas de cada capa del modelo de red; es imposible, por lo tanto, que en dos capas distintas se realice la misma función.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Verdadero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633472"/>
            <a:ext cx="8595360" cy="594360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24912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2633472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5"/>
                </a:solidFill>
              </a:rPr>
              <a:t>✔  Falso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73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PREGUNTA 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BCC"/>
                </a:solidFill>
              </a:rPr>
              <a:t>Autoevaluación 1  ·  Indicá la opción correcta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97840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¿Quiénes realizan las funciones determinadas de una capa?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Los usuarios.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Los administradores de red.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3347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Las entidades que residen en cada capa.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63347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El sistema operativo de cada computadora.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3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PREGUNTA 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BCC"/>
                </a:solidFill>
              </a:rPr>
              <a:t>Autoevaluación 1  ·  Indicá la opción correcta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97840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¿Quiénes realizan las funciones determinadas de una capa?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Los usuarios.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Los administradores de red.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633472"/>
            <a:ext cx="4160520" cy="594360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24912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2960" y="263347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5"/>
                </a:solidFill>
              </a:rPr>
              <a:t>✔  Las entidades que residen en cada capa.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09160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92040" y="263347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El sistema operativo de cada computadora.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983480"/>
            <a:ext cx="80467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BCC"/>
                </a:solidFill>
              </a:rPr>
              <a:t>Redes de Información  ·  SP3 / H1: Modelos Multicapa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</a:rPr>
              <a:t>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73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PREGUNTA 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BCC"/>
                </a:solidFill>
              </a:rPr>
              <a:t>Autoevaluación 1  ·  Indicá la opción correcta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97840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A medida que la trama recibida por el receptor va ascendiendo a través de las capas, ¿qué acción básica se lleva a cabo antes de transferirla a la capa superior?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Se agregan encabezados y en algún caso también una cola (trailer); si todo está bien se remiten a la capa superior.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Se quitan los encabezados (y posibles colas); si todo está en orden se remite a la capa inferior.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3347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Se agregan encabezados (y posibles colas); si todo está en orden se remite a la capa superior.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63347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Se interpretan los encabezados (y posibles colas); si todo está en orden se quitan y se remite a la capa superior.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3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PREGUNTA 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BCC"/>
                </a:solidFill>
              </a:rPr>
              <a:t>Autoevaluación 1  ·  Indicá la opción correcta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97840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A medida que la trama recibida por el receptor va ascendiendo a través de las capas, ¿qué acción básica se lleva a cabo antes de transferirla a la capa superior?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Se agregan encabezados y en algún caso también una cola (trailer); si todo está bien se remiten a la capa superior.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Se quitan los encabezados (y posibles colas); si todo está en orden se remite a la capa inferior.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Se agregan encabezados (y posibles colas); si todo está en orden se remite a la capa superior.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9160" y="2633472"/>
            <a:ext cx="4160520" cy="594360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724912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257800" y="263347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5"/>
                </a:solidFill>
              </a:rPr>
              <a:t>✔  Se interpretan los encabezados (y posibles colas); si todo está en orden se quitan y se remite a la capa superior.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</a:rPr>
              <a:t>19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73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PREGUNTA 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BCC"/>
                </a:solidFill>
              </a:rPr>
              <a:t>Autoevaluación 1  ·  Indicá la opción correcta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97840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Una de las funciones típicas de los protocolos de red, que verifica que los bits recibidos coincidan con los enviados, es llamada: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Envío ordenado.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Control de errores.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3347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Control de flujo.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63347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Direccionamiento.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3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PREGUNTA 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BCC"/>
                </a:solidFill>
              </a:rPr>
              <a:t>Autoevaluación 1  ·  Indicá la opción correcta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97840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Una de las funciones típicas de los protocolos de red, que verifica que los bits recibidos coincidan con los enviados, es llamada: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Envío ordenado.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160520" cy="594360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01168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257800" y="192024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5"/>
                </a:solidFill>
              </a:rPr>
              <a:t>✔  Control de errores.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74320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63347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Control de flujo.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09160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92040" y="263347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Direccionamiento.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</a:rPr>
              <a:t>21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73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PREGUNTA 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BCC"/>
                </a:solidFill>
              </a:rPr>
              <a:t>Autoevaluación 1  ·  Indicá la opción correcta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97840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¿Cuál de las siguientes afirmaciones describe correctamente al Modelo de Referencia OSI?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Es una arquitectura de red real con protocolos plenamente implementados.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Define con precisión los protocolos exactos que cada capa debe usar.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3347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Es un modelo conceptual de 7 capas con alto valor académico, usado como referencia.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63347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Es idéntico al modelo TCP/IP, solo difieren en los nombres de las capas.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983480"/>
            <a:ext cx="5486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3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PREGUNTA 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BCC"/>
                </a:solidFill>
              </a:rPr>
              <a:t>Autoevaluación 1  ·  Indicá la opción correcta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978408"/>
            <a:ext cx="8321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</a:rPr>
              <a:t>¿Cuál de las siguientes afirmaciones describe correctamente al Modelo de Referencia OSI?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Es una arquitectura de red real con protocolos plenamente implementados.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9202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Define con precisión los protocolos exactos que cada capa debe usar.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633472"/>
            <a:ext cx="4160520" cy="594360"/>
          </a:xfrm>
          <a:prstGeom prst="rect">
            <a:avLst/>
          </a:prstGeom>
          <a:solidFill>
            <a:srgbClr val="E8F8EE"/>
          </a:solidFill>
          <a:ln w="25400">
            <a:solidFill>
              <a:srgbClr val="27AE6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24912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2960" y="263347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5"/>
                </a:solidFill>
              </a:rPr>
              <a:t>✔  Es un modelo conceptual de 7 capas con alto valor académico, usado como referencia.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09160" y="26334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92040" y="263347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</a:rPr>
              <a:t>Es idéntico al modelo TCP/IP, solo difieren en los nombres de las capas.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4983480"/>
            <a:ext cx="8823960" cy="16002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</a:t>
            </a:r>
            <a:endParaRPr lang="en-US" sz="5600" dirty="0"/>
          </a:p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AABBCC"/>
                </a:solidFill>
              </a:rPr>
              <a:t>SP3 / H1 completada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35204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4F8"/>
                </a:solidFill>
              </a:rPr>
              <a:t>Continuamos con: H2 — El Modelo OSI en detalle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1932</Words>
  <Application>Microsoft Office PowerPoint</Application>
  <PresentationFormat>Presentación en pantalla (16:9)</PresentationFormat>
  <Paragraphs>265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SP3 / H1 – Principio de Funcionamiento de los Modelos Multicapa</dc:title>
  <dc:subject>PptxGenJS Presentation</dc:subject>
  <dc:creator>PptxGenJS</dc:creator>
  <cp:lastModifiedBy>PEREZ ESPAÑON, ANTONIO VICTOR</cp:lastModifiedBy>
  <cp:revision>3</cp:revision>
  <dcterms:created xsi:type="dcterms:W3CDTF">2026-03-18T16:46:56Z</dcterms:created>
  <dcterms:modified xsi:type="dcterms:W3CDTF">2026-04-01T19:11:12Z</dcterms:modified>
</cp:coreProperties>
</file>