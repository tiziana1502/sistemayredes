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47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37539" y="260604"/>
            <a:ext cx="256032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256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583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Capas de Acceso al Medio: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14356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 y Enlace de Datos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 / H2 — Capa 1 OSI: medios y señales · Capa 2 OSI: MAC, LLC, tramas HDLC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487168"/>
            <a:ext cx="5029200" cy="457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Colegio Universitario IES  • 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27248"/>
            <a:ext cx="3108960" cy="2743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OSI — estas clases: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3108960" cy="283464"/>
          </a:xfrm>
          <a:prstGeom prst="rect">
            <a:avLst/>
          </a:prstGeom>
          <a:solidFill>
            <a:srgbClr val="3A5A6A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3429000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342900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/ Sesión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3108960" cy="283464"/>
          </a:xfrm>
          <a:prstGeom prst="rect">
            <a:avLst/>
          </a:prstGeom>
          <a:solidFill>
            <a:srgbClr val="3A5A6A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73075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" y="37307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032504"/>
            <a:ext cx="3108960" cy="283464"/>
          </a:xfrm>
          <a:prstGeom prst="rect">
            <a:avLst/>
          </a:prstGeom>
          <a:solidFill>
            <a:srgbClr val="3A5A6A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4032504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403250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334256"/>
            <a:ext cx="3108960" cy="283464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4334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" y="433425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 Datos 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636008"/>
            <a:ext cx="3108960" cy="283464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63600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46360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 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Física — Capa 1 del Modelo OSI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9601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capa física define las especificaciones eléctricas, mecánicas, de procedimiento y funcionales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activar, mantener y desactivar el enlace físico en la red."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físico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Tipo, longitud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máx., impedancia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83080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Codificación bits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eléctricas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lumínicas (0/1)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8688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🏎️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64408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 de banda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(bps)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54296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4296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54296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0016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/ Regen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0016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 máximos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repetidor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9904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9904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35624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RJ-45, LC, SC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SFP, antenas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25512" y="2103120"/>
            <a:ext cx="1325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25512" y="2103120"/>
            <a:ext cx="132588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25512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71232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Topología física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71232" y="2871216"/>
            <a:ext cx="1234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Estrella, bus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anillo, malla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822192"/>
            <a:ext cx="8503920" cy="86868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3822192"/>
            <a:ext cx="54864" cy="8686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 fundamental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133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Garantizar que cuando el emisor envíe un bit '1', el receptor reciba exactamente un bit '1'. Todo lo demás existe para lograr esto.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NIC — Network Interface Card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5AA8D8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NIC implementa SIMULTÁNEAMENTE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Física (señales) y la Capa de Enlace (tramas y MAC)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267712"/>
            <a:ext cx="411480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226771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en CAPA FÍSICA (Capa 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4114800" cy="1965960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Genera señales eléctricas / lumínicas / radio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Controla la velocidad (10M / 1G / 10G / 25G bps)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Aplica codificación de línea (Manchester, 4B/5B, 8B/10B)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Gestiona el conector físico (RJ-45, SFP, Wi-Fi antenna)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Detecta la presencia de portadora en el medio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67712"/>
            <a:ext cx="411480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226771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en CAPA DE ENLACE (Capa 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70048"/>
            <a:ext cx="4114800" cy="1965960"/>
          </a:xfrm>
          <a:prstGeom prst="rect">
            <a:avLst/>
          </a:prstGeom>
          <a:solidFill>
            <a:srgbClr val="3D4545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Genera y procesa tramas Ethernet / Wi-Fi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Lee y escribe la dirección MAC de 48 bits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Implementa CSMA/CD (cable) o CSMA/CA (Wi-Fi)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3794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Calcula y verifica el CRC (detección de errores)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Gestiona el buffer de transmisión / recepción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En smartphones: Wi-Fi chip = NIC Wi-Fi | Modem 5G = NIC 5G | BT chip = NIC Bluetooth. Múltiples NICs simultáneas.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3045"/>
          </a:solidFill>
          <a:ln w="12700">
            <a:solidFill>
              <a:srgbClr val="253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de Capa Física — LAN y WAN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— Redes y Comunicaciones | SP3/H2 |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212080" cy="3657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Estándares LAN (IEEE 802.3 / Wi-Fi)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4663440" cy="30175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" y="138988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19656" y="1389888"/>
            <a:ext cx="969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25496" y="1389888"/>
            <a:ext cx="1335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97096" y="1389888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Dist. máx.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691640"/>
            <a:ext cx="4663440" cy="274320"/>
          </a:xfrm>
          <a:prstGeom prst="rect">
            <a:avLst/>
          </a:prstGeom>
          <a:solidFill>
            <a:srgbClr val="E8F4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" y="1691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10BASE-T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19656" y="16916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Mbps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25496" y="169164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97096" y="16916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965960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" y="1965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100BASE-TX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9656" y="19659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Mbps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25496" y="19659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97096" y="19659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240280"/>
            <a:ext cx="4663440" cy="274320"/>
          </a:xfrm>
          <a:prstGeom prst="rect">
            <a:avLst/>
          </a:prstGeom>
          <a:solidFill>
            <a:srgbClr val="E8F4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" y="22402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1000BASE-T (GigE)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22402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25496" y="22402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Cat5e/6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97096" y="22402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514600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6616" y="25146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10GBASE-T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19656" y="25146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25496" y="25146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Cat6A/Cat8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97096" y="25146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788920"/>
            <a:ext cx="4663440" cy="274320"/>
          </a:xfrm>
          <a:prstGeom prst="rect">
            <a:avLst/>
          </a:prstGeom>
          <a:solidFill>
            <a:srgbClr val="E8F4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6616" y="27889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Fibra multimodo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19656" y="278892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1–100 Gbps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25496" y="2788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OM3/OM4/OM5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97096" y="27889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300–2000 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063240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6616" y="30632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Fibra monomodo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19656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10–400 Gbps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25496" y="306324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97096" y="3063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40 km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337560"/>
            <a:ext cx="4663440" cy="274320"/>
          </a:xfrm>
          <a:prstGeom prst="rect">
            <a:avLst/>
          </a:prstGeom>
          <a:solidFill>
            <a:srgbClr val="E8F4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6616" y="33375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6 (802.11ax)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19656" y="3337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9.6 Gbps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25496" y="33375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/ 5 / 6 GHz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97096" y="33375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m indoor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611880"/>
            <a:ext cx="4663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56616" y="361188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NR (móvil)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19656" y="3611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20 Gbps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825496" y="36118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Sub-6 / mmWave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97096" y="3611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km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15000" y="960120"/>
            <a:ext cx="3108960" cy="3657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76072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Estándares WAN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15000" y="1353312"/>
            <a:ext cx="31089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15000" y="1426464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815584" y="14264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EIA/TIA 568A y 568B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715000" y="1737360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815584" y="17373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EIA/TIA 449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15000" y="2048256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15584" y="204825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RS-232-C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15000" y="2359152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15584" y="23591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 V.24 / V.28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15000" y="2670048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815584" y="26700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 V.35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715000" y="2980944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815584" y="29809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HSSI G.703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715000" y="3291840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815584" y="329184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530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15000" y="3602736"/>
            <a:ext cx="45720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815584" y="36027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X.21 bis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20040" y="4251960"/>
            <a:ext cx="8503920" cy="530352"/>
          </a:xfrm>
          <a:prstGeom prst="rect">
            <a:avLst/>
          </a:prstGeom>
          <a:solidFill>
            <a:srgbClr val="FFF9E6"/>
          </a:solidFill>
          <a:ln w="19050">
            <a:solidFill>
              <a:srgbClr val="F0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20040" y="4251960"/>
            <a:ext cx="54864" cy="530352"/>
          </a:xfrm>
          <a:prstGeom prst="rect">
            <a:avLst/>
          </a:prstGeom>
          <a:solidFill>
            <a:srgbClr val="F0A000"/>
          </a:solidFill>
          <a:ln w="12700">
            <a:solidFill>
              <a:srgbClr val="F0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57200" y="4251960"/>
            <a:ext cx="8229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Analogía: La Capa Física es el asfalto de la red. Sin rutas bien construidas (cables correctos, distancias respetadas), ningún dato puede circular sin errores.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Enlace de Datos — Capa 2 del Modelo OSI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5AA8D8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 la transferencia CONFIABLE de datos entre dos nodos directamente conectados,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gestionando el acceso al medio compartido y detectando errores de transmisión.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7472" y="1993392"/>
            <a:ext cx="2651760" cy="12984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Direccionamiento MAC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505456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física única de 48 bits. Identifica emisor y receptor en la red local.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19856"/>
            <a:ext cx="2651760" cy="12984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3511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351129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Flujo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3931920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que el emisor sature al receptor. Regula la velocidad de transmisión.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93392"/>
            <a:ext cx="2651760" cy="12984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20848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Estructuración de Tramas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505456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bits en frames con campos definidos: Flag, Dir, Control, Datos, CRC.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419856"/>
            <a:ext cx="2651760" cy="12984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3511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351129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Errores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931920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 / checksum detectan tramas corruptas. Se solicita reenvío o se descartan.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53328" y="1993392"/>
            <a:ext cx="2651760" cy="12984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5332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10528" y="20848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2505456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Numera las tramas para que el receptor las procese en el orden correcto.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53328" y="3419856"/>
            <a:ext cx="2651760" cy="1298448"/>
          </a:xfrm>
          <a:prstGeom prst="rect">
            <a:avLst/>
          </a:prstGeom>
          <a:solidFill>
            <a:srgbClr val="5AA8D8"/>
          </a:solidFill>
          <a:ln w="254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53328" y="35112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0528" y="351129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Acceso al Medio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44768" y="3931920"/>
            <a:ext cx="248716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MÁS IMPORTANTE. CSMA/CD (Ethernet), CSMA/CA (Wi-Fi), Token Ring.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— Redes y Comunicaciones | SP3/H2 |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Subcapas de la Capa de Enlace — IEEE 802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23444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1234440" cy="9601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23744"/>
            <a:ext cx="1234440" cy="502920"/>
          </a:xfrm>
          <a:prstGeom prst="rect">
            <a:avLst/>
          </a:prstGeom>
          <a:solidFill>
            <a:srgbClr val="3A5A6A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52374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00200" y="1828800"/>
            <a:ext cx="5029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00200" y="2468880"/>
            <a:ext cx="5029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00200" y="2743200"/>
            <a:ext cx="5029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48840" y="1481328"/>
            <a:ext cx="2926080" cy="1042416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48840" y="1481328"/>
            <a:ext cx="2926080" cy="3657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9456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— Logical Link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12848" y="1883664"/>
            <a:ext cx="2834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802.2 — Interfaz con Capa de Red.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Multiplexación de protocolos.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flujo y errores extremo a extremo.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2578608"/>
            <a:ext cx="2926080" cy="1042416"/>
          </a:xfrm>
          <a:prstGeom prst="rect">
            <a:avLst/>
          </a:prstGeom>
          <a:solidFill>
            <a:srgbClr val="E8F4FC"/>
          </a:solidFill>
          <a:ln w="25400">
            <a:solidFill>
              <a:srgbClr val="3A7BA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48840" y="2578608"/>
            <a:ext cx="2926080" cy="3657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94560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— Media Access Control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12848" y="2980944"/>
            <a:ext cx="2834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802.3/802.5/802.11 — Acceso al medio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(CSMA/CD, CSMA/CA, Token Ring).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MAC. Estructuración de tramas.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1463040"/>
            <a:ext cx="3566160" cy="34747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85232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IEEE 802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1847088"/>
            <a:ext cx="3566160" cy="36576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85232" y="18470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— aplica sobre cualquier tecnología MAC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2258568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85232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(CSMA/CD) — cableado UTP / fibra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2670048"/>
            <a:ext cx="3566160" cy="36576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85232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Bus — obsoleto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3081528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081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Ring — obsoleto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3493008"/>
            <a:ext cx="3566160" cy="36576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85232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(CSMA/CA) — inalámbrico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7800" y="3904488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85232" y="3904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/ ZigBee — corto alcance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7800" y="4315968"/>
            <a:ext cx="3566160" cy="36576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85232" y="4315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4315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WiMAX — área metropolitana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Trama HDLC — Estructura del Protocolo de Enlace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960120" cy="457200"/>
          </a:xfrm>
          <a:prstGeom prst="rect">
            <a:avLst/>
          </a:prstGeom>
          <a:solidFill>
            <a:srgbClr val="3A5A6A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9456" y="96012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(inicio)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435608"/>
            <a:ext cx="96012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" y="1435608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801368"/>
            <a:ext cx="96012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" y="1801368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01111110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(0x7E)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61288" y="960120"/>
            <a:ext cx="128016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79576" y="9601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61288" y="1435608"/>
            <a:ext cx="128016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9576" y="1435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(extensible)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61288" y="1801368"/>
            <a:ext cx="128016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79576" y="18013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multipunto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41448" y="960120"/>
            <a:ext cx="1280160" cy="457200"/>
          </a:xfrm>
          <a:prstGeom prst="rect">
            <a:avLst/>
          </a:prstGeom>
          <a:solidFill>
            <a:srgbClr val="5AA8D8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59736" y="9601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41448" y="1435608"/>
            <a:ext cx="128016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59736" y="14356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 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1801368"/>
            <a:ext cx="128016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59736" y="18013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ACK, tipo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21608" y="960120"/>
            <a:ext cx="2468880" cy="457200"/>
          </a:xfrm>
          <a:prstGeom prst="rect">
            <a:avLst/>
          </a:prstGeom>
          <a:solidFill>
            <a:srgbClr val="2A5A4A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39896" y="960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21608" y="1435608"/>
            <a:ext cx="246888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2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9896" y="14356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21608" y="1801368"/>
            <a:ext cx="246888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2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9896" y="18013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usuario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0488" y="960120"/>
            <a:ext cx="1417320" cy="457200"/>
          </a:xfrm>
          <a:prstGeom prst="rect">
            <a:avLst/>
          </a:prstGeom>
          <a:solidFill>
            <a:srgbClr val="7A3A10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08776" y="96012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1435608"/>
            <a:ext cx="141732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7A3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08776" y="1435608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 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1801368"/>
            <a:ext cx="141732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7A3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8776" y="1801368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07808" y="960120"/>
            <a:ext cx="960120" cy="457200"/>
          </a:xfrm>
          <a:prstGeom prst="rect">
            <a:avLst/>
          </a:prstGeom>
          <a:solidFill>
            <a:srgbClr val="3A5A6A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26096" y="96012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07808" y="1435608"/>
            <a:ext cx="960120" cy="347472"/>
          </a:xfrm>
          <a:prstGeom prst="rect">
            <a:avLst/>
          </a:prstGeom>
          <a:solidFill>
            <a:srgbClr val="253045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26096" y="1435608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07808" y="1801368"/>
            <a:ext cx="960120" cy="3840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5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26096" y="1801368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01111110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(0x7E)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377440"/>
            <a:ext cx="1627632" cy="137160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" y="2377440"/>
            <a:ext cx="1627632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4904" y="23774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(0x7E)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4904" y="2761488"/>
            <a:ext cx="1536192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Delimitador de inicio y fin. Patrón 01111110. El bit stuffing inserta un 0 después de cinco 1's en los datos para que no se confunda con un Flag.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57400" y="2377440"/>
            <a:ext cx="1627632" cy="137160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057400" y="2377440"/>
            <a:ext cx="1627632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112264" y="23774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12264" y="2761488"/>
            <a:ext cx="1536192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en líneas multipunto con varios dispositivos. Identifica al destinatario. En punto a punto puede ser un solo byte fijo.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94760" y="2377440"/>
            <a:ext cx="1627632" cy="137160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794760" y="2377440"/>
            <a:ext cx="1627632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49624" y="23774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49624" y="2761488"/>
            <a:ext cx="1536192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trama: (I) Información — datos + secuencia; (S) Supervisora — ACK/NAK/flujo; (U) Sin numerar — gestión de conexión.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32120" y="2377440"/>
            <a:ext cx="1627632" cy="137160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32120" y="2377440"/>
            <a:ext cx="1627632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86984" y="23774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86984" y="2761488"/>
            <a:ext cx="1536192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del usuario, longitud variable. A mayor longitud, menor eficiencia del CRC (mayor prob. de errores de grupo no detectados).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69480" y="2377440"/>
            <a:ext cx="1627632" cy="1371600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69480" y="2377440"/>
            <a:ext cx="1627632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324344" y="23774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24344" y="2761488"/>
            <a:ext cx="1536192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Cyclic Redundancy Check. Detecta errores en Dirección + Control + Datos. CRC-16 o CRC-32. No corrige: solo detecta y descarta.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3886200"/>
            <a:ext cx="8503920" cy="804672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Tipos de Trama HDLC: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57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Información: Transporta datos del usuario + números de secuencia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9184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(S) Supervisoras: ACK, NAK, control de flujo — sin datos de usuario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2648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(U) Sin numerar: Gestión de conexión: establecimiento y cierre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Acceso al Medio — CSMA/CD y CSMA/CA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9601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— Ethernet (Cable)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069080" cy="256032"/>
          </a:xfrm>
          <a:prstGeom prst="rect">
            <a:avLst/>
          </a:prstGeom>
          <a:solidFill>
            <a:srgbClr val="E8F4FC"/>
          </a:solidFill>
          <a:ln w="12700">
            <a:solidFill>
              <a:srgbClr val="E8F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Sense Multiple Access / Collision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" y="1719072"/>
            <a:ext cx="256032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1719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 el medio antes de transmitir (Carrier Sense)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2029968"/>
            <a:ext cx="256032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medio está libre → transmitir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" y="2340864"/>
            <a:ext cx="256032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340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transmite, monitorear el medio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" y="2651760"/>
            <a:ext cx="256032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detecta colisión → detener y enviar señal JAM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" y="2962656"/>
            <a:ext cx="256032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2962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tiempo aleatorio (Backoff) y reintentar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4069080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401568"/>
            <a:ext cx="45720" cy="62179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401568"/>
            <a:ext cx="390448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en: Ethernet (802.3). En redes modernas con Switch full-duplex ya no hay colisiones → CSMA/CD está en desuso práctico.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9601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CSMA/CA — Wi-Fi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371600"/>
            <a:ext cx="4069080" cy="256032"/>
          </a:xfrm>
          <a:prstGeom prst="rect">
            <a:avLst/>
          </a:prstGeom>
          <a:solidFill>
            <a:srgbClr val="E8F8EC"/>
          </a:solidFill>
          <a:ln w="12700">
            <a:solidFill>
              <a:srgbClr val="E8F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137160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Sense Multiple Access / Collision Avoidance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664208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28032" y="1719072"/>
            <a:ext cx="25603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28032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38928" y="1719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 el medio (Carrier Sense)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28032" y="2029968"/>
            <a:ext cx="25603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28032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libre → esperar DIFS + tiempo aleatorio (Backoff)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28032" y="2340864"/>
            <a:ext cx="25603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2340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Transmitir el frame completo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2651760"/>
            <a:ext cx="25603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28032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ACK del receptor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28032" y="2962656"/>
            <a:ext cx="25603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28032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38928" y="2962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llega ACK → colisión asumida → reintentar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401568"/>
            <a:ext cx="4069080" cy="621792"/>
          </a:xfrm>
          <a:prstGeom prst="rect">
            <a:avLst/>
          </a:prstGeom>
          <a:solidFill>
            <a:srgbClr val="E8F8E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54880" y="3401568"/>
            <a:ext cx="45720" cy="62179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64608" y="3401568"/>
            <a:ext cx="390448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en: Wi-Fi (802.11). En redes inalámbricas es imposible detectar colisiones mientras se transmite → se evitan en vez de detectarse.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52544" y="2103120"/>
            <a:ext cx="438912" cy="438912"/>
          </a:xfrm>
          <a:prstGeom prst="rect">
            <a:avLst/>
          </a:prstGeom>
          <a:solidFill>
            <a:srgbClr val="2D3030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352544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FFF9E6"/>
          </a:solidFill>
          <a:ln w="19050">
            <a:solidFill>
              <a:srgbClr val="F0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20040" y="4114800"/>
            <a:ext cx="45720" cy="658368"/>
          </a:xfrm>
          <a:prstGeom prst="rect">
            <a:avLst/>
          </a:prstGeom>
          <a:solidFill>
            <a:srgbClr val="F0A000"/>
          </a:solidFill>
          <a:ln w="12700">
            <a:solidFill>
              <a:srgbClr val="F0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38912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CSMA/CD = semáforo con sensor de choques (actúa DESPUÉS de la colisión) · CSMA/CA = rotonda con cartel de 'ceda el paso' (EVITA la colisión antes de que ocurra)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de Enlace en Redes Públicas — Evolución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46304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960120"/>
            <a:ext cx="6949440" cy="50292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960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Data Link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960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[IBM / SNA]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protocolo orientado al bit. Base de todos los demás.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1463040" cy="502920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ADCCP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74520" y="1783080"/>
            <a:ext cx="6949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Comm. Control Proc.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[ANSI]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ANSI de SDLC. Mismas características orientadas al bit.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146304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HDLC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6949440" cy="50292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2024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Data Link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[ISO]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más usado. Define la trama base (Flag/Dir/Control/Datos/CRC) que heredaron todos los protocolos posteriores.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146304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874520" y="3429000"/>
            <a:ext cx="6949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2024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Access Procedure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429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[CCITT (ITU-T)]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de HDLC para X.25. Primera versión del CCITT.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146304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874520" y="4251960"/>
            <a:ext cx="6949440" cy="50292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20240" y="4251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Access Procedure Balanced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[CCITT (ITU-T)]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Refinamiento del LAP. Mayor compatibilidad con HDLC. Ampliamente usado en X.25.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Capa 1 y Capa 2 en las Redes Actuales (2026)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389888"/>
          </a:xfrm>
          <a:prstGeom prst="rect">
            <a:avLst/>
          </a:prstGeom>
          <a:solidFill>
            <a:srgbClr val="3A4A5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(Capa 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la señal a TODOS los puertos. Sin inteligencia. Ya no se usa. Mismo dominio de colisión para todos.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2651760" cy="1389888"/>
          </a:xfrm>
          <a:prstGeom prst="rect">
            <a:avLst/>
          </a:prstGeom>
          <a:solidFill>
            <a:srgbClr val="3A5A5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 Wi-Fi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en Capa 2 inalámbrica (802.11). Implementa CSMA/CA. Cada cliente tiene MAC única. Conecta la red inalámbrica a la cableada.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36392" y="914400"/>
            <a:ext cx="2651760" cy="13898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9544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39312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(Capa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27832" y="144475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 dirección MAC destino y reenvía solo al puerto correcto. Cada puerto = dominio de colisión propio. Estándar actual.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6392" y="2468880"/>
            <a:ext cx="2651760" cy="1389888"/>
          </a:xfrm>
          <a:prstGeom prst="rect">
            <a:avLst/>
          </a:prstGeom>
          <a:solidFill>
            <a:srgbClr val="4A3A6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9544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39312" y="2560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(Capa 1/2)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299923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interfaces físicas: Wi-Fi (802.11ax), 5G NR, Bluetooth (802.15), NFC. Cada una con su propia dirección MAC o IMSI.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52744" y="914400"/>
            <a:ext cx="2651760" cy="1389888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25896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55664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(Capa 3)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44184" y="144475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 dirección IP destino y enruta entre redes distintas. Opera sobre la Capa 2 pero es Capa 3. Separa dominios de broadcast.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52744" y="2468880"/>
            <a:ext cx="2651760" cy="1389888"/>
          </a:xfrm>
          <a:prstGeom prst="rect">
            <a:avLst/>
          </a:prstGeom>
          <a:solidFill>
            <a:srgbClr val="2A4A6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25896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55664" y="2560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SDN / Cloud (Capa 2)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44184" y="2999232"/>
            <a:ext cx="24871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Defined Networking: Capa 2 virtual en la nube. VXLAN, EVPN. Miles de VLANs lógicas sobre una infraestructura física compartida.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14824"/>
            <a:ext cx="8503920" cy="432707"/>
          </a:xfrm>
          <a:prstGeom prst="rect">
            <a:avLst/>
          </a:prstGeom>
          <a:solidFill>
            <a:srgbClr val="2530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387977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Address en 2026: Los dispositivos Wi-Fi modernos usan MAC Randomization por privacidad — cambian su MAC con cada red diferente para evitar rastreo.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Verdadero o Falso — Pregunta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7315200" cy="2606040"/>
          </a:xfrm>
          <a:prstGeom prst="rect">
            <a:avLst/>
          </a:prstGeom>
          <a:solidFill>
            <a:srgbClr val="253045"/>
          </a:solidFill>
          <a:ln w="254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7132320" cy="2423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placa de red o NIC (Network Interface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Card) interviene únicamente en la Capa Física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(Capa 1) del modelo OSI.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Respuesta — Pregunta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315200" cy="1261872"/>
          </a:xfrm>
          <a:prstGeom prst="rect">
            <a:avLst/>
          </a:prstGeom>
          <a:solidFill>
            <a:srgbClr val="253045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1323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NIC interviene únicamente en la Capa Física del modelo OSI.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8229600" cy="1572768"/>
          </a:xfrm>
          <a:prstGeom prst="rect">
            <a:avLst/>
          </a:prstGeom>
          <a:solidFill>
            <a:srgbClr val="1D2D1D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64008" cy="15727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319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Justificación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30168"/>
            <a:ext cx="7955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NIC implementa SIMULTÁNEAMENTE la Capa Física (genera las señales eléctricas, lumínicas o de radio que representan bits) y la Capa de Enlace de Datos (gestiona las tramas, la dirección MAC, CSMA/CD y el CRC). Por eso se dice que la NIC es el dispositivo de 'acceso al medio': abarca ambas capas de acceso.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Verdadero o Falso — Pregunta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7315200" cy="2606040"/>
          </a:xfrm>
          <a:prstGeom prst="rect">
            <a:avLst/>
          </a:prstGeom>
          <a:solidFill>
            <a:srgbClr val="253045"/>
          </a:solidFill>
          <a:ln w="254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7132320" cy="2423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Capa de Enlace de Datos se define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de Acceso al Medio, como por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CSMA/CD o Token Ring.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Respuesta — Pregunta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315200" cy="1261872"/>
          </a:xfrm>
          <a:prstGeom prst="rect">
            <a:avLst/>
          </a:prstGeom>
          <a:solidFill>
            <a:srgbClr val="253045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1323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Capa de Enlace se define el Método de Acceso al Medio (CSMA/CD, Token Ring, etc.).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8229600" cy="1572768"/>
          </a:xfrm>
          <a:prstGeom prst="rect">
            <a:avLst/>
          </a:prstGeom>
          <a:solidFill>
            <a:srgbClr val="1D2D1D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64008" cy="15727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319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Justificación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30168"/>
            <a:ext cx="7955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VERDADERO. El Método de Acceso al Medio (MAC) es la función MÁS IMPORTANTE de la Capa de Enlace. Sin él, todos los dispositivos intentarían transmitir simultáneamente generando colisiones. CSMA/CD es el método de Ethernet por cable; CSMA/CA es el de Wi-Fi (802.11). Ambos son protocolos de la subcapa MAC de la Capa 2.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Verdadero o Falso — Pregunta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7315200" cy="2606040"/>
          </a:xfrm>
          <a:prstGeom prst="rect">
            <a:avLst/>
          </a:prstGeom>
          <a:solidFill>
            <a:srgbClr val="253045"/>
          </a:solidFill>
          <a:ln w="254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7132320" cy="2423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Flag de la trama HDLC usa el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bits 11111111 para indicar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inicio y fin de cada trama.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Respuesta — Pregunta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315200" cy="1261872"/>
          </a:xfrm>
          <a:prstGeom prst="rect">
            <a:avLst/>
          </a:prstGeom>
          <a:solidFill>
            <a:srgbClr val="253045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1323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Flag HDLC usa el patrón 11111111 para delimitar inicio y fin de trama.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226771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8229600" cy="1572768"/>
          </a:xfrm>
          <a:prstGeom prst="rect">
            <a:avLst/>
          </a:prstGeom>
          <a:solidFill>
            <a:srgbClr val="1D2D1D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64008" cy="15727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319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Justificación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30168"/>
            <a:ext cx="7955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El campo Flag de HDLC usa el patrón 01111110 (hexadecimal 7E = 126 decimal), NO 11111111. El patrón 01111110 fue elegido específicamente porque no puede aparecer naturalmente en los datos del usuario: cuando hay 5 bits '1' consecutivos en los datos, el protocolo inserta automáticamente un '0' (bit stuffing) para preservar la transparencia de datos.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86000" y="32004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2286000" y="1188720"/>
            <a:ext cx="6400800" cy="54864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0" y="131673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SP3 / H2: Las Capas de Acceso al Medio — Física y Enlace de Datos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86000" y="182880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 | Colegio Universitario IES —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487168"/>
            <a:ext cx="2057400" cy="22128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25968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Física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Medio, señales,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velocidad, conectores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0" y="2487168"/>
            <a:ext cx="2057400" cy="22128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60320" y="25968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651760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Enlace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51760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MAC, tramas,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CSMA/CD, CRC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487168"/>
            <a:ext cx="2057400" cy="22128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0" y="25968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846320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Trama HDLC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/ Dir / 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Datos / CRC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49440" y="2487168"/>
            <a:ext cx="2057400" cy="2212848"/>
          </a:xfrm>
          <a:prstGeom prst="rect">
            <a:avLst/>
          </a:prstGeom>
          <a:solidFill>
            <a:srgbClr val="3D4545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49440" y="25968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040880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+ MAC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40880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802.2 + 802.3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802.11 (Wi-Fi)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2168</Words>
  <Application>Microsoft Office PowerPoint</Application>
  <PresentationFormat>Presentación en pantalla (16:9)</PresentationFormat>
  <Paragraphs>351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SP3/H2 — Capas Física y Enlace de Datos</dc:title>
  <dc:subject>PptxGenJS Presentation</dc:subject>
  <dc:creator>IES — Redes y Comunicaciones</dc:creator>
  <cp:lastModifiedBy>PEREZ ESPAÑON, ANTONIO VICTOR</cp:lastModifiedBy>
  <cp:revision>5</cp:revision>
  <dcterms:created xsi:type="dcterms:W3CDTF">2026-03-31T03:31:31Z</dcterms:created>
  <dcterms:modified xsi:type="dcterms:W3CDTF">2026-04-24T03:25:57Z</dcterms:modified>
</cp:coreProperties>
</file>