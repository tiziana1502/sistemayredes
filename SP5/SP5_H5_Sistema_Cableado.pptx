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estándar regula un aspecto específico: 568 = qué cables usar; 569 = cómo instalarlos físicamente; TSB-67 = cómo probarlos; 606 = cómo identificarlos.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Analogía: MCC = central eléctrica del barrio; ICC = subestación de zona; TC = tablero del edificio; WS = enchufe de tu habitación. La jerarquía es siempre una ESTRELLA.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backbone es la autopista del edificio. La fibra óptica multimodo es la reina: inmune a interferencias electromagnéticas y con alcance kilométrico. El coaxial está en extinción para nuevas instalaciones.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Dos tomas por puesto es el mínimo: una para datos, otra para voz o red secundaria. La prohibición de empalmes en cobre garantiza el rendimiento: cada empalme introduce resistencia, reflexión de señal y posibles puntos de falla.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 = cableado fijo en la pared = 90 m. Channel = trayecto completo NIC→switch = 100 m. Los 10m de diferencia son para los patch cords. Truco: 'Channel es el Camino Completo'.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tabla es para tener de referencia. Lo más importante para el examen: 90m/100m para cobre en datos. La fibra puede cruzar un campus completo (hasta 3 km monomodo).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patch panel es donde más se cometen errores. La diafonía ocurre cuando pares adyacentes se interfieren entre sí. Mantener los pares trenzados hasta el último centímetro es crítico.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interferencia del cableado eléctrico es el mayor enemigo del UTP. Un cable de datos a 2 cm de un cable de 220V puede saturar de ruido la señal. La cañería metálica actúa como blindaje de Faraday.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rotulado parece burocrático pero es fundamental. El 70% de las interrupciones de red se debe a errores humanos al desconectar cables sin identificación. Una red bien rotulada reduce el tiempo de diagnóstico de horas a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pasos más críticos: paso 4 (orden de colores 568A vs 568B), paso 5 (exactamente 13mm) y paso 11 (SIEMPRE probar). Sin el tester, nunca sabes si el cable está bien hasta que hay un problema en producción.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568B es el más usado en Argentina y EE.UU. Lo que importa es CONSISTENCIA dentro de una instalación. El cable cruzado ya casi no se usa porque los switches modernos tienen Auto-MDI/MDIX que detecta automáticamente.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3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3474720"/>
            <a:ext cx="8823960" cy="7315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201168"/>
            <a:ext cx="1188720" cy="594360"/>
          </a:xfrm>
          <a:prstGeom prst="roundRect">
            <a:avLst>
              <a:gd name="adj" fmla="val 9231"/>
            </a:avLst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01168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SP5 / H5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9601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A8D8"/>
                </a:solidFill>
              </a:rPr>
              <a:t>Redes y Comunicaciones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Sistema de Cableado Estructurado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40080" y="2084832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9DEF8"/>
                </a:solidFill>
              </a:rPr>
              <a:t>Estándares y Diseño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285292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08080"/>
                </a:solidFill>
              </a:rPr>
              <a:t>ANSI/TIA/EIA-568 · 569 · 606 · Backbone · Cableado Horizontal · RJ-45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84048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A8D8"/>
                </a:solidFill>
              </a:rPr>
              <a:t>Prof: Ing. Antonio Víctor Pérez Españón</a:t>
            </a:r>
            <a:endParaRPr lang="en-US" sz="12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4434840"/>
            <a:ext cx="1188720" cy="5943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40080" y="4462272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8080"/>
                </a:solidFill>
              </a:rPr>
              <a:t>Colegio Universitario IES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128016"/>
            <a:ext cx="822960" cy="548640"/>
          </a:xfrm>
          <a:prstGeom prst="roundRect">
            <a:avLst>
              <a:gd name="adj" fmla="val 8333"/>
            </a:avLst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128016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SP5 / H5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8992" y="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Marco Normativo del Cableado Estructurado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37760"/>
            <a:ext cx="3200400" cy="20574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914400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7BAA"/>
                </a:solidFill>
              </a:rPr>
              <a:t>¿Por qué existen los estándares de cableado?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1261872"/>
            <a:ext cx="8595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</a:rPr>
              <a:t>Sin estándares, cada instalación sería incompatible con la siguiente. Los estándares garantizan interoperabilidad, calidad y crecimiento futuro de la infraestructura.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783080"/>
            <a:ext cx="42519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783080"/>
            <a:ext cx="109728" cy="1261872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837944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7BAA"/>
                </a:solidFill>
              </a:rPr>
              <a:t>ANSI/TIA/EIA-568-A/B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148840"/>
            <a:ext cx="397764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</a:rPr>
              <a:t>Cableado de telecomunicaciones para edificios comerciales. Define tipos de cables, conectores y distancias para cableado horizontal y backbone.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09160" y="1783080"/>
            <a:ext cx="42519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09160" y="1783080"/>
            <a:ext cx="109728" cy="126187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837944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A8D8"/>
                </a:solidFill>
              </a:rPr>
              <a:t>ANSI/TIA/EIA-569-A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2148840"/>
            <a:ext cx="397764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</a:rPr>
              <a:t>Espacios y recorridos de telecomunicaciones. Define infraestructura física: salas, conductos, canalizaciones y reglas de diseño (distancias, radio de curvatura, tracción).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3136392"/>
            <a:ext cx="42519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136392"/>
            <a:ext cx="109728" cy="1261872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191256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7BAA"/>
                </a:solidFill>
              </a:rPr>
              <a:t>TIA TSB-67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502152"/>
            <a:ext cx="397764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</a:rPr>
              <a:t>Requerimientos de prueba para cableado UTP instalado. Parámetros: mapa de cableado, longitud, atenuación y paradiafonía en extremo cercano (NEXT).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09160" y="3136392"/>
            <a:ext cx="42519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136392"/>
            <a:ext cx="109728" cy="126187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3191256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A8D8"/>
                </a:solidFill>
              </a:rPr>
              <a:t>TIA/EIA-606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92040" y="3502152"/>
            <a:ext cx="397764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</a:rPr>
              <a:t>Administración de la infraestructura. Define el sistema de rotulado e identificación de cables, paneles y tomas de telecomunicaciones.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128016"/>
            <a:ext cx="822960" cy="548640"/>
          </a:xfrm>
          <a:prstGeom prst="roundRect">
            <a:avLst>
              <a:gd name="adj" fmla="val 8333"/>
            </a:avLst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128016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SP5 / H5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8992" y="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Arquitectura del Sistema — MCC, ICC, TC, WS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37760"/>
            <a:ext cx="3200400" cy="20574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91440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08080"/>
                </a:solidFill>
              </a:rPr>
              <a:t>Topología jerárquica en estrella — del centro a los puestos de trabajo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261872"/>
            <a:ext cx="2743200" cy="804672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2618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MCC — Main Cross-Connect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0" y="1572768"/>
            <a:ext cx="2743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9DEF8"/>
                </a:solidFill>
              </a:rPr>
              <a:t>Centro de la estrella · Equipos más complejos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9DEF8"/>
                </a:solidFill>
              </a:rPr>
              <a:t>(Central telefónica, Data Center)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94760" y="2066544"/>
            <a:ext cx="0" cy="384048"/>
          </a:xfrm>
          <a:prstGeom prst="line">
            <a:avLst/>
          </a:prstGeom>
          <a:noFill/>
          <a:ln w="25400">
            <a:solidFill>
              <a:srgbClr val="5AA8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94760" y="2450592"/>
            <a:ext cx="-1417320" cy="0"/>
          </a:xfrm>
          <a:prstGeom prst="line">
            <a:avLst/>
          </a:prstGeom>
          <a:noFill/>
          <a:ln w="25400">
            <a:solidFill>
              <a:srgbClr val="5AA8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94760" y="2450592"/>
            <a:ext cx="1417320" cy="0"/>
          </a:xfrm>
          <a:prstGeom prst="line">
            <a:avLst/>
          </a:prstGeom>
          <a:noFill/>
          <a:ln w="25400">
            <a:solidFill>
              <a:srgbClr val="5AA8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450592"/>
            <a:ext cx="2834640" cy="80467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45059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ICC — Intermediate Cross-Connect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2761488"/>
            <a:ext cx="2834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9DEF8"/>
                </a:solidFill>
              </a:rPr>
              <a:t>Puntos intermedios del backbone vertical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9DEF8"/>
                </a:solidFill>
              </a:rPr>
              <a:t>Conexión entre MCC y TC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852160" y="2450592"/>
            <a:ext cx="2834640" cy="80467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52160" y="245059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TC — Telecommunication Closet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852160" y="2761488"/>
            <a:ext cx="2834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9DEF8"/>
                </a:solidFill>
              </a:rPr>
              <a:t>Armario de piso · Inicio del cableado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9DEF8"/>
                </a:solidFill>
              </a:rPr>
              <a:t>horizontal hacia los puestos de trabajo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269480" y="3255264"/>
            <a:ext cx="0" cy="292608"/>
          </a:xfrm>
          <a:prstGeom prst="line">
            <a:avLst/>
          </a:prstGeom>
          <a:noFill/>
          <a:ln w="25400">
            <a:solidFill>
              <a:srgbClr val="5AA8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52160" y="3547872"/>
            <a:ext cx="2834640" cy="658368"/>
          </a:xfrm>
          <a:prstGeom prst="rect">
            <a:avLst/>
          </a:prstGeom>
          <a:solidFill>
            <a:srgbClr val="E8F4FC"/>
          </a:solidFill>
          <a:ln w="25400">
            <a:solidFill>
              <a:srgbClr val="5AA8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52160" y="354787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7BAA"/>
                </a:solidFill>
              </a:rPr>
              <a:t>WS — Workstation (Puesto de Trabajo)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852160" y="385876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Toma de telecomunicaciones → equipo del usuario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547872"/>
          <a:ext cx="5303520" cy="1298448"/>
        </p:xfrm>
        <a:graphic>
          <a:graphicData uri="http://schemas.openxmlformats.org/drawingml/2006/table">
            <a:tbl>
              <a:tblPr/>
              <a:tblGrid>
                <a:gridCol w="640080"/>
                <a:gridCol w="4663440"/>
              </a:tblGrid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MCC</a:t>
                      </a:r>
                      <a:endParaRPr lang="en-US" sz="1000" dirty="0"/>
                    </a:p>
                  </a:txBody>
                  <a:tcPr marL="50800" marR="508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A7BA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Centro principal. Único en el edificio. Equipos de mayor complejidad.</a:t>
                      </a:r>
                      <a:endParaRPr lang="en-US" sz="1000" dirty="0"/>
                    </a:p>
                  </a:txBody>
                  <a:tcPr marL="50800" marR="508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4FC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ICC</a:t>
                      </a:r>
                      <a:endParaRPr lang="en-US" sz="1000" dirty="0"/>
                    </a:p>
                  </a:txBody>
                  <a:tcPr marL="50800" marR="508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AA8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Puntos intermedios del backbone. Ramificaciones del árbol vertical.</a:t>
                      </a:r>
                      <a:endParaRPr lang="en-US" sz="1000" dirty="0"/>
                    </a:p>
                  </a:txBody>
                  <a:tcPr marL="50800" marR="508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TC</a:t>
                      </a:r>
                      <a:endParaRPr lang="en-US" sz="1000" dirty="0"/>
                    </a:p>
                  </a:txBody>
                  <a:tcPr marL="50800" marR="508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A7BA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Armario de piso. Donde termina el backbone y comienza el cableado horizontal.</a:t>
                      </a:r>
                      <a:endParaRPr lang="en-US" sz="1000" dirty="0"/>
                    </a:p>
                  </a:txBody>
                  <a:tcPr marL="50800" marR="508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4FC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WS</a:t>
                      </a:r>
                      <a:endParaRPr lang="en-US" sz="1000" dirty="0"/>
                    </a:p>
                  </a:txBody>
                  <a:tcPr marL="50800" marR="508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AA8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</a:rPr>
                        <a:t>Puesto de trabajo del usuario final. Conectado al TC por cableado horizontal.</a:t>
                      </a:r>
                      <a:endParaRPr lang="en-US" sz="1000" dirty="0"/>
                    </a:p>
                  </a:txBody>
                  <a:tcPr marL="50800" marR="508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128016"/>
            <a:ext cx="822960" cy="548640"/>
          </a:xfrm>
          <a:prstGeom prst="roundRect">
            <a:avLst>
              <a:gd name="adj" fmla="val 8333"/>
            </a:avLst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128016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SP5 / H5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8992" y="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Cableado Vertical — Backbone (Troncal)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37760"/>
            <a:ext cx="3200400" cy="20574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9144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7BAA"/>
                </a:solidFill>
              </a:rPr>
              <a:t>Medios permitidos por TIA/EIA-568-A para el backbone: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1298448"/>
            <a:ext cx="20574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298448"/>
            <a:ext cx="2057400" cy="457200"/>
          </a:xfrm>
          <a:prstGeom prst="rect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" y="1298448"/>
            <a:ext cx="1947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UTP 100Ω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(4 pares)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9184" y="1783080"/>
            <a:ext cx="194767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Voz: hasta 800 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Datos: limitado a 90 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23160" y="1298448"/>
            <a:ext cx="20574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23160" y="1298448"/>
            <a:ext cx="2057400" cy="457200"/>
          </a:xfrm>
          <a:prstGeom prst="rect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78024" y="1298448"/>
            <a:ext cx="1947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STP-A 150Ω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(2 pares)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478024" y="1783080"/>
            <a:ext cx="194767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Para entornos con alta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interferencia EMI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1298448"/>
            <a:ext cx="2057400" cy="2331720"/>
          </a:xfrm>
          <a:prstGeom prst="rect">
            <a:avLst/>
          </a:prstGeom>
          <a:solidFill>
            <a:srgbClr val="FFFFFF"/>
          </a:solidFill>
          <a:ln w="25400">
            <a:solidFill>
              <a:srgbClr val="5AA8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1298448"/>
            <a:ext cx="2057400" cy="45720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26864" y="1298448"/>
            <a:ext cx="1947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Fibra Óptica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Multimodo 62.5/125µm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26864" y="1783080"/>
            <a:ext cx="194767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Más utilizada.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HCC→MCC: 2000 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HCC→ICC: 500 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26864" y="3429000"/>
            <a:ext cx="1947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6622"/>
                </a:solidFill>
              </a:rPr>
              <a:t>✓ Recomendada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720840" y="1298448"/>
            <a:ext cx="2057400" cy="2331720"/>
          </a:xfrm>
          <a:prstGeom prst="rect">
            <a:avLst/>
          </a:prstGeom>
          <a:solidFill>
            <a:srgbClr val="FFFFFF"/>
          </a:solidFill>
          <a:ln w="25400">
            <a:solidFill>
              <a:srgbClr val="5AA8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20840" y="1298448"/>
            <a:ext cx="2057400" cy="457200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75704" y="1298448"/>
            <a:ext cx="1947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Fibra Óptica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Monomodo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775704" y="1783080"/>
            <a:ext cx="194767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Largas distancias.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HCC→MCC: 3000 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HCC→ICC: 500 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75704" y="3429000"/>
            <a:ext cx="1947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6622"/>
                </a:solidFill>
              </a:rPr>
              <a:t>✓ Recomendada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74320" y="373075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A4400"/>
                </a:solidFill>
              </a:rPr>
              <a:t>⚠  Cable coaxial 50Ω: reconocido por el estándar pero NO recomendado para nuevas instalaciones.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4041648"/>
            <a:ext cx="8595360" cy="804672"/>
          </a:xfrm>
          <a:prstGeom prst="rect">
            <a:avLst/>
          </a:prstGeom>
          <a:solidFill>
            <a:srgbClr val="E8F4FC"/>
          </a:solidFill>
          <a:ln w="25400">
            <a:solidFill>
              <a:srgbClr val="5AA8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" y="4041648"/>
            <a:ext cx="846734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Topología del backbone: ESTRELLA JERÁRQUICA. Los anillos y buses deben obtenerse a partir de ella.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Fibra multimodo 62.5/125 µm es el estándar dominante en backbone de edificios comerciales.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Distancia máx. UTP voz: 800 m (HCC→MCC)  |  Fibra multimodo: 2000 m  |  Fibra monomodo: 3000 m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128016"/>
            <a:ext cx="822960" cy="548640"/>
          </a:xfrm>
          <a:prstGeom prst="roundRect">
            <a:avLst>
              <a:gd name="adj" fmla="val 8333"/>
            </a:avLst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128016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SP5 / H5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8992" y="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Subsistema de Cableado Horizontal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37760"/>
            <a:ext cx="3200400" cy="20574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91440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08080"/>
                </a:solidFill>
              </a:rPr>
              <a:t>Del armario TC hasta el puesto de trabajo (WS)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126187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7BAA"/>
                </a:solidFill>
              </a:rPr>
              <a:t>Medios permitidos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1627632"/>
            <a:ext cx="4023360" cy="621792"/>
          </a:xfrm>
          <a:prstGeom prst="rect">
            <a:avLst/>
          </a:prstGeom>
          <a:solidFill>
            <a:srgbClr val="E8F4FC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66420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7BAA"/>
                </a:solidFill>
              </a:rPr>
              <a:t>✓  UTP 4 pares 100Ω (CAT 5e / CAT 6)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193852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Opción más usada. CAT 5e recomendado mínimo.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313432"/>
            <a:ext cx="4023360" cy="621792"/>
          </a:xfrm>
          <a:prstGeom prst="rect">
            <a:avLst/>
          </a:prstGeom>
          <a:solidFill>
            <a:srgbClr val="E8F4FC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35000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7BAA"/>
                </a:solidFill>
              </a:rPr>
              <a:t>✓  Fibra óptica dúplex multimodo (2 fibras)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62432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Para entornos con interferencia EMI.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999232"/>
            <a:ext cx="4023360" cy="621792"/>
          </a:xfrm>
          <a:prstGeom prst="rect">
            <a:avLst/>
          </a:prstGeom>
          <a:solidFill>
            <a:srgbClr val="FFF0E8"/>
          </a:solidFill>
          <a:ln w="12700">
            <a:solidFill>
              <a:srgbClr val="CC66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03580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A4400"/>
                </a:solidFill>
              </a:rPr>
              <a:t>✗  Coaxial 50Ω / STP 150Ω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331012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NO recomendados para nuevas instalaciones.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0" y="126187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7BAA"/>
                </a:solidFill>
              </a:rPr>
              <a:t>Reglas clave de instalación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0" y="1627632"/>
            <a:ext cx="4297680" cy="457200"/>
          </a:xfrm>
          <a:prstGeom prst="rect">
            <a:avLst/>
          </a:prstGeom>
          <a:solidFill>
            <a:srgbClr val="E8F4FC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162763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• 2 tomas mínimas por puesto de trabajo (datos + voz)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0" y="2130552"/>
            <a:ext cx="4297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213055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• Sin empalmes ni derivaciones en cables de cobre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0" y="2633472"/>
            <a:ext cx="4297680" cy="457200"/>
          </a:xfrm>
          <a:prstGeom prst="rect">
            <a:avLst/>
          </a:prstGeom>
          <a:solidFill>
            <a:srgbClr val="E8F4FC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263347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• Alejar el cableado de fuentes de interferencia EMI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0" y="3136392"/>
            <a:ext cx="4297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313639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• Máx. 13 mm de cable expuesto al conectar al patch panel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0" y="3639312"/>
            <a:ext cx="4297680" cy="457200"/>
          </a:xfrm>
          <a:prstGeom prst="rect">
            <a:avLst/>
          </a:prstGeom>
          <a:solidFill>
            <a:srgbClr val="E8F4FC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363931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• No destrenzar los pares más de lo necesario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4320" y="4206240"/>
            <a:ext cx="8595360" cy="658368"/>
          </a:xfrm>
          <a:prstGeom prst="rect">
            <a:avLst/>
          </a:prstGeom>
          <a:solidFill>
            <a:srgbClr val="E8F4FC"/>
          </a:solidFill>
          <a:ln w="25400">
            <a:solidFill>
              <a:srgbClr val="5AA8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" y="4206240"/>
            <a:ext cx="84673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En instalaciones actuales se usa CAT 6 (Gigabit Ethernet) o CAT 6A (10 Gigabit Ethernet).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Los empalmes están PROHIBIDOS en cobre: si no alcanza, se reemplaza todo el cable. En fibra sí se permiten empalmes por fusión.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128016"/>
            <a:ext cx="822960" cy="548640"/>
          </a:xfrm>
          <a:prstGeom prst="roundRect">
            <a:avLst>
              <a:gd name="adj" fmla="val 8333"/>
            </a:avLst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128016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SP5 / H5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8992" y="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Enlace (Link) y Canal (Channel) — Las Distancias Clave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37760"/>
            <a:ext cx="3200400" cy="20574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91440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08080"/>
                </a:solidFill>
              </a:rPr>
              <a:t>La diferencia entre Link y Channel es una de las preguntas más frecuentes de examen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261872"/>
            <a:ext cx="402336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B9DE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261872"/>
            <a:ext cx="4023360" cy="475488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261872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ENLACE (Basic Link)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" y="1874520"/>
            <a:ext cx="2926080" cy="566928"/>
          </a:xfrm>
          <a:prstGeom prst="rect">
            <a:avLst/>
          </a:prstGeom>
          <a:solidFill>
            <a:srgbClr val="FFF3CD"/>
          </a:solidFill>
          <a:ln w="25400">
            <a:solidFill>
              <a:srgbClr val="E6C2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187452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3030"/>
                </a:solidFill>
              </a:rPr>
              <a:t>90 metros  (294 pies)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84048" y="2487168"/>
            <a:ext cx="3794760" cy="2029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3A7BAA"/>
                </a:solidFill>
              </a:rPr>
              <a:t>Desde: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04040"/>
                </a:solidFill>
              </a:rPr>
              <a:t>Outlet (toma en la pared)
</a:t>
            </a:r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3A7BAA"/>
                </a:solidFill>
              </a:rPr>
              <a:t>Hasta: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04040"/>
                </a:solidFill>
              </a:rPr>
              <a:t>Patch Panel o Cross-Connect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→ Solo el cableado fijo (sin patch cords)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→ Es la parte 'dentro de la pared'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→ Norma: TIA/EIA-569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846320" y="1261872"/>
            <a:ext cx="402336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B9DE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1261872"/>
            <a:ext cx="4023360" cy="475488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261872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CANAL (Channel)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394960" y="1874520"/>
            <a:ext cx="2926080" cy="566928"/>
          </a:xfrm>
          <a:prstGeom prst="rect">
            <a:avLst/>
          </a:prstGeom>
          <a:solidFill>
            <a:srgbClr val="D4EDDA"/>
          </a:solidFill>
          <a:ln w="25400">
            <a:solidFill>
              <a:srgbClr val="28A7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94960" y="187452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3030"/>
                </a:solidFill>
              </a:rPr>
              <a:t>100 metros  (328 pies)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956048" y="2487168"/>
            <a:ext cx="3794760" cy="2029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3A7BAA"/>
                </a:solidFill>
              </a:rPr>
              <a:t>Desde: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04040"/>
                </a:solidFill>
              </a:rPr>
              <a:t>NIC del host (PC)
</a:t>
            </a:r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3A7BAA"/>
                </a:solidFill>
              </a:rPr>
              <a:t>Hasta: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04040"/>
                </a:solidFill>
              </a:rPr>
              <a:t>Switch / Hub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→ Incluye patch cords en ambos extremos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→ Link (90m) + patch cords (hasta 10m)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→ Norma: TIA/EIA-569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128016"/>
            <a:ext cx="822960" cy="548640"/>
          </a:xfrm>
          <a:prstGeom prst="roundRect">
            <a:avLst>
              <a:gd name="adj" fmla="val 8333"/>
            </a:avLst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128016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SP5 / H5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8992" y="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Distancias Máximas de Tendido — Tabla de Referencia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37760"/>
            <a:ext cx="3200400" cy="20574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91440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08080"/>
                </a:solidFill>
              </a:rPr>
              <a:t>Estándar TIA/EIA-568-A — según tipo de medio y conexión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61872"/>
          <a:ext cx="8595360" cy="2514600"/>
        </p:xfrm>
        <a:graphic>
          <a:graphicData uri="http://schemas.openxmlformats.org/drawingml/2006/table">
            <a:tbl>
              <a:tblPr/>
              <a:tblGrid>
                <a:gridCol w="2743200"/>
                <a:gridCol w="2011680"/>
                <a:gridCol w="1828800"/>
                <a:gridCol w="20116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Tipo de Medio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7BA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HCC → MCC (total)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7BA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HCC → ICC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7BA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ICC → MCC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7BA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Fibra óptica multimodo 62.5/125 µm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2000 m (6560 pies)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500 m (1640 pies)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1500 m (4820 pies)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Fibra óptica monomodo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3000 m (9840 pies)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500 m (1640 pies)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2500 m (8200 pies)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UTP — Voz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800 m (2624 pies)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500 m (1640 pies)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300 m (984 pies)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A7BAA"/>
                          </a:solidFill>
                        </a:rPr>
                        <a:t>UTP — Datos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A7BAA"/>
                          </a:solidFill>
                        </a:rPr>
                        <a:t>90 m (295 pies) — limitado al enlace horizontal (datos)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274320" y="3858768"/>
            <a:ext cx="8595360" cy="1005840"/>
          </a:xfrm>
          <a:prstGeom prst="rect">
            <a:avLst/>
          </a:prstGeom>
          <a:solidFill>
            <a:srgbClr val="E8F4FC"/>
          </a:solidFill>
          <a:ln w="25400">
            <a:solidFill>
              <a:srgbClr val="5AA8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84048" y="3858768"/>
            <a:ext cx="84673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Regla de oro para datos en UTP: 90 m (enlace/link) y 100 m (canal/channel). Siempre.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Para fibra las distancias son enormes: hasta 2 km multimodo o 3 km monomodo para backbone.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La topología del backbone es siempre EN ESTRELLA. Anillos y buses se derivan de ella.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128016"/>
            <a:ext cx="822960" cy="548640"/>
          </a:xfrm>
          <a:prstGeom prst="roundRect">
            <a:avLst>
              <a:gd name="adj" fmla="val 8333"/>
            </a:avLst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128016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SP5 / H5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8992" y="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Panel de Conexión (Patch Panel) — HCC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37760"/>
            <a:ext cx="3200400" cy="20574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9144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7BAA"/>
                </a:solidFill>
              </a:rPr>
              <a:t>¿Qué es un Patch Panel?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1261872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</a:rPr>
              <a:t>Punto de terminación del cableado horizontal. Actúa como conmutador pasivo conectando los cables del piso con switches/hubs mediante patch cords. Los conectores son el eslabón más débil de la cadena.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810512"/>
            <a:ext cx="8595360" cy="34747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81051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 Reglas críticas de instalación en el Patch Panel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2212848"/>
            <a:ext cx="530352" cy="53035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21284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41248" y="2212848"/>
            <a:ext cx="8028432" cy="530352"/>
          </a:xfrm>
          <a:prstGeom prst="rect">
            <a:avLst/>
          </a:prstGeom>
          <a:solidFill>
            <a:srgbClr val="E8F4FC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2212848"/>
            <a:ext cx="78455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</a:rPr>
              <a:t>Colocar cables en orden ascendente por número para facilitar diagnóstico futuro.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2807208"/>
            <a:ext cx="530352" cy="53035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80720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41248" y="2807208"/>
            <a:ext cx="8028432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2807208"/>
            <a:ext cx="78455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</a:rPr>
              <a:t>Mantener los extremos de los cables centrados sobre los pines. Cables torcidos = menor rendimiento.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401568"/>
            <a:ext cx="530352" cy="53035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40156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41248" y="3401568"/>
            <a:ext cx="8028432" cy="530352"/>
          </a:xfrm>
          <a:prstGeom prst="rect">
            <a:avLst/>
          </a:prstGeom>
          <a:solidFill>
            <a:srgbClr val="E8F4FC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2688" y="3401568"/>
            <a:ext cx="78455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</a:rPr>
              <a:t>Máximo 6.4 mm de revestimiento expuesto en la zona de pines. Retirar 38–50 mm de cubierta.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3995928"/>
            <a:ext cx="530352" cy="53035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99592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841248" y="3995928"/>
            <a:ext cx="8028432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2688" y="3995928"/>
            <a:ext cx="78455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</a:rPr>
              <a:t>No destrenzar los pares más de lo necesario: los pares no trenzados generan diafonía (crosstalk).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128016"/>
            <a:ext cx="822960" cy="548640"/>
          </a:xfrm>
          <a:prstGeom prst="roundRect">
            <a:avLst>
              <a:gd name="adj" fmla="val 8333"/>
            </a:avLst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128016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SP5 / H5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8992" y="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Canalizaciones — Cómo se Conduce el Cableado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37760"/>
            <a:ext cx="3200400" cy="20574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91440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08080"/>
                </a:solidFill>
              </a:rPr>
              <a:t>Tipos de canalizaciones para el cableado horizontal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261872"/>
            <a:ext cx="4251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261872"/>
            <a:ext cx="4251960" cy="41148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1261872"/>
            <a:ext cx="4105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🔵  Caños / Conduit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7472" y="1719072"/>
            <a:ext cx="41056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Empotrados en paredes y pisos. Protección máxima contra daño físico. Difíciles de modificar post-instalación. Obligatorios en edificios de alta seguridad.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1261872"/>
            <a:ext cx="4251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9160" y="1261872"/>
            <a:ext cx="4251960" cy="41148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2312" y="1261872"/>
            <a:ext cx="4105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🟦  Cable Canal Decorativo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82312" y="1719072"/>
            <a:ext cx="41056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Canaleta en pared con tapa removible. Acabado estético para oficinas con instalación visible. Fácil acceso para modificaciones futuras.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770632"/>
            <a:ext cx="4251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770632"/>
            <a:ext cx="4251960" cy="41148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2770632"/>
            <a:ext cx="4105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⬛  Bandeja Portacables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7472" y="3227832"/>
            <a:ext cx="41056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Para espacios técnicos: encima de techo falso, áticos. Gran capacidad para múltiples cables. Menos estética pero muy práctica.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2770632"/>
            <a:ext cx="4251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9160" y="2770632"/>
            <a:ext cx="4251960" cy="41148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82312" y="2770632"/>
            <a:ext cx="4105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🟫  Bajo Piso Técnico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82312" y="3227832"/>
            <a:ext cx="41056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Cajillas de suelo con tomas accesibles desde arriba. Ideal para data centers y oficinas abiertas con escritorios reubicables.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4315968"/>
            <a:ext cx="8595360" cy="548640"/>
          </a:xfrm>
          <a:prstGeom prst="rect">
            <a:avLst/>
          </a:prstGeom>
          <a:solidFill>
            <a:srgbClr val="E8F4FC"/>
          </a:solidFill>
          <a:ln w="25400">
            <a:solidFill>
              <a:srgbClr val="5AA8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4315968"/>
            <a:ext cx="84673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⚠  El cableado de datos NUNCA debe correr paralelo y pegado al cableado eléctrico de potencia.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Si no hay alternativa: usar cañería metálica para aislar electromagnéticamente (jaula de Faraday).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128016"/>
            <a:ext cx="822960" cy="548640"/>
          </a:xfrm>
          <a:prstGeom prst="roundRect">
            <a:avLst>
              <a:gd name="adj" fmla="val 8333"/>
            </a:avLst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128016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SP5 / H5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8992" y="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Rotulado de Cables — Estándar TIA/EIA-606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37760"/>
            <a:ext cx="3200400" cy="20574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91440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08080"/>
                </a:solidFill>
              </a:rPr>
              <a:t>"Una red sin rotulado es una red intratable" — regla de oro en infraestructura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126187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7BAA"/>
                </a:solidFill>
              </a:rPr>
              <a:t>¿Qué exige TIA/EIA-606?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1627632"/>
            <a:ext cx="8595360" cy="384048"/>
          </a:xfrm>
          <a:prstGeom prst="rect">
            <a:avLst/>
          </a:prstGeom>
          <a:solidFill>
            <a:srgbClr val="E8F4FC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162763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04040"/>
                </a:solidFill>
              </a:rPr>
              <a:t>1.  Cada terminación de hardware debe tener un identificador exclusivo marcado o rotulado.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2057400"/>
            <a:ext cx="8595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05740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04040"/>
                </a:solidFill>
              </a:rPr>
              <a:t>2.  Los rótulos deben cumplir UL969: legibilidad, protección contra deterioro y adhesión.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74320" y="2487168"/>
            <a:ext cx="8595360" cy="384048"/>
          </a:xfrm>
          <a:prstGeom prst="rect">
            <a:avLst/>
          </a:prstGeom>
          <a:solidFill>
            <a:srgbClr val="E8F4FC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48716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04040"/>
                </a:solidFill>
              </a:rPr>
              <a:t>3.  Rotular en AMBOS extremos del cable (no solo en uno).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4320" y="2916936"/>
            <a:ext cx="8595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916936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04040"/>
                </a:solidFill>
              </a:rPr>
              <a:t>4.  Usar numeración ascendente (1, 2, 3...) para facilitar diagnóstico.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74320" y="3346704"/>
            <a:ext cx="8595360" cy="384048"/>
          </a:xfrm>
          <a:prstGeom prst="rect">
            <a:avLst/>
          </a:prstGeom>
          <a:solidFill>
            <a:srgbClr val="E8F4FC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3346704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04040"/>
                </a:solidFill>
              </a:rPr>
              <a:t>5.  Se puede incorporar código de colores: ej. azul = centro de cableado, verde = área de trabajo.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74320" y="3776472"/>
            <a:ext cx="8595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377647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04040"/>
                </a:solidFill>
              </a:rPr>
              <a:t>6.  Los rótulos deben ser comprensibles para alguien que trabaje en el sistema años después.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74320" y="4251960"/>
            <a:ext cx="8595360" cy="621792"/>
          </a:xfrm>
          <a:prstGeom prst="rect">
            <a:avLst/>
          </a:prstGeom>
          <a:solidFill>
            <a:srgbClr val="E8F4FC"/>
          </a:solidFill>
          <a:ln w="25400">
            <a:solidFill>
              <a:srgbClr val="5AA8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4251960"/>
            <a:ext cx="84673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Actualización: DCIM (Data Center Infrastructure Management) gestiona el inventario de cables digitalmente.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TIA-606-B (2012) y TIA-606-C son las revisiones actuales. Los sistemas modernos usan etiquetas RFID.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128016"/>
            <a:ext cx="822960" cy="548640"/>
          </a:xfrm>
          <a:prstGeom prst="roundRect">
            <a:avLst>
              <a:gd name="adj" fmla="val 8333"/>
            </a:avLst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128016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SP5 / H5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8992" y="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Instalación del Conector RJ-45 — 11 Pasos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37760"/>
            <a:ext cx="3200400" cy="20574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91440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</a:rPr>
              <a:t>El conector RJ-45 (8P8C) es el estándar para terminación de cable UTP en redes Ethernet.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261872"/>
            <a:ext cx="457200" cy="48463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261872"/>
            <a:ext cx="4572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68096" y="1261872"/>
            <a:ext cx="3529584" cy="484632"/>
          </a:xfrm>
          <a:prstGeom prst="rect">
            <a:avLst/>
          </a:prstGeom>
          <a:solidFill>
            <a:srgbClr val="E8F4FC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1261872"/>
            <a:ext cx="3401568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</a:rPr>
              <a:t>Cortar el cable a la longitud necesaria.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1810512"/>
            <a:ext cx="457200" cy="48463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810512"/>
            <a:ext cx="4572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8096" y="1810512"/>
            <a:ext cx="3529584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1810512"/>
            <a:ext cx="3401568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</a:rPr>
              <a:t>Cortar el revestimiento exterior (~38-50 mm).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2359152"/>
            <a:ext cx="457200" cy="48463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359152"/>
            <a:ext cx="4572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68096" y="2359152"/>
            <a:ext cx="3529584" cy="484632"/>
          </a:xfrm>
          <a:prstGeom prst="rect">
            <a:avLst/>
          </a:prstGeom>
          <a:solidFill>
            <a:srgbClr val="E8F4FC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" y="2359152"/>
            <a:ext cx="3401568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</a:rPr>
              <a:t>Separar y destrenzar los pares de cables.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2907792"/>
            <a:ext cx="457200" cy="48463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2907792"/>
            <a:ext cx="4572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68096" y="2907792"/>
            <a:ext cx="3529584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" y="2907792"/>
            <a:ext cx="3401568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</a:rPr>
              <a:t>Organizar los hilos según TIA/EIA-568A o 568B.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74320" y="3456432"/>
            <a:ext cx="457200" cy="48463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456432"/>
            <a:ext cx="4572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68096" y="3456432"/>
            <a:ext cx="3529584" cy="484632"/>
          </a:xfrm>
          <a:prstGeom prst="rect">
            <a:avLst/>
          </a:prstGeom>
          <a:solidFill>
            <a:srgbClr val="E8F4FC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1248" y="3456432"/>
            <a:ext cx="3401568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</a:rPr>
              <a:t>Cortar los hilos a exactamente 13 mm (½") del revestimiento.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74320" y="4005072"/>
            <a:ext cx="457200" cy="48463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005072"/>
            <a:ext cx="4572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68096" y="4005072"/>
            <a:ext cx="3529584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1248" y="4005072"/>
            <a:ext cx="3401568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</a:rPr>
              <a:t>Insertar el cable en la ficha RJ-45.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663440" y="1261872"/>
            <a:ext cx="457200" cy="484632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1261872"/>
            <a:ext cx="4572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157216" y="1261872"/>
            <a:ext cx="3712464" cy="484632"/>
          </a:xfrm>
          <a:prstGeom prst="rect">
            <a:avLst/>
          </a:prstGeom>
          <a:solidFill>
            <a:srgbClr val="E8F4FC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30368" y="1261872"/>
            <a:ext cx="356616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</a:rPr>
              <a:t>Empujar los hilos hasta el tope en la ficha.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663440" y="1810512"/>
            <a:ext cx="457200" cy="484632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0" y="1810512"/>
            <a:ext cx="4572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8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157216" y="1810512"/>
            <a:ext cx="3712464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30368" y="1810512"/>
            <a:ext cx="356616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</a:rPr>
              <a:t>Inspeccionar el código de colores.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663440" y="2359152"/>
            <a:ext cx="457200" cy="484632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63440" y="2359152"/>
            <a:ext cx="4572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9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5157216" y="2359152"/>
            <a:ext cx="3712464" cy="484632"/>
          </a:xfrm>
          <a:prstGeom prst="rect">
            <a:avLst/>
          </a:prstGeom>
          <a:solidFill>
            <a:srgbClr val="E8F4FC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30368" y="2359152"/>
            <a:ext cx="356616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</a:rPr>
              <a:t>Crimpear con pinza de crimpear.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663440" y="2907792"/>
            <a:ext cx="457200" cy="484632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63440" y="2907792"/>
            <a:ext cx="4572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10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5157216" y="2907792"/>
            <a:ext cx="3712464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230368" y="2907792"/>
            <a:ext cx="356616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</a:rPr>
              <a:t>Inspeccionar ambos extremos visualmente.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663440" y="3456432"/>
            <a:ext cx="457200" cy="484632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63440" y="3456432"/>
            <a:ext cx="4572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11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5157216" y="3456432"/>
            <a:ext cx="3712464" cy="484632"/>
          </a:xfrm>
          <a:prstGeom prst="rect">
            <a:avLst/>
          </a:prstGeom>
          <a:solidFill>
            <a:srgbClr val="E8F4FC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230368" y="3456432"/>
            <a:ext cx="356616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</a:rPr>
              <a:t>Probar con analizador de cables (Tester LAN).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128016"/>
            <a:ext cx="822960" cy="548640"/>
          </a:xfrm>
          <a:prstGeom prst="roundRect">
            <a:avLst>
              <a:gd name="adj" fmla="val 8333"/>
            </a:avLst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128016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SP5 / H5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8992" y="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Códigos de Colores — TIA/EIA-568A vs 568B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37760"/>
            <a:ext cx="3200400" cy="20574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91440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08080"/>
                </a:solidFill>
              </a:rPr>
              <a:t>El orden de los pares define si el cable es DIRECTO o CRUZADO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261872"/>
            <a:ext cx="3931920" cy="36576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26187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TIA/EIA-568A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1645920"/>
            <a:ext cx="3931920" cy="320040"/>
          </a:xfrm>
          <a:prstGeom prst="rect">
            <a:avLst/>
          </a:prstGeom>
          <a:solidFill>
            <a:srgbClr val="D4EDDA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6459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030"/>
                </a:solidFill>
              </a:rPr>
              <a:t>Pin 1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261872" y="16459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030"/>
                </a:solidFill>
              </a:rPr>
              <a:t>Blanco-Verde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1984248"/>
            <a:ext cx="3931920" cy="320040"/>
          </a:xfrm>
          <a:prstGeom prst="rect">
            <a:avLst/>
          </a:prstGeom>
          <a:solidFill>
            <a:srgbClr val="90EE90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98424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030"/>
                </a:solidFill>
              </a:rPr>
              <a:t>Pin 2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261872" y="198424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030"/>
                </a:solidFill>
              </a:rPr>
              <a:t>Verde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2322576"/>
            <a:ext cx="3931920" cy="320040"/>
          </a:xfrm>
          <a:prstGeom prst="rect">
            <a:avLst/>
          </a:prstGeom>
          <a:solidFill>
            <a:srgbClr val="FFE8D0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32257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030"/>
                </a:solidFill>
              </a:rPr>
              <a:t>Pin 3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261872" y="2322576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030"/>
                </a:solidFill>
              </a:rPr>
              <a:t>Blanco-Naranja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2660904"/>
            <a:ext cx="3931920" cy="320040"/>
          </a:xfrm>
          <a:prstGeom prst="rect">
            <a:avLst/>
          </a:prstGeom>
          <a:solidFill>
            <a:srgbClr val="B9DEF8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660904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030"/>
                </a:solidFill>
              </a:rPr>
              <a:t>Pin 4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261872" y="2660904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030"/>
                </a:solidFill>
              </a:rPr>
              <a:t>Azul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2999232"/>
            <a:ext cx="3931920" cy="320040"/>
          </a:xfrm>
          <a:prstGeom prst="rect">
            <a:avLst/>
          </a:prstGeom>
          <a:solidFill>
            <a:srgbClr val="E0F2FF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299923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030"/>
                </a:solidFill>
              </a:rPr>
              <a:t>Pin 5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261872" y="299923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030"/>
                </a:solidFill>
              </a:rPr>
              <a:t>Blanco-Azul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74320" y="3337560"/>
            <a:ext cx="3931920" cy="320040"/>
          </a:xfrm>
          <a:prstGeom prst="rect">
            <a:avLst/>
          </a:prstGeom>
          <a:solidFill>
            <a:srgbClr val="FFB347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33375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030"/>
                </a:solidFill>
              </a:rPr>
              <a:t>Pin 6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261872" y="33375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030"/>
                </a:solidFill>
              </a:rPr>
              <a:t>Naranja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74320" y="3675888"/>
            <a:ext cx="3931920" cy="320040"/>
          </a:xfrm>
          <a:prstGeom prst="rect">
            <a:avLst/>
          </a:prstGeom>
          <a:solidFill>
            <a:srgbClr val="F5E6D3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367588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030"/>
                </a:solidFill>
              </a:rPr>
              <a:t>Pin 7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261872" y="367588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030"/>
                </a:solidFill>
              </a:rPr>
              <a:t>Blanco-Marrón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74320" y="4014216"/>
            <a:ext cx="3931920" cy="320040"/>
          </a:xfrm>
          <a:prstGeom prst="rect">
            <a:avLst/>
          </a:prstGeom>
          <a:solidFill>
            <a:srgbClr val="D4A980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401421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030"/>
                </a:solidFill>
              </a:rPr>
              <a:t>Pin 8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261872" y="4014216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030"/>
                </a:solidFill>
              </a:rPr>
              <a:t>Marrón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572000" y="1261872"/>
            <a:ext cx="4297680" cy="365760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0" y="126187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TIA/EIA-568B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4572000" y="1645920"/>
            <a:ext cx="4297680" cy="320040"/>
          </a:xfrm>
          <a:prstGeom prst="rect">
            <a:avLst/>
          </a:prstGeom>
          <a:solidFill>
            <a:srgbClr val="FFE8D0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17720" y="16459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030"/>
                </a:solidFill>
              </a:rPr>
              <a:t>Pin 1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559552" y="164592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030"/>
                </a:solidFill>
              </a:rPr>
              <a:t>Blanco-Naranja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572000" y="1984248"/>
            <a:ext cx="4297680" cy="320040"/>
          </a:xfrm>
          <a:prstGeom prst="rect">
            <a:avLst/>
          </a:prstGeom>
          <a:solidFill>
            <a:srgbClr val="FFB347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17720" y="198424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030"/>
                </a:solidFill>
              </a:rPr>
              <a:t>Pin 2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559552" y="1984248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030"/>
                </a:solidFill>
              </a:rPr>
              <a:t>Naranja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572000" y="2322576"/>
            <a:ext cx="4297680" cy="320040"/>
          </a:xfrm>
          <a:prstGeom prst="rect">
            <a:avLst/>
          </a:prstGeom>
          <a:solidFill>
            <a:srgbClr val="D4EDDA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17720" y="232257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030"/>
                </a:solidFill>
              </a:rPr>
              <a:t>Pin 3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559552" y="2322576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030"/>
                </a:solidFill>
              </a:rPr>
              <a:t>Blanco-Verde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572000" y="2660904"/>
            <a:ext cx="4297680" cy="320040"/>
          </a:xfrm>
          <a:prstGeom prst="rect">
            <a:avLst/>
          </a:prstGeom>
          <a:solidFill>
            <a:srgbClr val="B9DEF8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17720" y="2660904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030"/>
                </a:solidFill>
              </a:rPr>
              <a:t>Pin 4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5559552" y="2660904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030"/>
                </a:solidFill>
              </a:rPr>
              <a:t>Azul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572000" y="2999232"/>
            <a:ext cx="4297680" cy="320040"/>
          </a:xfrm>
          <a:prstGeom prst="rect">
            <a:avLst/>
          </a:prstGeom>
          <a:solidFill>
            <a:srgbClr val="E0F2FF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17720" y="299923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030"/>
                </a:solidFill>
              </a:rPr>
              <a:t>Pin 5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5559552" y="299923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030"/>
                </a:solidFill>
              </a:rPr>
              <a:t>Blanco-Azul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4572000" y="3337560"/>
            <a:ext cx="4297680" cy="320040"/>
          </a:xfrm>
          <a:prstGeom prst="rect">
            <a:avLst/>
          </a:prstGeom>
          <a:solidFill>
            <a:srgbClr val="90EE90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617720" y="33375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030"/>
                </a:solidFill>
              </a:rPr>
              <a:t>Pin 6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5559552" y="333756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030"/>
                </a:solidFill>
              </a:rPr>
              <a:t>Verde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572000" y="3675888"/>
            <a:ext cx="4297680" cy="320040"/>
          </a:xfrm>
          <a:prstGeom prst="rect">
            <a:avLst/>
          </a:prstGeom>
          <a:solidFill>
            <a:srgbClr val="F5E6D3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617720" y="367588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030"/>
                </a:solidFill>
              </a:rPr>
              <a:t>Pin 7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5559552" y="3675888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030"/>
                </a:solidFill>
              </a:rPr>
              <a:t>Blanco-Marrón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4572000" y="4014216"/>
            <a:ext cx="4297680" cy="320040"/>
          </a:xfrm>
          <a:prstGeom prst="rect">
            <a:avLst/>
          </a:prstGeom>
          <a:solidFill>
            <a:srgbClr val="D4A980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617720" y="401421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030"/>
                </a:solidFill>
              </a:rPr>
              <a:t>Pin 8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5559552" y="4014216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030"/>
                </a:solidFill>
              </a:rPr>
              <a:t>Marrón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274320" y="4434840"/>
            <a:ext cx="8595360" cy="438912"/>
          </a:xfrm>
          <a:prstGeom prst="rect">
            <a:avLst/>
          </a:prstGeom>
          <a:solidFill>
            <a:srgbClr val="E8F4FC"/>
          </a:solidFill>
          <a:ln w="25400">
            <a:solidFill>
              <a:srgbClr val="5AA8D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84048" y="4434840"/>
            <a:ext cx="84673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</a:rPr>
              <a:t>Cable DIRECTO: mismo estándar en ambos extremos (568A–568A o 568B–568B) → PC↔Switch.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</a:rPr>
              <a:t>Cable CRUZADO: extremos distintos (568A–568B) → PC↔PC. Hoy casi obsoleto por Auto-MDI/MDIX en switches.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D3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08080"/>
                </a:solidFill>
              </a:rPr>
              <a:t>Pregunta 1 de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AA8D8"/>
                </a:solidFill>
              </a:rPr>
              <a:t>¿Verdadero o Falso?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412480" cy="2670048"/>
          </a:xfrm>
          <a:prstGeom prst="rect">
            <a:avLst/>
          </a:prstGeom>
          <a:solidFill>
            <a:srgbClr val="1A1F1F"/>
          </a:solidFill>
          <a:ln w="25400">
            <a:solidFill>
              <a:srgbClr val="5AA8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34440"/>
            <a:ext cx="8138160" cy="2487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Según las reglas de diseño del estándar TIA/EIA-569-A, la distancia máxima para el Enlace Básico (Basic Link) es de 90 metros y para el Canal (Channel) es de 100 metros.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71600" y="3931920"/>
            <a:ext cx="2560320" cy="731520"/>
          </a:xfrm>
          <a:prstGeom prst="roundRect">
            <a:avLst>
              <a:gd name="adj" fmla="val 12500"/>
            </a:avLst>
          </a:prstGeom>
          <a:solidFill>
            <a:srgbClr val="006622"/>
          </a:solidFill>
          <a:ln w="12700">
            <a:solidFill>
              <a:srgbClr val="0066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39319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  VERDADERO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212080" y="3931920"/>
            <a:ext cx="2560320" cy="731520"/>
          </a:xfrm>
          <a:prstGeom prst="roundRect">
            <a:avLst>
              <a:gd name="adj" fmla="val 12500"/>
            </a:avLst>
          </a:prstGeom>
          <a:solidFill>
            <a:srgbClr val="AA2200"/>
          </a:solidFill>
          <a:ln w="12700">
            <a:solidFill>
              <a:srgbClr val="AA22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0" y="39319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  FALSO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D3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06622"/>
          </a:solidFill>
          <a:ln w="12700">
            <a:solidFill>
              <a:srgbClr val="0066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08080"/>
                </a:solidFill>
              </a:rPr>
              <a:t>Respuesta 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828800" y="594360"/>
            <a:ext cx="5486400" cy="777240"/>
          </a:xfrm>
          <a:prstGeom prst="roundRect">
            <a:avLst>
              <a:gd name="adj" fmla="val 9412"/>
            </a:avLst>
          </a:prstGeom>
          <a:solidFill>
            <a:srgbClr val="006622"/>
          </a:solidFill>
          <a:ln w="12700">
            <a:solidFill>
              <a:srgbClr val="0066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0" y="59436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✓  VERDADERO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8412480" cy="3108960"/>
          </a:xfrm>
          <a:prstGeom prst="rect">
            <a:avLst/>
          </a:prstGeom>
          <a:solidFill>
            <a:srgbClr val="1A1F1F"/>
          </a:solidFill>
          <a:ln w="25400">
            <a:solidFill>
              <a:srgbClr val="0066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27632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4CC77"/>
                </a:solidFill>
              </a:rPr>
              <a:t>Justificación: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993392"/>
            <a:ext cx="81381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Correcto. El enlace básico (Basic Link) va desde el outlet hasta el patch panel: máximo 90 metros. El canal (Channel) va desde la NIC del host hasta el switch/hub, incluyendo patch cords: máximo 100 metros. Ambas distancias están definidas por TIA/EIA-569.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D3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08080"/>
                </a:solidFill>
              </a:rPr>
              <a:t>Pregunta 2 de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AA8D8"/>
                </a:solidFill>
              </a:rPr>
              <a:t>¿Verdadero o Falso?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412480" cy="2670048"/>
          </a:xfrm>
          <a:prstGeom prst="rect">
            <a:avLst/>
          </a:prstGeom>
          <a:solidFill>
            <a:srgbClr val="1A1F1F"/>
          </a:solidFill>
          <a:ln w="25400">
            <a:solidFill>
              <a:srgbClr val="5AA8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34440"/>
            <a:ext cx="8138160" cy="2487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El estándar TIA/EIA-606 especifica los tipos de medios (cables UTP, fibra óptica, coaxial) permitidos para el subsistema de cableado horizontal.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71600" y="3931920"/>
            <a:ext cx="2560320" cy="731520"/>
          </a:xfrm>
          <a:prstGeom prst="roundRect">
            <a:avLst>
              <a:gd name="adj" fmla="val 12500"/>
            </a:avLst>
          </a:prstGeom>
          <a:solidFill>
            <a:srgbClr val="006622"/>
          </a:solidFill>
          <a:ln w="12700">
            <a:solidFill>
              <a:srgbClr val="0066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39319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  VERDADERO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212080" y="3931920"/>
            <a:ext cx="2560320" cy="731520"/>
          </a:xfrm>
          <a:prstGeom prst="roundRect">
            <a:avLst>
              <a:gd name="adj" fmla="val 12500"/>
            </a:avLst>
          </a:prstGeom>
          <a:solidFill>
            <a:srgbClr val="AA2200"/>
          </a:solidFill>
          <a:ln w="12700">
            <a:solidFill>
              <a:srgbClr val="AA22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0" y="39319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  FALSO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D3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AA2200"/>
          </a:solidFill>
          <a:ln w="12700">
            <a:solidFill>
              <a:srgbClr val="AA22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08080"/>
                </a:solidFill>
              </a:rPr>
              <a:t>Respuesta 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828800" y="594360"/>
            <a:ext cx="5486400" cy="777240"/>
          </a:xfrm>
          <a:prstGeom prst="roundRect">
            <a:avLst>
              <a:gd name="adj" fmla="val 9412"/>
            </a:avLst>
          </a:prstGeom>
          <a:solidFill>
            <a:srgbClr val="AA2200"/>
          </a:solidFill>
          <a:ln w="12700">
            <a:solidFill>
              <a:srgbClr val="AA22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0" y="59436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✗  FALSO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8412480" cy="3108960"/>
          </a:xfrm>
          <a:prstGeom prst="rect">
            <a:avLst/>
          </a:prstGeom>
          <a:solidFill>
            <a:srgbClr val="1A1F1F"/>
          </a:solidFill>
          <a:ln w="25400">
            <a:solidFill>
              <a:srgbClr val="AA22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27632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644"/>
                </a:solidFill>
              </a:rPr>
              <a:t>Justificación: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993392"/>
            <a:ext cx="81381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Falso. TIA/EIA-606 regula exclusivamente el ROTULADO e identificación de cables, paneles y tomas. Los tipos de medios para cableado horizontal están definidos en TIA/EIA-568-A/B. Este es un error de examen frecuente: confundir qué regula cada estándar.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D3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08080"/>
                </a:solidFill>
              </a:rPr>
              <a:t>Pregunta 3 de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AA8D8"/>
                </a:solidFill>
              </a:rPr>
              <a:t>¿Verdadero o Falso?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412480" cy="2670048"/>
          </a:xfrm>
          <a:prstGeom prst="rect">
            <a:avLst/>
          </a:prstGeom>
          <a:solidFill>
            <a:srgbClr val="1A1F1F"/>
          </a:solidFill>
          <a:ln w="25400">
            <a:solidFill>
              <a:srgbClr val="5AA8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34440"/>
            <a:ext cx="8138160" cy="2487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En el subsistema de cableado horizontal, los empalmes y derivaciones están prohibidos en cables de cobre, pero se acepta el uso de empalmes en fibra óptica.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71600" y="3931920"/>
            <a:ext cx="2560320" cy="731520"/>
          </a:xfrm>
          <a:prstGeom prst="roundRect">
            <a:avLst>
              <a:gd name="adj" fmla="val 12500"/>
            </a:avLst>
          </a:prstGeom>
          <a:solidFill>
            <a:srgbClr val="006622"/>
          </a:solidFill>
          <a:ln w="12700">
            <a:solidFill>
              <a:srgbClr val="0066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39319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  VERDADERO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212080" y="3931920"/>
            <a:ext cx="2560320" cy="731520"/>
          </a:xfrm>
          <a:prstGeom prst="roundRect">
            <a:avLst>
              <a:gd name="adj" fmla="val 12500"/>
            </a:avLst>
          </a:prstGeom>
          <a:solidFill>
            <a:srgbClr val="AA2200"/>
          </a:solidFill>
          <a:ln w="12700">
            <a:solidFill>
              <a:srgbClr val="AA22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0" y="39319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  FALSO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D3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06622"/>
          </a:solidFill>
          <a:ln w="12700">
            <a:solidFill>
              <a:srgbClr val="0066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08080"/>
                </a:solidFill>
              </a:rPr>
              <a:t>Respuesta 3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828800" y="594360"/>
            <a:ext cx="5486400" cy="777240"/>
          </a:xfrm>
          <a:prstGeom prst="roundRect">
            <a:avLst>
              <a:gd name="adj" fmla="val 9412"/>
            </a:avLst>
          </a:prstGeom>
          <a:solidFill>
            <a:srgbClr val="006622"/>
          </a:solidFill>
          <a:ln w="12700">
            <a:solidFill>
              <a:srgbClr val="0066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0" y="59436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✓  VERDADERO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8412480" cy="3108960"/>
          </a:xfrm>
          <a:prstGeom prst="rect">
            <a:avLst/>
          </a:prstGeom>
          <a:solidFill>
            <a:srgbClr val="1A1F1F"/>
          </a:solidFill>
          <a:ln w="25400">
            <a:solidFill>
              <a:srgbClr val="0066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27632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4CC77"/>
                </a:solidFill>
              </a:rPr>
              <a:t>Justificación: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993392"/>
            <a:ext cx="81381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Verdadero. El estándar prohíbe explícitamente empalmes y derivaciones en cobre: si el cable no alcanza, debe reemplazarse completo. En fibra óptica sí se admiten empalmes (por fusión o mecánicos), dado que trabajar con tramos largos de fibra exige esta posibilidad.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D3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874520"/>
            <a:ext cx="8823960" cy="7315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A8D8"/>
                </a:solidFill>
              </a:rPr>
              <a:t>SP5 / H5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Sistema de Cableado Estructurado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35331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9DEF8"/>
                </a:solidFill>
              </a:rPr>
              <a:t>Estándares y Diseño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08080"/>
                </a:solidFill>
              </a:rPr>
              <a:t>Conceptos cubiertos: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39572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DEF8"/>
                </a:solidFill>
              </a:rPr>
              <a:t>• Estándares ANSI/TIA/EIA: 568, 569, TSB-67, 606 y sus roles específicos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743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DEF8"/>
                </a:solidFill>
              </a:rPr>
              <a:t>• Jerarquía del sistema: MCC → ICC → TC → WS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309067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DEF8"/>
                </a:solidFill>
              </a:rPr>
              <a:t>• Backbone vertical: 4 medios permitidos y tabla de distancias máximas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3438144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DEF8"/>
                </a:solidFill>
              </a:rPr>
              <a:t>• Cableado horizontal: reglas de instalación, Link (90 m) y Channel (100 m)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3785616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DEF8"/>
                </a:solidFill>
              </a:rPr>
              <a:t>• Patch panel, canalizaciones y rotulado TIA/EIA-606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413308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DEF8"/>
                </a:solidFill>
              </a:rPr>
              <a:t>• Instalación RJ-45 en 11 pasos y códigos de colores 568A / 568B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16052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A8D8"/>
                </a:solidFill>
              </a:rPr>
              <a:t>Prof: Ing. Antonio Víctor Pérez Españón</a:t>
            </a:r>
            <a:endParaRPr lang="en-US" sz="12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4434840"/>
            <a:ext cx="1188720" cy="5943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40080" y="45262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8080"/>
                </a:solidFill>
              </a:rPr>
              <a:t>Colegio Universitario IES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Cableado Estructurado</dc:title>
  <dc:subject>PptxGenJS Presentation</dc:subject>
  <dc:creator>PptxGenJS</dc:creator>
  <cp:lastModifiedBy>PptxGenJS</cp:lastModifiedBy>
  <cp:revision>1</cp:revision>
  <dcterms:created xsi:type="dcterms:W3CDTF">2026-04-28T13:04:50Z</dcterms:created>
  <dcterms:modified xsi:type="dcterms:W3CDTF">2026-04-28T13:04:50Z</dcterms:modified>
</cp:coreProperties>
</file>