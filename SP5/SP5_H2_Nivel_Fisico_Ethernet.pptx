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brevemente los temas que se van a ver en la clase. Preguntar a los alumnos qué tipos de cables conocen.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CSMA/CD requiere que la estación "escuche" su propia trama. Si el segmento es muy largo, la colisión no llega a tiempo. La Regla 5-4-3-2-1 es práctica, no absoluta. Preguntar: ¿qué pasa si hay más de 4 repetidores?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Thicknet fue el primer Ethernet del mundo. Los "taps vampiro" son una solución ingeniosa para no cortar el cable principal. Hoy es completamente obsoleto pero importante para entender la evolución de las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con 10Base5: mismo protocolo pero cable más delgado, más barato, más fácil de instalar. El conector BNC T permite conectar/desconectar nodos. Si se desconecta un conector T, toda la red cae. Eso es una limitación del bus lineal.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la diferencia entre la topología estrella (UTP) y bus (coaxial). Preguntar: si se rompe el hub, ¿qué pasa? Contrastar con: si se rompe un cable UTP, ¿qué pasa? Cat 6A es la recomendación mínima para instalaciones nuevas en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para los alumnos: Multimodo = autopista de varios carriles (rápida pero se congestiona a distancias largas). Monomodo = carril único de alta velocidad sin interferencias. Preguntar: ¿por qué el internet de larga distancia usa fibra monomodo?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notar la evolución: de 10 Mbps a 400 Gbps. Preguntar: ¿qué factores harían elegir 10GBaseSR vs 10GBaseLR? (distancia y tipo de fibra disponible). Mencionar que los data centers modernos ya trabajan con 400G.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muestra que los conceptos básicos del libro tienen aplicación directa en tecnología de hoy. Wi-Fi 7 exige infraestructura de 10 GbE. El SPE es un cable de 2 hilos que conecta sensores industriales. La fibra llegó a los hogares. Todo sigue siendo "nivel físico".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1: Dar tiempo a los alumnos para pensar (30-60 segundos). Luego avanzar al siguiente slide con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1: VERDADERO ✓
La regla establece exactamente eso. Es una guía práctica para Ethernet 10 Mbps: 5 segmentos máximos, 4 repetidores, 3 segmentos con hosts, 2 de enlace y 1 dominio de colisión. Si bien no es una ley universal, es la base del diseño de redes Ethernet clásicas.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2: Dar tiempo a los alumnos para pensar (30-60 segundos). Luego avanzar al siguiente slide con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2: FALSO ✗
El 10Base2 (Thinnet) tiene un segmento máximo de 185 metros, no 500. El nombre "2" es una aproximación en cientos de metros. El 10Base5 (Thicknet) es el que alcanza los 500 metros. Confundir estas distancias es un error muy común.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3: Dar tiempo a los alumnos para pensar (30-60 segundos). Luego avanzar al siguiente slide con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3: VERDADERO ✓
Correcto. Al reducir el núcleo a ~9 µm, solo puede propagarse un modo de luz, eliminando la dispersión modal. Esto permite distancias de decenas de kilómetros (hasta 80+ km sin amplificación). La multimodo, con núcleo de 50-62,5 µm, tiene mayor dispersión y se limita a ~2 km en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final: preguntar a distintos alumnos que expliquen con sus palabras la diferencia entre multimodo y monomodo, y entre 10Base2 y 10Base5. Reforzar que la topología estrella es el estándar desde los 90 hasta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457200" y="201168"/>
            <a:ext cx="1371600" cy="384048"/>
          </a:xfrm>
          <a:prstGeom prst="rect">
            <a:avLst/>
          </a:prstGeom>
          <a:solidFill>
            <a:srgbClr val="5AA8D8"/>
          </a:solidFill>
          <a:ln w="12700">
            <a:solidFill>
              <a:srgbClr val="5AA8D8"/>
            </a:solidFill>
            <a:prstDash val="solid"/>
          </a:ln>
        </p:spPr>
      </p:sp>
      <p:sp>
        <p:nvSpPr>
          <p:cNvPr id="4" name="Text 2"/>
          <p:cNvSpPr/>
          <p:nvPr/>
        </p:nvSpPr>
        <p:spPr>
          <a:xfrm>
            <a:off x="457200" y="201168"/>
            <a:ext cx="1371600" cy="384048"/>
          </a:xfrm>
          <a:prstGeom prst="rect">
            <a:avLst/>
          </a:prstGeom>
          <a:noFill/>
          <a:ln/>
        </p:spPr>
        <p:txBody>
          <a:bodyPr wrap="square" lIns="0" tIns="0" rIns="0" bIns="0" rtlCol="0" anchor="ctr"/>
          <a:lstStyle/>
          <a:p>
            <a:pPr algn="ctr" indent="0" marL="0">
              <a:buNone/>
            </a:pPr>
            <a:r>
              <a:rPr lang="en-US" sz="1300" b="1" dirty="0">
                <a:solidFill>
                  <a:srgbClr val="FFFFFF"/>
                </a:solidFill>
              </a:rPr>
              <a:t>SP5 / H2</a:t>
            </a:r>
            <a:endParaRPr lang="en-US" sz="1300" dirty="0"/>
          </a:p>
        </p:txBody>
      </p:sp>
      <p:sp>
        <p:nvSpPr>
          <p:cNvPr id="5" name="Text 3"/>
          <p:cNvSpPr/>
          <p:nvPr/>
        </p:nvSpPr>
        <p:spPr>
          <a:xfrm>
            <a:off x="457200" y="914400"/>
            <a:ext cx="8229600" cy="1737360"/>
          </a:xfrm>
          <a:prstGeom prst="rect">
            <a:avLst/>
          </a:prstGeom>
          <a:noFill/>
          <a:ln/>
        </p:spPr>
        <p:txBody>
          <a:bodyPr wrap="square"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Nivel Físico</a:t>
            </a:r>
            <a:endParaRPr lang="en-US" sz="4800" dirty="0"/>
          </a:p>
          <a:p>
            <a:pPr algn="l" indent="0" marL="0">
              <a:buNone/>
            </a:pPr>
            <a:r>
              <a:rPr lang="en-US" sz="4800" b="1" dirty="0">
                <a:solidFill>
                  <a:srgbClr val="FFFFFF"/>
                </a:solidFill>
                <a:latin typeface="Arial" pitchFamily="34" charset="0"/>
                <a:ea typeface="Arial" pitchFamily="34" charset="-122"/>
                <a:cs typeface="Arial" pitchFamily="34" charset="-120"/>
              </a:rPr>
              <a:t>Ethernet</a:t>
            </a:r>
            <a:endParaRPr lang="en-US" sz="4800" dirty="0"/>
          </a:p>
        </p:txBody>
      </p:sp>
      <p:sp>
        <p:nvSpPr>
          <p:cNvPr id="6" name="Text 4"/>
          <p:cNvSpPr/>
          <p:nvPr/>
        </p:nvSpPr>
        <p:spPr>
          <a:xfrm>
            <a:off x="457200" y="2743200"/>
            <a:ext cx="7315200" cy="548640"/>
          </a:xfrm>
          <a:prstGeom prst="rect">
            <a:avLst/>
          </a:prstGeom>
          <a:noFill/>
          <a:ln/>
        </p:spPr>
        <p:txBody>
          <a:bodyPr wrap="square" rtlCol="0" anchor="ctr"/>
          <a:lstStyle/>
          <a:p>
            <a:pPr algn="l" indent="0" marL="0">
              <a:buNone/>
            </a:pPr>
            <a:r>
              <a:rPr lang="en-US" sz="1800" dirty="0">
                <a:solidFill>
                  <a:srgbClr val="5AA8D8"/>
                </a:solidFill>
                <a:latin typeface="Arial" pitchFamily="34" charset="0"/>
                <a:ea typeface="Arial" pitchFamily="34" charset="-122"/>
                <a:cs typeface="Arial" pitchFamily="34" charset="-120"/>
              </a:rPr>
              <a:t>Medios de transmisión, categorías de cable y estándares IEEE 802.3</a:t>
            </a:r>
            <a:endParaRPr lang="en-US" sz="1800" dirty="0"/>
          </a:p>
        </p:txBody>
      </p:sp>
      <p:sp>
        <p:nvSpPr>
          <p:cNvPr id="7" name="Text 5"/>
          <p:cNvSpPr/>
          <p:nvPr/>
        </p:nvSpPr>
        <p:spPr>
          <a:xfrm>
            <a:off x="457200" y="3429000"/>
            <a:ext cx="3657600" cy="320040"/>
          </a:xfrm>
          <a:prstGeom prst="rect">
            <a:avLst/>
          </a:prstGeom>
          <a:noFill/>
          <a:ln/>
        </p:spPr>
        <p:txBody>
          <a:bodyPr wrap="square" rtlCol="0" anchor="ctr"/>
          <a:lstStyle/>
          <a:p>
            <a:pPr algn="l" indent="0" marL="0">
              <a:buNone/>
            </a:pPr>
            <a:r>
              <a:rPr lang="en-US" sz="1400" dirty="0">
                <a:solidFill>
                  <a:srgbClr val="808080"/>
                </a:solidFill>
                <a:latin typeface="Arial" pitchFamily="34" charset="0"/>
                <a:ea typeface="Arial" pitchFamily="34" charset="-122"/>
                <a:cs typeface="Arial" pitchFamily="34" charset="-120"/>
              </a:rPr>
              <a:t>Prof. Víctor</a:t>
            </a:r>
            <a:endParaRPr lang="en-US" sz="1400" dirty="0"/>
          </a:p>
        </p:txBody>
      </p:sp>
      <p:sp>
        <p:nvSpPr>
          <p:cNvPr id="8" name="Shape 6"/>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2800" b="1" dirty="0">
                <a:solidFill>
                  <a:srgbClr val="2D3030"/>
                </a:solidFill>
                <a:latin typeface="Arial" pitchFamily="34" charset="0"/>
                <a:ea typeface="Arial" pitchFamily="34" charset="-122"/>
                <a:cs typeface="Arial" pitchFamily="34" charset="-120"/>
              </a:rPr>
              <a:t>Contenidos de esta clase</a:t>
            </a:r>
            <a:endParaRPr lang="en-US" sz="2800" dirty="0"/>
          </a:p>
        </p:txBody>
      </p:sp>
      <p:sp>
        <p:nvSpPr>
          <p:cNvPr id="4" name="Shape 2"/>
          <p:cNvSpPr/>
          <p:nvPr/>
        </p:nvSpPr>
        <p:spPr>
          <a:xfrm>
            <a:off x="457200" y="804672"/>
            <a:ext cx="8229600" cy="36576"/>
          </a:xfrm>
          <a:prstGeom prst="rect">
            <a:avLst/>
          </a:prstGeom>
          <a:solidFill>
            <a:srgbClr val="5AA8D8"/>
          </a:solidFill>
          <a:ln w="12700">
            <a:solidFill>
              <a:srgbClr val="5AA8D8"/>
            </a:solidFill>
            <a:prstDash val="solid"/>
          </a:ln>
        </p:spPr>
      </p:sp>
      <p:sp>
        <p:nvSpPr>
          <p:cNvPr id="5" name="Shape 3"/>
          <p:cNvSpPr/>
          <p:nvPr/>
        </p:nvSpPr>
        <p:spPr>
          <a:xfrm>
            <a:off x="457200" y="960120"/>
            <a:ext cx="457200" cy="365760"/>
          </a:xfrm>
          <a:prstGeom prst="rect">
            <a:avLst/>
          </a:prstGeom>
          <a:solidFill>
            <a:srgbClr val="5AA8D8"/>
          </a:solidFill>
          <a:ln w="12700">
            <a:solidFill>
              <a:srgbClr val="5AA8D8"/>
            </a:solidFill>
            <a:prstDash val="solid"/>
          </a:ln>
        </p:spPr>
      </p:sp>
      <p:sp>
        <p:nvSpPr>
          <p:cNvPr id="6" name="Text 4"/>
          <p:cNvSpPr/>
          <p:nvPr/>
        </p:nvSpPr>
        <p:spPr>
          <a:xfrm>
            <a:off x="457200" y="9601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7" name="Text 5"/>
          <p:cNvSpPr/>
          <p:nvPr/>
        </p:nvSpPr>
        <p:spPr>
          <a:xfrm>
            <a:off x="1051560" y="99669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Subniveles del nivel físico y la Regla 5-4-3-2-1</a:t>
            </a:r>
            <a:endParaRPr lang="en-US" sz="1400" dirty="0"/>
          </a:p>
        </p:txBody>
      </p:sp>
      <p:sp>
        <p:nvSpPr>
          <p:cNvPr id="8" name="Shape 6"/>
          <p:cNvSpPr/>
          <p:nvPr/>
        </p:nvSpPr>
        <p:spPr>
          <a:xfrm>
            <a:off x="457200" y="1463040"/>
            <a:ext cx="457200" cy="365760"/>
          </a:xfrm>
          <a:prstGeom prst="rect">
            <a:avLst/>
          </a:prstGeom>
          <a:solidFill>
            <a:srgbClr val="5AA8D8"/>
          </a:solidFill>
          <a:ln w="12700">
            <a:solidFill>
              <a:srgbClr val="5AA8D8"/>
            </a:solidFill>
            <a:prstDash val="solid"/>
          </a:ln>
        </p:spPr>
      </p:sp>
      <p:sp>
        <p:nvSpPr>
          <p:cNvPr id="9" name="Text 7"/>
          <p:cNvSpPr/>
          <p:nvPr/>
        </p:nvSpPr>
        <p:spPr>
          <a:xfrm>
            <a:off x="457200" y="146304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0" name="Text 8"/>
          <p:cNvSpPr/>
          <p:nvPr/>
        </p:nvSpPr>
        <p:spPr>
          <a:xfrm>
            <a:off x="1051560" y="149961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Coaxial Grueso — 10Base5 (Thicknet)</a:t>
            </a:r>
            <a:endParaRPr lang="en-US" sz="1400" dirty="0"/>
          </a:p>
        </p:txBody>
      </p:sp>
      <p:sp>
        <p:nvSpPr>
          <p:cNvPr id="11" name="Shape 9"/>
          <p:cNvSpPr/>
          <p:nvPr/>
        </p:nvSpPr>
        <p:spPr>
          <a:xfrm>
            <a:off x="457200" y="1965960"/>
            <a:ext cx="457200" cy="365760"/>
          </a:xfrm>
          <a:prstGeom prst="rect">
            <a:avLst/>
          </a:prstGeom>
          <a:solidFill>
            <a:srgbClr val="5AA8D8"/>
          </a:solidFill>
          <a:ln w="12700">
            <a:solidFill>
              <a:srgbClr val="5AA8D8"/>
            </a:solidFill>
            <a:prstDash val="solid"/>
          </a:ln>
        </p:spPr>
      </p:sp>
      <p:sp>
        <p:nvSpPr>
          <p:cNvPr id="12" name="Text 10"/>
          <p:cNvSpPr/>
          <p:nvPr/>
        </p:nvSpPr>
        <p:spPr>
          <a:xfrm>
            <a:off x="457200" y="196596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3" name="Text 11"/>
          <p:cNvSpPr/>
          <p:nvPr/>
        </p:nvSpPr>
        <p:spPr>
          <a:xfrm>
            <a:off x="1051560" y="200253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Coaxial Fino — 10Base2 (Thinnet)</a:t>
            </a:r>
            <a:endParaRPr lang="en-US" sz="1400" dirty="0"/>
          </a:p>
        </p:txBody>
      </p:sp>
      <p:sp>
        <p:nvSpPr>
          <p:cNvPr id="14" name="Shape 12"/>
          <p:cNvSpPr/>
          <p:nvPr/>
        </p:nvSpPr>
        <p:spPr>
          <a:xfrm>
            <a:off x="457200" y="2468880"/>
            <a:ext cx="457200" cy="365760"/>
          </a:xfrm>
          <a:prstGeom prst="rect">
            <a:avLst/>
          </a:prstGeom>
          <a:solidFill>
            <a:srgbClr val="5AA8D8"/>
          </a:solidFill>
          <a:ln w="12700">
            <a:solidFill>
              <a:srgbClr val="5AA8D8"/>
            </a:solidFill>
            <a:prstDash val="solid"/>
          </a:ln>
        </p:spPr>
      </p:sp>
      <p:sp>
        <p:nvSpPr>
          <p:cNvPr id="15" name="Text 13"/>
          <p:cNvSpPr/>
          <p:nvPr/>
        </p:nvSpPr>
        <p:spPr>
          <a:xfrm>
            <a:off x="457200" y="246888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16" name="Text 14"/>
          <p:cNvSpPr/>
          <p:nvPr/>
        </p:nvSpPr>
        <p:spPr>
          <a:xfrm>
            <a:off x="1051560" y="250545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Par Trenzado UTP y Categorías — 10BaseT</a:t>
            </a:r>
            <a:endParaRPr lang="en-US" sz="1400" dirty="0"/>
          </a:p>
        </p:txBody>
      </p:sp>
      <p:sp>
        <p:nvSpPr>
          <p:cNvPr id="17" name="Shape 15"/>
          <p:cNvSpPr/>
          <p:nvPr/>
        </p:nvSpPr>
        <p:spPr>
          <a:xfrm>
            <a:off x="457200" y="2971800"/>
            <a:ext cx="457200" cy="365760"/>
          </a:xfrm>
          <a:prstGeom prst="rect">
            <a:avLst/>
          </a:prstGeom>
          <a:solidFill>
            <a:srgbClr val="5AA8D8"/>
          </a:solidFill>
          <a:ln w="12700">
            <a:solidFill>
              <a:srgbClr val="5AA8D8"/>
            </a:solidFill>
            <a:prstDash val="solid"/>
          </a:ln>
        </p:spPr>
      </p:sp>
      <p:sp>
        <p:nvSpPr>
          <p:cNvPr id="18" name="Text 16"/>
          <p:cNvSpPr/>
          <p:nvPr/>
        </p:nvSpPr>
        <p:spPr>
          <a:xfrm>
            <a:off x="457200" y="297180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19" name="Text 17"/>
          <p:cNvSpPr/>
          <p:nvPr/>
        </p:nvSpPr>
        <p:spPr>
          <a:xfrm>
            <a:off x="1051560" y="300837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Fibra Óptica: Multimodo y Monomodo</a:t>
            </a:r>
            <a:endParaRPr lang="en-US" sz="1400" dirty="0"/>
          </a:p>
        </p:txBody>
      </p:sp>
      <p:sp>
        <p:nvSpPr>
          <p:cNvPr id="20" name="Shape 18"/>
          <p:cNvSpPr/>
          <p:nvPr/>
        </p:nvSpPr>
        <p:spPr>
          <a:xfrm>
            <a:off x="457200" y="3474720"/>
            <a:ext cx="457200" cy="365760"/>
          </a:xfrm>
          <a:prstGeom prst="rect">
            <a:avLst/>
          </a:prstGeom>
          <a:solidFill>
            <a:srgbClr val="5AA8D8"/>
          </a:solidFill>
          <a:ln w="12700">
            <a:solidFill>
              <a:srgbClr val="5AA8D8"/>
            </a:solidFill>
            <a:prstDash val="solid"/>
          </a:ln>
        </p:spPr>
      </p:sp>
      <p:sp>
        <p:nvSpPr>
          <p:cNvPr id="21" name="Text 19"/>
          <p:cNvSpPr/>
          <p:nvPr/>
        </p:nvSpPr>
        <p:spPr>
          <a:xfrm>
            <a:off x="457200" y="34747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22" name="Text 20"/>
          <p:cNvSpPr/>
          <p:nvPr/>
        </p:nvSpPr>
        <p:spPr>
          <a:xfrm>
            <a:off x="1051560" y="351129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Estándares IEEE sobre fibra óptica</a:t>
            </a:r>
            <a:endParaRPr lang="en-US" sz="1400" dirty="0"/>
          </a:p>
        </p:txBody>
      </p:sp>
      <p:sp>
        <p:nvSpPr>
          <p:cNvPr id="23" name="Shape 21"/>
          <p:cNvSpPr/>
          <p:nvPr/>
        </p:nvSpPr>
        <p:spPr>
          <a:xfrm>
            <a:off x="457200" y="3977640"/>
            <a:ext cx="457200" cy="365760"/>
          </a:xfrm>
          <a:prstGeom prst="rect">
            <a:avLst/>
          </a:prstGeom>
          <a:solidFill>
            <a:srgbClr val="5AA8D8"/>
          </a:solidFill>
          <a:ln w="12700">
            <a:solidFill>
              <a:srgbClr val="5AA8D8"/>
            </a:solidFill>
            <a:prstDash val="solid"/>
          </a:ln>
        </p:spPr>
      </p:sp>
      <p:sp>
        <p:nvSpPr>
          <p:cNvPr id="24" name="Text 22"/>
          <p:cNvSpPr/>
          <p:nvPr/>
        </p:nvSpPr>
        <p:spPr>
          <a:xfrm>
            <a:off x="457200" y="397764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25" name="Text 23"/>
          <p:cNvSpPr/>
          <p:nvPr/>
        </p:nvSpPr>
        <p:spPr>
          <a:xfrm>
            <a:off x="1051560" y="401421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Actualización tecnológica 2024-2025</a:t>
            </a:r>
            <a:endParaRPr lang="en-US" sz="1400" dirty="0"/>
          </a:p>
        </p:txBody>
      </p:sp>
      <p:sp>
        <p:nvSpPr>
          <p:cNvPr id="26" name="Shape 24"/>
          <p:cNvSpPr/>
          <p:nvPr/>
        </p:nvSpPr>
        <p:spPr>
          <a:xfrm>
            <a:off x="457200" y="4480560"/>
            <a:ext cx="457200" cy="365760"/>
          </a:xfrm>
          <a:prstGeom prst="rect">
            <a:avLst/>
          </a:prstGeom>
          <a:solidFill>
            <a:srgbClr val="5AA8D8"/>
          </a:solidFill>
          <a:ln w="12700">
            <a:solidFill>
              <a:srgbClr val="5AA8D8"/>
            </a:solidFill>
            <a:prstDash val="solid"/>
          </a:ln>
        </p:spPr>
      </p:sp>
      <p:sp>
        <p:nvSpPr>
          <p:cNvPr id="27" name="Text 25"/>
          <p:cNvSpPr/>
          <p:nvPr/>
        </p:nvSpPr>
        <p:spPr>
          <a:xfrm>
            <a:off x="457200" y="448056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rPr>
              <a:t>08</a:t>
            </a:r>
            <a:endParaRPr lang="en-US" sz="1300" dirty="0"/>
          </a:p>
        </p:txBody>
      </p:sp>
      <p:sp>
        <p:nvSpPr>
          <p:cNvPr id="28" name="Text 26"/>
          <p:cNvSpPr/>
          <p:nvPr/>
        </p:nvSpPr>
        <p:spPr>
          <a:xfrm>
            <a:off x="1051560" y="4517136"/>
            <a:ext cx="7589520" cy="292608"/>
          </a:xfrm>
          <a:prstGeom prst="rect">
            <a:avLst/>
          </a:prstGeom>
          <a:noFill/>
          <a:ln/>
        </p:spPr>
        <p:txBody>
          <a:bodyPr wrap="square" rtlCol="0" anchor="ctr"/>
          <a:lstStyle/>
          <a:p>
            <a:pPr indent="0" marL="0">
              <a:buNone/>
            </a:pPr>
            <a:r>
              <a:rPr lang="en-US" sz="1400" dirty="0">
                <a:solidFill>
                  <a:srgbClr val="404040"/>
                </a:solidFill>
                <a:latin typeface="Arial" pitchFamily="34" charset="0"/>
                <a:ea typeface="Arial" pitchFamily="34" charset="-122"/>
                <a:cs typeface="Arial" pitchFamily="34" charset="-120"/>
              </a:rPr>
              <a:t>Verdadero o Falso — Evaluación</a:t>
            </a:r>
            <a:endParaRPr lang="en-US" sz="1400" dirty="0"/>
          </a:p>
        </p:txBody>
      </p:sp>
      <p:sp>
        <p:nvSpPr>
          <p:cNvPr id="29" name="Shape 27"/>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Subniveles del Nivel Físico</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El protocolo CSMA/CD y la Regla 5-4-3-2-1</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97280"/>
            <a:ext cx="3840480" cy="3383280"/>
          </a:xfrm>
          <a:prstGeom prst="rect">
            <a:avLst/>
          </a:prstGeom>
          <a:solidFill>
            <a:srgbClr val="F0F7FC"/>
          </a:solidFill>
          <a:ln w="12700">
            <a:solidFill>
              <a:srgbClr val="B9DEF8"/>
            </a:solidFill>
            <a:prstDash val="solid"/>
          </a:ln>
        </p:spPr>
      </p:sp>
      <p:sp>
        <p:nvSpPr>
          <p:cNvPr id="7" name="Text 5"/>
          <p:cNvSpPr/>
          <p:nvPr/>
        </p:nvSpPr>
        <p:spPr>
          <a:xfrm>
            <a:off x="365760" y="1097280"/>
            <a:ext cx="3840480" cy="384048"/>
          </a:xfrm>
          <a:prstGeom prst="rect">
            <a:avLst/>
          </a:prstGeom>
          <a:solidFill>
            <a:srgbClr val="5AA8D8"/>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Subniveles del Nivel Físico</a:t>
            </a:r>
            <a:endParaRPr lang="en-US" sz="1300" dirty="0"/>
          </a:p>
        </p:txBody>
      </p:sp>
      <p:sp>
        <p:nvSpPr>
          <p:cNvPr id="8" name="Text 6"/>
          <p:cNvSpPr/>
          <p:nvPr/>
        </p:nvSpPr>
        <p:spPr>
          <a:xfrm>
            <a:off x="502920" y="1600200"/>
            <a:ext cx="3566160" cy="256032"/>
          </a:xfrm>
          <a:prstGeom prst="rect">
            <a:avLst/>
          </a:prstGeom>
          <a:noFill/>
          <a:ln/>
        </p:spPr>
        <p:txBody>
          <a:bodyPr wrap="square" lIns="0" tIns="0" rIns="0" bIns="0" rtlCol="0" anchor="ctr"/>
          <a:lstStyle/>
          <a:p>
            <a:pPr indent="0" marL="0">
              <a:buNone/>
            </a:pPr>
            <a:r>
              <a:rPr lang="en-US" sz="1200" b="1" dirty="0">
                <a:solidFill>
                  <a:srgbClr val="2D3030"/>
                </a:solidFill>
                <a:latin typeface="Arial" pitchFamily="34" charset="0"/>
                <a:ea typeface="Arial" pitchFamily="34" charset="-122"/>
                <a:cs typeface="Arial" pitchFamily="34" charset="-120"/>
              </a:rPr>
              <a:t>Señalización física</a:t>
            </a:r>
            <a:endParaRPr lang="en-US" sz="1200" dirty="0"/>
          </a:p>
        </p:txBody>
      </p:sp>
      <p:sp>
        <p:nvSpPr>
          <p:cNvPr id="9" name="Text 7"/>
          <p:cNvSpPr/>
          <p:nvPr/>
        </p:nvSpPr>
        <p:spPr>
          <a:xfrm>
            <a:off x="502920" y="1828800"/>
            <a:ext cx="3566160" cy="256032"/>
          </a:xfrm>
          <a:prstGeom prst="rect">
            <a:avLst/>
          </a:prstGeom>
          <a:noFill/>
          <a:ln/>
        </p:spPr>
        <p:txBody>
          <a:bodyPr wrap="square" lIns="0" tIns="0" rIns="0" bIns="0" rtlCol="0" anchor="ctr"/>
          <a:lstStyle/>
          <a:p>
            <a:pPr indent="0" marL="0">
              <a:buNone/>
            </a:pPr>
            <a:r>
              <a:rPr lang="en-US" sz="1100" dirty="0">
                <a:solidFill>
                  <a:srgbClr val="404040"/>
                </a:solidFill>
                <a:latin typeface="Arial" pitchFamily="34" charset="0"/>
                <a:ea typeface="Arial" pitchFamily="34" charset="-122"/>
                <a:cs typeface="Arial" pitchFamily="34" charset="-120"/>
              </a:rPr>
              <a:t>Codifica y envía las señales eléctricas/ópticas</a:t>
            </a:r>
            <a:endParaRPr lang="en-US" sz="1100" dirty="0"/>
          </a:p>
        </p:txBody>
      </p:sp>
      <p:sp>
        <p:nvSpPr>
          <p:cNvPr id="10" name="Text 8"/>
          <p:cNvSpPr/>
          <p:nvPr/>
        </p:nvSpPr>
        <p:spPr>
          <a:xfrm>
            <a:off x="502920" y="2331720"/>
            <a:ext cx="3566160" cy="256032"/>
          </a:xfrm>
          <a:prstGeom prst="rect">
            <a:avLst/>
          </a:prstGeom>
          <a:noFill/>
          <a:ln/>
        </p:spPr>
        <p:txBody>
          <a:bodyPr wrap="square" lIns="0" tIns="0" rIns="0" bIns="0" rtlCol="0" anchor="ctr"/>
          <a:lstStyle/>
          <a:p>
            <a:pPr indent="0" marL="0">
              <a:buNone/>
            </a:pPr>
            <a:r>
              <a:rPr lang="en-US" sz="1200" b="1" dirty="0">
                <a:solidFill>
                  <a:srgbClr val="2D3030"/>
                </a:solidFill>
                <a:latin typeface="Arial" pitchFamily="34" charset="0"/>
                <a:ea typeface="Arial" pitchFamily="34" charset="-122"/>
                <a:cs typeface="Arial" pitchFamily="34" charset="-120"/>
              </a:rPr>
              <a:t>Acoplamiento al medio</a:t>
            </a:r>
            <a:endParaRPr lang="en-US" sz="1200" dirty="0"/>
          </a:p>
        </p:txBody>
      </p:sp>
      <p:sp>
        <p:nvSpPr>
          <p:cNvPr id="11" name="Text 9"/>
          <p:cNvSpPr/>
          <p:nvPr/>
        </p:nvSpPr>
        <p:spPr>
          <a:xfrm>
            <a:off x="502920" y="2560320"/>
            <a:ext cx="3566160" cy="256032"/>
          </a:xfrm>
          <a:prstGeom prst="rect">
            <a:avLst/>
          </a:prstGeom>
          <a:noFill/>
          <a:ln/>
        </p:spPr>
        <p:txBody>
          <a:bodyPr wrap="square" lIns="0" tIns="0" rIns="0" bIns="0" rtlCol="0" anchor="ctr"/>
          <a:lstStyle/>
          <a:p>
            <a:pPr indent="0" marL="0">
              <a:buNone/>
            </a:pPr>
            <a:r>
              <a:rPr lang="en-US" sz="1100" dirty="0">
                <a:solidFill>
                  <a:srgbClr val="404040"/>
                </a:solidFill>
                <a:latin typeface="Arial" pitchFamily="34" charset="0"/>
                <a:ea typeface="Arial" pitchFamily="34" charset="-122"/>
                <a:cs typeface="Arial" pitchFamily="34" charset="-120"/>
              </a:rPr>
              <a:t>Interfaz entre el transceiver y el cable</a:t>
            </a:r>
            <a:endParaRPr lang="en-US" sz="1100" dirty="0"/>
          </a:p>
        </p:txBody>
      </p:sp>
      <p:sp>
        <p:nvSpPr>
          <p:cNvPr id="12" name="Text 10"/>
          <p:cNvSpPr/>
          <p:nvPr/>
        </p:nvSpPr>
        <p:spPr>
          <a:xfrm>
            <a:off x="502920" y="3063240"/>
            <a:ext cx="3566160" cy="256032"/>
          </a:xfrm>
          <a:prstGeom prst="rect">
            <a:avLst/>
          </a:prstGeom>
          <a:noFill/>
          <a:ln/>
        </p:spPr>
        <p:txBody>
          <a:bodyPr wrap="square" lIns="0" tIns="0" rIns="0" bIns="0" rtlCol="0" anchor="ctr"/>
          <a:lstStyle/>
          <a:p>
            <a:pPr indent="0" marL="0">
              <a:buNone/>
            </a:pPr>
            <a:r>
              <a:rPr lang="en-US" sz="1200" b="1" dirty="0">
                <a:solidFill>
                  <a:srgbClr val="2D3030"/>
                </a:solidFill>
                <a:latin typeface="Arial" pitchFamily="34" charset="0"/>
                <a:ea typeface="Arial" pitchFamily="34" charset="-122"/>
                <a:cs typeface="Arial" pitchFamily="34" charset="-120"/>
              </a:rPr>
              <a:t>Medios soportados</a:t>
            </a:r>
            <a:endParaRPr lang="en-US" sz="1200" dirty="0"/>
          </a:p>
        </p:txBody>
      </p:sp>
      <p:sp>
        <p:nvSpPr>
          <p:cNvPr id="13" name="Text 11"/>
          <p:cNvSpPr/>
          <p:nvPr/>
        </p:nvSpPr>
        <p:spPr>
          <a:xfrm>
            <a:off x="502920" y="3291840"/>
            <a:ext cx="3566160" cy="256032"/>
          </a:xfrm>
          <a:prstGeom prst="rect">
            <a:avLst/>
          </a:prstGeom>
          <a:noFill/>
          <a:ln/>
        </p:spPr>
        <p:txBody>
          <a:bodyPr wrap="square" lIns="0" tIns="0" rIns="0" bIns="0" rtlCol="0" anchor="ctr"/>
          <a:lstStyle/>
          <a:p>
            <a:pPr indent="0" marL="0">
              <a:buNone/>
            </a:pPr>
            <a:r>
              <a:rPr lang="en-US" sz="1100" dirty="0">
                <a:solidFill>
                  <a:srgbClr val="404040"/>
                </a:solidFill>
                <a:latin typeface="Arial" pitchFamily="34" charset="0"/>
                <a:ea typeface="Arial" pitchFamily="34" charset="-122"/>
                <a:cs typeface="Arial" pitchFamily="34" charset="-120"/>
              </a:rPr>
              <a:t>Coaxial, Par Trenzado, Fibra Óptica, Microondas</a:t>
            </a:r>
            <a:endParaRPr lang="en-US" sz="1100" dirty="0"/>
          </a:p>
        </p:txBody>
      </p:sp>
      <p:sp>
        <p:nvSpPr>
          <p:cNvPr id="14" name="Text 12"/>
          <p:cNvSpPr/>
          <p:nvPr/>
        </p:nvSpPr>
        <p:spPr>
          <a:xfrm>
            <a:off x="502920" y="3794760"/>
            <a:ext cx="3566160" cy="256032"/>
          </a:xfrm>
          <a:prstGeom prst="rect">
            <a:avLst/>
          </a:prstGeom>
          <a:noFill/>
          <a:ln/>
        </p:spPr>
        <p:txBody>
          <a:bodyPr wrap="square" lIns="0" tIns="0" rIns="0" bIns="0" rtlCol="0" anchor="ctr"/>
          <a:lstStyle/>
          <a:p>
            <a:pPr indent="0" marL="0">
              <a:buNone/>
            </a:pPr>
            <a:r>
              <a:rPr lang="en-US" sz="1200" b="1" dirty="0">
                <a:solidFill>
                  <a:srgbClr val="2D3030"/>
                </a:solidFill>
                <a:latin typeface="Arial" pitchFamily="34" charset="0"/>
                <a:ea typeface="Arial" pitchFamily="34" charset="-122"/>
                <a:cs typeface="Arial" pitchFamily="34" charset="-120"/>
              </a:rPr>
              <a:t>Tipos de transmisión</a:t>
            </a:r>
            <a:endParaRPr lang="en-US" sz="1200" dirty="0"/>
          </a:p>
        </p:txBody>
      </p:sp>
      <p:sp>
        <p:nvSpPr>
          <p:cNvPr id="15" name="Text 13"/>
          <p:cNvSpPr/>
          <p:nvPr/>
        </p:nvSpPr>
        <p:spPr>
          <a:xfrm>
            <a:off x="502920" y="4023360"/>
            <a:ext cx="3566160" cy="256032"/>
          </a:xfrm>
          <a:prstGeom prst="rect">
            <a:avLst/>
          </a:prstGeom>
          <a:noFill/>
          <a:ln/>
        </p:spPr>
        <p:txBody>
          <a:bodyPr wrap="square" lIns="0" tIns="0" rIns="0" bIns="0" rtlCol="0" anchor="ctr"/>
          <a:lstStyle/>
          <a:p>
            <a:pPr indent="0" marL="0">
              <a:buNone/>
            </a:pPr>
            <a:r>
              <a:rPr lang="en-US" sz="1100" dirty="0">
                <a:solidFill>
                  <a:srgbClr val="404040"/>
                </a:solidFill>
                <a:latin typeface="Arial" pitchFamily="34" charset="0"/>
                <a:ea typeface="Arial" pitchFamily="34" charset="-122"/>
                <a:cs typeface="Arial" pitchFamily="34" charset="-120"/>
              </a:rPr>
              <a:t>Banda base o Banda ancha</a:t>
            </a:r>
            <a:endParaRPr lang="en-US" sz="1100" dirty="0"/>
          </a:p>
        </p:txBody>
      </p:sp>
      <p:sp>
        <p:nvSpPr>
          <p:cNvPr id="16" name="Shape 14"/>
          <p:cNvSpPr/>
          <p:nvPr/>
        </p:nvSpPr>
        <p:spPr>
          <a:xfrm>
            <a:off x="4480560" y="1097280"/>
            <a:ext cx="4297680" cy="3383280"/>
          </a:xfrm>
          <a:prstGeom prst="rect">
            <a:avLst/>
          </a:prstGeom>
          <a:solidFill>
            <a:srgbClr val="F0F7FC"/>
          </a:solidFill>
          <a:ln w="12700">
            <a:solidFill>
              <a:srgbClr val="B9DEF8"/>
            </a:solidFill>
            <a:prstDash val="solid"/>
          </a:ln>
        </p:spPr>
      </p:sp>
      <p:sp>
        <p:nvSpPr>
          <p:cNvPr id="17" name="Text 15"/>
          <p:cNvSpPr/>
          <p:nvPr/>
        </p:nvSpPr>
        <p:spPr>
          <a:xfrm>
            <a:off x="4480560" y="1097280"/>
            <a:ext cx="4297680" cy="384048"/>
          </a:xfrm>
          <a:prstGeom prst="rect">
            <a:avLst/>
          </a:prstGeom>
          <a:solidFill>
            <a:srgbClr val="3A7BAA"/>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Regla  5 – 4 – 3 – 2 – 1</a:t>
            </a:r>
            <a:endParaRPr lang="en-US" sz="1300" dirty="0"/>
          </a:p>
        </p:txBody>
      </p:sp>
      <p:sp>
        <p:nvSpPr>
          <p:cNvPr id="18" name="Shape 16"/>
          <p:cNvSpPr/>
          <p:nvPr/>
        </p:nvSpPr>
        <p:spPr>
          <a:xfrm>
            <a:off x="4663440" y="1627632"/>
            <a:ext cx="411480" cy="384048"/>
          </a:xfrm>
          <a:prstGeom prst="rect">
            <a:avLst/>
          </a:prstGeom>
          <a:solidFill>
            <a:srgbClr val="5AA8D8"/>
          </a:solidFill>
          <a:ln w="12700">
            <a:solidFill>
              <a:srgbClr val="5AA8D8"/>
            </a:solidFill>
            <a:prstDash val="solid"/>
          </a:ln>
        </p:spPr>
      </p:sp>
      <p:sp>
        <p:nvSpPr>
          <p:cNvPr id="19" name="Text 17"/>
          <p:cNvSpPr/>
          <p:nvPr/>
        </p:nvSpPr>
        <p:spPr>
          <a:xfrm>
            <a:off x="4663440" y="1627632"/>
            <a:ext cx="411480" cy="384048"/>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0" name="Text 18"/>
          <p:cNvSpPr/>
          <p:nvPr/>
        </p:nvSpPr>
        <p:spPr>
          <a:xfrm>
            <a:off x="5212080" y="1664208"/>
            <a:ext cx="3429000" cy="32004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Segmentos máximos</a:t>
            </a:r>
            <a:endParaRPr lang="en-US" sz="1200" dirty="0"/>
          </a:p>
        </p:txBody>
      </p:sp>
      <p:sp>
        <p:nvSpPr>
          <p:cNvPr id="21" name="Shape 19"/>
          <p:cNvSpPr/>
          <p:nvPr/>
        </p:nvSpPr>
        <p:spPr>
          <a:xfrm>
            <a:off x="4663440" y="2194560"/>
            <a:ext cx="411480" cy="384048"/>
          </a:xfrm>
          <a:prstGeom prst="rect">
            <a:avLst/>
          </a:prstGeom>
          <a:solidFill>
            <a:srgbClr val="3A7BAA"/>
          </a:solidFill>
          <a:ln w="12700">
            <a:solidFill>
              <a:srgbClr val="3A7BAA"/>
            </a:solidFill>
            <a:prstDash val="solid"/>
          </a:ln>
        </p:spPr>
      </p:sp>
      <p:sp>
        <p:nvSpPr>
          <p:cNvPr id="22" name="Text 20"/>
          <p:cNvSpPr/>
          <p:nvPr/>
        </p:nvSpPr>
        <p:spPr>
          <a:xfrm>
            <a:off x="4663440" y="2194560"/>
            <a:ext cx="411480" cy="38404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1"/>
          <p:cNvSpPr/>
          <p:nvPr/>
        </p:nvSpPr>
        <p:spPr>
          <a:xfrm>
            <a:off x="5212080" y="2231136"/>
            <a:ext cx="3429000" cy="32004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Repetidores / Hubs</a:t>
            </a:r>
            <a:endParaRPr lang="en-US" sz="1200" dirty="0"/>
          </a:p>
        </p:txBody>
      </p:sp>
      <p:sp>
        <p:nvSpPr>
          <p:cNvPr id="24" name="Shape 22"/>
          <p:cNvSpPr/>
          <p:nvPr/>
        </p:nvSpPr>
        <p:spPr>
          <a:xfrm>
            <a:off x="4663440" y="2761488"/>
            <a:ext cx="411480" cy="384048"/>
          </a:xfrm>
          <a:prstGeom prst="rect">
            <a:avLst/>
          </a:prstGeom>
          <a:solidFill>
            <a:srgbClr val="5AA8D8"/>
          </a:solidFill>
          <a:ln w="12700">
            <a:solidFill>
              <a:srgbClr val="5AA8D8"/>
            </a:solidFill>
            <a:prstDash val="solid"/>
          </a:ln>
        </p:spPr>
      </p:sp>
      <p:sp>
        <p:nvSpPr>
          <p:cNvPr id="25" name="Text 23"/>
          <p:cNvSpPr/>
          <p:nvPr/>
        </p:nvSpPr>
        <p:spPr>
          <a:xfrm>
            <a:off x="4663440" y="2761488"/>
            <a:ext cx="411480" cy="38404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6" name="Text 24"/>
          <p:cNvSpPr/>
          <p:nvPr/>
        </p:nvSpPr>
        <p:spPr>
          <a:xfrm>
            <a:off x="5212080" y="2798064"/>
            <a:ext cx="3429000" cy="32004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Segmentos con hosts</a:t>
            </a:r>
            <a:endParaRPr lang="en-US" sz="1200" dirty="0"/>
          </a:p>
        </p:txBody>
      </p:sp>
      <p:sp>
        <p:nvSpPr>
          <p:cNvPr id="27" name="Shape 25"/>
          <p:cNvSpPr/>
          <p:nvPr/>
        </p:nvSpPr>
        <p:spPr>
          <a:xfrm>
            <a:off x="4663440" y="3328416"/>
            <a:ext cx="411480" cy="384048"/>
          </a:xfrm>
          <a:prstGeom prst="rect">
            <a:avLst/>
          </a:prstGeom>
          <a:solidFill>
            <a:srgbClr val="3A7BAA"/>
          </a:solidFill>
          <a:ln w="12700">
            <a:solidFill>
              <a:srgbClr val="3A7BAA"/>
            </a:solidFill>
            <a:prstDash val="solid"/>
          </a:ln>
        </p:spPr>
      </p:sp>
      <p:sp>
        <p:nvSpPr>
          <p:cNvPr id="28" name="Text 26"/>
          <p:cNvSpPr/>
          <p:nvPr/>
        </p:nvSpPr>
        <p:spPr>
          <a:xfrm>
            <a:off x="4663440" y="3328416"/>
            <a:ext cx="411480" cy="38404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9" name="Text 27"/>
          <p:cNvSpPr/>
          <p:nvPr/>
        </p:nvSpPr>
        <p:spPr>
          <a:xfrm>
            <a:off x="5212080" y="3364992"/>
            <a:ext cx="3429000" cy="32004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Segmentos de enlace (sin hosts)</a:t>
            </a:r>
            <a:endParaRPr lang="en-US" sz="1200" dirty="0"/>
          </a:p>
        </p:txBody>
      </p:sp>
      <p:sp>
        <p:nvSpPr>
          <p:cNvPr id="30" name="Shape 28"/>
          <p:cNvSpPr/>
          <p:nvPr/>
        </p:nvSpPr>
        <p:spPr>
          <a:xfrm>
            <a:off x="4663440" y="3895344"/>
            <a:ext cx="411480" cy="384048"/>
          </a:xfrm>
          <a:prstGeom prst="rect">
            <a:avLst/>
          </a:prstGeom>
          <a:solidFill>
            <a:srgbClr val="2D3030"/>
          </a:solidFill>
          <a:ln w="12700">
            <a:solidFill>
              <a:srgbClr val="2D3030"/>
            </a:solidFill>
            <a:prstDash val="solid"/>
          </a:ln>
        </p:spPr>
      </p:sp>
      <p:sp>
        <p:nvSpPr>
          <p:cNvPr id="31" name="Text 29"/>
          <p:cNvSpPr/>
          <p:nvPr/>
        </p:nvSpPr>
        <p:spPr>
          <a:xfrm>
            <a:off x="4663440" y="3895344"/>
            <a:ext cx="411480" cy="38404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32" name="Text 30"/>
          <p:cNvSpPr/>
          <p:nvPr/>
        </p:nvSpPr>
        <p:spPr>
          <a:xfrm>
            <a:off x="5212080" y="3931920"/>
            <a:ext cx="3429000" cy="32004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Dominio de colisión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IEEE 802.3 10Base5 — Coaxial Grueso (Thicknet)</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El primer medio de Ethernet (1980)</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51560"/>
            <a:ext cx="4572000" cy="365760"/>
          </a:xfrm>
          <a:prstGeom prst="rect">
            <a:avLst/>
          </a:prstGeom>
          <a:solidFill>
            <a:srgbClr val="3A7BAA"/>
          </a:solidFill>
          <a:ln w="12700">
            <a:solidFill>
              <a:srgbClr val="3A7BAA"/>
            </a:solidFill>
            <a:prstDash val="solid"/>
          </a:ln>
        </p:spPr>
      </p:sp>
      <p:sp>
        <p:nvSpPr>
          <p:cNvPr id="7" name="Text 5"/>
          <p:cNvSpPr/>
          <p:nvPr/>
        </p:nvSpPr>
        <p:spPr>
          <a:xfrm>
            <a:off x="365760" y="1051560"/>
            <a:ext cx="4572000" cy="365760"/>
          </a:xfrm>
          <a:prstGeom prst="rect">
            <a:avLst/>
          </a:prstGeom>
          <a:noFill/>
          <a:ln/>
        </p:spPr>
        <p:txBody>
          <a:bodyPr wrap="square" lIns="0" tIns="0" rIns="0" bIns="0" rtlCol="0" anchor="ctr"/>
          <a:lstStyle/>
          <a:p>
            <a:pPr algn="ctr" indent="0" marL="0">
              <a:buNone/>
            </a:pPr>
            <a:r>
              <a:rPr lang="en-US" sz="1300" b="1" dirty="0">
                <a:solidFill>
                  <a:srgbClr val="FFFFFF"/>
                </a:solidFill>
              </a:rPr>
              <a:t>Características Técnicas</a:t>
            </a:r>
            <a:endParaRPr lang="en-US" sz="1300" dirty="0"/>
          </a:p>
        </p:txBody>
      </p:sp>
      <p:sp>
        <p:nvSpPr>
          <p:cNvPr id="8" name="Shape 6"/>
          <p:cNvSpPr/>
          <p:nvPr/>
        </p:nvSpPr>
        <p:spPr>
          <a:xfrm>
            <a:off x="365760" y="1417320"/>
            <a:ext cx="4572000" cy="402336"/>
          </a:xfrm>
          <a:prstGeom prst="rect">
            <a:avLst/>
          </a:prstGeom>
          <a:solidFill>
            <a:srgbClr val="F0F7FC"/>
          </a:solidFill>
          <a:ln w="6350">
            <a:solidFill>
              <a:srgbClr val="DDDDDD"/>
            </a:solidFill>
            <a:prstDash val="solid"/>
          </a:ln>
        </p:spPr>
      </p:sp>
      <p:sp>
        <p:nvSpPr>
          <p:cNvPr id="9" name="Text 7"/>
          <p:cNvSpPr/>
          <p:nvPr/>
        </p:nvSpPr>
        <p:spPr>
          <a:xfrm>
            <a:off x="502920" y="1444752"/>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Velocidad:</a:t>
            </a:r>
            <a:endParaRPr lang="en-US" sz="1100" dirty="0"/>
          </a:p>
        </p:txBody>
      </p:sp>
      <p:sp>
        <p:nvSpPr>
          <p:cNvPr id="10" name="Text 8"/>
          <p:cNvSpPr/>
          <p:nvPr/>
        </p:nvSpPr>
        <p:spPr>
          <a:xfrm>
            <a:off x="2286000" y="1444752"/>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10 Mbps</a:t>
            </a:r>
            <a:endParaRPr lang="en-US" sz="1100" dirty="0"/>
          </a:p>
        </p:txBody>
      </p:sp>
      <p:sp>
        <p:nvSpPr>
          <p:cNvPr id="11" name="Shape 9"/>
          <p:cNvSpPr/>
          <p:nvPr/>
        </p:nvSpPr>
        <p:spPr>
          <a:xfrm>
            <a:off x="365760" y="1856232"/>
            <a:ext cx="4572000" cy="402336"/>
          </a:xfrm>
          <a:prstGeom prst="rect">
            <a:avLst/>
          </a:prstGeom>
          <a:solidFill>
            <a:srgbClr val="FFFFFF"/>
          </a:solidFill>
          <a:ln w="6350">
            <a:solidFill>
              <a:srgbClr val="DDDDDD"/>
            </a:solidFill>
            <a:prstDash val="solid"/>
          </a:ln>
        </p:spPr>
      </p:sp>
      <p:sp>
        <p:nvSpPr>
          <p:cNvPr id="12" name="Text 10"/>
          <p:cNvSpPr/>
          <p:nvPr/>
        </p:nvSpPr>
        <p:spPr>
          <a:xfrm>
            <a:off x="502920" y="1883664"/>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Segmento máx.:</a:t>
            </a:r>
            <a:endParaRPr lang="en-US" sz="1100" dirty="0"/>
          </a:p>
        </p:txBody>
      </p:sp>
      <p:sp>
        <p:nvSpPr>
          <p:cNvPr id="13" name="Text 11"/>
          <p:cNvSpPr/>
          <p:nvPr/>
        </p:nvSpPr>
        <p:spPr>
          <a:xfrm>
            <a:off x="2286000" y="1883664"/>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500 metros</a:t>
            </a:r>
            <a:endParaRPr lang="en-US" sz="1100" dirty="0"/>
          </a:p>
        </p:txBody>
      </p:sp>
      <p:sp>
        <p:nvSpPr>
          <p:cNvPr id="14" name="Shape 12"/>
          <p:cNvSpPr/>
          <p:nvPr/>
        </p:nvSpPr>
        <p:spPr>
          <a:xfrm>
            <a:off x="365760" y="2295144"/>
            <a:ext cx="4572000" cy="402336"/>
          </a:xfrm>
          <a:prstGeom prst="rect">
            <a:avLst/>
          </a:prstGeom>
          <a:solidFill>
            <a:srgbClr val="F0F7FC"/>
          </a:solidFill>
          <a:ln w="6350">
            <a:solidFill>
              <a:srgbClr val="DDDDDD"/>
            </a:solidFill>
            <a:prstDash val="solid"/>
          </a:ln>
        </p:spPr>
      </p:sp>
      <p:sp>
        <p:nvSpPr>
          <p:cNvPr id="15" name="Text 13"/>
          <p:cNvSpPr/>
          <p:nvPr/>
        </p:nvSpPr>
        <p:spPr>
          <a:xfrm>
            <a:off x="502920" y="2322576"/>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Nodos por segmento:</a:t>
            </a:r>
            <a:endParaRPr lang="en-US" sz="1100" dirty="0"/>
          </a:p>
        </p:txBody>
      </p:sp>
      <p:sp>
        <p:nvSpPr>
          <p:cNvPr id="16" name="Text 14"/>
          <p:cNvSpPr/>
          <p:nvPr/>
        </p:nvSpPr>
        <p:spPr>
          <a:xfrm>
            <a:off x="2286000" y="2322576"/>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Máx. 100</a:t>
            </a:r>
            <a:endParaRPr lang="en-US" sz="1100" dirty="0"/>
          </a:p>
        </p:txBody>
      </p:sp>
      <p:sp>
        <p:nvSpPr>
          <p:cNvPr id="17" name="Shape 15"/>
          <p:cNvSpPr/>
          <p:nvPr/>
        </p:nvSpPr>
        <p:spPr>
          <a:xfrm>
            <a:off x="365760" y="2734056"/>
            <a:ext cx="4572000" cy="402336"/>
          </a:xfrm>
          <a:prstGeom prst="rect">
            <a:avLst/>
          </a:prstGeom>
          <a:solidFill>
            <a:srgbClr val="FFFFFF"/>
          </a:solidFill>
          <a:ln w="6350">
            <a:solidFill>
              <a:srgbClr val="DDDDDD"/>
            </a:solidFill>
            <a:prstDash val="solid"/>
          </a:ln>
        </p:spPr>
      </p:sp>
      <p:sp>
        <p:nvSpPr>
          <p:cNvPr id="18" name="Text 16"/>
          <p:cNvSpPr/>
          <p:nvPr/>
        </p:nvSpPr>
        <p:spPr>
          <a:xfrm>
            <a:off x="502920" y="2761488"/>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Repetidores:</a:t>
            </a:r>
            <a:endParaRPr lang="en-US" sz="1100" dirty="0"/>
          </a:p>
        </p:txBody>
      </p:sp>
      <p:sp>
        <p:nvSpPr>
          <p:cNvPr id="19" name="Text 17"/>
          <p:cNvSpPr/>
          <p:nvPr/>
        </p:nvSpPr>
        <p:spPr>
          <a:xfrm>
            <a:off x="2286000" y="2761488"/>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Máx. 4 (2,5 km total)</a:t>
            </a:r>
            <a:endParaRPr lang="en-US" sz="1100" dirty="0"/>
          </a:p>
        </p:txBody>
      </p:sp>
      <p:sp>
        <p:nvSpPr>
          <p:cNvPr id="20" name="Shape 18"/>
          <p:cNvSpPr/>
          <p:nvPr/>
        </p:nvSpPr>
        <p:spPr>
          <a:xfrm>
            <a:off x="365760" y="3172968"/>
            <a:ext cx="4572000" cy="402336"/>
          </a:xfrm>
          <a:prstGeom prst="rect">
            <a:avLst/>
          </a:prstGeom>
          <a:solidFill>
            <a:srgbClr val="F0F7FC"/>
          </a:solidFill>
          <a:ln w="6350">
            <a:solidFill>
              <a:srgbClr val="DDDDDD"/>
            </a:solidFill>
            <a:prstDash val="solid"/>
          </a:ln>
        </p:spPr>
      </p:sp>
      <p:sp>
        <p:nvSpPr>
          <p:cNvPr id="21" name="Text 19"/>
          <p:cNvSpPr/>
          <p:nvPr/>
        </p:nvSpPr>
        <p:spPr>
          <a:xfrm>
            <a:off x="502920" y="3200400"/>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Espaciado de taps:</a:t>
            </a:r>
            <a:endParaRPr lang="en-US" sz="1100" dirty="0"/>
          </a:p>
        </p:txBody>
      </p:sp>
      <p:sp>
        <p:nvSpPr>
          <p:cNvPr id="22" name="Text 20"/>
          <p:cNvSpPr/>
          <p:nvPr/>
        </p:nvSpPr>
        <p:spPr>
          <a:xfrm>
            <a:off x="2286000" y="3200400"/>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Múltiplos de 2,5 m</a:t>
            </a:r>
            <a:endParaRPr lang="en-US" sz="1100" dirty="0"/>
          </a:p>
        </p:txBody>
      </p:sp>
      <p:sp>
        <p:nvSpPr>
          <p:cNvPr id="23" name="Shape 21"/>
          <p:cNvSpPr/>
          <p:nvPr/>
        </p:nvSpPr>
        <p:spPr>
          <a:xfrm>
            <a:off x="365760" y="3611880"/>
            <a:ext cx="4572000" cy="402336"/>
          </a:xfrm>
          <a:prstGeom prst="rect">
            <a:avLst/>
          </a:prstGeom>
          <a:solidFill>
            <a:srgbClr val="FFFFFF"/>
          </a:solidFill>
          <a:ln w="6350">
            <a:solidFill>
              <a:srgbClr val="DDDDDD"/>
            </a:solidFill>
            <a:prstDash val="solid"/>
          </a:ln>
        </p:spPr>
      </p:sp>
      <p:sp>
        <p:nvSpPr>
          <p:cNvPr id="24" name="Text 22"/>
          <p:cNvSpPr/>
          <p:nvPr/>
        </p:nvSpPr>
        <p:spPr>
          <a:xfrm>
            <a:off x="502920" y="3639312"/>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Conector:</a:t>
            </a:r>
            <a:endParaRPr lang="en-US" sz="1100" dirty="0"/>
          </a:p>
        </p:txBody>
      </p:sp>
      <p:sp>
        <p:nvSpPr>
          <p:cNvPr id="25" name="Text 23"/>
          <p:cNvSpPr/>
          <p:nvPr/>
        </p:nvSpPr>
        <p:spPr>
          <a:xfrm>
            <a:off x="2286000" y="3639312"/>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AUI (DB15) — cable drop</a:t>
            </a:r>
            <a:endParaRPr lang="en-US" sz="1100" dirty="0"/>
          </a:p>
        </p:txBody>
      </p:sp>
      <p:sp>
        <p:nvSpPr>
          <p:cNvPr id="26" name="Shape 24"/>
          <p:cNvSpPr/>
          <p:nvPr/>
        </p:nvSpPr>
        <p:spPr>
          <a:xfrm>
            <a:off x="365760" y="4050792"/>
            <a:ext cx="4572000" cy="402336"/>
          </a:xfrm>
          <a:prstGeom prst="rect">
            <a:avLst/>
          </a:prstGeom>
          <a:solidFill>
            <a:srgbClr val="F0F7FC"/>
          </a:solidFill>
          <a:ln w="6350">
            <a:solidFill>
              <a:srgbClr val="DDDDDD"/>
            </a:solidFill>
            <a:prstDash val="solid"/>
          </a:ln>
        </p:spPr>
      </p:sp>
      <p:sp>
        <p:nvSpPr>
          <p:cNvPr id="27" name="Text 25"/>
          <p:cNvSpPr/>
          <p:nvPr/>
        </p:nvSpPr>
        <p:spPr>
          <a:xfrm>
            <a:off x="502920" y="4078224"/>
            <a:ext cx="182880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Topología:</a:t>
            </a:r>
            <a:endParaRPr lang="en-US" sz="1100" dirty="0"/>
          </a:p>
        </p:txBody>
      </p:sp>
      <p:sp>
        <p:nvSpPr>
          <p:cNvPr id="28" name="Text 26"/>
          <p:cNvSpPr/>
          <p:nvPr/>
        </p:nvSpPr>
        <p:spPr>
          <a:xfrm>
            <a:off x="2286000" y="4078224"/>
            <a:ext cx="256032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Bus lineal</a:t>
            </a:r>
            <a:endParaRPr lang="en-US" sz="1100" dirty="0"/>
          </a:p>
        </p:txBody>
      </p:sp>
      <p:sp>
        <p:nvSpPr>
          <p:cNvPr id="29" name="Shape 27"/>
          <p:cNvSpPr/>
          <p:nvPr/>
        </p:nvSpPr>
        <p:spPr>
          <a:xfrm>
            <a:off x="5212080" y="1051560"/>
            <a:ext cx="3566160" cy="2240280"/>
          </a:xfrm>
          <a:prstGeom prst="rect">
            <a:avLst/>
          </a:prstGeom>
          <a:solidFill>
            <a:srgbClr val="F0F7FC"/>
          </a:solidFill>
          <a:ln w="12700">
            <a:solidFill>
              <a:srgbClr val="B9DEF8"/>
            </a:solidFill>
            <a:prstDash val="solid"/>
          </a:ln>
        </p:spPr>
      </p:sp>
      <p:sp>
        <p:nvSpPr>
          <p:cNvPr id="30" name="Text 28"/>
          <p:cNvSpPr/>
          <p:nvPr/>
        </p:nvSpPr>
        <p:spPr>
          <a:xfrm>
            <a:off x="5212080" y="1051560"/>
            <a:ext cx="3566160" cy="365760"/>
          </a:xfrm>
          <a:prstGeom prst="rect">
            <a:avLst/>
          </a:prstGeom>
          <a:solidFill>
            <a:srgbClr val="5AA8D8"/>
          </a:solidFill>
          <a:ln/>
        </p:spPr>
        <p:txBody>
          <a:bodyPr wrap="square" rtlCol="0" anchor="ctr"/>
          <a:lstStyle/>
          <a:p>
            <a:pPr algn="ctr" indent="0" marL="0">
              <a:buNone/>
            </a:pPr>
            <a:r>
              <a:rPr lang="en-US" sz="1300" b="1" dirty="0">
                <a:solidFill>
                  <a:srgbClr val="FFFFFF"/>
                </a:solidFill>
              </a:rPr>
              <a:t>Nomenclatura 10Base5</a:t>
            </a:r>
            <a:endParaRPr lang="en-US" sz="1300" dirty="0"/>
          </a:p>
        </p:txBody>
      </p:sp>
      <p:sp>
        <p:nvSpPr>
          <p:cNvPr id="31" name="Text 29"/>
          <p:cNvSpPr/>
          <p:nvPr/>
        </p:nvSpPr>
        <p:spPr>
          <a:xfrm>
            <a:off x="5349240" y="155448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10</a:t>
            </a:r>
            <a:endParaRPr lang="en-US" sz="1800" dirty="0"/>
          </a:p>
        </p:txBody>
      </p:sp>
      <p:sp>
        <p:nvSpPr>
          <p:cNvPr id="32" name="Text 30"/>
          <p:cNvSpPr/>
          <p:nvPr/>
        </p:nvSpPr>
        <p:spPr>
          <a:xfrm>
            <a:off x="6080760" y="157276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10 Mbps de velocidad</a:t>
            </a:r>
            <a:endParaRPr lang="en-US" sz="1200" dirty="0"/>
          </a:p>
        </p:txBody>
      </p:sp>
      <p:sp>
        <p:nvSpPr>
          <p:cNvPr id="33" name="Text 31"/>
          <p:cNvSpPr/>
          <p:nvPr/>
        </p:nvSpPr>
        <p:spPr>
          <a:xfrm>
            <a:off x="5349240" y="210312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Base</a:t>
            </a:r>
            <a:endParaRPr lang="en-US" sz="1800" dirty="0"/>
          </a:p>
        </p:txBody>
      </p:sp>
      <p:sp>
        <p:nvSpPr>
          <p:cNvPr id="34" name="Text 32"/>
          <p:cNvSpPr/>
          <p:nvPr/>
        </p:nvSpPr>
        <p:spPr>
          <a:xfrm>
            <a:off x="6080760" y="212140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Banda base (Baseband)</a:t>
            </a:r>
            <a:endParaRPr lang="en-US" sz="1200" dirty="0"/>
          </a:p>
        </p:txBody>
      </p:sp>
      <p:sp>
        <p:nvSpPr>
          <p:cNvPr id="35" name="Text 33"/>
          <p:cNvSpPr/>
          <p:nvPr/>
        </p:nvSpPr>
        <p:spPr>
          <a:xfrm>
            <a:off x="5349240" y="265176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5</a:t>
            </a:r>
            <a:endParaRPr lang="en-US" sz="1800" dirty="0"/>
          </a:p>
        </p:txBody>
      </p:sp>
      <p:sp>
        <p:nvSpPr>
          <p:cNvPr id="36" name="Text 34"/>
          <p:cNvSpPr/>
          <p:nvPr/>
        </p:nvSpPr>
        <p:spPr>
          <a:xfrm>
            <a:off x="6080760" y="267004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500 m por segmento</a:t>
            </a:r>
            <a:endParaRPr lang="en-US" sz="1200" dirty="0"/>
          </a:p>
        </p:txBody>
      </p:sp>
      <p:sp>
        <p:nvSpPr>
          <p:cNvPr id="37" name="Shape 35"/>
          <p:cNvSpPr/>
          <p:nvPr/>
        </p:nvSpPr>
        <p:spPr>
          <a:xfrm>
            <a:off x="5212080" y="3429000"/>
            <a:ext cx="3566160" cy="1005840"/>
          </a:xfrm>
          <a:prstGeom prst="rect">
            <a:avLst/>
          </a:prstGeom>
          <a:solidFill>
            <a:srgbClr val="FFF8E1"/>
          </a:solidFill>
          <a:ln w="12700">
            <a:solidFill>
              <a:srgbClr val="FFD54F"/>
            </a:solidFill>
            <a:prstDash val="solid"/>
          </a:ln>
        </p:spPr>
      </p:sp>
      <p:sp>
        <p:nvSpPr>
          <p:cNvPr id="38" name="Text 36"/>
          <p:cNvSpPr/>
          <p:nvPr/>
        </p:nvSpPr>
        <p:spPr>
          <a:xfrm>
            <a:off x="5349240" y="3493008"/>
            <a:ext cx="3291840" cy="877824"/>
          </a:xfrm>
          <a:prstGeom prst="rect">
            <a:avLst/>
          </a:prstGeom>
          <a:noFill/>
          <a:ln/>
        </p:spPr>
        <p:txBody>
          <a:bodyPr wrap="square" rtlCol="0" anchor="ctr"/>
          <a:lstStyle/>
          <a:p>
            <a:pPr indent="0" marL="0">
              <a:buNone/>
            </a:pPr>
            <a:r>
              <a:rPr lang="en-US" sz="1100" dirty="0">
                <a:solidFill>
                  <a:srgbClr val="2D3030"/>
                </a:solidFill>
                <a:latin typeface="Arial" pitchFamily="34" charset="0"/>
                <a:ea typeface="Arial" pitchFamily="34" charset="-122"/>
                <a:cs typeface="Arial" pitchFamily="34" charset="-120"/>
              </a:rPr>
              <a:t>💡 Conector Vampiro (Vampire Tap): perfora el aislante y conecta directamente al conductor central sin cortar el cable.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IEEE 802.3 10Base2 — Coaxial Fino (Thinnet)</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Conocido como "Cheapernet" por su bajo costo</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51560"/>
            <a:ext cx="4572000" cy="365760"/>
          </a:xfrm>
          <a:prstGeom prst="rect">
            <a:avLst/>
          </a:prstGeom>
          <a:solidFill>
            <a:srgbClr val="3A7BAA"/>
          </a:solidFill>
          <a:ln w="12700">
            <a:solidFill>
              <a:srgbClr val="3A7BAA"/>
            </a:solidFill>
            <a:prstDash val="solid"/>
          </a:ln>
        </p:spPr>
      </p:sp>
      <p:sp>
        <p:nvSpPr>
          <p:cNvPr id="7" name="Text 5"/>
          <p:cNvSpPr/>
          <p:nvPr/>
        </p:nvSpPr>
        <p:spPr>
          <a:xfrm>
            <a:off x="365760" y="1051560"/>
            <a:ext cx="4572000" cy="365760"/>
          </a:xfrm>
          <a:prstGeom prst="rect">
            <a:avLst/>
          </a:prstGeom>
          <a:noFill/>
          <a:ln/>
        </p:spPr>
        <p:txBody>
          <a:bodyPr wrap="square" lIns="0" tIns="0" rIns="0" bIns="0" rtlCol="0" anchor="ctr"/>
          <a:lstStyle/>
          <a:p>
            <a:pPr algn="ctr" indent="0" marL="0">
              <a:buNone/>
            </a:pPr>
            <a:r>
              <a:rPr lang="en-US" sz="1300" b="1" dirty="0">
                <a:solidFill>
                  <a:srgbClr val="FFFFFF"/>
                </a:solidFill>
              </a:rPr>
              <a:t>Características Técnicas</a:t>
            </a:r>
            <a:endParaRPr lang="en-US" sz="1300" dirty="0"/>
          </a:p>
        </p:txBody>
      </p:sp>
      <p:sp>
        <p:nvSpPr>
          <p:cNvPr id="8" name="Shape 6"/>
          <p:cNvSpPr/>
          <p:nvPr/>
        </p:nvSpPr>
        <p:spPr>
          <a:xfrm>
            <a:off x="365760" y="1417320"/>
            <a:ext cx="4572000" cy="402336"/>
          </a:xfrm>
          <a:prstGeom prst="rect">
            <a:avLst/>
          </a:prstGeom>
          <a:solidFill>
            <a:srgbClr val="F0F7FC"/>
          </a:solidFill>
          <a:ln w="6350">
            <a:solidFill>
              <a:srgbClr val="DDDDDD"/>
            </a:solidFill>
            <a:prstDash val="solid"/>
          </a:ln>
        </p:spPr>
      </p:sp>
      <p:sp>
        <p:nvSpPr>
          <p:cNvPr id="9" name="Text 7"/>
          <p:cNvSpPr/>
          <p:nvPr/>
        </p:nvSpPr>
        <p:spPr>
          <a:xfrm>
            <a:off x="502920" y="1444752"/>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Velocidad:</a:t>
            </a:r>
            <a:endParaRPr lang="en-US" sz="1100" dirty="0"/>
          </a:p>
        </p:txBody>
      </p:sp>
      <p:sp>
        <p:nvSpPr>
          <p:cNvPr id="10" name="Text 8"/>
          <p:cNvSpPr/>
          <p:nvPr/>
        </p:nvSpPr>
        <p:spPr>
          <a:xfrm>
            <a:off x="2560320" y="1444752"/>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10 Mbps</a:t>
            </a:r>
            <a:endParaRPr lang="en-US" sz="1100" dirty="0"/>
          </a:p>
        </p:txBody>
      </p:sp>
      <p:sp>
        <p:nvSpPr>
          <p:cNvPr id="11" name="Shape 9"/>
          <p:cNvSpPr/>
          <p:nvPr/>
        </p:nvSpPr>
        <p:spPr>
          <a:xfrm>
            <a:off x="365760" y="1856232"/>
            <a:ext cx="4572000" cy="402336"/>
          </a:xfrm>
          <a:prstGeom prst="rect">
            <a:avLst/>
          </a:prstGeom>
          <a:solidFill>
            <a:srgbClr val="FFFFFF"/>
          </a:solidFill>
          <a:ln w="6350">
            <a:solidFill>
              <a:srgbClr val="DDDDDD"/>
            </a:solidFill>
            <a:prstDash val="solid"/>
          </a:ln>
        </p:spPr>
      </p:sp>
      <p:sp>
        <p:nvSpPr>
          <p:cNvPr id="12" name="Text 10"/>
          <p:cNvSpPr/>
          <p:nvPr/>
        </p:nvSpPr>
        <p:spPr>
          <a:xfrm>
            <a:off x="502920" y="1883664"/>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Segmento máx.:</a:t>
            </a:r>
            <a:endParaRPr lang="en-US" sz="1100" dirty="0"/>
          </a:p>
        </p:txBody>
      </p:sp>
      <p:sp>
        <p:nvSpPr>
          <p:cNvPr id="13" name="Text 11"/>
          <p:cNvSpPr/>
          <p:nvPr/>
        </p:nvSpPr>
        <p:spPr>
          <a:xfrm>
            <a:off x="2560320" y="1883664"/>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185 metros (~200 m)</a:t>
            </a:r>
            <a:endParaRPr lang="en-US" sz="1100" dirty="0"/>
          </a:p>
        </p:txBody>
      </p:sp>
      <p:sp>
        <p:nvSpPr>
          <p:cNvPr id="14" name="Shape 12"/>
          <p:cNvSpPr/>
          <p:nvPr/>
        </p:nvSpPr>
        <p:spPr>
          <a:xfrm>
            <a:off x="365760" y="2295144"/>
            <a:ext cx="4572000" cy="402336"/>
          </a:xfrm>
          <a:prstGeom prst="rect">
            <a:avLst/>
          </a:prstGeom>
          <a:solidFill>
            <a:srgbClr val="F0F7FC"/>
          </a:solidFill>
          <a:ln w="6350">
            <a:solidFill>
              <a:srgbClr val="DDDDDD"/>
            </a:solidFill>
            <a:prstDash val="solid"/>
          </a:ln>
        </p:spPr>
      </p:sp>
      <p:sp>
        <p:nvSpPr>
          <p:cNvPr id="15" name="Text 13"/>
          <p:cNvSpPr/>
          <p:nvPr/>
        </p:nvSpPr>
        <p:spPr>
          <a:xfrm>
            <a:off x="502920" y="2322576"/>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Nodos por segmento:</a:t>
            </a:r>
            <a:endParaRPr lang="en-US" sz="1100" dirty="0"/>
          </a:p>
        </p:txBody>
      </p:sp>
      <p:sp>
        <p:nvSpPr>
          <p:cNvPr id="16" name="Text 14"/>
          <p:cNvSpPr/>
          <p:nvPr/>
        </p:nvSpPr>
        <p:spPr>
          <a:xfrm>
            <a:off x="2560320" y="2322576"/>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Máx. 30</a:t>
            </a:r>
            <a:endParaRPr lang="en-US" sz="1100" dirty="0"/>
          </a:p>
        </p:txBody>
      </p:sp>
      <p:sp>
        <p:nvSpPr>
          <p:cNvPr id="17" name="Shape 15"/>
          <p:cNvSpPr/>
          <p:nvPr/>
        </p:nvSpPr>
        <p:spPr>
          <a:xfrm>
            <a:off x="365760" y="2734056"/>
            <a:ext cx="4572000" cy="402336"/>
          </a:xfrm>
          <a:prstGeom prst="rect">
            <a:avLst/>
          </a:prstGeom>
          <a:solidFill>
            <a:srgbClr val="FFFFFF"/>
          </a:solidFill>
          <a:ln w="6350">
            <a:solidFill>
              <a:srgbClr val="DDDDDD"/>
            </a:solidFill>
            <a:prstDash val="solid"/>
          </a:ln>
        </p:spPr>
      </p:sp>
      <p:sp>
        <p:nvSpPr>
          <p:cNvPr id="18" name="Text 16"/>
          <p:cNvSpPr/>
          <p:nvPr/>
        </p:nvSpPr>
        <p:spPr>
          <a:xfrm>
            <a:off x="502920" y="2761488"/>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Distancia mín. entre nodos:</a:t>
            </a:r>
            <a:endParaRPr lang="en-US" sz="1100" dirty="0"/>
          </a:p>
        </p:txBody>
      </p:sp>
      <p:sp>
        <p:nvSpPr>
          <p:cNvPr id="19" name="Text 17"/>
          <p:cNvSpPr/>
          <p:nvPr/>
        </p:nvSpPr>
        <p:spPr>
          <a:xfrm>
            <a:off x="2560320" y="2761488"/>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0,5 metros</a:t>
            </a:r>
            <a:endParaRPr lang="en-US" sz="1100" dirty="0"/>
          </a:p>
        </p:txBody>
      </p:sp>
      <p:sp>
        <p:nvSpPr>
          <p:cNvPr id="20" name="Shape 18"/>
          <p:cNvSpPr/>
          <p:nvPr/>
        </p:nvSpPr>
        <p:spPr>
          <a:xfrm>
            <a:off x="365760" y="3172968"/>
            <a:ext cx="4572000" cy="402336"/>
          </a:xfrm>
          <a:prstGeom prst="rect">
            <a:avLst/>
          </a:prstGeom>
          <a:solidFill>
            <a:srgbClr val="F0F7FC"/>
          </a:solidFill>
          <a:ln w="6350">
            <a:solidFill>
              <a:srgbClr val="DDDDDD"/>
            </a:solidFill>
            <a:prstDash val="solid"/>
          </a:ln>
        </p:spPr>
      </p:sp>
      <p:sp>
        <p:nvSpPr>
          <p:cNvPr id="21" name="Text 19"/>
          <p:cNvSpPr/>
          <p:nvPr/>
        </p:nvSpPr>
        <p:spPr>
          <a:xfrm>
            <a:off x="502920" y="3200400"/>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Conector:</a:t>
            </a:r>
            <a:endParaRPr lang="en-US" sz="1100" dirty="0"/>
          </a:p>
        </p:txBody>
      </p:sp>
      <p:sp>
        <p:nvSpPr>
          <p:cNvPr id="22" name="Text 20"/>
          <p:cNvSpPr/>
          <p:nvPr/>
        </p:nvSpPr>
        <p:spPr>
          <a:xfrm>
            <a:off x="2560320" y="3200400"/>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BNC tipo T</a:t>
            </a:r>
            <a:endParaRPr lang="en-US" sz="1100" dirty="0"/>
          </a:p>
        </p:txBody>
      </p:sp>
      <p:sp>
        <p:nvSpPr>
          <p:cNvPr id="23" name="Shape 21"/>
          <p:cNvSpPr/>
          <p:nvPr/>
        </p:nvSpPr>
        <p:spPr>
          <a:xfrm>
            <a:off x="365760" y="3611880"/>
            <a:ext cx="4572000" cy="402336"/>
          </a:xfrm>
          <a:prstGeom prst="rect">
            <a:avLst/>
          </a:prstGeom>
          <a:solidFill>
            <a:srgbClr val="FFFFFF"/>
          </a:solidFill>
          <a:ln w="6350">
            <a:solidFill>
              <a:srgbClr val="DDDDDD"/>
            </a:solidFill>
            <a:prstDash val="solid"/>
          </a:ln>
        </p:spPr>
      </p:sp>
      <p:sp>
        <p:nvSpPr>
          <p:cNvPr id="24" name="Text 22"/>
          <p:cNvSpPr/>
          <p:nvPr/>
        </p:nvSpPr>
        <p:spPr>
          <a:xfrm>
            <a:off x="502920" y="3639312"/>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Terminadores:</a:t>
            </a:r>
            <a:endParaRPr lang="en-US" sz="1100" dirty="0"/>
          </a:p>
        </p:txBody>
      </p:sp>
      <p:sp>
        <p:nvSpPr>
          <p:cNvPr id="25" name="Text 23"/>
          <p:cNvSpPr/>
          <p:nvPr/>
        </p:nvSpPr>
        <p:spPr>
          <a:xfrm>
            <a:off x="2560320" y="3639312"/>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50 Ohm en cada extremo</a:t>
            </a:r>
            <a:endParaRPr lang="en-US" sz="1100" dirty="0"/>
          </a:p>
        </p:txBody>
      </p:sp>
      <p:sp>
        <p:nvSpPr>
          <p:cNvPr id="26" name="Shape 24"/>
          <p:cNvSpPr/>
          <p:nvPr/>
        </p:nvSpPr>
        <p:spPr>
          <a:xfrm>
            <a:off x="365760" y="4050792"/>
            <a:ext cx="4572000" cy="402336"/>
          </a:xfrm>
          <a:prstGeom prst="rect">
            <a:avLst/>
          </a:prstGeom>
          <a:solidFill>
            <a:srgbClr val="F0F7FC"/>
          </a:solidFill>
          <a:ln w="6350">
            <a:solidFill>
              <a:srgbClr val="DDDDDD"/>
            </a:solidFill>
            <a:prstDash val="solid"/>
          </a:ln>
        </p:spPr>
      </p:sp>
      <p:sp>
        <p:nvSpPr>
          <p:cNvPr id="27" name="Text 25"/>
          <p:cNvSpPr/>
          <p:nvPr/>
        </p:nvSpPr>
        <p:spPr>
          <a:xfrm>
            <a:off x="502920" y="4078224"/>
            <a:ext cx="2103120" cy="347472"/>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Topología:</a:t>
            </a:r>
            <a:endParaRPr lang="en-US" sz="1100" dirty="0"/>
          </a:p>
        </p:txBody>
      </p:sp>
      <p:sp>
        <p:nvSpPr>
          <p:cNvPr id="28" name="Text 26"/>
          <p:cNvSpPr/>
          <p:nvPr/>
        </p:nvSpPr>
        <p:spPr>
          <a:xfrm>
            <a:off x="2560320" y="4078224"/>
            <a:ext cx="2286000" cy="347472"/>
          </a:xfrm>
          <a:prstGeom prst="rect">
            <a:avLst/>
          </a:prstGeom>
          <a:noFill/>
          <a:ln/>
        </p:spPr>
        <p:txBody>
          <a:bodyPr wrap="square" rtlCol="0" anchor="ctr"/>
          <a:lstStyle/>
          <a:p>
            <a:pPr indent="0" marL="0">
              <a:buNone/>
            </a:pPr>
            <a:r>
              <a:rPr lang="en-US" sz="1100" b="1" dirty="0">
                <a:solidFill>
                  <a:srgbClr val="5AA8D8"/>
                </a:solidFill>
                <a:latin typeface="Arial" pitchFamily="34" charset="0"/>
                <a:ea typeface="Arial" pitchFamily="34" charset="-122"/>
                <a:cs typeface="Arial" pitchFamily="34" charset="-120"/>
              </a:rPr>
              <a:t>Bus lineal</a:t>
            </a:r>
            <a:endParaRPr lang="en-US" sz="1100" dirty="0"/>
          </a:p>
        </p:txBody>
      </p:sp>
      <p:sp>
        <p:nvSpPr>
          <p:cNvPr id="29" name="Shape 27"/>
          <p:cNvSpPr/>
          <p:nvPr/>
        </p:nvSpPr>
        <p:spPr>
          <a:xfrm>
            <a:off x="5212080" y="1051560"/>
            <a:ext cx="3566160" cy="2240280"/>
          </a:xfrm>
          <a:prstGeom prst="rect">
            <a:avLst/>
          </a:prstGeom>
          <a:solidFill>
            <a:srgbClr val="F0F7FC"/>
          </a:solidFill>
          <a:ln w="12700">
            <a:solidFill>
              <a:srgbClr val="B9DEF8"/>
            </a:solidFill>
            <a:prstDash val="solid"/>
          </a:ln>
        </p:spPr>
      </p:sp>
      <p:sp>
        <p:nvSpPr>
          <p:cNvPr id="30" name="Text 28"/>
          <p:cNvSpPr/>
          <p:nvPr/>
        </p:nvSpPr>
        <p:spPr>
          <a:xfrm>
            <a:off x="5212080" y="1051560"/>
            <a:ext cx="3566160" cy="365760"/>
          </a:xfrm>
          <a:prstGeom prst="rect">
            <a:avLst/>
          </a:prstGeom>
          <a:solidFill>
            <a:srgbClr val="5AA8D8"/>
          </a:solidFill>
          <a:ln/>
        </p:spPr>
        <p:txBody>
          <a:bodyPr wrap="square" rtlCol="0" anchor="ctr"/>
          <a:lstStyle/>
          <a:p>
            <a:pPr algn="ctr" indent="0" marL="0">
              <a:buNone/>
            </a:pPr>
            <a:r>
              <a:rPr lang="en-US" sz="1300" b="1" dirty="0">
                <a:solidFill>
                  <a:srgbClr val="FFFFFF"/>
                </a:solidFill>
              </a:rPr>
              <a:t>Nomenclatura 10Base2</a:t>
            </a:r>
            <a:endParaRPr lang="en-US" sz="1300" dirty="0"/>
          </a:p>
        </p:txBody>
      </p:sp>
      <p:sp>
        <p:nvSpPr>
          <p:cNvPr id="31" name="Text 29"/>
          <p:cNvSpPr/>
          <p:nvPr/>
        </p:nvSpPr>
        <p:spPr>
          <a:xfrm>
            <a:off x="5349240" y="155448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10</a:t>
            </a:r>
            <a:endParaRPr lang="en-US" sz="1800" dirty="0"/>
          </a:p>
        </p:txBody>
      </p:sp>
      <p:sp>
        <p:nvSpPr>
          <p:cNvPr id="32" name="Text 30"/>
          <p:cNvSpPr/>
          <p:nvPr/>
        </p:nvSpPr>
        <p:spPr>
          <a:xfrm>
            <a:off x="6080760" y="157276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10 Mbps</a:t>
            </a:r>
            <a:endParaRPr lang="en-US" sz="1200" dirty="0"/>
          </a:p>
        </p:txBody>
      </p:sp>
      <p:sp>
        <p:nvSpPr>
          <p:cNvPr id="33" name="Text 31"/>
          <p:cNvSpPr/>
          <p:nvPr/>
        </p:nvSpPr>
        <p:spPr>
          <a:xfrm>
            <a:off x="5349240" y="210312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Base</a:t>
            </a:r>
            <a:endParaRPr lang="en-US" sz="1800" dirty="0"/>
          </a:p>
        </p:txBody>
      </p:sp>
      <p:sp>
        <p:nvSpPr>
          <p:cNvPr id="34" name="Text 32"/>
          <p:cNvSpPr/>
          <p:nvPr/>
        </p:nvSpPr>
        <p:spPr>
          <a:xfrm>
            <a:off x="6080760" y="212140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Banda base</a:t>
            </a:r>
            <a:endParaRPr lang="en-US" sz="1200" dirty="0"/>
          </a:p>
        </p:txBody>
      </p:sp>
      <p:sp>
        <p:nvSpPr>
          <p:cNvPr id="35" name="Text 33"/>
          <p:cNvSpPr/>
          <p:nvPr/>
        </p:nvSpPr>
        <p:spPr>
          <a:xfrm>
            <a:off x="5349240" y="2651760"/>
            <a:ext cx="640080" cy="384048"/>
          </a:xfrm>
          <a:prstGeom prst="rect">
            <a:avLst/>
          </a:prstGeom>
          <a:noFill/>
          <a:ln/>
        </p:spPr>
        <p:txBody>
          <a:bodyPr wrap="square" rtlCol="0" anchor="ctr"/>
          <a:lstStyle/>
          <a:p>
            <a:pPr algn="ctr" indent="0" marL="0">
              <a:buNone/>
            </a:pPr>
            <a:r>
              <a:rPr lang="en-US" sz="1800" b="1" dirty="0">
                <a:solidFill>
                  <a:srgbClr val="5AA8D8"/>
                </a:solidFill>
                <a:latin typeface="Arial" pitchFamily="34" charset="0"/>
                <a:ea typeface="Arial" pitchFamily="34" charset="-122"/>
                <a:cs typeface="Arial" pitchFamily="34" charset="-120"/>
              </a:rPr>
              <a:t>2</a:t>
            </a:r>
            <a:endParaRPr lang="en-US" sz="1800" dirty="0"/>
          </a:p>
        </p:txBody>
      </p:sp>
      <p:sp>
        <p:nvSpPr>
          <p:cNvPr id="36" name="Text 34"/>
          <p:cNvSpPr/>
          <p:nvPr/>
        </p:nvSpPr>
        <p:spPr>
          <a:xfrm>
            <a:off x="6080760" y="2670048"/>
            <a:ext cx="2560320" cy="36576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≈200 m (son 185 m reales)</a:t>
            </a:r>
            <a:endParaRPr lang="en-US" sz="1200" dirty="0"/>
          </a:p>
        </p:txBody>
      </p:sp>
      <p:sp>
        <p:nvSpPr>
          <p:cNvPr id="37" name="Shape 35"/>
          <p:cNvSpPr/>
          <p:nvPr/>
        </p:nvSpPr>
        <p:spPr>
          <a:xfrm>
            <a:off x="5212080" y="3401568"/>
            <a:ext cx="3566160" cy="1051560"/>
          </a:xfrm>
          <a:prstGeom prst="rect">
            <a:avLst/>
          </a:prstGeom>
          <a:solidFill>
            <a:srgbClr val="FFF0F0"/>
          </a:solidFill>
          <a:ln w="12700">
            <a:solidFill>
              <a:srgbClr val="EF9A9A"/>
            </a:solidFill>
            <a:prstDash val="solid"/>
          </a:ln>
        </p:spPr>
      </p:sp>
      <p:sp>
        <p:nvSpPr>
          <p:cNvPr id="38" name="Text 36"/>
          <p:cNvSpPr/>
          <p:nvPr/>
        </p:nvSpPr>
        <p:spPr>
          <a:xfrm>
            <a:off x="5349240" y="3456432"/>
            <a:ext cx="3291840" cy="914400"/>
          </a:xfrm>
          <a:prstGeom prst="rect">
            <a:avLst/>
          </a:prstGeom>
          <a:noFill/>
          <a:ln/>
        </p:spPr>
        <p:txBody>
          <a:bodyPr wrap="square" rtlCol="0" anchor="ctr"/>
          <a:lstStyle/>
          <a:p>
            <a:pPr indent="0" marL="0">
              <a:buNone/>
            </a:pPr>
            <a:r>
              <a:rPr lang="en-US" sz="1100" dirty="0">
                <a:solidFill>
                  <a:srgbClr val="2D3030"/>
                </a:solidFill>
                <a:latin typeface="Arial" pitchFamily="34" charset="0"/>
                <a:ea typeface="Arial" pitchFamily="34" charset="-122"/>
                <a:cs typeface="Arial" pitchFamily="34" charset="-120"/>
              </a:rPr>
              <a:t>❗ Error frecuente: Confundir 10Base2 (185 m) con 10Base5 (500 m). El "2" del nombre no es la distancia exacta sino la aproximación en cientos de metros.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IEEE 802.3 10BaseT — Par Trenzado UTP</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La revolución de la topología en estrella</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51560"/>
            <a:ext cx="4114800" cy="3383280"/>
          </a:xfrm>
          <a:prstGeom prst="rect">
            <a:avLst/>
          </a:prstGeom>
          <a:solidFill>
            <a:srgbClr val="F0F7FC"/>
          </a:solidFill>
          <a:ln w="12700">
            <a:solidFill>
              <a:srgbClr val="B9DEF8"/>
            </a:solidFill>
            <a:prstDash val="solid"/>
          </a:ln>
        </p:spPr>
      </p:sp>
      <p:sp>
        <p:nvSpPr>
          <p:cNvPr id="7" name="Text 5"/>
          <p:cNvSpPr/>
          <p:nvPr/>
        </p:nvSpPr>
        <p:spPr>
          <a:xfrm>
            <a:off x="365760" y="1051560"/>
            <a:ext cx="4114800" cy="365760"/>
          </a:xfrm>
          <a:prstGeom prst="rect">
            <a:avLst/>
          </a:prstGeom>
          <a:solidFill>
            <a:srgbClr val="3A7BAA"/>
          </a:solidFill>
          <a:ln/>
        </p:spPr>
        <p:txBody>
          <a:bodyPr wrap="square" rtlCol="0" anchor="ctr"/>
          <a:lstStyle/>
          <a:p>
            <a:pPr algn="ctr" indent="0" marL="0">
              <a:buNone/>
            </a:pPr>
            <a:r>
              <a:rPr lang="en-US" sz="1300" b="1" dirty="0">
                <a:solidFill>
                  <a:srgbClr val="FFFFFF"/>
                </a:solidFill>
              </a:rPr>
              <a:t>Por qué UTP cambió todo</a:t>
            </a:r>
            <a:endParaRPr lang="en-US" sz="1300" dirty="0"/>
          </a:p>
        </p:txBody>
      </p:sp>
      <p:sp>
        <p:nvSpPr>
          <p:cNvPr id="8" name="Text 6"/>
          <p:cNvSpPr/>
          <p:nvPr/>
        </p:nvSpPr>
        <p:spPr>
          <a:xfrm>
            <a:off x="502920" y="1554480"/>
            <a:ext cx="3840480" cy="219456"/>
          </a:xfrm>
          <a:prstGeom prst="rect">
            <a:avLst/>
          </a:prstGeom>
          <a:noFill/>
          <a:ln/>
        </p:spPr>
        <p:txBody>
          <a:bodyPr wrap="square" lIns="0" tIns="0" rIns="0" bIns="0" rtlCol="0" anchor="ctr"/>
          <a:lstStyle/>
          <a:p>
            <a:pPr indent="0" marL="0">
              <a:buNone/>
            </a:pPr>
            <a:r>
              <a:rPr lang="en-US" sz="1100" b="1" dirty="0">
                <a:solidFill>
                  <a:srgbClr val="3A7BAA"/>
                </a:solidFill>
                <a:latin typeface="Arial" pitchFamily="34" charset="0"/>
                <a:ea typeface="Arial" pitchFamily="34" charset="-122"/>
                <a:cs typeface="Arial" pitchFamily="34" charset="-120"/>
              </a:rPr>
              <a:t>Topología estrella</a:t>
            </a:r>
            <a:endParaRPr lang="en-US" sz="1100" dirty="0"/>
          </a:p>
        </p:txBody>
      </p:sp>
      <p:sp>
        <p:nvSpPr>
          <p:cNvPr id="9" name="Text 7"/>
          <p:cNvSpPr/>
          <p:nvPr/>
        </p:nvSpPr>
        <p:spPr>
          <a:xfrm>
            <a:off x="502920" y="1764792"/>
            <a:ext cx="3840480" cy="329184"/>
          </a:xfrm>
          <a:prstGeom prst="rect">
            <a:avLst/>
          </a:prstGeom>
          <a:noFill/>
          <a:ln/>
        </p:spPr>
        <p:txBody>
          <a:bodyPr wrap="square" lIns="0" tIns="0" rIns="0" bIns="0" rtlCol="0" anchor="ctr"/>
          <a:lstStyle/>
          <a:p>
            <a:pPr indent="0" marL="0">
              <a:buNone/>
            </a:pPr>
            <a:r>
              <a:rPr lang="en-US" sz="1000" dirty="0">
                <a:solidFill>
                  <a:srgbClr val="404040"/>
                </a:solidFill>
                <a:latin typeface="Arial" pitchFamily="34" charset="0"/>
                <a:ea typeface="Arial" pitchFamily="34" charset="-122"/>
                <a:cs typeface="Arial" pitchFamily="34" charset="-120"/>
              </a:rPr>
              <a:t>Hub o Switch en el centro → si cae un cable, solo ese nodo pierde conexión</a:t>
            </a:r>
            <a:endParaRPr lang="en-US" sz="1000" dirty="0"/>
          </a:p>
        </p:txBody>
      </p:sp>
      <p:sp>
        <p:nvSpPr>
          <p:cNvPr id="10" name="Text 8"/>
          <p:cNvSpPr/>
          <p:nvPr/>
        </p:nvSpPr>
        <p:spPr>
          <a:xfrm>
            <a:off x="502920" y="2176272"/>
            <a:ext cx="3840480" cy="219456"/>
          </a:xfrm>
          <a:prstGeom prst="rect">
            <a:avLst/>
          </a:prstGeom>
          <a:noFill/>
          <a:ln/>
        </p:spPr>
        <p:txBody>
          <a:bodyPr wrap="square" lIns="0" tIns="0" rIns="0" bIns="0" rtlCol="0" anchor="ctr"/>
          <a:lstStyle/>
          <a:p>
            <a:pPr indent="0" marL="0">
              <a:buNone/>
            </a:pPr>
            <a:r>
              <a:rPr lang="en-US" sz="1100" b="1" dirty="0">
                <a:solidFill>
                  <a:srgbClr val="3A7BAA"/>
                </a:solidFill>
                <a:latin typeface="Arial" pitchFamily="34" charset="0"/>
                <a:ea typeface="Arial" pitchFamily="34" charset="-122"/>
                <a:cs typeface="Arial" pitchFamily="34" charset="-120"/>
              </a:rPr>
              <a:t>Conector RJ45</a:t>
            </a:r>
            <a:endParaRPr lang="en-US" sz="1100" dirty="0"/>
          </a:p>
        </p:txBody>
      </p:sp>
      <p:sp>
        <p:nvSpPr>
          <p:cNvPr id="11" name="Text 9"/>
          <p:cNvSpPr/>
          <p:nvPr/>
        </p:nvSpPr>
        <p:spPr>
          <a:xfrm>
            <a:off x="502920" y="2386584"/>
            <a:ext cx="3840480" cy="329184"/>
          </a:xfrm>
          <a:prstGeom prst="rect">
            <a:avLst/>
          </a:prstGeom>
          <a:noFill/>
          <a:ln/>
        </p:spPr>
        <p:txBody>
          <a:bodyPr wrap="square" lIns="0" tIns="0" rIns="0" bIns="0" rtlCol="0" anchor="ctr"/>
          <a:lstStyle/>
          <a:p>
            <a:pPr indent="0" marL="0">
              <a:buNone/>
            </a:pPr>
            <a:r>
              <a:rPr lang="en-US" sz="1000" dirty="0">
                <a:solidFill>
                  <a:srgbClr val="404040"/>
                </a:solidFill>
                <a:latin typeface="Arial" pitchFamily="34" charset="0"/>
                <a:ea typeface="Arial" pitchFamily="34" charset="-122"/>
                <a:cs typeface="Arial" pitchFamily="34" charset="-120"/>
              </a:rPr>
              <a:t>Pines 1-2: Transmisión (TX) | Pines 3-6: Recepción (RX)</a:t>
            </a:r>
            <a:endParaRPr lang="en-US" sz="1000" dirty="0"/>
          </a:p>
        </p:txBody>
      </p:sp>
      <p:sp>
        <p:nvSpPr>
          <p:cNvPr id="12" name="Text 10"/>
          <p:cNvSpPr/>
          <p:nvPr/>
        </p:nvSpPr>
        <p:spPr>
          <a:xfrm>
            <a:off x="502920" y="2798064"/>
            <a:ext cx="3840480" cy="219456"/>
          </a:xfrm>
          <a:prstGeom prst="rect">
            <a:avLst/>
          </a:prstGeom>
          <a:noFill/>
          <a:ln/>
        </p:spPr>
        <p:txBody>
          <a:bodyPr wrap="square" lIns="0" tIns="0" rIns="0" bIns="0" rtlCol="0" anchor="ctr"/>
          <a:lstStyle/>
          <a:p>
            <a:pPr indent="0" marL="0">
              <a:buNone/>
            </a:pPr>
            <a:r>
              <a:rPr lang="en-US" sz="1100" b="1" dirty="0">
                <a:solidFill>
                  <a:srgbClr val="3A7BAA"/>
                </a:solidFill>
                <a:latin typeface="Arial" pitchFamily="34" charset="0"/>
                <a:ea typeface="Arial" pitchFamily="34" charset="-122"/>
                <a:cs typeface="Arial" pitchFamily="34" charset="-120"/>
              </a:rPr>
              <a:t>Velocidad base</a:t>
            </a:r>
            <a:endParaRPr lang="en-US" sz="1100" dirty="0"/>
          </a:p>
        </p:txBody>
      </p:sp>
      <p:sp>
        <p:nvSpPr>
          <p:cNvPr id="13" name="Text 11"/>
          <p:cNvSpPr/>
          <p:nvPr/>
        </p:nvSpPr>
        <p:spPr>
          <a:xfrm>
            <a:off x="502920" y="3008376"/>
            <a:ext cx="3840480" cy="329184"/>
          </a:xfrm>
          <a:prstGeom prst="rect">
            <a:avLst/>
          </a:prstGeom>
          <a:noFill/>
          <a:ln/>
        </p:spPr>
        <p:txBody>
          <a:bodyPr wrap="square" lIns="0" tIns="0" rIns="0" bIns="0" rtlCol="0" anchor="ctr"/>
          <a:lstStyle/>
          <a:p>
            <a:pPr indent="0" marL="0">
              <a:buNone/>
            </a:pPr>
            <a:r>
              <a:rPr lang="en-US" sz="1000" dirty="0">
                <a:solidFill>
                  <a:srgbClr val="404040"/>
                </a:solidFill>
                <a:latin typeface="Arial" pitchFamily="34" charset="0"/>
                <a:ea typeface="Arial" pitchFamily="34" charset="-122"/>
                <a:cs typeface="Arial" pitchFamily="34" charset="-120"/>
              </a:rPr>
              <a:t>10/100/1000 Mbps según la categoría y el switch</a:t>
            </a:r>
            <a:endParaRPr lang="en-US" sz="1000" dirty="0"/>
          </a:p>
        </p:txBody>
      </p:sp>
      <p:sp>
        <p:nvSpPr>
          <p:cNvPr id="14" name="Text 12"/>
          <p:cNvSpPr/>
          <p:nvPr/>
        </p:nvSpPr>
        <p:spPr>
          <a:xfrm>
            <a:off x="502920" y="3419856"/>
            <a:ext cx="3840480" cy="219456"/>
          </a:xfrm>
          <a:prstGeom prst="rect">
            <a:avLst/>
          </a:prstGeom>
          <a:noFill/>
          <a:ln/>
        </p:spPr>
        <p:txBody>
          <a:bodyPr wrap="square" lIns="0" tIns="0" rIns="0" bIns="0" rtlCol="0" anchor="ctr"/>
          <a:lstStyle/>
          <a:p>
            <a:pPr indent="0" marL="0">
              <a:buNone/>
            </a:pPr>
            <a:r>
              <a:rPr lang="en-US" sz="1100" b="1" dirty="0">
                <a:solidFill>
                  <a:srgbClr val="3A7BAA"/>
                </a:solidFill>
                <a:latin typeface="Arial" pitchFamily="34" charset="0"/>
                <a:ea typeface="Arial" pitchFamily="34" charset="-122"/>
                <a:cs typeface="Arial" pitchFamily="34" charset="-120"/>
              </a:rPr>
              <a:t>Instalación sencilla</a:t>
            </a:r>
            <a:endParaRPr lang="en-US" sz="1100" dirty="0"/>
          </a:p>
        </p:txBody>
      </p:sp>
      <p:sp>
        <p:nvSpPr>
          <p:cNvPr id="15" name="Text 13"/>
          <p:cNvSpPr/>
          <p:nvPr/>
        </p:nvSpPr>
        <p:spPr>
          <a:xfrm>
            <a:off x="502920" y="3630168"/>
            <a:ext cx="3840480" cy="329184"/>
          </a:xfrm>
          <a:prstGeom prst="rect">
            <a:avLst/>
          </a:prstGeom>
          <a:noFill/>
          <a:ln/>
        </p:spPr>
        <p:txBody>
          <a:bodyPr wrap="square" lIns="0" tIns="0" rIns="0" bIns="0" rtlCol="0" anchor="ctr"/>
          <a:lstStyle/>
          <a:p>
            <a:pPr indent="0" marL="0">
              <a:buNone/>
            </a:pPr>
            <a:r>
              <a:rPr lang="en-US" sz="1000" dirty="0">
                <a:solidFill>
                  <a:srgbClr val="404040"/>
                </a:solidFill>
                <a:latin typeface="Arial" pitchFamily="34" charset="0"/>
                <a:ea typeface="Arial" pitchFamily="34" charset="-122"/>
                <a:cs typeface="Arial" pitchFamily="34" charset="-120"/>
              </a:rPr>
              <a:t>Misma apariencia que el cable telefónico RJ11, más fácil de cablear en edificios</a:t>
            </a:r>
            <a:endParaRPr lang="en-US" sz="1000" dirty="0"/>
          </a:p>
        </p:txBody>
      </p:sp>
      <p:sp>
        <p:nvSpPr>
          <p:cNvPr id="16" name="Text 14"/>
          <p:cNvSpPr/>
          <p:nvPr/>
        </p:nvSpPr>
        <p:spPr>
          <a:xfrm>
            <a:off x="502920" y="4041648"/>
            <a:ext cx="3840480" cy="219456"/>
          </a:xfrm>
          <a:prstGeom prst="rect">
            <a:avLst/>
          </a:prstGeom>
          <a:noFill/>
          <a:ln/>
        </p:spPr>
        <p:txBody>
          <a:bodyPr wrap="square" lIns="0" tIns="0" rIns="0" bIns="0" rtlCol="0" anchor="ctr"/>
          <a:lstStyle/>
          <a:p>
            <a:pPr indent="0" marL="0">
              <a:buNone/>
            </a:pPr>
            <a:r>
              <a:rPr lang="en-US" sz="1100" b="1" dirty="0">
                <a:solidFill>
                  <a:srgbClr val="3A7BAA"/>
                </a:solidFill>
                <a:latin typeface="Arial" pitchFamily="34" charset="0"/>
                <a:ea typeface="Arial" pitchFamily="34" charset="-122"/>
                <a:cs typeface="Arial" pitchFamily="34" charset="-120"/>
              </a:rPr>
              <a:t>Diagnóstico fácil</a:t>
            </a:r>
            <a:endParaRPr lang="en-US" sz="1100" dirty="0"/>
          </a:p>
        </p:txBody>
      </p:sp>
      <p:sp>
        <p:nvSpPr>
          <p:cNvPr id="17" name="Text 15"/>
          <p:cNvSpPr/>
          <p:nvPr/>
        </p:nvSpPr>
        <p:spPr>
          <a:xfrm>
            <a:off x="502920" y="4251960"/>
            <a:ext cx="3840480" cy="329184"/>
          </a:xfrm>
          <a:prstGeom prst="rect">
            <a:avLst/>
          </a:prstGeom>
          <a:noFill/>
          <a:ln/>
        </p:spPr>
        <p:txBody>
          <a:bodyPr wrap="square" lIns="0" tIns="0" rIns="0" bIns="0" rtlCol="0" anchor="ctr"/>
          <a:lstStyle/>
          <a:p>
            <a:pPr indent="0" marL="0">
              <a:buNone/>
            </a:pPr>
            <a:r>
              <a:rPr lang="en-US" sz="1000" dirty="0">
                <a:solidFill>
                  <a:srgbClr val="404040"/>
                </a:solidFill>
                <a:latin typeface="Arial" pitchFamily="34" charset="0"/>
                <a:ea typeface="Arial" pitchFamily="34" charset="-122"/>
                <a:cs typeface="Arial" pitchFamily="34" charset="-120"/>
              </a:rPr>
              <a:t>Luces de actividad en la placa de red y el switch permiten localizar fallas</a:t>
            </a:r>
            <a:endParaRPr lang="en-US" sz="1000" dirty="0"/>
          </a:p>
        </p:txBody>
      </p:sp>
      <p:sp>
        <p:nvSpPr>
          <p:cNvPr id="18" name="Shape 16"/>
          <p:cNvSpPr/>
          <p:nvPr/>
        </p:nvSpPr>
        <p:spPr>
          <a:xfrm>
            <a:off x="4663440" y="1051560"/>
            <a:ext cx="4114800" cy="3383280"/>
          </a:xfrm>
          <a:prstGeom prst="rect">
            <a:avLst/>
          </a:prstGeom>
          <a:solidFill>
            <a:srgbClr val="FFFFFF"/>
          </a:solidFill>
          <a:ln w="12700">
            <a:solidFill>
              <a:srgbClr val="B9DEF8"/>
            </a:solidFill>
            <a:prstDash val="solid"/>
          </a:ln>
        </p:spPr>
      </p:sp>
      <p:sp>
        <p:nvSpPr>
          <p:cNvPr id="19" name="Text 17"/>
          <p:cNvSpPr/>
          <p:nvPr/>
        </p:nvSpPr>
        <p:spPr>
          <a:xfrm>
            <a:off x="4663440" y="1051560"/>
            <a:ext cx="4114800" cy="365760"/>
          </a:xfrm>
          <a:prstGeom prst="rect">
            <a:avLst/>
          </a:prstGeom>
          <a:solidFill>
            <a:srgbClr val="5AA8D8"/>
          </a:solidFill>
          <a:ln/>
        </p:spPr>
        <p:txBody>
          <a:bodyPr wrap="square" rtlCol="0" anchor="ctr"/>
          <a:lstStyle/>
          <a:p>
            <a:pPr algn="ctr" indent="0" marL="0">
              <a:buNone/>
            </a:pPr>
            <a:r>
              <a:rPr lang="en-US" sz="1300" b="1" dirty="0">
                <a:solidFill>
                  <a:srgbClr val="FFFFFF"/>
                </a:solidFill>
              </a:rPr>
              <a:t>Categorías UTP más usadas</a:t>
            </a:r>
            <a:endParaRPr lang="en-US" sz="1300" dirty="0"/>
          </a:p>
        </p:txBody>
      </p:sp>
      <p:sp>
        <p:nvSpPr>
          <p:cNvPr id="20" name="Shape 18"/>
          <p:cNvSpPr/>
          <p:nvPr/>
        </p:nvSpPr>
        <p:spPr>
          <a:xfrm>
            <a:off x="4663440" y="1417320"/>
            <a:ext cx="4114800" cy="292608"/>
          </a:xfrm>
          <a:prstGeom prst="rect">
            <a:avLst/>
          </a:prstGeom>
          <a:solidFill>
            <a:srgbClr val="B9DEF8"/>
          </a:solidFill>
          <a:ln w="6350">
            <a:solidFill>
              <a:srgbClr val="CCCCCC"/>
            </a:solidFill>
            <a:prstDash val="solid"/>
          </a:ln>
        </p:spPr>
      </p:sp>
      <p:sp>
        <p:nvSpPr>
          <p:cNvPr id="21" name="Text 19"/>
          <p:cNvSpPr/>
          <p:nvPr/>
        </p:nvSpPr>
        <p:spPr>
          <a:xfrm>
            <a:off x="4709160" y="1435608"/>
            <a:ext cx="1280160" cy="256032"/>
          </a:xfrm>
          <a:prstGeom prst="rect">
            <a:avLst/>
          </a:prstGeom>
          <a:noFill/>
          <a:ln/>
        </p:spPr>
        <p:txBody>
          <a:bodyPr wrap="square" rtlCol="0" anchor="ctr"/>
          <a:lstStyle/>
          <a:p>
            <a:pPr indent="0" marL="0">
              <a:buNone/>
            </a:pPr>
            <a:r>
              <a:rPr lang="en-US" sz="1000" b="1" dirty="0">
                <a:solidFill>
                  <a:srgbClr val="2D3030"/>
                </a:solidFill>
                <a:latin typeface="Arial" pitchFamily="34" charset="0"/>
                <a:ea typeface="Arial" pitchFamily="34" charset="-122"/>
                <a:cs typeface="Arial" pitchFamily="34" charset="-120"/>
              </a:rPr>
              <a:t>Categoría</a:t>
            </a:r>
            <a:endParaRPr lang="en-US" sz="1000" dirty="0"/>
          </a:p>
        </p:txBody>
      </p:sp>
      <p:sp>
        <p:nvSpPr>
          <p:cNvPr id="22" name="Text 20"/>
          <p:cNvSpPr/>
          <p:nvPr/>
        </p:nvSpPr>
        <p:spPr>
          <a:xfrm>
            <a:off x="5989320" y="1435608"/>
            <a:ext cx="1463040" cy="256032"/>
          </a:xfrm>
          <a:prstGeom prst="rect">
            <a:avLst/>
          </a:prstGeom>
          <a:noFill/>
          <a:ln/>
        </p:spPr>
        <p:txBody>
          <a:bodyPr wrap="square" rtlCol="0" anchor="ctr"/>
          <a:lstStyle/>
          <a:p>
            <a:pPr indent="0" marL="0">
              <a:buNone/>
            </a:pPr>
            <a:r>
              <a:rPr lang="en-US" sz="1000" b="1" dirty="0">
                <a:solidFill>
                  <a:srgbClr val="2D3030"/>
                </a:solidFill>
                <a:latin typeface="Arial" pitchFamily="34" charset="0"/>
                <a:ea typeface="Arial" pitchFamily="34" charset="-122"/>
                <a:cs typeface="Arial" pitchFamily="34" charset="-120"/>
              </a:rPr>
              <a:t>Velocidad</a:t>
            </a:r>
            <a:endParaRPr lang="en-US" sz="1000" dirty="0"/>
          </a:p>
        </p:txBody>
      </p:sp>
      <p:sp>
        <p:nvSpPr>
          <p:cNvPr id="23" name="Text 21"/>
          <p:cNvSpPr/>
          <p:nvPr/>
        </p:nvSpPr>
        <p:spPr>
          <a:xfrm>
            <a:off x="7452360" y="1435608"/>
            <a:ext cx="1188720" cy="256032"/>
          </a:xfrm>
          <a:prstGeom prst="rect">
            <a:avLst/>
          </a:prstGeom>
          <a:noFill/>
          <a:ln/>
        </p:spPr>
        <p:txBody>
          <a:bodyPr wrap="square" rtlCol="0" anchor="ctr"/>
          <a:lstStyle/>
          <a:p>
            <a:pPr indent="0" marL="0">
              <a:buNone/>
            </a:pPr>
            <a:r>
              <a:rPr lang="en-US" sz="1000" b="1" dirty="0">
                <a:solidFill>
                  <a:srgbClr val="2D3030"/>
                </a:solidFill>
                <a:latin typeface="Arial" pitchFamily="34" charset="0"/>
                <a:ea typeface="Arial" pitchFamily="34" charset="-122"/>
                <a:cs typeface="Arial" pitchFamily="34" charset="-120"/>
              </a:rPr>
              <a:t>Nota</a:t>
            </a:r>
            <a:endParaRPr lang="en-US" sz="1000" dirty="0"/>
          </a:p>
        </p:txBody>
      </p:sp>
      <p:sp>
        <p:nvSpPr>
          <p:cNvPr id="24" name="Shape 22"/>
          <p:cNvSpPr/>
          <p:nvPr/>
        </p:nvSpPr>
        <p:spPr>
          <a:xfrm>
            <a:off x="4663440" y="1709928"/>
            <a:ext cx="4114800" cy="310896"/>
          </a:xfrm>
          <a:prstGeom prst="rect">
            <a:avLst/>
          </a:prstGeom>
          <a:solidFill>
            <a:srgbClr val="F0F7FC"/>
          </a:solidFill>
          <a:ln w="6350">
            <a:solidFill>
              <a:srgbClr val="DDDDDD"/>
            </a:solidFill>
            <a:prstDash val="solid"/>
          </a:ln>
        </p:spPr>
      </p:sp>
      <p:sp>
        <p:nvSpPr>
          <p:cNvPr id="25" name="Text 23"/>
          <p:cNvSpPr/>
          <p:nvPr/>
        </p:nvSpPr>
        <p:spPr>
          <a:xfrm>
            <a:off x="4709160" y="1737360"/>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3</a:t>
            </a:r>
            <a:endParaRPr lang="en-US" sz="1000" dirty="0"/>
          </a:p>
        </p:txBody>
      </p:sp>
      <p:sp>
        <p:nvSpPr>
          <p:cNvPr id="26" name="Text 24"/>
          <p:cNvSpPr/>
          <p:nvPr/>
        </p:nvSpPr>
        <p:spPr>
          <a:xfrm>
            <a:off x="5989320" y="1737360"/>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Mbps</a:t>
            </a:r>
            <a:endParaRPr lang="en-US" sz="1000" dirty="0"/>
          </a:p>
        </p:txBody>
      </p:sp>
      <p:sp>
        <p:nvSpPr>
          <p:cNvPr id="27" name="Text 25"/>
          <p:cNvSpPr/>
          <p:nvPr/>
        </p:nvSpPr>
        <p:spPr>
          <a:xfrm>
            <a:off x="7452360" y="1737360"/>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Legacy</a:t>
            </a:r>
            <a:endParaRPr lang="en-US" sz="900" dirty="0"/>
          </a:p>
        </p:txBody>
      </p:sp>
      <p:sp>
        <p:nvSpPr>
          <p:cNvPr id="28" name="Shape 26"/>
          <p:cNvSpPr/>
          <p:nvPr/>
        </p:nvSpPr>
        <p:spPr>
          <a:xfrm>
            <a:off x="4663440" y="2039112"/>
            <a:ext cx="4114800" cy="310896"/>
          </a:xfrm>
          <a:prstGeom prst="rect">
            <a:avLst/>
          </a:prstGeom>
          <a:solidFill>
            <a:srgbClr val="FFFFFF"/>
          </a:solidFill>
          <a:ln w="6350">
            <a:solidFill>
              <a:srgbClr val="DDDDDD"/>
            </a:solidFill>
            <a:prstDash val="solid"/>
          </a:ln>
        </p:spPr>
      </p:sp>
      <p:sp>
        <p:nvSpPr>
          <p:cNvPr id="29" name="Text 27"/>
          <p:cNvSpPr/>
          <p:nvPr/>
        </p:nvSpPr>
        <p:spPr>
          <a:xfrm>
            <a:off x="4709160" y="2066544"/>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5</a:t>
            </a:r>
            <a:endParaRPr lang="en-US" sz="1000" dirty="0"/>
          </a:p>
        </p:txBody>
      </p:sp>
      <p:sp>
        <p:nvSpPr>
          <p:cNvPr id="30" name="Text 28"/>
          <p:cNvSpPr/>
          <p:nvPr/>
        </p:nvSpPr>
        <p:spPr>
          <a:xfrm>
            <a:off x="5989320" y="2066544"/>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100 Mbps</a:t>
            </a:r>
            <a:endParaRPr lang="en-US" sz="1000" dirty="0"/>
          </a:p>
        </p:txBody>
      </p:sp>
      <p:sp>
        <p:nvSpPr>
          <p:cNvPr id="31" name="Text 29"/>
          <p:cNvSpPr/>
          <p:nvPr/>
        </p:nvSpPr>
        <p:spPr>
          <a:xfrm>
            <a:off x="7452360" y="2066544"/>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Fast Eth.</a:t>
            </a:r>
            <a:endParaRPr lang="en-US" sz="900" dirty="0"/>
          </a:p>
        </p:txBody>
      </p:sp>
      <p:sp>
        <p:nvSpPr>
          <p:cNvPr id="32" name="Shape 30"/>
          <p:cNvSpPr/>
          <p:nvPr/>
        </p:nvSpPr>
        <p:spPr>
          <a:xfrm>
            <a:off x="4663440" y="2368296"/>
            <a:ext cx="4114800" cy="310896"/>
          </a:xfrm>
          <a:prstGeom prst="rect">
            <a:avLst/>
          </a:prstGeom>
          <a:solidFill>
            <a:srgbClr val="F0F7FC"/>
          </a:solidFill>
          <a:ln w="6350">
            <a:solidFill>
              <a:srgbClr val="DDDDDD"/>
            </a:solidFill>
            <a:prstDash val="solid"/>
          </a:ln>
        </p:spPr>
      </p:sp>
      <p:sp>
        <p:nvSpPr>
          <p:cNvPr id="33" name="Text 31"/>
          <p:cNvSpPr/>
          <p:nvPr/>
        </p:nvSpPr>
        <p:spPr>
          <a:xfrm>
            <a:off x="4709160" y="2395728"/>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5e</a:t>
            </a:r>
            <a:endParaRPr lang="en-US" sz="1000" dirty="0"/>
          </a:p>
        </p:txBody>
      </p:sp>
      <p:sp>
        <p:nvSpPr>
          <p:cNvPr id="34" name="Text 32"/>
          <p:cNvSpPr/>
          <p:nvPr/>
        </p:nvSpPr>
        <p:spPr>
          <a:xfrm>
            <a:off x="5989320" y="2395728"/>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 Gbps</a:t>
            </a:r>
            <a:endParaRPr lang="en-US" sz="1000" dirty="0"/>
          </a:p>
        </p:txBody>
      </p:sp>
      <p:sp>
        <p:nvSpPr>
          <p:cNvPr id="35" name="Text 33"/>
          <p:cNvSpPr/>
          <p:nvPr/>
        </p:nvSpPr>
        <p:spPr>
          <a:xfrm>
            <a:off x="7452360" y="2395728"/>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Gigabit</a:t>
            </a:r>
            <a:endParaRPr lang="en-US" sz="900" dirty="0"/>
          </a:p>
        </p:txBody>
      </p:sp>
      <p:sp>
        <p:nvSpPr>
          <p:cNvPr id="36" name="Shape 34"/>
          <p:cNvSpPr/>
          <p:nvPr/>
        </p:nvSpPr>
        <p:spPr>
          <a:xfrm>
            <a:off x="4663440" y="2697480"/>
            <a:ext cx="4114800" cy="310896"/>
          </a:xfrm>
          <a:prstGeom prst="rect">
            <a:avLst/>
          </a:prstGeom>
          <a:solidFill>
            <a:srgbClr val="FFFFFF"/>
          </a:solidFill>
          <a:ln w="6350">
            <a:solidFill>
              <a:srgbClr val="DDDDDD"/>
            </a:solidFill>
            <a:prstDash val="solid"/>
          </a:ln>
        </p:spPr>
      </p:sp>
      <p:sp>
        <p:nvSpPr>
          <p:cNvPr id="37" name="Text 35"/>
          <p:cNvSpPr/>
          <p:nvPr/>
        </p:nvSpPr>
        <p:spPr>
          <a:xfrm>
            <a:off x="4709160" y="2724912"/>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6</a:t>
            </a:r>
            <a:endParaRPr lang="en-US" sz="1000" dirty="0"/>
          </a:p>
        </p:txBody>
      </p:sp>
      <p:sp>
        <p:nvSpPr>
          <p:cNvPr id="38" name="Text 36"/>
          <p:cNvSpPr/>
          <p:nvPr/>
        </p:nvSpPr>
        <p:spPr>
          <a:xfrm>
            <a:off x="5989320" y="2724912"/>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 Gbps / 10 Gbps*</a:t>
            </a:r>
            <a:endParaRPr lang="en-US" sz="1000" dirty="0"/>
          </a:p>
        </p:txBody>
      </p:sp>
      <p:sp>
        <p:nvSpPr>
          <p:cNvPr id="39" name="Text 37"/>
          <p:cNvSpPr/>
          <p:nvPr/>
        </p:nvSpPr>
        <p:spPr>
          <a:xfrm>
            <a:off x="7452360" y="2724912"/>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Actual</a:t>
            </a:r>
            <a:endParaRPr lang="en-US" sz="900" dirty="0"/>
          </a:p>
        </p:txBody>
      </p:sp>
      <p:sp>
        <p:nvSpPr>
          <p:cNvPr id="40" name="Shape 38"/>
          <p:cNvSpPr/>
          <p:nvPr/>
        </p:nvSpPr>
        <p:spPr>
          <a:xfrm>
            <a:off x="4663440" y="3026664"/>
            <a:ext cx="4114800" cy="310896"/>
          </a:xfrm>
          <a:prstGeom prst="rect">
            <a:avLst/>
          </a:prstGeom>
          <a:solidFill>
            <a:srgbClr val="F0F7FC"/>
          </a:solidFill>
          <a:ln w="6350">
            <a:solidFill>
              <a:srgbClr val="DDDDDD"/>
            </a:solidFill>
            <a:prstDash val="solid"/>
          </a:ln>
        </p:spPr>
      </p:sp>
      <p:sp>
        <p:nvSpPr>
          <p:cNvPr id="41" name="Text 39"/>
          <p:cNvSpPr/>
          <p:nvPr/>
        </p:nvSpPr>
        <p:spPr>
          <a:xfrm>
            <a:off x="4709160" y="3054096"/>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6A</a:t>
            </a:r>
            <a:endParaRPr lang="en-US" sz="1000" dirty="0"/>
          </a:p>
        </p:txBody>
      </p:sp>
      <p:sp>
        <p:nvSpPr>
          <p:cNvPr id="42" name="Text 40"/>
          <p:cNvSpPr/>
          <p:nvPr/>
        </p:nvSpPr>
        <p:spPr>
          <a:xfrm>
            <a:off x="5989320" y="3054096"/>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Gbps / 100 m</a:t>
            </a:r>
            <a:endParaRPr lang="en-US" sz="1000" dirty="0"/>
          </a:p>
        </p:txBody>
      </p:sp>
      <p:sp>
        <p:nvSpPr>
          <p:cNvPr id="43" name="Text 41"/>
          <p:cNvSpPr/>
          <p:nvPr/>
        </p:nvSpPr>
        <p:spPr>
          <a:xfrm>
            <a:off x="7452360" y="3054096"/>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Recomendada</a:t>
            </a:r>
            <a:endParaRPr lang="en-US" sz="900" dirty="0"/>
          </a:p>
        </p:txBody>
      </p:sp>
      <p:sp>
        <p:nvSpPr>
          <p:cNvPr id="44" name="Shape 42"/>
          <p:cNvSpPr/>
          <p:nvPr/>
        </p:nvSpPr>
        <p:spPr>
          <a:xfrm>
            <a:off x="4663440" y="3355848"/>
            <a:ext cx="4114800" cy="310896"/>
          </a:xfrm>
          <a:prstGeom prst="rect">
            <a:avLst/>
          </a:prstGeom>
          <a:solidFill>
            <a:srgbClr val="FFFFFF"/>
          </a:solidFill>
          <a:ln w="6350">
            <a:solidFill>
              <a:srgbClr val="DDDDDD"/>
            </a:solidFill>
            <a:prstDash val="solid"/>
          </a:ln>
        </p:spPr>
      </p:sp>
      <p:sp>
        <p:nvSpPr>
          <p:cNvPr id="45" name="Text 43"/>
          <p:cNvSpPr/>
          <p:nvPr/>
        </p:nvSpPr>
        <p:spPr>
          <a:xfrm>
            <a:off x="4709160" y="3383280"/>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7</a:t>
            </a:r>
            <a:endParaRPr lang="en-US" sz="1000" dirty="0"/>
          </a:p>
        </p:txBody>
      </p:sp>
      <p:sp>
        <p:nvSpPr>
          <p:cNvPr id="46" name="Text 44"/>
          <p:cNvSpPr/>
          <p:nvPr/>
        </p:nvSpPr>
        <p:spPr>
          <a:xfrm>
            <a:off x="5989320" y="3383280"/>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Gbps</a:t>
            </a:r>
            <a:endParaRPr lang="en-US" sz="1000" dirty="0"/>
          </a:p>
        </p:txBody>
      </p:sp>
      <p:sp>
        <p:nvSpPr>
          <p:cNvPr id="47" name="Text 45"/>
          <p:cNvSpPr/>
          <p:nvPr/>
        </p:nvSpPr>
        <p:spPr>
          <a:xfrm>
            <a:off x="7452360" y="3383280"/>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STP</a:t>
            </a:r>
            <a:endParaRPr lang="en-US" sz="900" dirty="0"/>
          </a:p>
        </p:txBody>
      </p:sp>
      <p:sp>
        <p:nvSpPr>
          <p:cNvPr id="48" name="Shape 46"/>
          <p:cNvSpPr/>
          <p:nvPr/>
        </p:nvSpPr>
        <p:spPr>
          <a:xfrm>
            <a:off x="4663440" y="3685032"/>
            <a:ext cx="4114800" cy="310896"/>
          </a:xfrm>
          <a:prstGeom prst="rect">
            <a:avLst/>
          </a:prstGeom>
          <a:solidFill>
            <a:srgbClr val="F0F7FC"/>
          </a:solidFill>
          <a:ln w="6350">
            <a:solidFill>
              <a:srgbClr val="DDDDDD"/>
            </a:solidFill>
            <a:prstDash val="solid"/>
          </a:ln>
        </p:spPr>
      </p:sp>
      <p:sp>
        <p:nvSpPr>
          <p:cNvPr id="49" name="Text 47"/>
          <p:cNvSpPr/>
          <p:nvPr/>
        </p:nvSpPr>
        <p:spPr>
          <a:xfrm>
            <a:off x="4709160" y="3712464"/>
            <a:ext cx="1280160" cy="256032"/>
          </a:xfrm>
          <a:prstGeom prst="rect">
            <a:avLst/>
          </a:prstGeom>
          <a:noFill/>
          <a:ln/>
        </p:spPr>
        <p:txBody>
          <a:bodyPr wrap="square" rtlCol="0" anchor="ctr"/>
          <a:lstStyle/>
          <a:p>
            <a:pPr indent="0" marL="0">
              <a:buNone/>
            </a:pPr>
            <a:r>
              <a:rPr lang="en-US" sz="1000" b="1" dirty="0">
                <a:solidFill>
                  <a:srgbClr val="3A7BAA"/>
                </a:solidFill>
                <a:latin typeface="Arial" pitchFamily="34" charset="0"/>
                <a:ea typeface="Arial" pitchFamily="34" charset="-122"/>
                <a:cs typeface="Arial" pitchFamily="34" charset="-120"/>
              </a:rPr>
              <a:t>Cat 8</a:t>
            </a:r>
            <a:endParaRPr lang="en-US" sz="1000" dirty="0"/>
          </a:p>
        </p:txBody>
      </p:sp>
      <p:sp>
        <p:nvSpPr>
          <p:cNvPr id="50" name="Text 48"/>
          <p:cNvSpPr/>
          <p:nvPr/>
        </p:nvSpPr>
        <p:spPr>
          <a:xfrm>
            <a:off x="5989320" y="3712464"/>
            <a:ext cx="146304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40 Gbps / 30 m</a:t>
            </a:r>
            <a:endParaRPr lang="en-US" sz="1000" dirty="0"/>
          </a:p>
        </p:txBody>
      </p:sp>
      <p:sp>
        <p:nvSpPr>
          <p:cNvPr id="51" name="Text 49"/>
          <p:cNvSpPr/>
          <p:nvPr/>
        </p:nvSpPr>
        <p:spPr>
          <a:xfrm>
            <a:off x="7452360" y="3712464"/>
            <a:ext cx="1188720" cy="256032"/>
          </a:xfrm>
          <a:prstGeom prst="rect">
            <a:avLst/>
          </a:prstGeom>
          <a:noFill/>
          <a:ln/>
        </p:spPr>
        <p:txBody>
          <a:bodyPr wrap="square" rtlCol="0" anchor="ctr"/>
          <a:lstStyle/>
          <a:p>
            <a:pPr indent="0" marL="0">
              <a:buNone/>
            </a:pPr>
            <a:r>
              <a:rPr lang="en-US" sz="900" dirty="0">
                <a:solidFill>
                  <a:srgbClr val="5AA8D8"/>
                </a:solidFill>
                <a:latin typeface="Arial" pitchFamily="34" charset="0"/>
                <a:ea typeface="Arial" pitchFamily="34" charset="-122"/>
                <a:cs typeface="Arial" pitchFamily="34" charset="-120"/>
              </a:rPr>
              <a:t>Data Center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Fibra Óptica — Principios y Tipos</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Pulsos de luz en lugar de señales eléctricas</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51560"/>
            <a:ext cx="4114800" cy="3383280"/>
          </a:xfrm>
          <a:prstGeom prst="rect">
            <a:avLst/>
          </a:prstGeom>
          <a:solidFill>
            <a:srgbClr val="F0F7FC"/>
          </a:solidFill>
          <a:ln w="12700">
            <a:solidFill>
              <a:srgbClr val="B9DEF8"/>
            </a:solidFill>
            <a:prstDash val="solid"/>
          </a:ln>
        </p:spPr>
      </p:sp>
      <p:sp>
        <p:nvSpPr>
          <p:cNvPr id="7" name="Text 5"/>
          <p:cNvSpPr/>
          <p:nvPr/>
        </p:nvSpPr>
        <p:spPr>
          <a:xfrm>
            <a:off x="365760" y="1051560"/>
            <a:ext cx="4114800" cy="365760"/>
          </a:xfrm>
          <a:prstGeom prst="rect">
            <a:avLst/>
          </a:prstGeom>
          <a:solidFill>
            <a:srgbClr val="5AA8D8"/>
          </a:solidFill>
          <a:ln/>
        </p:spPr>
        <p:txBody>
          <a:bodyPr wrap="square" rtlCol="0" anchor="ctr"/>
          <a:lstStyle/>
          <a:p>
            <a:pPr algn="ctr" indent="0" marL="0">
              <a:buNone/>
            </a:pPr>
            <a:r>
              <a:rPr lang="en-US" sz="1300" b="1" dirty="0">
                <a:solidFill>
                  <a:srgbClr val="FFFFFF"/>
                </a:solidFill>
              </a:rPr>
              <a:t>Fibra Multimodo (MMF)</a:t>
            </a:r>
            <a:endParaRPr lang="en-US" sz="1300" dirty="0"/>
          </a:p>
        </p:txBody>
      </p:sp>
      <p:sp>
        <p:nvSpPr>
          <p:cNvPr id="8" name="Text 6"/>
          <p:cNvSpPr/>
          <p:nvPr/>
        </p:nvSpPr>
        <p:spPr>
          <a:xfrm>
            <a:off x="502920" y="153619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Núcleo: 50 – 62,5 µm de diámetro</a:t>
            </a:r>
            <a:endParaRPr lang="en-US" sz="1050" dirty="0"/>
          </a:p>
        </p:txBody>
      </p:sp>
      <p:sp>
        <p:nvSpPr>
          <p:cNvPr id="9" name="Text 7"/>
          <p:cNvSpPr/>
          <p:nvPr/>
        </p:nvSpPr>
        <p:spPr>
          <a:xfrm>
            <a:off x="502920" y="190195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Múltiples trayectorias de luz simultáneas</a:t>
            </a:r>
            <a:endParaRPr lang="en-US" sz="1050" dirty="0"/>
          </a:p>
        </p:txBody>
      </p:sp>
      <p:sp>
        <p:nvSpPr>
          <p:cNvPr id="10" name="Text 8"/>
          <p:cNvSpPr/>
          <p:nvPr/>
        </p:nvSpPr>
        <p:spPr>
          <a:xfrm>
            <a:off x="502920" y="226771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Mayor dispersión → distancias menores</a:t>
            </a:r>
            <a:endParaRPr lang="en-US" sz="1050" dirty="0"/>
          </a:p>
        </p:txBody>
      </p:sp>
      <p:sp>
        <p:nvSpPr>
          <p:cNvPr id="11" name="Text 9"/>
          <p:cNvSpPr/>
          <p:nvPr/>
        </p:nvSpPr>
        <p:spPr>
          <a:xfrm>
            <a:off x="502920" y="263347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Distancia típica: hasta 2 km en LAN</a:t>
            </a:r>
            <a:endParaRPr lang="en-US" sz="1050" dirty="0"/>
          </a:p>
        </p:txBody>
      </p:sp>
      <p:sp>
        <p:nvSpPr>
          <p:cNvPr id="12" name="Text 10"/>
          <p:cNvSpPr/>
          <p:nvPr/>
        </p:nvSpPr>
        <p:spPr>
          <a:xfrm>
            <a:off x="502920" y="299923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Fuente de luz: LED o laser VCSEL</a:t>
            </a:r>
            <a:endParaRPr lang="en-US" sz="1050" dirty="0"/>
          </a:p>
        </p:txBody>
      </p:sp>
      <p:sp>
        <p:nvSpPr>
          <p:cNvPr id="13" name="Text 11"/>
          <p:cNvSpPr/>
          <p:nvPr/>
        </p:nvSpPr>
        <p:spPr>
          <a:xfrm>
            <a:off x="502920" y="336499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Más económica de instalar y conectizar</a:t>
            </a:r>
            <a:endParaRPr lang="en-US" sz="1050" dirty="0"/>
          </a:p>
        </p:txBody>
      </p:sp>
      <p:sp>
        <p:nvSpPr>
          <p:cNvPr id="14" name="Text 12"/>
          <p:cNvSpPr/>
          <p:nvPr/>
        </p:nvSpPr>
        <p:spPr>
          <a:xfrm>
            <a:off x="502920" y="373075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Ideal para: edificios, campus, data centers</a:t>
            </a:r>
            <a:endParaRPr lang="en-US" sz="1050" dirty="0"/>
          </a:p>
        </p:txBody>
      </p:sp>
      <p:sp>
        <p:nvSpPr>
          <p:cNvPr id="15" name="Text 13"/>
          <p:cNvSpPr/>
          <p:nvPr/>
        </p:nvSpPr>
        <p:spPr>
          <a:xfrm>
            <a:off x="502920" y="409651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Estándares: 10BaseFL, 100BaseFX, 1000BaseSX</a:t>
            </a:r>
            <a:endParaRPr lang="en-US" sz="1050" dirty="0"/>
          </a:p>
        </p:txBody>
      </p:sp>
      <p:sp>
        <p:nvSpPr>
          <p:cNvPr id="16" name="Shape 14"/>
          <p:cNvSpPr/>
          <p:nvPr/>
        </p:nvSpPr>
        <p:spPr>
          <a:xfrm>
            <a:off x="4663440" y="1051560"/>
            <a:ext cx="4114800" cy="3383280"/>
          </a:xfrm>
          <a:prstGeom prst="rect">
            <a:avLst/>
          </a:prstGeom>
          <a:solidFill>
            <a:srgbClr val="F0F7FC"/>
          </a:solidFill>
          <a:ln w="12700">
            <a:solidFill>
              <a:srgbClr val="B9DEF8"/>
            </a:solidFill>
            <a:prstDash val="solid"/>
          </a:ln>
        </p:spPr>
      </p:sp>
      <p:sp>
        <p:nvSpPr>
          <p:cNvPr id="17" name="Text 15"/>
          <p:cNvSpPr/>
          <p:nvPr/>
        </p:nvSpPr>
        <p:spPr>
          <a:xfrm>
            <a:off x="4663440" y="1051560"/>
            <a:ext cx="4114800" cy="365760"/>
          </a:xfrm>
          <a:prstGeom prst="rect">
            <a:avLst/>
          </a:prstGeom>
          <a:solidFill>
            <a:srgbClr val="3A7BAA"/>
          </a:solidFill>
          <a:ln/>
        </p:spPr>
        <p:txBody>
          <a:bodyPr wrap="square" rtlCol="0" anchor="ctr"/>
          <a:lstStyle/>
          <a:p>
            <a:pPr algn="ctr" indent="0" marL="0">
              <a:buNone/>
            </a:pPr>
            <a:r>
              <a:rPr lang="en-US" sz="1300" b="1" dirty="0">
                <a:solidFill>
                  <a:srgbClr val="FFFFFF"/>
                </a:solidFill>
              </a:rPr>
              <a:t>Fibra Monomodo (SMF)</a:t>
            </a:r>
            <a:endParaRPr lang="en-US" sz="1300" dirty="0"/>
          </a:p>
        </p:txBody>
      </p:sp>
      <p:sp>
        <p:nvSpPr>
          <p:cNvPr id="18" name="Text 16"/>
          <p:cNvSpPr/>
          <p:nvPr/>
        </p:nvSpPr>
        <p:spPr>
          <a:xfrm>
            <a:off x="4800600" y="153619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Núcleo: ~9 µm de diámetro</a:t>
            </a:r>
            <a:endParaRPr lang="en-US" sz="1050" dirty="0"/>
          </a:p>
        </p:txBody>
      </p:sp>
      <p:sp>
        <p:nvSpPr>
          <p:cNvPr id="19" name="Text 17"/>
          <p:cNvSpPr/>
          <p:nvPr/>
        </p:nvSpPr>
        <p:spPr>
          <a:xfrm>
            <a:off x="4800600" y="190195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Una sola trayectoria de luz</a:t>
            </a:r>
            <a:endParaRPr lang="en-US" sz="1050" dirty="0"/>
          </a:p>
        </p:txBody>
      </p:sp>
      <p:sp>
        <p:nvSpPr>
          <p:cNvPr id="20" name="Text 18"/>
          <p:cNvSpPr/>
          <p:nvPr/>
        </p:nvSpPr>
        <p:spPr>
          <a:xfrm>
            <a:off x="4800600" y="226771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Mínima dispersión → largas distancias</a:t>
            </a:r>
            <a:endParaRPr lang="en-US" sz="1050" dirty="0"/>
          </a:p>
        </p:txBody>
      </p:sp>
      <p:sp>
        <p:nvSpPr>
          <p:cNvPr id="21" name="Text 19"/>
          <p:cNvSpPr/>
          <p:nvPr/>
        </p:nvSpPr>
        <p:spPr>
          <a:xfrm>
            <a:off x="4800600" y="263347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Distancia típica: hasta 80 km (sin amplif.)</a:t>
            </a:r>
            <a:endParaRPr lang="en-US" sz="1050" dirty="0"/>
          </a:p>
        </p:txBody>
      </p:sp>
      <p:sp>
        <p:nvSpPr>
          <p:cNvPr id="22" name="Text 20"/>
          <p:cNvSpPr/>
          <p:nvPr/>
        </p:nvSpPr>
        <p:spPr>
          <a:xfrm>
            <a:off x="4800600" y="299923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Fuente de luz: Laser DFB o distribuido</a:t>
            </a:r>
            <a:endParaRPr lang="en-US" sz="1050" dirty="0"/>
          </a:p>
        </p:txBody>
      </p:sp>
      <p:sp>
        <p:nvSpPr>
          <p:cNvPr id="23" name="Text 21"/>
          <p:cNvSpPr/>
          <p:nvPr/>
        </p:nvSpPr>
        <p:spPr>
          <a:xfrm>
            <a:off x="4800600" y="336499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Mayor costo de equipos y conectores</a:t>
            </a:r>
            <a:endParaRPr lang="en-US" sz="1050" dirty="0"/>
          </a:p>
        </p:txBody>
      </p:sp>
      <p:sp>
        <p:nvSpPr>
          <p:cNvPr id="24" name="Text 22"/>
          <p:cNvSpPr/>
          <p:nvPr/>
        </p:nvSpPr>
        <p:spPr>
          <a:xfrm>
            <a:off x="4800600" y="373075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Ideal para: WAN, backbone, interurban</a:t>
            </a:r>
            <a:endParaRPr lang="en-US" sz="1050" dirty="0"/>
          </a:p>
        </p:txBody>
      </p:sp>
      <p:sp>
        <p:nvSpPr>
          <p:cNvPr id="25" name="Text 23"/>
          <p:cNvSpPr/>
          <p:nvPr/>
        </p:nvSpPr>
        <p:spPr>
          <a:xfrm>
            <a:off x="4800600" y="4096512"/>
            <a:ext cx="3840480" cy="338328"/>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 Estándares: 1000BaseLX, 10GBaseLR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2D3030"/>
                </a:solidFill>
                <a:latin typeface="Arial" pitchFamily="34" charset="0"/>
                <a:ea typeface="Arial" pitchFamily="34" charset="-122"/>
                <a:cs typeface="Arial" pitchFamily="34" charset="-120"/>
              </a:rPr>
              <a:t>Estándares IEEE 802.3 sobre Fibra Óptica</a:t>
            </a:r>
            <a:endParaRPr lang="en-US" sz="24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De 10 Mbps a 400 Gbps</a:t>
            </a:r>
            <a:endParaRPr lang="en-US" sz="1300" dirty="0"/>
          </a:p>
        </p:txBody>
      </p:sp>
      <p:sp>
        <p:nvSpPr>
          <p:cNvPr id="5" name="Shape 3"/>
          <p:cNvSpPr/>
          <p:nvPr/>
        </p:nvSpPr>
        <p:spPr>
          <a:xfrm>
            <a:off x="0" y="5079492"/>
            <a:ext cx="9144000" cy="64008"/>
          </a:xfrm>
          <a:prstGeom prst="rect">
            <a:avLst/>
          </a:prstGeom>
          <a:solidFill>
            <a:srgbClr val="5AA8D8"/>
          </a:solidFill>
          <a:ln w="12700">
            <a:solidFill>
              <a:srgbClr val="5AA8D8"/>
            </a:solidFill>
            <a:prstDash val="solid"/>
          </a:ln>
        </p:spPr>
      </p:sp>
      <p:sp>
        <p:nvSpPr>
          <p:cNvPr id="6" name="Shape 4"/>
          <p:cNvSpPr/>
          <p:nvPr/>
        </p:nvSpPr>
        <p:spPr>
          <a:xfrm>
            <a:off x="365760" y="1051560"/>
            <a:ext cx="8412480" cy="347472"/>
          </a:xfrm>
          <a:prstGeom prst="rect">
            <a:avLst/>
          </a:prstGeom>
          <a:solidFill>
            <a:srgbClr val="3A7BAA"/>
          </a:solidFill>
          <a:ln w="12700">
            <a:solidFill>
              <a:srgbClr val="3A7BAA"/>
            </a:solidFill>
            <a:prstDash val="solid"/>
          </a:ln>
        </p:spPr>
      </p:sp>
      <p:sp>
        <p:nvSpPr>
          <p:cNvPr id="7" name="Text 5"/>
          <p:cNvSpPr/>
          <p:nvPr/>
        </p:nvSpPr>
        <p:spPr>
          <a:xfrm>
            <a:off x="411480" y="1097280"/>
            <a:ext cx="13716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Estándar</a:t>
            </a:r>
            <a:endParaRPr lang="en-US" sz="1100" dirty="0"/>
          </a:p>
        </p:txBody>
      </p:sp>
      <p:sp>
        <p:nvSpPr>
          <p:cNvPr id="8" name="Text 6"/>
          <p:cNvSpPr/>
          <p:nvPr/>
        </p:nvSpPr>
        <p:spPr>
          <a:xfrm>
            <a:off x="1874520" y="1097280"/>
            <a:ext cx="82296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Velocidad</a:t>
            </a:r>
            <a:endParaRPr lang="en-US" sz="1100" dirty="0"/>
          </a:p>
        </p:txBody>
      </p:sp>
      <p:sp>
        <p:nvSpPr>
          <p:cNvPr id="9" name="Text 7"/>
          <p:cNvSpPr/>
          <p:nvPr/>
        </p:nvSpPr>
        <p:spPr>
          <a:xfrm>
            <a:off x="2788920" y="1097280"/>
            <a:ext cx="9144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Fibra</a:t>
            </a:r>
            <a:endParaRPr lang="en-US" sz="1100" dirty="0"/>
          </a:p>
        </p:txBody>
      </p:sp>
      <p:sp>
        <p:nvSpPr>
          <p:cNvPr id="10" name="Text 8"/>
          <p:cNvSpPr/>
          <p:nvPr/>
        </p:nvSpPr>
        <p:spPr>
          <a:xfrm>
            <a:off x="3794760" y="1097280"/>
            <a:ext cx="82296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Distancia</a:t>
            </a:r>
            <a:endParaRPr lang="en-US" sz="1100" dirty="0"/>
          </a:p>
        </p:txBody>
      </p:sp>
      <p:sp>
        <p:nvSpPr>
          <p:cNvPr id="11" name="Text 9"/>
          <p:cNvSpPr/>
          <p:nvPr/>
        </p:nvSpPr>
        <p:spPr>
          <a:xfrm>
            <a:off x="4709160" y="1097280"/>
            <a:ext cx="9144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Topología</a:t>
            </a:r>
            <a:endParaRPr lang="en-US" sz="1100" dirty="0"/>
          </a:p>
        </p:txBody>
      </p:sp>
      <p:sp>
        <p:nvSpPr>
          <p:cNvPr id="12" name="Text 10"/>
          <p:cNvSpPr/>
          <p:nvPr/>
        </p:nvSpPr>
        <p:spPr>
          <a:xfrm>
            <a:off x="5715000" y="1097280"/>
            <a:ext cx="73152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Estado</a:t>
            </a:r>
            <a:endParaRPr lang="en-US" sz="1100" dirty="0"/>
          </a:p>
        </p:txBody>
      </p:sp>
      <p:sp>
        <p:nvSpPr>
          <p:cNvPr id="13" name="Shape 11"/>
          <p:cNvSpPr/>
          <p:nvPr/>
        </p:nvSpPr>
        <p:spPr>
          <a:xfrm>
            <a:off x="365760" y="1399032"/>
            <a:ext cx="8412480" cy="402336"/>
          </a:xfrm>
          <a:prstGeom prst="rect">
            <a:avLst/>
          </a:prstGeom>
          <a:solidFill>
            <a:srgbClr val="F0F7FC"/>
          </a:solidFill>
          <a:ln w="6350">
            <a:solidFill>
              <a:srgbClr val="DDDDDD"/>
            </a:solidFill>
            <a:prstDash val="solid"/>
          </a:ln>
        </p:spPr>
      </p:sp>
      <p:sp>
        <p:nvSpPr>
          <p:cNvPr id="14" name="Text 12"/>
          <p:cNvSpPr/>
          <p:nvPr/>
        </p:nvSpPr>
        <p:spPr>
          <a:xfrm>
            <a:off x="411480" y="1453896"/>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10BaseFL</a:t>
            </a:r>
            <a:endParaRPr lang="en-US" sz="1100" dirty="0"/>
          </a:p>
        </p:txBody>
      </p:sp>
      <p:sp>
        <p:nvSpPr>
          <p:cNvPr id="15" name="Text 13"/>
          <p:cNvSpPr/>
          <p:nvPr/>
        </p:nvSpPr>
        <p:spPr>
          <a:xfrm>
            <a:off x="1874520" y="1453896"/>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Mbps</a:t>
            </a:r>
            <a:endParaRPr lang="en-US" sz="1000" dirty="0"/>
          </a:p>
        </p:txBody>
      </p:sp>
      <p:sp>
        <p:nvSpPr>
          <p:cNvPr id="16" name="Text 14"/>
          <p:cNvSpPr/>
          <p:nvPr/>
        </p:nvSpPr>
        <p:spPr>
          <a:xfrm>
            <a:off x="2788920" y="1453896"/>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Multimodo</a:t>
            </a:r>
            <a:endParaRPr lang="en-US" sz="1000" dirty="0"/>
          </a:p>
        </p:txBody>
      </p:sp>
      <p:sp>
        <p:nvSpPr>
          <p:cNvPr id="17" name="Text 15"/>
          <p:cNvSpPr/>
          <p:nvPr/>
        </p:nvSpPr>
        <p:spPr>
          <a:xfrm>
            <a:off x="3794760" y="1453896"/>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2.000 m</a:t>
            </a:r>
            <a:endParaRPr lang="en-US" sz="1000" dirty="0"/>
          </a:p>
        </p:txBody>
      </p:sp>
      <p:sp>
        <p:nvSpPr>
          <p:cNvPr id="18" name="Text 16"/>
          <p:cNvSpPr/>
          <p:nvPr/>
        </p:nvSpPr>
        <p:spPr>
          <a:xfrm>
            <a:off x="4709160" y="1453896"/>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Estrella</a:t>
            </a:r>
            <a:endParaRPr lang="en-US" sz="1000" dirty="0"/>
          </a:p>
        </p:txBody>
      </p:sp>
      <p:sp>
        <p:nvSpPr>
          <p:cNvPr id="19" name="Text 17"/>
          <p:cNvSpPr/>
          <p:nvPr/>
        </p:nvSpPr>
        <p:spPr>
          <a:xfrm>
            <a:off x="5715000" y="1453896"/>
            <a:ext cx="731520" cy="292608"/>
          </a:xfrm>
          <a:prstGeom prst="rect">
            <a:avLst/>
          </a:prstGeom>
          <a:noFill/>
          <a:ln/>
        </p:spPr>
        <p:txBody>
          <a:bodyPr wrap="square" rtlCol="0" anchor="ctr"/>
          <a:lstStyle/>
          <a:p>
            <a:pPr indent="0" marL="0">
              <a:buNone/>
            </a:pPr>
            <a:r>
              <a:rPr lang="en-US" sz="1000" dirty="0">
                <a:solidFill>
                  <a:srgbClr val="808080"/>
                </a:solidFill>
                <a:latin typeface="Arial" pitchFamily="34" charset="0"/>
                <a:ea typeface="Arial" pitchFamily="34" charset="-122"/>
                <a:cs typeface="Arial" pitchFamily="34" charset="-120"/>
              </a:rPr>
              <a:t>Legacy</a:t>
            </a:r>
            <a:endParaRPr lang="en-US" sz="1000" dirty="0"/>
          </a:p>
        </p:txBody>
      </p:sp>
      <p:sp>
        <p:nvSpPr>
          <p:cNvPr id="20" name="Shape 18"/>
          <p:cNvSpPr/>
          <p:nvPr/>
        </p:nvSpPr>
        <p:spPr>
          <a:xfrm>
            <a:off x="365760" y="1837944"/>
            <a:ext cx="8412480" cy="402336"/>
          </a:xfrm>
          <a:prstGeom prst="rect">
            <a:avLst/>
          </a:prstGeom>
          <a:solidFill>
            <a:srgbClr val="FFFFFF"/>
          </a:solidFill>
          <a:ln w="6350">
            <a:solidFill>
              <a:srgbClr val="DDDDDD"/>
            </a:solidFill>
            <a:prstDash val="solid"/>
          </a:ln>
        </p:spPr>
      </p:sp>
      <p:sp>
        <p:nvSpPr>
          <p:cNvPr id="21" name="Text 19"/>
          <p:cNvSpPr/>
          <p:nvPr/>
        </p:nvSpPr>
        <p:spPr>
          <a:xfrm>
            <a:off x="411480" y="1892808"/>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100BaseFX</a:t>
            </a:r>
            <a:endParaRPr lang="en-US" sz="1100" dirty="0"/>
          </a:p>
        </p:txBody>
      </p:sp>
      <p:sp>
        <p:nvSpPr>
          <p:cNvPr id="22" name="Text 20"/>
          <p:cNvSpPr/>
          <p:nvPr/>
        </p:nvSpPr>
        <p:spPr>
          <a:xfrm>
            <a:off x="1874520" y="1892808"/>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100 Mbps</a:t>
            </a:r>
            <a:endParaRPr lang="en-US" sz="1000" dirty="0"/>
          </a:p>
        </p:txBody>
      </p:sp>
      <p:sp>
        <p:nvSpPr>
          <p:cNvPr id="23" name="Text 21"/>
          <p:cNvSpPr/>
          <p:nvPr/>
        </p:nvSpPr>
        <p:spPr>
          <a:xfrm>
            <a:off x="2788920" y="1892808"/>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Multimodo</a:t>
            </a:r>
            <a:endParaRPr lang="en-US" sz="1000" dirty="0"/>
          </a:p>
        </p:txBody>
      </p:sp>
      <p:sp>
        <p:nvSpPr>
          <p:cNvPr id="24" name="Text 22"/>
          <p:cNvSpPr/>
          <p:nvPr/>
        </p:nvSpPr>
        <p:spPr>
          <a:xfrm>
            <a:off x="3794760" y="1892808"/>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2.000 m</a:t>
            </a:r>
            <a:endParaRPr lang="en-US" sz="1000" dirty="0"/>
          </a:p>
        </p:txBody>
      </p:sp>
      <p:sp>
        <p:nvSpPr>
          <p:cNvPr id="25" name="Text 23"/>
          <p:cNvSpPr/>
          <p:nvPr/>
        </p:nvSpPr>
        <p:spPr>
          <a:xfrm>
            <a:off x="4709160" y="1892808"/>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Estrella</a:t>
            </a:r>
            <a:endParaRPr lang="en-US" sz="1000" dirty="0"/>
          </a:p>
        </p:txBody>
      </p:sp>
      <p:sp>
        <p:nvSpPr>
          <p:cNvPr id="26" name="Text 24"/>
          <p:cNvSpPr/>
          <p:nvPr/>
        </p:nvSpPr>
        <p:spPr>
          <a:xfrm>
            <a:off x="5715000" y="1892808"/>
            <a:ext cx="731520" cy="292608"/>
          </a:xfrm>
          <a:prstGeom prst="rect">
            <a:avLst/>
          </a:prstGeom>
          <a:noFill/>
          <a:ln/>
        </p:spPr>
        <p:txBody>
          <a:bodyPr wrap="square" rtlCol="0" anchor="ctr"/>
          <a:lstStyle/>
          <a:p>
            <a:pPr indent="0" marL="0">
              <a:buNone/>
            </a:pPr>
            <a:r>
              <a:rPr lang="en-US" sz="1000" dirty="0">
                <a:solidFill>
                  <a:srgbClr val="808080"/>
                </a:solidFill>
                <a:latin typeface="Arial" pitchFamily="34" charset="0"/>
                <a:ea typeface="Arial" pitchFamily="34" charset="-122"/>
                <a:cs typeface="Arial" pitchFamily="34" charset="-120"/>
              </a:rPr>
              <a:t>Legacy</a:t>
            </a:r>
            <a:endParaRPr lang="en-US" sz="1000" dirty="0"/>
          </a:p>
        </p:txBody>
      </p:sp>
      <p:sp>
        <p:nvSpPr>
          <p:cNvPr id="27" name="Shape 25"/>
          <p:cNvSpPr/>
          <p:nvPr/>
        </p:nvSpPr>
        <p:spPr>
          <a:xfrm>
            <a:off x="365760" y="2276856"/>
            <a:ext cx="8412480" cy="402336"/>
          </a:xfrm>
          <a:prstGeom prst="rect">
            <a:avLst/>
          </a:prstGeom>
          <a:solidFill>
            <a:srgbClr val="F0F7FC"/>
          </a:solidFill>
          <a:ln w="6350">
            <a:solidFill>
              <a:srgbClr val="DDDDDD"/>
            </a:solidFill>
            <a:prstDash val="solid"/>
          </a:ln>
        </p:spPr>
      </p:sp>
      <p:sp>
        <p:nvSpPr>
          <p:cNvPr id="28" name="Text 26"/>
          <p:cNvSpPr/>
          <p:nvPr/>
        </p:nvSpPr>
        <p:spPr>
          <a:xfrm>
            <a:off x="411480" y="2331720"/>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1000BaseSX</a:t>
            </a:r>
            <a:endParaRPr lang="en-US" sz="1100" dirty="0"/>
          </a:p>
        </p:txBody>
      </p:sp>
      <p:sp>
        <p:nvSpPr>
          <p:cNvPr id="29" name="Text 27"/>
          <p:cNvSpPr/>
          <p:nvPr/>
        </p:nvSpPr>
        <p:spPr>
          <a:xfrm>
            <a:off x="1874520" y="2331720"/>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 Gbps</a:t>
            </a:r>
            <a:endParaRPr lang="en-US" sz="1000" dirty="0"/>
          </a:p>
        </p:txBody>
      </p:sp>
      <p:sp>
        <p:nvSpPr>
          <p:cNvPr id="30" name="Text 28"/>
          <p:cNvSpPr/>
          <p:nvPr/>
        </p:nvSpPr>
        <p:spPr>
          <a:xfrm>
            <a:off x="2788920" y="2331720"/>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Multimodo</a:t>
            </a:r>
            <a:endParaRPr lang="en-US" sz="1000" dirty="0"/>
          </a:p>
        </p:txBody>
      </p:sp>
      <p:sp>
        <p:nvSpPr>
          <p:cNvPr id="31" name="Text 29"/>
          <p:cNvSpPr/>
          <p:nvPr/>
        </p:nvSpPr>
        <p:spPr>
          <a:xfrm>
            <a:off x="3794760" y="2331720"/>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550 m</a:t>
            </a:r>
            <a:endParaRPr lang="en-US" sz="1000" dirty="0"/>
          </a:p>
        </p:txBody>
      </p:sp>
      <p:sp>
        <p:nvSpPr>
          <p:cNvPr id="32" name="Text 30"/>
          <p:cNvSpPr/>
          <p:nvPr/>
        </p:nvSpPr>
        <p:spPr>
          <a:xfrm>
            <a:off x="4709160" y="2331720"/>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Estrella</a:t>
            </a:r>
            <a:endParaRPr lang="en-US" sz="1000" dirty="0"/>
          </a:p>
        </p:txBody>
      </p:sp>
      <p:sp>
        <p:nvSpPr>
          <p:cNvPr id="33" name="Text 31"/>
          <p:cNvSpPr/>
          <p:nvPr/>
        </p:nvSpPr>
        <p:spPr>
          <a:xfrm>
            <a:off x="5715000" y="2331720"/>
            <a:ext cx="73152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En uso</a:t>
            </a:r>
            <a:endParaRPr lang="en-US" sz="1000" dirty="0"/>
          </a:p>
        </p:txBody>
      </p:sp>
      <p:sp>
        <p:nvSpPr>
          <p:cNvPr id="34" name="Shape 32"/>
          <p:cNvSpPr/>
          <p:nvPr/>
        </p:nvSpPr>
        <p:spPr>
          <a:xfrm>
            <a:off x="365760" y="2715768"/>
            <a:ext cx="8412480" cy="402336"/>
          </a:xfrm>
          <a:prstGeom prst="rect">
            <a:avLst/>
          </a:prstGeom>
          <a:solidFill>
            <a:srgbClr val="FFFFFF"/>
          </a:solidFill>
          <a:ln w="6350">
            <a:solidFill>
              <a:srgbClr val="DDDDDD"/>
            </a:solidFill>
            <a:prstDash val="solid"/>
          </a:ln>
        </p:spPr>
      </p:sp>
      <p:sp>
        <p:nvSpPr>
          <p:cNvPr id="35" name="Text 33"/>
          <p:cNvSpPr/>
          <p:nvPr/>
        </p:nvSpPr>
        <p:spPr>
          <a:xfrm>
            <a:off x="411480" y="2770632"/>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1000BaseLX</a:t>
            </a:r>
            <a:endParaRPr lang="en-US" sz="1100" dirty="0"/>
          </a:p>
        </p:txBody>
      </p:sp>
      <p:sp>
        <p:nvSpPr>
          <p:cNvPr id="36" name="Text 34"/>
          <p:cNvSpPr/>
          <p:nvPr/>
        </p:nvSpPr>
        <p:spPr>
          <a:xfrm>
            <a:off x="1874520" y="2770632"/>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 Gbps</a:t>
            </a:r>
            <a:endParaRPr lang="en-US" sz="1000" dirty="0"/>
          </a:p>
        </p:txBody>
      </p:sp>
      <p:sp>
        <p:nvSpPr>
          <p:cNvPr id="37" name="Text 35"/>
          <p:cNvSpPr/>
          <p:nvPr/>
        </p:nvSpPr>
        <p:spPr>
          <a:xfrm>
            <a:off x="2788920" y="2770632"/>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Monomodo</a:t>
            </a:r>
            <a:endParaRPr lang="en-US" sz="1000" dirty="0"/>
          </a:p>
        </p:txBody>
      </p:sp>
      <p:sp>
        <p:nvSpPr>
          <p:cNvPr id="38" name="Text 36"/>
          <p:cNvSpPr/>
          <p:nvPr/>
        </p:nvSpPr>
        <p:spPr>
          <a:xfrm>
            <a:off x="3794760" y="2770632"/>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5.000 m</a:t>
            </a:r>
            <a:endParaRPr lang="en-US" sz="1000" dirty="0"/>
          </a:p>
        </p:txBody>
      </p:sp>
      <p:sp>
        <p:nvSpPr>
          <p:cNvPr id="39" name="Text 37"/>
          <p:cNvSpPr/>
          <p:nvPr/>
        </p:nvSpPr>
        <p:spPr>
          <a:xfrm>
            <a:off x="4709160" y="2770632"/>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Estrella</a:t>
            </a:r>
            <a:endParaRPr lang="en-US" sz="1000" dirty="0"/>
          </a:p>
        </p:txBody>
      </p:sp>
      <p:sp>
        <p:nvSpPr>
          <p:cNvPr id="40" name="Text 38"/>
          <p:cNvSpPr/>
          <p:nvPr/>
        </p:nvSpPr>
        <p:spPr>
          <a:xfrm>
            <a:off x="5715000" y="2770632"/>
            <a:ext cx="73152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En uso</a:t>
            </a:r>
            <a:endParaRPr lang="en-US" sz="1000" dirty="0"/>
          </a:p>
        </p:txBody>
      </p:sp>
      <p:sp>
        <p:nvSpPr>
          <p:cNvPr id="41" name="Shape 39"/>
          <p:cNvSpPr/>
          <p:nvPr/>
        </p:nvSpPr>
        <p:spPr>
          <a:xfrm>
            <a:off x="365760" y="3154680"/>
            <a:ext cx="8412480" cy="402336"/>
          </a:xfrm>
          <a:prstGeom prst="rect">
            <a:avLst/>
          </a:prstGeom>
          <a:solidFill>
            <a:srgbClr val="F0F7FC"/>
          </a:solidFill>
          <a:ln w="6350">
            <a:solidFill>
              <a:srgbClr val="DDDDDD"/>
            </a:solidFill>
            <a:prstDash val="solid"/>
          </a:ln>
        </p:spPr>
      </p:sp>
      <p:sp>
        <p:nvSpPr>
          <p:cNvPr id="42" name="Text 40"/>
          <p:cNvSpPr/>
          <p:nvPr/>
        </p:nvSpPr>
        <p:spPr>
          <a:xfrm>
            <a:off x="411480" y="3209544"/>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10GBaseSR</a:t>
            </a:r>
            <a:endParaRPr lang="en-US" sz="1100" dirty="0"/>
          </a:p>
        </p:txBody>
      </p:sp>
      <p:sp>
        <p:nvSpPr>
          <p:cNvPr id="43" name="Text 41"/>
          <p:cNvSpPr/>
          <p:nvPr/>
        </p:nvSpPr>
        <p:spPr>
          <a:xfrm>
            <a:off x="1874520" y="3209544"/>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Gbps</a:t>
            </a:r>
            <a:endParaRPr lang="en-US" sz="1000" dirty="0"/>
          </a:p>
        </p:txBody>
      </p:sp>
      <p:sp>
        <p:nvSpPr>
          <p:cNvPr id="44" name="Text 42"/>
          <p:cNvSpPr/>
          <p:nvPr/>
        </p:nvSpPr>
        <p:spPr>
          <a:xfrm>
            <a:off x="2788920" y="3209544"/>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Multimodo</a:t>
            </a:r>
            <a:endParaRPr lang="en-US" sz="1000" dirty="0"/>
          </a:p>
        </p:txBody>
      </p:sp>
      <p:sp>
        <p:nvSpPr>
          <p:cNvPr id="45" name="Text 43"/>
          <p:cNvSpPr/>
          <p:nvPr/>
        </p:nvSpPr>
        <p:spPr>
          <a:xfrm>
            <a:off x="3794760" y="3209544"/>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300 m</a:t>
            </a:r>
            <a:endParaRPr lang="en-US" sz="1000" dirty="0"/>
          </a:p>
        </p:txBody>
      </p:sp>
      <p:sp>
        <p:nvSpPr>
          <p:cNvPr id="46" name="Text 44"/>
          <p:cNvSpPr/>
          <p:nvPr/>
        </p:nvSpPr>
        <p:spPr>
          <a:xfrm>
            <a:off x="4709160" y="3209544"/>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Estrella</a:t>
            </a:r>
            <a:endParaRPr lang="en-US" sz="1000" dirty="0"/>
          </a:p>
        </p:txBody>
      </p:sp>
      <p:sp>
        <p:nvSpPr>
          <p:cNvPr id="47" name="Text 45"/>
          <p:cNvSpPr/>
          <p:nvPr/>
        </p:nvSpPr>
        <p:spPr>
          <a:xfrm>
            <a:off x="5715000" y="3209544"/>
            <a:ext cx="731520" cy="292608"/>
          </a:xfrm>
          <a:prstGeom prst="rect">
            <a:avLst/>
          </a:prstGeom>
          <a:noFill/>
          <a:ln/>
        </p:spPr>
        <p:txBody>
          <a:bodyPr wrap="square" rtlCol="0" anchor="ctr"/>
          <a:lstStyle/>
          <a:p>
            <a:pPr indent="0" marL="0">
              <a:buNone/>
            </a:pPr>
            <a:r>
              <a:rPr lang="en-US" sz="1000" dirty="0">
                <a:solidFill>
                  <a:srgbClr val="3A7BAA"/>
                </a:solidFill>
                <a:latin typeface="Arial" pitchFamily="34" charset="0"/>
                <a:ea typeface="Arial" pitchFamily="34" charset="-122"/>
                <a:cs typeface="Arial" pitchFamily="34" charset="-120"/>
              </a:rPr>
              <a:t>Actual</a:t>
            </a:r>
            <a:endParaRPr lang="en-US" sz="1000" dirty="0"/>
          </a:p>
        </p:txBody>
      </p:sp>
      <p:sp>
        <p:nvSpPr>
          <p:cNvPr id="48" name="Shape 46"/>
          <p:cNvSpPr/>
          <p:nvPr/>
        </p:nvSpPr>
        <p:spPr>
          <a:xfrm>
            <a:off x="365760" y="3593592"/>
            <a:ext cx="8412480" cy="402336"/>
          </a:xfrm>
          <a:prstGeom prst="rect">
            <a:avLst/>
          </a:prstGeom>
          <a:solidFill>
            <a:srgbClr val="FFFFFF"/>
          </a:solidFill>
          <a:ln w="6350">
            <a:solidFill>
              <a:srgbClr val="DDDDDD"/>
            </a:solidFill>
            <a:prstDash val="solid"/>
          </a:ln>
        </p:spPr>
      </p:sp>
      <p:sp>
        <p:nvSpPr>
          <p:cNvPr id="49" name="Text 47"/>
          <p:cNvSpPr/>
          <p:nvPr/>
        </p:nvSpPr>
        <p:spPr>
          <a:xfrm>
            <a:off x="411480" y="3648456"/>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10GBaseLR</a:t>
            </a:r>
            <a:endParaRPr lang="en-US" sz="1100" dirty="0"/>
          </a:p>
        </p:txBody>
      </p:sp>
      <p:sp>
        <p:nvSpPr>
          <p:cNvPr id="50" name="Text 48"/>
          <p:cNvSpPr/>
          <p:nvPr/>
        </p:nvSpPr>
        <p:spPr>
          <a:xfrm>
            <a:off x="1874520" y="3648456"/>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Gbps</a:t>
            </a:r>
            <a:endParaRPr lang="en-US" sz="1000" dirty="0"/>
          </a:p>
        </p:txBody>
      </p:sp>
      <p:sp>
        <p:nvSpPr>
          <p:cNvPr id="51" name="Text 49"/>
          <p:cNvSpPr/>
          <p:nvPr/>
        </p:nvSpPr>
        <p:spPr>
          <a:xfrm>
            <a:off x="2788920" y="3648456"/>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Monomodo</a:t>
            </a:r>
            <a:endParaRPr lang="en-US" sz="1000" dirty="0"/>
          </a:p>
        </p:txBody>
      </p:sp>
      <p:sp>
        <p:nvSpPr>
          <p:cNvPr id="52" name="Text 50"/>
          <p:cNvSpPr/>
          <p:nvPr/>
        </p:nvSpPr>
        <p:spPr>
          <a:xfrm>
            <a:off x="3794760" y="3648456"/>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 km</a:t>
            </a:r>
            <a:endParaRPr lang="en-US" sz="1000" dirty="0"/>
          </a:p>
        </p:txBody>
      </p:sp>
      <p:sp>
        <p:nvSpPr>
          <p:cNvPr id="53" name="Text 51"/>
          <p:cNvSpPr/>
          <p:nvPr/>
        </p:nvSpPr>
        <p:spPr>
          <a:xfrm>
            <a:off x="4709160" y="3648456"/>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Punto-punto</a:t>
            </a:r>
            <a:endParaRPr lang="en-US" sz="1000" dirty="0"/>
          </a:p>
        </p:txBody>
      </p:sp>
      <p:sp>
        <p:nvSpPr>
          <p:cNvPr id="54" name="Text 52"/>
          <p:cNvSpPr/>
          <p:nvPr/>
        </p:nvSpPr>
        <p:spPr>
          <a:xfrm>
            <a:off x="5715000" y="3648456"/>
            <a:ext cx="731520" cy="292608"/>
          </a:xfrm>
          <a:prstGeom prst="rect">
            <a:avLst/>
          </a:prstGeom>
          <a:noFill/>
          <a:ln/>
        </p:spPr>
        <p:txBody>
          <a:bodyPr wrap="square" rtlCol="0" anchor="ctr"/>
          <a:lstStyle/>
          <a:p>
            <a:pPr indent="0" marL="0">
              <a:buNone/>
            </a:pPr>
            <a:r>
              <a:rPr lang="en-US" sz="1000" dirty="0">
                <a:solidFill>
                  <a:srgbClr val="3A7BAA"/>
                </a:solidFill>
                <a:latin typeface="Arial" pitchFamily="34" charset="0"/>
                <a:ea typeface="Arial" pitchFamily="34" charset="-122"/>
                <a:cs typeface="Arial" pitchFamily="34" charset="-120"/>
              </a:rPr>
              <a:t>Actual</a:t>
            </a:r>
            <a:endParaRPr lang="en-US" sz="1000" dirty="0"/>
          </a:p>
        </p:txBody>
      </p:sp>
      <p:sp>
        <p:nvSpPr>
          <p:cNvPr id="55" name="Shape 53"/>
          <p:cNvSpPr/>
          <p:nvPr/>
        </p:nvSpPr>
        <p:spPr>
          <a:xfrm>
            <a:off x="365760" y="4032504"/>
            <a:ext cx="8412480" cy="402336"/>
          </a:xfrm>
          <a:prstGeom prst="rect">
            <a:avLst/>
          </a:prstGeom>
          <a:solidFill>
            <a:srgbClr val="F0F7FC"/>
          </a:solidFill>
          <a:ln w="6350">
            <a:solidFill>
              <a:srgbClr val="DDDDDD"/>
            </a:solidFill>
            <a:prstDash val="solid"/>
          </a:ln>
        </p:spPr>
      </p:sp>
      <p:sp>
        <p:nvSpPr>
          <p:cNvPr id="56" name="Text 54"/>
          <p:cNvSpPr/>
          <p:nvPr/>
        </p:nvSpPr>
        <p:spPr>
          <a:xfrm>
            <a:off x="411480" y="4087368"/>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100GBaseSR4</a:t>
            </a:r>
            <a:endParaRPr lang="en-US" sz="1100" dirty="0"/>
          </a:p>
        </p:txBody>
      </p:sp>
      <p:sp>
        <p:nvSpPr>
          <p:cNvPr id="57" name="Text 55"/>
          <p:cNvSpPr/>
          <p:nvPr/>
        </p:nvSpPr>
        <p:spPr>
          <a:xfrm>
            <a:off x="1874520" y="4087368"/>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100 Gbps</a:t>
            </a:r>
            <a:endParaRPr lang="en-US" sz="1000" dirty="0"/>
          </a:p>
        </p:txBody>
      </p:sp>
      <p:sp>
        <p:nvSpPr>
          <p:cNvPr id="58" name="Text 56"/>
          <p:cNvSpPr/>
          <p:nvPr/>
        </p:nvSpPr>
        <p:spPr>
          <a:xfrm>
            <a:off x="2788920" y="4087368"/>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Multimodo</a:t>
            </a:r>
            <a:endParaRPr lang="en-US" sz="1000" dirty="0"/>
          </a:p>
        </p:txBody>
      </p:sp>
      <p:sp>
        <p:nvSpPr>
          <p:cNvPr id="59" name="Text 57"/>
          <p:cNvSpPr/>
          <p:nvPr/>
        </p:nvSpPr>
        <p:spPr>
          <a:xfrm>
            <a:off x="3794760" y="4087368"/>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100 m</a:t>
            </a:r>
            <a:endParaRPr lang="en-US" sz="1000" dirty="0"/>
          </a:p>
        </p:txBody>
      </p:sp>
      <p:sp>
        <p:nvSpPr>
          <p:cNvPr id="60" name="Text 58"/>
          <p:cNvSpPr/>
          <p:nvPr/>
        </p:nvSpPr>
        <p:spPr>
          <a:xfrm>
            <a:off x="4709160" y="4087368"/>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DC</a:t>
            </a:r>
            <a:endParaRPr lang="en-US" sz="1000" dirty="0"/>
          </a:p>
        </p:txBody>
      </p:sp>
      <p:sp>
        <p:nvSpPr>
          <p:cNvPr id="61" name="Text 59"/>
          <p:cNvSpPr/>
          <p:nvPr/>
        </p:nvSpPr>
        <p:spPr>
          <a:xfrm>
            <a:off x="5715000" y="4087368"/>
            <a:ext cx="731520" cy="292608"/>
          </a:xfrm>
          <a:prstGeom prst="rect">
            <a:avLst/>
          </a:prstGeom>
          <a:noFill/>
          <a:ln/>
        </p:spPr>
        <p:txBody>
          <a:bodyPr wrap="square" rtlCol="0" anchor="ctr"/>
          <a:lstStyle/>
          <a:p>
            <a:pPr indent="0" marL="0">
              <a:buNone/>
            </a:pPr>
            <a:r>
              <a:rPr lang="en-US" sz="1000" dirty="0">
                <a:solidFill>
                  <a:srgbClr val="3A7BAA"/>
                </a:solidFill>
                <a:latin typeface="Arial" pitchFamily="34" charset="0"/>
                <a:ea typeface="Arial" pitchFamily="34" charset="-122"/>
                <a:cs typeface="Arial" pitchFamily="34" charset="-120"/>
              </a:rPr>
              <a:t>Moderno</a:t>
            </a:r>
            <a:endParaRPr lang="en-US" sz="1000" dirty="0"/>
          </a:p>
        </p:txBody>
      </p:sp>
      <p:sp>
        <p:nvSpPr>
          <p:cNvPr id="62" name="Shape 60"/>
          <p:cNvSpPr/>
          <p:nvPr/>
        </p:nvSpPr>
        <p:spPr>
          <a:xfrm>
            <a:off x="365760" y="4471416"/>
            <a:ext cx="8412480" cy="402336"/>
          </a:xfrm>
          <a:prstGeom prst="rect">
            <a:avLst/>
          </a:prstGeom>
          <a:solidFill>
            <a:srgbClr val="FFFFFF"/>
          </a:solidFill>
          <a:ln w="6350">
            <a:solidFill>
              <a:srgbClr val="DDDDDD"/>
            </a:solidFill>
            <a:prstDash val="solid"/>
          </a:ln>
        </p:spPr>
      </p:sp>
      <p:sp>
        <p:nvSpPr>
          <p:cNvPr id="63" name="Text 61"/>
          <p:cNvSpPr/>
          <p:nvPr/>
        </p:nvSpPr>
        <p:spPr>
          <a:xfrm>
            <a:off x="411480" y="4526280"/>
            <a:ext cx="1371600" cy="292608"/>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400GBase-DR4</a:t>
            </a:r>
            <a:endParaRPr lang="en-US" sz="1100" dirty="0"/>
          </a:p>
        </p:txBody>
      </p:sp>
      <p:sp>
        <p:nvSpPr>
          <p:cNvPr id="64" name="Text 62"/>
          <p:cNvSpPr/>
          <p:nvPr/>
        </p:nvSpPr>
        <p:spPr>
          <a:xfrm>
            <a:off x="1874520" y="4526280"/>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400 Gbps</a:t>
            </a:r>
            <a:endParaRPr lang="en-US" sz="1000" dirty="0"/>
          </a:p>
        </p:txBody>
      </p:sp>
      <p:sp>
        <p:nvSpPr>
          <p:cNvPr id="65" name="Text 63"/>
          <p:cNvSpPr/>
          <p:nvPr/>
        </p:nvSpPr>
        <p:spPr>
          <a:xfrm>
            <a:off x="2788920" y="4526280"/>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Monomodo</a:t>
            </a:r>
            <a:endParaRPr lang="en-US" sz="1000" dirty="0"/>
          </a:p>
        </p:txBody>
      </p:sp>
      <p:sp>
        <p:nvSpPr>
          <p:cNvPr id="66" name="Text 64"/>
          <p:cNvSpPr/>
          <p:nvPr/>
        </p:nvSpPr>
        <p:spPr>
          <a:xfrm>
            <a:off x="3794760" y="4526280"/>
            <a:ext cx="82296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500 m</a:t>
            </a:r>
            <a:endParaRPr lang="en-US" sz="1000" dirty="0"/>
          </a:p>
        </p:txBody>
      </p:sp>
      <p:sp>
        <p:nvSpPr>
          <p:cNvPr id="67" name="Text 65"/>
          <p:cNvSpPr/>
          <p:nvPr/>
        </p:nvSpPr>
        <p:spPr>
          <a:xfrm>
            <a:off x="4709160" y="4526280"/>
            <a:ext cx="914400" cy="292608"/>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DC</a:t>
            </a:r>
            <a:endParaRPr lang="en-US" sz="1000" dirty="0"/>
          </a:p>
        </p:txBody>
      </p:sp>
      <p:sp>
        <p:nvSpPr>
          <p:cNvPr id="68" name="Text 66"/>
          <p:cNvSpPr/>
          <p:nvPr/>
        </p:nvSpPr>
        <p:spPr>
          <a:xfrm>
            <a:off x="5715000" y="4526280"/>
            <a:ext cx="731520" cy="292608"/>
          </a:xfrm>
          <a:prstGeom prst="rect">
            <a:avLst/>
          </a:prstGeom>
          <a:noFill/>
          <a:ln/>
        </p:spPr>
        <p:txBody>
          <a:bodyPr wrap="square" rtlCol="0" anchor="ctr"/>
          <a:lstStyle/>
          <a:p>
            <a:pPr indent="0" marL="0">
              <a:buNone/>
            </a:pPr>
            <a:r>
              <a:rPr lang="en-US" sz="1000" dirty="0">
                <a:solidFill>
                  <a:srgbClr val="3A7BAA"/>
                </a:solidFill>
                <a:latin typeface="Arial" pitchFamily="34" charset="0"/>
                <a:ea typeface="Arial" pitchFamily="34" charset="-122"/>
                <a:cs typeface="Arial" pitchFamily="34" charset="-120"/>
              </a:rPr>
              <a:t>2024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303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Actualización Tecnológica 2024-2025</a:t>
            </a:r>
            <a:endParaRPr lang="en-US" sz="2400" dirty="0"/>
          </a:p>
        </p:txBody>
      </p:sp>
      <p:sp>
        <p:nvSpPr>
          <p:cNvPr id="4" name="Text 2"/>
          <p:cNvSpPr/>
          <p:nvPr/>
        </p:nvSpPr>
        <p:spPr>
          <a:xfrm>
            <a:off x="457200" y="694944"/>
            <a:ext cx="8229600" cy="274320"/>
          </a:xfrm>
          <a:prstGeom prst="rect">
            <a:avLst/>
          </a:prstGeom>
          <a:noFill/>
          <a:ln/>
        </p:spPr>
        <p:txBody>
          <a:bodyPr wrap="square" lIns="0" tIns="0" rIns="0" bIns="0" rtlCol="0" anchor="ctr"/>
          <a:lstStyle/>
          <a:p>
            <a:pPr indent="0" marL="0">
              <a:buNone/>
            </a:pPr>
            <a:r>
              <a:rPr lang="en-US" sz="1300" dirty="0">
                <a:solidFill>
                  <a:srgbClr val="5AA8D8"/>
                </a:solidFill>
                <a:latin typeface="Arial" pitchFamily="34" charset="0"/>
                <a:ea typeface="Arial" pitchFamily="34" charset="-122"/>
                <a:cs typeface="Arial" pitchFamily="34" charset="-120"/>
              </a:rPr>
              <a:t>Más allá del libro de texto: ¿qué está pasando hoy?</a:t>
            </a:r>
            <a:endParaRPr lang="en-US" sz="1300" dirty="0"/>
          </a:p>
        </p:txBody>
      </p:sp>
      <p:sp>
        <p:nvSpPr>
          <p:cNvPr id="5" name="Shape 3"/>
          <p:cNvSpPr/>
          <p:nvPr/>
        </p:nvSpPr>
        <p:spPr>
          <a:xfrm>
            <a:off x="365760" y="1097280"/>
            <a:ext cx="4114800" cy="1024128"/>
          </a:xfrm>
          <a:prstGeom prst="rect">
            <a:avLst/>
          </a:prstGeom>
          <a:solidFill>
            <a:srgbClr val="1E2F3A"/>
          </a:solidFill>
          <a:ln w="12700">
            <a:solidFill>
              <a:srgbClr val="5AA8D8"/>
            </a:solidFill>
            <a:prstDash val="solid"/>
          </a:ln>
        </p:spPr>
      </p:sp>
      <p:sp>
        <p:nvSpPr>
          <p:cNvPr id="6" name="Text 4"/>
          <p:cNvSpPr/>
          <p:nvPr/>
        </p:nvSpPr>
        <p:spPr>
          <a:xfrm>
            <a:off x="502920" y="1188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Wi-Fi 7 (802.11be)</a:t>
            </a:r>
            <a:endParaRPr lang="en-US" sz="1200" dirty="0"/>
          </a:p>
        </p:txBody>
      </p:sp>
      <p:sp>
        <p:nvSpPr>
          <p:cNvPr id="7" name="Text 5"/>
          <p:cNvSpPr/>
          <p:nvPr/>
        </p:nvSpPr>
        <p:spPr>
          <a:xfrm>
            <a:off x="502920" y="1444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Requiere backbone 10GbE. El cable físico sigue siendo clave. Velocidad teórica: 46 Gbps en 6 GHz.</a:t>
            </a:r>
            <a:endParaRPr lang="en-US" sz="1050" dirty="0"/>
          </a:p>
        </p:txBody>
      </p:sp>
      <p:sp>
        <p:nvSpPr>
          <p:cNvPr id="8" name="Shape 6"/>
          <p:cNvSpPr/>
          <p:nvPr/>
        </p:nvSpPr>
        <p:spPr>
          <a:xfrm>
            <a:off x="365760" y="2240280"/>
            <a:ext cx="4114800" cy="1024128"/>
          </a:xfrm>
          <a:prstGeom prst="rect">
            <a:avLst/>
          </a:prstGeom>
          <a:solidFill>
            <a:srgbClr val="1E2F3A"/>
          </a:solidFill>
          <a:ln w="12700">
            <a:solidFill>
              <a:srgbClr val="5AA8D8"/>
            </a:solidFill>
            <a:prstDash val="solid"/>
          </a:ln>
        </p:spPr>
      </p:sp>
      <p:sp>
        <p:nvSpPr>
          <p:cNvPr id="9" name="Text 7"/>
          <p:cNvSpPr/>
          <p:nvPr/>
        </p:nvSpPr>
        <p:spPr>
          <a:xfrm>
            <a:off x="502920" y="2331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Cat 6A / Cat 8</a:t>
            </a:r>
            <a:endParaRPr lang="en-US" sz="1200" dirty="0"/>
          </a:p>
        </p:txBody>
      </p:sp>
      <p:sp>
        <p:nvSpPr>
          <p:cNvPr id="10" name="Text 8"/>
          <p:cNvSpPr/>
          <p:nvPr/>
        </p:nvSpPr>
        <p:spPr>
          <a:xfrm>
            <a:off x="502920" y="2587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Cat 6A es el mínimo recomendado en 2024. Cat 8 para conexiones cortas en racks (hasta 40 Gbps / 30 m).</a:t>
            </a:r>
            <a:endParaRPr lang="en-US" sz="1050" dirty="0"/>
          </a:p>
        </p:txBody>
      </p:sp>
      <p:sp>
        <p:nvSpPr>
          <p:cNvPr id="11" name="Shape 9"/>
          <p:cNvSpPr/>
          <p:nvPr/>
        </p:nvSpPr>
        <p:spPr>
          <a:xfrm>
            <a:off x="365760" y="3383280"/>
            <a:ext cx="4114800" cy="1024128"/>
          </a:xfrm>
          <a:prstGeom prst="rect">
            <a:avLst/>
          </a:prstGeom>
          <a:solidFill>
            <a:srgbClr val="1E2F3A"/>
          </a:solidFill>
          <a:ln w="12700">
            <a:solidFill>
              <a:srgbClr val="5AA8D8"/>
            </a:solidFill>
            <a:prstDash val="solid"/>
          </a:ln>
        </p:spPr>
      </p:sp>
      <p:sp>
        <p:nvSpPr>
          <p:cNvPr id="12" name="Text 10"/>
          <p:cNvSpPr/>
          <p:nvPr/>
        </p:nvSpPr>
        <p:spPr>
          <a:xfrm>
            <a:off x="502920" y="3474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PoE++ (802.3bt)</a:t>
            </a:r>
            <a:endParaRPr lang="en-US" sz="1200" dirty="0"/>
          </a:p>
        </p:txBody>
      </p:sp>
      <p:sp>
        <p:nvSpPr>
          <p:cNvPr id="13" name="Text 11"/>
          <p:cNvSpPr/>
          <p:nvPr/>
        </p:nvSpPr>
        <p:spPr>
          <a:xfrm>
            <a:off x="502920" y="3730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Hasta 90W por cable UTP. Alimenta access points Wi-Fi 6/7, cámaras 4K, pantallas IP y hasta laptops.</a:t>
            </a:r>
            <a:endParaRPr lang="en-US" sz="1050" dirty="0"/>
          </a:p>
        </p:txBody>
      </p:sp>
      <p:sp>
        <p:nvSpPr>
          <p:cNvPr id="14" name="Shape 12"/>
          <p:cNvSpPr/>
          <p:nvPr/>
        </p:nvSpPr>
        <p:spPr>
          <a:xfrm>
            <a:off x="4663440" y="1097280"/>
            <a:ext cx="4114800" cy="1024128"/>
          </a:xfrm>
          <a:prstGeom prst="rect">
            <a:avLst/>
          </a:prstGeom>
          <a:solidFill>
            <a:srgbClr val="1E2F3A"/>
          </a:solidFill>
          <a:ln w="12700">
            <a:solidFill>
              <a:srgbClr val="5AA8D8"/>
            </a:solidFill>
            <a:prstDash val="solid"/>
          </a:ln>
        </p:spPr>
      </p:sp>
      <p:sp>
        <p:nvSpPr>
          <p:cNvPr id="15" name="Text 13"/>
          <p:cNvSpPr/>
          <p:nvPr/>
        </p:nvSpPr>
        <p:spPr>
          <a:xfrm>
            <a:off x="4800600" y="1188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SPE (802.3cg)</a:t>
            </a:r>
            <a:endParaRPr lang="en-US" sz="1200" dirty="0"/>
          </a:p>
        </p:txBody>
      </p:sp>
      <p:sp>
        <p:nvSpPr>
          <p:cNvPr id="16" name="Text 14"/>
          <p:cNvSpPr/>
          <p:nvPr/>
        </p:nvSpPr>
        <p:spPr>
          <a:xfrm>
            <a:off x="4800600" y="1444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Single Pair Ethernet: 10 Mbps en un único par. Para sensores IoT industriales y automatización (Industry 4.0).</a:t>
            </a:r>
            <a:endParaRPr lang="en-US" sz="1050" dirty="0"/>
          </a:p>
        </p:txBody>
      </p:sp>
      <p:sp>
        <p:nvSpPr>
          <p:cNvPr id="17" name="Shape 15"/>
          <p:cNvSpPr/>
          <p:nvPr/>
        </p:nvSpPr>
        <p:spPr>
          <a:xfrm>
            <a:off x="4663440" y="2240280"/>
            <a:ext cx="4114800" cy="1024128"/>
          </a:xfrm>
          <a:prstGeom prst="rect">
            <a:avLst/>
          </a:prstGeom>
          <a:solidFill>
            <a:srgbClr val="1E2F3A"/>
          </a:solidFill>
          <a:ln w="12700">
            <a:solidFill>
              <a:srgbClr val="5AA8D8"/>
            </a:solidFill>
            <a:prstDash val="solid"/>
          </a:ln>
        </p:spPr>
      </p:sp>
      <p:sp>
        <p:nvSpPr>
          <p:cNvPr id="18" name="Text 16"/>
          <p:cNvSpPr/>
          <p:nvPr/>
        </p:nvSpPr>
        <p:spPr>
          <a:xfrm>
            <a:off x="4800600" y="2331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Coherent Optics 400G/800G</a:t>
            </a:r>
            <a:endParaRPr lang="en-US" sz="1200" dirty="0"/>
          </a:p>
        </p:txBody>
      </p:sp>
      <p:sp>
        <p:nvSpPr>
          <p:cNvPr id="19" name="Text 17"/>
          <p:cNvSpPr/>
          <p:nvPr/>
        </p:nvSpPr>
        <p:spPr>
          <a:xfrm>
            <a:off x="4800600" y="2587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Backbone de internet: 400 Gbps y 800 Gbps por fibra monomodo. Redes submarinas intercontinentales.</a:t>
            </a:r>
            <a:endParaRPr lang="en-US" sz="1050" dirty="0"/>
          </a:p>
        </p:txBody>
      </p:sp>
      <p:sp>
        <p:nvSpPr>
          <p:cNvPr id="20" name="Shape 18"/>
          <p:cNvSpPr/>
          <p:nvPr/>
        </p:nvSpPr>
        <p:spPr>
          <a:xfrm>
            <a:off x="4663440" y="3383280"/>
            <a:ext cx="4114800" cy="1024128"/>
          </a:xfrm>
          <a:prstGeom prst="rect">
            <a:avLst/>
          </a:prstGeom>
          <a:solidFill>
            <a:srgbClr val="1E2F3A"/>
          </a:solidFill>
          <a:ln w="12700">
            <a:solidFill>
              <a:srgbClr val="5AA8D8"/>
            </a:solidFill>
            <a:prstDash val="solid"/>
          </a:ln>
        </p:spPr>
      </p:sp>
      <p:sp>
        <p:nvSpPr>
          <p:cNvPr id="21" name="Text 19"/>
          <p:cNvSpPr/>
          <p:nvPr/>
        </p:nvSpPr>
        <p:spPr>
          <a:xfrm>
            <a:off x="4800600" y="3474720"/>
            <a:ext cx="3840480" cy="256032"/>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FTTH / GPON</a:t>
            </a:r>
            <a:endParaRPr lang="en-US" sz="1200" dirty="0"/>
          </a:p>
        </p:txBody>
      </p:sp>
      <p:sp>
        <p:nvSpPr>
          <p:cNvPr id="22" name="Text 20"/>
          <p:cNvSpPr/>
          <p:nvPr/>
        </p:nvSpPr>
        <p:spPr>
          <a:xfrm>
            <a:off x="4800600" y="3730752"/>
            <a:ext cx="384048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Fibra hasta el hogar: 1 Gbps simétrico ya disponible comercialmente. GPON permite 2,5 Gbps por fibra compartida.</a:t>
            </a:r>
            <a:endParaRPr lang="en-US" sz="1050" dirty="0"/>
          </a:p>
        </p:txBody>
      </p:sp>
      <p:sp>
        <p:nvSpPr>
          <p:cNvPr id="23" name="Shape 21"/>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365760" y="182880"/>
            <a:ext cx="2011680" cy="457200"/>
          </a:xfrm>
          <a:prstGeom prst="rect">
            <a:avLst/>
          </a:prstGeom>
          <a:solidFill>
            <a:srgbClr val="3A7BAA"/>
          </a:solidFill>
          <a:ln w="12700">
            <a:solidFill>
              <a:srgbClr val="3A7BAA"/>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Pregunta 1 / 3</a:t>
            </a:r>
            <a:endParaRPr lang="en-US" sz="1400" dirty="0"/>
          </a:p>
        </p:txBody>
      </p:sp>
      <p:sp>
        <p:nvSpPr>
          <p:cNvPr id="5" name="Text 3"/>
          <p:cNvSpPr/>
          <p:nvPr/>
        </p:nvSpPr>
        <p:spPr>
          <a:xfrm>
            <a:off x="2560320" y="182880"/>
            <a:ext cx="5943600" cy="457200"/>
          </a:xfrm>
          <a:prstGeom prst="rect">
            <a:avLst/>
          </a:prstGeom>
          <a:noFill/>
          <a:ln/>
        </p:spPr>
        <p:txBody>
          <a:bodyPr wrap="square" rtlCol="0" anchor="ctr"/>
          <a:lstStyle/>
          <a:p>
            <a:pPr indent="0" marL="0">
              <a:buNone/>
            </a:pPr>
            <a:r>
              <a:rPr lang="en-US" sz="1800" b="1" dirty="0">
                <a:solidFill>
                  <a:srgbClr val="2D3030"/>
                </a:solidFill>
                <a:latin typeface="Arial" pitchFamily="34" charset="0"/>
                <a:ea typeface="Arial" pitchFamily="34" charset="-122"/>
                <a:cs typeface="Arial" pitchFamily="34" charset="-120"/>
              </a:rPr>
              <a:t>¿VERDADERO o FALSO?</a:t>
            </a:r>
            <a:endParaRPr lang="en-US" sz="1800" dirty="0"/>
          </a:p>
        </p:txBody>
      </p:sp>
      <p:sp>
        <p:nvSpPr>
          <p:cNvPr id="6" name="Shape 4"/>
          <p:cNvSpPr/>
          <p:nvPr/>
        </p:nvSpPr>
        <p:spPr>
          <a:xfrm>
            <a:off x="548640" y="914400"/>
            <a:ext cx="8046720" cy="2560320"/>
          </a:xfrm>
          <a:prstGeom prst="rect">
            <a:avLst/>
          </a:prstGeom>
          <a:solidFill>
            <a:srgbClr val="F0F7FC"/>
          </a:solidFill>
          <a:ln w="19050">
            <a:solidFill>
              <a:srgbClr val="B9DEF8"/>
            </a:solidFill>
            <a:prstDash val="solid"/>
          </a:ln>
        </p:spPr>
      </p:sp>
      <p:sp>
        <p:nvSpPr>
          <p:cNvPr id="7" name="Text 5"/>
          <p:cNvSpPr/>
          <p:nvPr/>
        </p:nvSpPr>
        <p:spPr>
          <a:xfrm>
            <a:off x="731520" y="1005840"/>
            <a:ext cx="7680960" cy="2377440"/>
          </a:xfrm>
          <a:prstGeom prst="rect">
            <a:avLst/>
          </a:prstGeom>
          <a:noFill/>
          <a:ln/>
        </p:spPr>
        <p:txBody>
          <a:bodyPr wrap="square" rtlCol="0" anchor="ctr"/>
          <a:lstStyle/>
          <a:p>
            <a:pPr algn="ctr" indent="0" marL="0">
              <a:buNone/>
            </a:pPr>
            <a:r>
              <a:rPr lang="en-US" sz="1700" dirty="0">
                <a:solidFill>
                  <a:srgbClr val="2D3030"/>
                </a:solidFill>
                <a:latin typeface="Arial" pitchFamily="34" charset="0"/>
                <a:ea typeface="Arial" pitchFamily="34" charset="-122"/>
                <a:cs typeface="Arial" pitchFamily="34" charset="-120"/>
              </a:rPr>
              <a:t>V o F: La Regla 5-4-3-2-1 indica que se pueden conectar hasta 5 segmentos mediante 4 repetidores, siendo 3 los que pueden tener hosts conectados.</a:t>
            </a:r>
            <a:endParaRPr lang="en-US" sz="1700" dirty="0"/>
          </a:p>
        </p:txBody>
      </p:sp>
      <p:sp>
        <p:nvSpPr>
          <p:cNvPr id="8" name="Shape 6"/>
          <p:cNvSpPr/>
          <p:nvPr/>
        </p:nvSpPr>
        <p:spPr>
          <a:xfrm>
            <a:off x="1371600" y="3749040"/>
            <a:ext cx="2560320" cy="822960"/>
          </a:xfrm>
          <a:prstGeom prst="rect">
            <a:avLst/>
          </a:prstGeom>
          <a:solidFill>
            <a:srgbClr val="4CAF50"/>
          </a:solidFill>
          <a:ln w="12700">
            <a:solidFill>
              <a:srgbClr val="388E3C"/>
            </a:solidFill>
            <a:prstDash val="solid"/>
          </a:ln>
        </p:spPr>
      </p:sp>
      <p:sp>
        <p:nvSpPr>
          <p:cNvPr id="9" name="Text 7"/>
          <p:cNvSpPr/>
          <p:nvPr/>
        </p:nvSpPr>
        <p:spPr>
          <a:xfrm>
            <a:off x="137160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VERDADERO</a:t>
            </a:r>
            <a:endParaRPr lang="en-US" sz="1800" dirty="0"/>
          </a:p>
        </p:txBody>
      </p:sp>
      <p:sp>
        <p:nvSpPr>
          <p:cNvPr id="10" name="Shape 8"/>
          <p:cNvSpPr/>
          <p:nvPr/>
        </p:nvSpPr>
        <p:spPr>
          <a:xfrm>
            <a:off x="5212080" y="3749040"/>
            <a:ext cx="2560320" cy="822960"/>
          </a:xfrm>
          <a:prstGeom prst="rect">
            <a:avLst/>
          </a:prstGeom>
          <a:solidFill>
            <a:srgbClr val="F44336"/>
          </a:solidFill>
          <a:ln w="12700">
            <a:solidFill>
              <a:srgbClr val="C62828"/>
            </a:solidFill>
            <a:prstDash val="solid"/>
          </a:ln>
        </p:spPr>
      </p:sp>
      <p:sp>
        <p:nvSpPr>
          <p:cNvPr id="11" name="Text 9"/>
          <p:cNvSpPr/>
          <p:nvPr/>
        </p:nvSpPr>
        <p:spPr>
          <a:xfrm>
            <a:off x="521208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FALSO</a:t>
            </a:r>
            <a:endParaRPr lang="en-US" sz="1800" dirty="0"/>
          </a:p>
        </p:txBody>
      </p:sp>
      <p:sp>
        <p:nvSpPr>
          <p:cNvPr id="12" name="Shape 10"/>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8E9"/>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7D32"/>
          </a:solidFill>
          <a:ln w="12700">
            <a:solidFill>
              <a:srgbClr val="2E7D32"/>
            </a:solidFill>
            <a:prstDash val="solid"/>
          </a:ln>
        </p:spPr>
      </p:sp>
      <p:sp>
        <p:nvSpPr>
          <p:cNvPr id="3" name="Shape 1"/>
          <p:cNvSpPr/>
          <p:nvPr/>
        </p:nvSpPr>
        <p:spPr>
          <a:xfrm>
            <a:off x="365760" y="182880"/>
            <a:ext cx="2011680" cy="457200"/>
          </a:xfrm>
          <a:prstGeom prst="rect">
            <a:avLst/>
          </a:prstGeom>
          <a:solidFill>
            <a:srgbClr val="2E7D32"/>
          </a:solidFill>
          <a:ln w="12700">
            <a:solidFill>
              <a:srgbClr val="2E7D32"/>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Respuesta 1</a:t>
            </a:r>
            <a:endParaRPr lang="en-US" sz="1400" dirty="0"/>
          </a:p>
        </p:txBody>
      </p:sp>
      <p:sp>
        <p:nvSpPr>
          <p:cNvPr id="5" name="Text 3"/>
          <p:cNvSpPr/>
          <p:nvPr/>
        </p:nvSpPr>
        <p:spPr>
          <a:xfrm>
            <a:off x="2560320" y="182880"/>
            <a:ext cx="6217920" cy="45720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VERDADERO ✓</a:t>
            </a:r>
            <a:endParaRPr lang="en-US" sz="2200" dirty="0"/>
          </a:p>
        </p:txBody>
      </p:sp>
      <p:sp>
        <p:nvSpPr>
          <p:cNvPr id="6" name="Shape 4"/>
          <p:cNvSpPr/>
          <p:nvPr/>
        </p:nvSpPr>
        <p:spPr>
          <a:xfrm>
            <a:off x="548640" y="822960"/>
            <a:ext cx="8046720" cy="1463040"/>
          </a:xfrm>
          <a:prstGeom prst="rect">
            <a:avLst/>
          </a:prstGeom>
          <a:solidFill>
            <a:srgbClr val="FFFFFF"/>
          </a:solidFill>
          <a:ln w="25400">
            <a:solidFill>
              <a:srgbClr val="2E7D32"/>
            </a:solidFill>
            <a:prstDash val="solid"/>
          </a:ln>
        </p:spPr>
      </p:sp>
      <p:sp>
        <p:nvSpPr>
          <p:cNvPr id="7" name="Shape 5"/>
          <p:cNvSpPr/>
          <p:nvPr/>
        </p:nvSpPr>
        <p:spPr>
          <a:xfrm>
            <a:off x="548640" y="822960"/>
            <a:ext cx="109728" cy="1463040"/>
          </a:xfrm>
          <a:prstGeom prst="rect">
            <a:avLst/>
          </a:prstGeom>
          <a:solidFill>
            <a:srgbClr val="2E7D32"/>
          </a:solidFill>
          <a:ln w="12700">
            <a:solidFill>
              <a:srgbClr val="2E7D32"/>
            </a:solidFill>
            <a:prstDash val="solid"/>
          </a:ln>
        </p:spPr>
      </p:sp>
      <p:sp>
        <p:nvSpPr>
          <p:cNvPr id="8" name="Text 6"/>
          <p:cNvSpPr/>
          <p:nvPr/>
        </p:nvSpPr>
        <p:spPr>
          <a:xfrm>
            <a:off x="822960" y="896112"/>
            <a:ext cx="7589520" cy="1298448"/>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V o F: La Regla 5-4-3-2-1 indica que se pueden conectar hasta 5 segmentos mediante 4 repetidores, siendo 3 los que pueden tener hosts conectados.</a:t>
            </a:r>
            <a:endParaRPr lang="en-US" sz="1200" dirty="0"/>
          </a:p>
        </p:txBody>
      </p:sp>
      <p:sp>
        <p:nvSpPr>
          <p:cNvPr id="9" name="Shape 7"/>
          <p:cNvSpPr/>
          <p:nvPr/>
        </p:nvSpPr>
        <p:spPr>
          <a:xfrm>
            <a:off x="548640" y="2487168"/>
            <a:ext cx="8046720" cy="347472"/>
          </a:xfrm>
          <a:prstGeom prst="rect">
            <a:avLst/>
          </a:prstGeom>
          <a:solidFill>
            <a:srgbClr val="2E7D32"/>
          </a:solidFill>
          <a:ln w="12700">
            <a:solidFill>
              <a:srgbClr val="2E7D32"/>
            </a:solidFill>
            <a:prstDash val="solid"/>
          </a:ln>
        </p:spPr>
      </p:sp>
      <p:sp>
        <p:nvSpPr>
          <p:cNvPr id="10" name="Text 8"/>
          <p:cNvSpPr/>
          <p:nvPr/>
        </p:nvSpPr>
        <p:spPr>
          <a:xfrm>
            <a:off x="548640" y="2487168"/>
            <a:ext cx="8046720" cy="347472"/>
          </a:xfrm>
          <a:prstGeom prst="rect">
            <a:avLst/>
          </a:prstGeom>
          <a:noFill/>
          <a:ln/>
        </p:spPr>
        <p:txBody>
          <a:bodyPr wrap="square" lIns="0" tIns="0" rIns="0" bIns="0" rtlCol="0" anchor="ctr"/>
          <a:lstStyle/>
          <a:p>
            <a:pPr algn="ctr" indent="0" marL="0">
              <a:buNone/>
            </a:pPr>
            <a:r>
              <a:rPr lang="en-US" sz="1300" b="1" dirty="0">
                <a:solidFill>
                  <a:srgbClr val="FFFFFF"/>
                </a:solidFill>
              </a:rPr>
              <a:t>JUSTIFICACIÓN</a:t>
            </a:r>
            <a:endParaRPr lang="en-US" sz="1300" dirty="0"/>
          </a:p>
        </p:txBody>
      </p:sp>
      <p:sp>
        <p:nvSpPr>
          <p:cNvPr id="11" name="Shape 9"/>
          <p:cNvSpPr/>
          <p:nvPr/>
        </p:nvSpPr>
        <p:spPr>
          <a:xfrm>
            <a:off x="548640" y="2834640"/>
            <a:ext cx="8046720" cy="1691640"/>
          </a:xfrm>
          <a:prstGeom prst="rect">
            <a:avLst/>
          </a:prstGeom>
          <a:solidFill>
            <a:srgbClr val="FFFFFF"/>
          </a:solidFill>
          <a:ln w="12700">
            <a:solidFill>
              <a:srgbClr val="2E7D32"/>
            </a:solidFill>
            <a:prstDash val="solid"/>
          </a:ln>
        </p:spPr>
      </p:sp>
      <p:sp>
        <p:nvSpPr>
          <p:cNvPr id="12" name="Text 10"/>
          <p:cNvSpPr/>
          <p:nvPr/>
        </p:nvSpPr>
        <p:spPr>
          <a:xfrm>
            <a:off x="685800" y="2907792"/>
            <a:ext cx="7772400" cy="1554480"/>
          </a:xfrm>
          <a:prstGeom prst="rect">
            <a:avLst/>
          </a:prstGeom>
          <a:noFill/>
          <a:ln/>
        </p:spPr>
        <p:txBody>
          <a:bodyPr wrap="square" rtlCol="0" anchor="ctr"/>
          <a:lstStyle/>
          <a:p>
            <a:pPr indent="0" marL="0">
              <a:buNone/>
            </a:pPr>
            <a:r>
              <a:rPr lang="en-US" sz="1300" dirty="0">
                <a:solidFill>
                  <a:srgbClr val="2D3030"/>
                </a:solidFill>
                <a:latin typeface="Arial" pitchFamily="34" charset="0"/>
                <a:ea typeface="Arial" pitchFamily="34" charset="-122"/>
                <a:cs typeface="Arial" pitchFamily="34" charset="-120"/>
              </a:rPr>
              <a:t>La regla establece exactamente eso. Es una guía práctica para Ethernet 10 Mbps: 5 segmentos máximos, 4 repetidores, 3 segmentos con hosts, 2 de enlace y 1 dominio de colisión. Si bien no es una ley universal, es la base del diseño de redes Ethernet clásicas.</a:t>
            </a:r>
            <a:endParaRPr lang="en-US" sz="1300" dirty="0"/>
          </a:p>
        </p:txBody>
      </p:sp>
      <p:sp>
        <p:nvSpPr>
          <p:cNvPr id="13" name="Shape 11"/>
          <p:cNvSpPr/>
          <p:nvPr/>
        </p:nvSpPr>
        <p:spPr>
          <a:xfrm>
            <a:off x="0" y="5079492"/>
            <a:ext cx="9144000" cy="64008"/>
          </a:xfrm>
          <a:prstGeom prst="rect">
            <a:avLst/>
          </a:prstGeom>
          <a:solidFill>
            <a:srgbClr val="2E7D32"/>
          </a:solidFill>
          <a:ln w="12700">
            <a:solidFill>
              <a:srgbClr val="2E7D32"/>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365760" y="182880"/>
            <a:ext cx="2011680" cy="457200"/>
          </a:xfrm>
          <a:prstGeom prst="rect">
            <a:avLst/>
          </a:prstGeom>
          <a:solidFill>
            <a:srgbClr val="3A7BAA"/>
          </a:solidFill>
          <a:ln w="12700">
            <a:solidFill>
              <a:srgbClr val="3A7BAA"/>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Pregunta 2 / 3</a:t>
            </a:r>
            <a:endParaRPr lang="en-US" sz="1400" dirty="0"/>
          </a:p>
        </p:txBody>
      </p:sp>
      <p:sp>
        <p:nvSpPr>
          <p:cNvPr id="5" name="Text 3"/>
          <p:cNvSpPr/>
          <p:nvPr/>
        </p:nvSpPr>
        <p:spPr>
          <a:xfrm>
            <a:off x="2560320" y="182880"/>
            <a:ext cx="5943600" cy="457200"/>
          </a:xfrm>
          <a:prstGeom prst="rect">
            <a:avLst/>
          </a:prstGeom>
          <a:noFill/>
          <a:ln/>
        </p:spPr>
        <p:txBody>
          <a:bodyPr wrap="square" rtlCol="0" anchor="ctr"/>
          <a:lstStyle/>
          <a:p>
            <a:pPr indent="0" marL="0">
              <a:buNone/>
            </a:pPr>
            <a:r>
              <a:rPr lang="en-US" sz="1800" b="1" dirty="0">
                <a:solidFill>
                  <a:srgbClr val="2D3030"/>
                </a:solidFill>
                <a:latin typeface="Arial" pitchFamily="34" charset="0"/>
                <a:ea typeface="Arial" pitchFamily="34" charset="-122"/>
                <a:cs typeface="Arial" pitchFamily="34" charset="-120"/>
              </a:rPr>
              <a:t>¿VERDADERO o FALSO?</a:t>
            </a:r>
            <a:endParaRPr lang="en-US" sz="1800" dirty="0"/>
          </a:p>
        </p:txBody>
      </p:sp>
      <p:sp>
        <p:nvSpPr>
          <p:cNvPr id="6" name="Shape 4"/>
          <p:cNvSpPr/>
          <p:nvPr/>
        </p:nvSpPr>
        <p:spPr>
          <a:xfrm>
            <a:off x="548640" y="914400"/>
            <a:ext cx="8046720" cy="2560320"/>
          </a:xfrm>
          <a:prstGeom prst="rect">
            <a:avLst/>
          </a:prstGeom>
          <a:solidFill>
            <a:srgbClr val="F0F7FC"/>
          </a:solidFill>
          <a:ln w="19050">
            <a:solidFill>
              <a:srgbClr val="B9DEF8"/>
            </a:solidFill>
            <a:prstDash val="solid"/>
          </a:ln>
        </p:spPr>
      </p:sp>
      <p:sp>
        <p:nvSpPr>
          <p:cNvPr id="7" name="Text 5"/>
          <p:cNvSpPr/>
          <p:nvPr/>
        </p:nvSpPr>
        <p:spPr>
          <a:xfrm>
            <a:off x="731520" y="1005840"/>
            <a:ext cx="7680960" cy="2377440"/>
          </a:xfrm>
          <a:prstGeom prst="rect">
            <a:avLst/>
          </a:prstGeom>
          <a:noFill/>
          <a:ln/>
        </p:spPr>
        <p:txBody>
          <a:bodyPr wrap="square" rtlCol="0" anchor="ctr"/>
          <a:lstStyle/>
          <a:p>
            <a:pPr algn="ctr" indent="0" marL="0">
              <a:buNone/>
            </a:pPr>
            <a:r>
              <a:rPr lang="en-US" sz="1700" dirty="0">
                <a:solidFill>
                  <a:srgbClr val="2D3030"/>
                </a:solidFill>
                <a:latin typeface="Arial" pitchFamily="34" charset="0"/>
                <a:ea typeface="Arial" pitchFamily="34" charset="-122"/>
                <a:cs typeface="Arial" pitchFamily="34" charset="-120"/>
              </a:rPr>
              <a:t>V o F: El cable Coaxial Fino (10Base2) permite segmentos de hasta 500 metros, igual que el Coaxial Grueso (10Base5).</a:t>
            </a:r>
            <a:endParaRPr lang="en-US" sz="1700" dirty="0"/>
          </a:p>
        </p:txBody>
      </p:sp>
      <p:sp>
        <p:nvSpPr>
          <p:cNvPr id="8" name="Shape 6"/>
          <p:cNvSpPr/>
          <p:nvPr/>
        </p:nvSpPr>
        <p:spPr>
          <a:xfrm>
            <a:off x="1371600" y="3749040"/>
            <a:ext cx="2560320" cy="822960"/>
          </a:xfrm>
          <a:prstGeom prst="rect">
            <a:avLst/>
          </a:prstGeom>
          <a:solidFill>
            <a:srgbClr val="4CAF50"/>
          </a:solidFill>
          <a:ln w="12700">
            <a:solidFill>
              <a:srgbClr val="388E3C"/>
            </a:solidFill>
            <a:prstDash val="solid"/>
          </a:ln>
        </p:spPr>
      </p:sp>
      <p:sp>
        <p:nvSpPr>
          <p:cNvPr id="9" name="Text 7"/>
          <p:cNvSpPr/>
          <p:nvPr/>
        </p:nvSpPr>
        <p:spPr>
          <a:xfrm>
            <a:off x="137160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VERDADERO</a:t>
            </a:r>
            <a:endParaRPr lang="en-US" sz="1800" dirty="0"/>
          </a:p>
        </p:txBody>
      </p:sp>
      <p:sp>
        <p:nvSpPr>
          <p:cNvPr id="10" name="Shape 8"/>
          <p:cNvSpPr/>
          <p:nvPr/>
        </p:nvSpPr>
        <p:spPr>
          <a:xfrm>
            <a:off x="5212080" y="3749040"/>
            <a:ext cx="2560320" cy="822960"/>
          </a:xfrm>
          <a:prstGeom prst="rect">
            <a:avLst/>
          </a:prstGeom>
          <a:solidFill>
            <a:srgbClr val="F44336"/>
          </a:solidFill>
          <a:ln w="12700">
            <a:solidFill>
              <a:srgbClr val="C62828"/>
            </a:solidFill>
            <a:prstDash val="solid"/>
          </a:ln>
        </p:spPr>
      </p:sp>
      <p:sp>
        <p:nvSpPr>
          <p:cNvPr id="11" name="Text 9"/>
          <p:cNvSpPr/>
          <p:nvPr/>
        </p:nvSpPr>
        <p:spPr>
          <a:xfrm>
            <a:off x="521208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FALSO</a:t>
            </a:r>
            <a:endParaRPr lang="en-US" sz="1800" dirty="0"/>
          </a:p>
        </p:txBody>
      </p:sp>
      <p:sp>
        <p:nvSpPr>
          <p:cNvPr id="12" name="Shape 10"/>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EBE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62828"/>
          </a:solidFill>
          <a:ln w="12700">
            <a:solidFill>
              <a:srgbClr val="C62828"/>
            </a:solidFill>
            <a:prstDash val="solid"/>
          </a:ln>
        </p:spPr>
      </p:sp>
      <p:sp>
        <p:nvSpPr>
          <p:cNvPr id="3" name="Shape 1"/>
          <p:cNvSpPr/>
          <p:nvPr/>
        </p:nvSpPr>
        <p:spPr>
          <a:xfrm>
            <a:off x="365760" y="182880"/>
            <a:ext cx="2011680" cy="457200"/>
          </a:xfrm>
          <a:prstGeom prst="rect">
            <a:avLst/>
          </a:prstGeom>
          <a:solidFill>
            <a:srgbClr val="C62828"/>
          </a:solidFill>
          <a:ln w="12700">
            <a:solidFill>
              <a:srgbClr val="C62828"/>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Respuesta 2</a:t>
            </a:r>
            <a:endParaRPr lang="en-US" sz="1400" dirty="0"/>
          </a:p>
        </p:txBody>
      </p:sp>
      <p:sp>
        <p:nvSpPr>
          <p:cNvPr id="5" name="Text 3"/>
          <p:cNvSpPr/>
          <p:nvPr/>
        </p:nvSpPr>
        <p:spPr>
          <a:xfrm>
            <a:off x="2560320" y="182880"/>
            <a:ext cx="6217920" cy="457200"/>
          </a:xfrm>
          <a:prstGeom prst="rect">
            <a:avLst/>
          </a:prstGeom>
          <a:noFill/>
          <a:ln/>
        </p:spPr>
        <p:txBody>
          <a:bodyPr wrap="square" rtlCol="0" anchor="ctr"/>
          <a:lstStyle/>
          <a:p>
            <a:pPr indent="0" marL="0">
              <a:buNone/>
            </a:pPr>
            <a:r>
              <a:rPr lang="en-US" sz="2200" b="1" dirty="0">
                <a:solidFill>
                  <a:srgbClr val="C62828"/>
                </a:solidFill>
                <a:latin typeface="Arial" pitchFamily="34" charset="0"/>
                <a:ea typeface="Arial" pitchFamily="34" charset="-122"/>
                <a:cs typeface="Arial" pitchFamily="34" charset="-120"/>
              </a:rPr>
              <a:t>FALSO ✗</a:t>
            </a:r>
            <a:endParaRPr lang="en-US" sz="2200" dirty="0"/>
          </a:p>
        </p:txBody>
      </p:sp>
      <p:sp>
        <p:nvSpPr>
          <p:cNvPr id="6" name="Shape 4"/>
          <p:cNvSpPr/>
          <p:nvPr/>
        </p:nvSpPr>
        <p:spPr>
          <a:xfrm>
            <a:off x="548640" y="822960"/>
            <a:ext cx="8046720" cy="1463040"/>
          </a:xfrm>
          <a:prstGeom prst="rect">
            <a:avLst/>
          </a:prstGeom>
          <a:solidFill>
            <a:srgbClr val="FFFFFF"/>
          </a:solidFill>
          <a:ln w="25400">
            <a:solidFill>
              <a:srgbClr val="C62828"/>
            </a:solidFill>
            <a:prstDash val="solid"/>
          </a:ln>
        </p:spPr>
      </p:sp>
      <p:sp>
        <p:nvSpPr>
          <p:cNvPr id="7" name="Shape 5"/>
          <p:cNvSpPr/>
          <p:nvPr/>
        </p:nvSpPr>
        <p:spPr>
          <a:xfrm>
            <a:off x="548640" y="822960"/>
            <a:ext cx="109728" cy="1463040"/>
          </a:xfrm>
          <a:prstGeom prst="rect">
            <a:avLst/>
          </a:prstGeom>
          <a:solidFill>
            <a:srgbClr val="C62828"/>
          </a:solidFill>
          <a:ln w="12700">
            <a:solidFill>
              <a:srgbClr val="C62828"/>
            </a:solidFill>
            <a:prstDash val="solid"/>
          </a:ln>
        </p:spPr>
      </p:sp>
      <p:sp>
        <p:nvSpPr>
          <p:cNvPr id="8" name="Text 6"/>
          <p:cNvSpPr/>
          <p:nvPr/>
        </p:nvSpPr>
        <p:spPr>
          <a:xfrm>
            <a:off x="822960" y="896112"/>
            <a:ext cx="7589520" cy="1298448"/>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V o F: El cable Coaxial Fino (10Base2) permite segmentos de hasta 500 metros, igual que el Coaxial Grueso (10Base5).</a:t>
            </a:r>
            <a:endParaRPr lang="en-US" sz="1200" dirty="0"/>
          </a:p>
        </p:txBody>
      </p:sp>
      <p:sp>
        <p:nvSpPr>
          <p:cNvPr id="9" name="Shape 7"/>
          <p:cNvSpPr/>
          <p:nvPr/>
        </p:nvSpPr>
        <p:spPr>
          <a:xfrm>
            <a:off x="548640" y="2487168"/>
            <a:ext cx="8046720" cy="347472"/>
          </a:xfrm>
          <a:prstGeom prst="rect">
            <a:avLst/>
          </a:prstGeom>
          <a:solidFill>
            <a:srgbClr val="C62828"/>
          </a:solidFill>
          <a:ln w="12700">
            <a:solidFill>
              <a:srgbClr val="C62828"/>
            </a:solidFill>
            <a:prstDash val="solid"/>
          </a:ln>
        </p:spPr>
      </p:sp>
      <p:sp>
        <p:nvSpPr>
          <p:cNvPr id="10" name="Text 8"/>
          <p:cNvSpPr/>
          <p:nvPr/>
        </p:nvSpPr>
        <p:spPr>
          <a:xfrm>
            <a:off x="548640" y="2487168"/>
            <a:ext cx="8046720" cy="347472"/>
          </a:xfrm>
          <a:prstGeom prst="rect">
            <a:avLst/>
          </a:prstGeom>
          <a:noFill/>
          <a:ln/>
        </p:spPr>
        <p:txBody>
          <a:bodyPr wrap="square" lIns="0" tIns="0" rIns="0" bIns="0" rtlCol="0" anchor="ctr"/>
          <a:lstStyle/>
          <a:p>
            <a:pPr algn="ctr" indent="0" marL="0">
              <a:buNone/>
            </a:pPr>
            <a:r>
              <a:rPr lang="en-US" sz="1300" b="1" dirty="0">
                <a:solidFill>
                  <a:srgbClr val="FFFFFF"/>
                </a:solidFill>
              </a:rPr>
              <a:t>JUSTIFICACIÓN</a:t>
            </a:r>
            <a:endParaRPr lang="en-US" sz="1300" dirty="0"/>
          </a:p>
        </p:txBody>
      </p:sp>
      <p:sp>
        <p:nvSpPr>
          <p:cNvPr id="11" name="Shape 9"/>
          <p:cNvSpPr/>
          <p:nvPr/>
        </p:nvSpPr>
        <p:spPr>
          <a:xfrm>
            <a:off x="548640" y="2834640"/>
            <a:ext cx="8046720" cy="1691640"/>
          </a:xfrm>
          <a:prstGeom prst="rect">
            <a:avLst/>
          </a:prstGeom>
          <a:solidFill>
            <a:srgbClr val="FFFFFF"/>
          </a:solidFill>
          <a:ln w="12700">
            <a:solidFill>
              <a:srgbClr val="C62828"/>
            </a:solidFill>
            <a:prstDash val="solid"/>
          </a:ln>
        </p:spPr>
      </p:sp>
      <p:sp>
        <p:nvSpPr>
          <p:cNvPr id="12" name="Text 10"/>
          <p:cNvSpPr/>
          <p:nvPr/>
        </p:nvSpPr>
        <p:spPr>
          <a:xfrm>
            <a:off x="685800" y="2907792"/>
            <a:ext cx="7772400" cy="1554480"/>
          </a:xfrm>
          <a:prstGeom prst="rect">
            <a:avLst/>
          </a:prstGeom>
          <a:noFill/>
          <a:ln/>
        </p:spPr>
        <p:txBody>
          <a:bodyPr wrap="square" rtlCol="0" anchor="ctr"/>
          <a:lstStyle/>
          <a:p>
            <a:pPr indent="0" marL="0">
              <a:buNone/>
            </a:pPr>
            <a:r>
              <a:rPr lang="en-US" sz="1300" dirty="0">
                <a:solidFill>
                  <a:srgbClr val="2D3030"/>
                </a:solidFill>
                <a:latin typeface="Arial" pitchFamily="34" charset="0"/>
                <a:ea typeface="Arial" pitchFamily="34" charset="-122"/>
                <a:cs typeface="Arial" pitchFamily="34" charset="-120"/>
              </a:rPr>
              <a:t>El 10Base2 (Thinnet) tiene un segmento máximo de 185 metros, no 500. El nombre "2" es una aproximación en cientos de metros. El 10Base5 (Thicknet) es el que alcanza los 500 metros. Confundir estas distancias es un error muy común.</a:t>
            </a:r>
            <a:endParaRPr lang="en-US" sz="1300" dirty="0"/>
          </a:p>
        </p:txBody>
      </p:sp>
      <p:sp>
        <p:nvSpPr>
          <p:cNvPr id="13" name="Shape 11"/>
          <p:cNvSpPr/>
          <p:nvPr/>
        </p:nvSpPr>
        <p:spPr>
          <a:xfrm>
            <a:off x="0" y="5079492"/>
            <a:ext cx="9144000" cy="64008"/>
          </a:xfrm>
          <a:prstGeom prst="rect">
            <a:avLst/>
          </a:prstGeom>
          <a:solidFill>
            <a:srgbClr val="C62828"/>
          </a:solidFill>
          <a:ln w="12700">
            <a:solidFill>
              <a:srgbClr val="C6282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365760" y="182880"/>
            <a:ext cx="2011680" cy="457200"/>
          </a:xfrm>
          <a:prstGeom prst="rect">
            <a:avLst/>
          </a:prstGeom>
          <a:solidFill>
            <a:srgbClr val="3A7BAA"/>
          </a:solidFill>
          <a:ln w="12700">
            <a:solidFill>
              <a:srgbClr val="3A7BAA"/>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Pregunta 3 / 3</a:t>
            </a:r>
            <a:endParaRPr lang="en-US" sz="1400" dirty="0"/>
          </a:p>
        </p:txBody>
      </p:sp>
      <p:sp>
        <p:nvSpPr>
          <p:cNvPr id="5" name="Text 3"/>
          <p:cNvSpPr/>
          <p:nvPr/>
        </p:nvSpPr>
        <p:spPr>
          <a:xfrm>
            <a:off x="2560320" y="182880"/>
            <a:ext cx="5943600" cy="457200"/>
          </a:xfrm>
          <a:prstGeom prst="rect">
            <a:avLst/>
          </a:prstGeom>
          <a:noFill/>
          <a:ln/>
        </p:spPr>
        <p:txBody>
          <a:bodyPr wrap="square" rtlCol="0" anchor="ctr"/>
          <a:lstStyle/>
          <a:p>
            <a:pPr indent="0" marL="0">
              <a:buNone/>
            </a:pPr>
            <a:r>
              <a:rPr lang="en-US" sz="1800" b="1" dirty="0">
                <a:solidFill>
                  <a:srgbClr val="2D3030"/>
                </a:solidFill>
                <a:latin typeface="Arial" pitchFamily="34" charset="0"/>
                <a:ea typeface="Arial" pitchFamily="34" charset="-122"/>
                <a:cs typeface="Arial" pitchFamily="34" charset="-120"/>
              </a:rPr>
              <a:t>¿VERDADERO o FALSO?</a:t>
            </a:r>
            <a:endParaRPr lang="en-US" sz="1800" dirty="0"/>
          </a:p>
        </p:txBody>
      </p:sp>
      <p:sp>
        <p:nvSpPr>
          <p:cNvPr id="6" name="Shape 4"/>
          <p:cNvSpPr/>
          <p:nvPr/>
        </p:nvSpPr>
        <p:spPr>
          <a:xfrm>
            <a:off x="548640" y="914400"/>
            <a:ext cx="8046720" cy="2560320"/>
          </a:xfrm>
          <a:prstGeom prst="rect">
            <a:avLst/>
          </a:prstGeom>
          <a:solidFill>
            <a:srgbClr val="F0F7FC"/>
          </a:solidFill>
          <a:ln w="19050">
            <a:solidFill>
              <a:srgbClr val="B9DEF8"/>
            </a:solidFill>
            <a:prstDash val="solid"/>
          </a:ln>
        </p:spPr>
      </p:sp>
      <p:sp>
        <p:nvSpPr>
          <p:cNvPr id="7" name="Text 5"/>
          <p:cNvSpPr/>
          <p:nvPr/>
        </p:nvSpPr>
        <p:spPr>
          <a:xfrm>
            <a:off x="731520" y="1005840"/>
            <a:ext cx="7680960" cy="2377440"/>
          </a:xfrm>
          <a:prstGeom prst="rect">
            <a:avLst/>
          </a:prstGeom>
          <a:noFill/>
          <a:ln/>
        </p:spPr>
        <p:txBody>
          <a:bodyPr wrap="square" rtlCol="0" anchor="ctr"/>
          <a:lstStyle/>
          <a:p>
            <a:pPr algn="ctr" indent="0" marL="0">
              <a:buNone/>
            </a:pPr>
            <a:r>
              <a:rPr lang="en-US" sz="1700" dirty="0">
                <a:solidFill>
                  <a:srgbClr val="2D3030"/>
                </a:solidFill>
                <a:latin typeface="Arial" pitchFamily="34" charset="0"/>
                <a:ea typeface="Arial" pitchFamily="34" charset="-122"/>
                <a:cs typeface="Arial" pitchFamily="34" charset="-120"/>
              </a:rPr>
              <a:t>V o F: La fibra óptica monomodo permite mayores distancias que la multimodo porque su núcleo más pequeño reduce la dispersión de la señal de luz.</a:t>
            </a:r>
            <a:endParaRPr lang="en-US" sz="1700" dirty="0"/>
          </a:p>
        </p:txBody>
      </p:sp>
      <p:sp>
        <p:nvSpPr>
          <p:cNvPr id="8" name="Shape 6"/>
          <p:cNvSpPr/>
          <p:nvPr/>
        </p:nvSpPr>
        <p:spPr>
          <a:xfrm>
            <a:off x="1371600" y="3749040"/>
            <a:ext cx="2560320" cy="822960"/>
          </a:xfrm>
          <a:prstGeom prst="rect">
            <a:avLst/>
          </a:prstGeom>
          <a:solidFill>
            <a:srgbClr val="4CAF50"/>
          </a:solidFill>
          <a:ln w="12700">
            <a:solidFill>
              <a:srgbClr val="388E3C"/>
            </a:solidFill>
            <a:prstDash val="solid"/>
          </a:ln>
        </p:spPr>
      </p:sp>
      <p:sp>
        <p:nvSpPr>
          <p:cNvPr id="9" name="Text 7"/>
          <p:cNvSpPr/>
          <p:nvPr/>
        </p:nvSpPr>
        <p:spPr>
          <a:xfrm>
            <a:off x="137160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VERDADERO</a:t>
            </a:r>
            <a:endParaRPr lang="en-US" sz="1800" dirty="0"/>
          </a:p>
        </p:txBody>
      </p:sp>
      <p:sp>
        <p:nvSpPr>
          <p:cNvPr id="10" name="Shape 8"/>
          <p:cNvSpPr/>
          <p:nvPr/>
        </p:nvSpPr>
        <p:spPr>
          <a:xfrm>
            <a:off x="5212080" y="3749040"/>
            <a:ext cx="2560320" cy="822960"/>
          </a:xfrm>
          <a:prstGeom prst="rect">
            <a:avLst/>
          </a:prstGeom>
          <a:solidFill>
            <a:srgbClr val="F44336"/>
          </a:solidFill>
          <a:ln w="12700">
            <a:solidFill>
              <a:srgbClr val="C62828"/>
            </a:solidFill>
            <a:prstDash val="solid"/>
          </a:ln>
        </p:spPr>
      </p:sp>
      <p:sp>
        <p:nvSpPr>
          <p:cNvPr id="11" name="Text 9"/>
          <p:cNvSpPr/>
          <p:nvPr/>
        </p:nvSpPr>
        <p:spPr>
          <a:xfrm>
            <a:off x="5212080" y="374904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rPr>
              <a:t>FALSO</a:t>
            </a:r>
            <a:endParaRPr lang="en-US" sz="1800" dirty="0"/>
          </a:p>
        </p:txBody>
      </p:sp>
      <p:sp>
        <p:nvSpPr>
          <p:cNvPr id="12" name="Shape 10"/>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8E9"/>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7D32"/>
          </a:solidFill>
          <a:ln w="12700">
            <a:solidFill>
              <a:srgbClr val="2E7D32"/>
            </a:solidFill>
            <a:prstDash val="solid"/>
          </a:ln>
        </p:spPr>
      </p:sp>
      <p:sp>
        <p:nvSpPr>
          <p:cNvPr id="3" name="Shape 1"/>
          <p:cNvSpPr/>
          <p:nvPr/>
        </p:nvSpPr>
        <p:spPr>
          <a:xfrm>
            <a:off x="365760" y="182880"/>
            <a:ext cx="2011680" cy="457200"/>
          </a:xfrm>
          <a:prstGeom prst="rect">
            <a:avLst/>
          </a:prstGeom>
          <a:solidFill>
            <a:srgbClr val="2E7D32"/>
          </a:solidFill>
          <a:ln w="12700">
            <a:solidFill>
              <a:srgbClr val="2E7D32"/>
            </a:solidFill>
            <a:prstDash val="solid"/>
          </a:ln>
        </p:spPr>
      </p:sp>
      <p:sp>
        <p:nvSpPr>
          <p:cNvPr id="4" name="Text 2"/>
          <p:cNvSpPr/>
          <p:nvPr/>
        </p:nvSpPr>
        <p:spPr>
          <a:xfrm>
            <a:off x="365760" y="1828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rPr>
              <a:t>Respuesta 3</a:t>
            </a:r>
            <a:endParaRPr lang="en-US" sz="1400" dirty="0"/>
          </a:p>
        </p:txBody>
      </p:sp>
      <p:sp>
        <p:nvSpPr>
          <p:cNvPr id="5" name="Text 3"/>
          <p:cNvSpPr/>
          <p:nvPr/>
        </p:nvSpPr>
        <p:spPr>
          <a:xfrm>
            <a:off x="2560320" y="182880"/>
            <a:ext cx="6217920" cy="45720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VERDADERO ✓</a:t>
            </a:r>
            <a:endParaRPr lang="en-US" sz="2200" dirty="0"/>
          </a:p>
        </p:txBody>
      </p:sp>
      <p:sp>
        <p:nvSpPr>
          <p:cNvPr id="6" name="Shape 4"/>
          <p:cNvSpPr/>
          <p:nvPr/>
        </p:nvSpPr>
        <p:spPr>
          <a:xfrm>
            <a:off x="548640" y="822960"/>
            <a:ext cx="8046720" cy="1463040"/>
          </a:xfrm>
          <a:prstGeom prst="rect">
            <a:avLst/>
          </a:prstGeom>
          <a:solidFill>
            <a:srgbClr val="FFFFFF"/>
          </a:solidFill>
          <a:ln w="25400">
            <a:solidFill>
              <a:srgbClr val="2E7D32"/>
            </a:solidFill>
            <a:prstDash val="solid"/>
          </a:ln>
        </p:spPr>
      </p:sp>
      <p:sp>
        <p:nvSpPr>
          <p:cNvPr id="7" name="Shape 5"/>
          <p:cNvSpPr/>
          <p:nvPr/>
        </p:nvSpPr>
        <p:spPr>
          <a:xfrm>
            <a:off x="548640" y="822960"/>
            <a:ext cx="109728" cy="1463040"/>
          </a:xfrm>
          <a:prstGeom prst="rect">
            <a:avLst/>
          </a:prstGeom>
          <a:solidFill>
            <a:srgbClr val="2E7D32"/>
          </a:solidFill>
          <a:ln w="12700">
            <a:solidFill>
              <a:srgbClr val="2E7D32"/>
            </a:solidFill>
            <a:prstDash val="solid"/>
          </a:ln>
        </p:spPr>
      </p:sp>
      <p:sp>
        <p:nvSpPr>
          <p:cNvPr id="8" name="Text 6"/>
          <p:cNvSpPr/>
          <p:nvPr/>
        </p:nvSpPr>
        <p:spPr>
          <a:xfrm>
            <a:off x="822960" y="896112"/>
            <a:ext cx="7589520" cy="1298448"/>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V o F: La fibra óptica monomodo permite mayores distancias que la multimodo porque su núcleo más pequeño reduce la dispersión de la señal de luz.</a:t>
            </a:r>
            <a:endParaRPr lang="en-US" sz="1200" dirty="0"/>
          </a:p>
        </p:txBody>
      </p:sp>
      <p:sp>
        <p:nvSpPr>
          <p:cNvPr id="9" name="Shape 7"/>
          <p:cNvSpPr/>
          <p:nvPr/>
        </p:nvSpPr>
        <p:spPr>
          <a:xfrm>
            <a:off x="548640" y="2487168"/>
            <a:ext cx="8046720" cy="347472"/>
          </a:xfrm>
          <a:prstGeom prst="rect">
            <a:avLst/>
          </a:prstGeom>
          <a:solidFill>
            <a:srgbClr val="2E7D32"/>
          </a:solidFill>
          <a:ln w="12700">
            <a:solidFill>
              <a:srgbClr val="2E7D32"/>
            </a:solidFill>
            <a:prstDash val="solid"/>
          </a:ln>
        </p:spPr>
      </p:sp>
      <p:sp>
        <p:nvSpPr>
          <p:cNvPr id="10" name="Text 8"/>
          <p:cNvSpPr/>
          <p:nvPr/>
        </p:nvSpPr>
        <p:spPr>
          <a:xfrm>
            <a:off x="548640" y="2487168"/>
            <a:ext cx="8046720" cy="347472"/>
          </a:xfrm>
          <a:prstGeom prst="rect">
            <a:avLst/>
          </a:prstGeom>
          <a:noFill/>
          <a:ln/>
        </p:spPr>
        <p:txBody>
          <a:bodyPr wrap="square" lIns="0" tIns="0" rIns="0" bIns="0" rtlCol="0" anchor="ctr"/>
          <a:lstStyle/>
          <a:p>
            <a:pPr algn="ctr" indent="0" marL="0">
              <a:buNone/>
            </a:pPr>
            <a:r>
              <a:rPr lang="en-US" sz="1300" b="1" dirty="0">
                <a:solidFill>
                  <a:srgbClr val="FFFFFF"/>
                </a:solidFill>
              </a:rPr>
              <a:t>JUSTIFICACIÓN</a:t>
            </a:r>
            <a:endParaRPr lang="en-US" sz="1300" dirty="0"/>
          </a:p>
        </p:txBody>
      </p:sp>
      <p:sp>
        <p:nvSpPr>
          <p:cNvPr id="11" name="Shape 9"/>
          <p:cNvSpPr/>
          <p:nvPr/>
        </p:nvSpPr>
        <p:spPr>
          <a:xfrm>
            <a:off x="548640" y="2834640"/>
            <a:ext cx="8046720" cy="1691640"/>
          </a:xfrm>
          <a:prstGeom prst="rect">
            <a:avLst/>
          </a:prstGeom>
          <a:solidFill>
            <a:srgbClr val="FFFFFF"/>
          </a:solidFill>
          <a:ln w="12700">
            <a:solidFill>
              <a:srgbClr val="2E7D32"/>
            </a:solidFill>
            <a:prstDash val="solid"/>
          </a:ln>
        </p:spPr>
      </p:sp>
      <p:sp>
        <p:nvSpPr>
          <p:cNvPr id="12" name="Text 10"/>
          <p:cNvSpPr/>
          <p:nvPr/>
        </p:nvSpPr>
        <p:spPr>
          <a:xfrm>
            <a:off x="685800" y="2907792"/>
            <a:ext cx="7772400" cy="1554480"/>
          </a:xfrm>
          <a:prstGeom prst="rect">
            <a:avLst/>
          </a:prstGeom>
          <a:noFill/>
          <a:ln/>
        </p:spPr>
        <p:txBody>
          <a:bodyPr wrap="square" rtlCol="0" anchor="ctr"/>
          <a:lstStyle/>
          <a:p>
            <a:pPr indent="0" marL="0">
              <a:buNone/>
            </a:pPr>
            <a:r>
              <a:rPr lang="en-US" sz="1300" dirty="0">
                <a:solidFill>
                  <a:srgbClr val="2D3030"/>
                </a:solidFill>
                <a:latin typeface="Arial" pitchFamily="34" charset="0"/>
                <a:ea typeface="Arial" pitchFamily="34" charset="-122"/>
                <a:cs typeface="Arial" pitchFamily="34" charset="-120"/>
              </a:rPr>
              <a:t>Correcto. Al reducir el núcleo a ~9 µm, solo puede propagarse un modo de luz, eliminando la dispersión modal. Esto permite distancias de decenas de kilómetros (hasta 80+ km sin amplificación). La multimodo, con núcleo de 50-62,5 µm, tiene mayor dispersión y se limita a ~2 km en LAN.</a:t>
            </a:r>
            <a:endParaRPr lang="en-US" sz="1300" dirty="0"/>
          </a:p>
        </p:txBody>
      </p:sp>
      <p:sp>
        <p:nvSpPr>
          <p:cNvPr id="13" name="Shape 11"/>
          <p:cNvSpPr/>
          <p:nvPr/>
        </p:nvSpPr>
        <p:spPr>
          <a:xfrm>
            <a:off x="0" y="5079492"/>
            <a:ext cx="9144000" cy="64008"/>
          </a:xfrm>
          <a:prstGeom prst="rect">
            <a:avLst/>
          </a:prstGeom>
          <a:solidFill>
            <a:srgbClr val="2E7D32"/>
          </a:solidFill>
          <a:ln w="12700">
            <a:solidFill>
              <a:srgbClr val="2E7D32"/>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303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Resumen de la Clase</a:t>
            </a:r>
            <a:endParaRPr lang="en-US" sz="2600" dirty="0"/>
          </a:p>
        </p:txBody>
      </p:sp>
      <p:sp>
        <p:nvSpPr>
          <p:cNvPr id="4" name="Text 2"/>
          <p:cNvSpPr/>
          <p:nvPr/>
        </p:nvSpPr>
        <p:spPr>
          <a:xfrm>
            <a:off x="457200" y="731520"/>
            <a:ext cx="8229600" cy="274320"/>
          </a:xfrm>
          <a:prstGeom prst="rect">
            <a:avLst/>
          </a:prstGeom>
          <a:noFill/>
          <a:ln/>
        </p:spPr>
        <p:txBody>
          <a:bodyPr wrap="square" rtlCol="0" anchor="ctr"/>
          <a:lstStyle/>
          <a:p>
            <a:pPr indent="0" marL="0">
              <a:buNone/>
            </a:pPr>
            <a:r>
              <a:rPr lang="en-US" sz="1400" dirty="0">
                <a:solidFill>
                  <a:srgbClr val="5AA8D8"/>
                </a:solidFill>
                <a:latin typeface="Arial" pitchFamily="34" charset="0"/>
                <a:ea typeface="Arial" pitchFamily="34" charset="-122"/>
                <a:cs typeface="Arial" pitchFamily="34" charset="-120"/>
              </a:rPr>
              <a:t>SP5 / H2 — Nivel Físico Ethernet</a:t>
            </a:r>
            <a:endParaRPr lang="en-US" sz="1400" dirty="0"/>
          </a:p>
        </p:txBody>
      </p:sp>
      <p:sp>
        <p:nvSpPr>
          <p:cNvPr id="5" name="Shape 3"/>
          <p:cNvSpPr/>
          <p:nvPr/>
        </p:nvSpPr>
        <p:spPr>
          <a:xfrm>
            <a:off x="365760" y="1188720"/>
            <a:ext cx="4206240" cy="713232"/>
          </a:xfrm>
          <a:prstGeom prst="rect">
            <a:avLst/>
          </a:prstGeom>
          <a:solidFill>
            <a:srgbClr val="1E2F3A"/>
          </a:solidFill>
          <a:ln w="6350">
            <a:solidFill>
              <a:srgbClr val="5AA8D8"/>
            </a:solidFill>
            <a:prstDash val="solid"/>
          </a:ln>
        </p:spPr>
      </p:sp>
      <p:sp>
        <p:nvSpPr>
          <p:cNvPr id="6" name="Text 4"/>
          <p:cNvSpPr/>
          <p:nvPr/>
        </p:nvSpPr>
        <p:spPr>
          <a:xfrm>
            <a:off x="502920" y="1243584"/>
            <a:ext cx="393192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10Base5</a:t>
            </a:r>
            <a:endParaRPr lang="en-US" sz="1200" dirty="0"/>
          </a:p>
        </p:txBody>
      </p:sp>
      <p:sp>
        <p:nvSpPr>
          <p:cNvPr id="7" name="Text 5"/>
          <p:cNvSpPr/>
          <p:nvPr/>
        </p:nvSpPr>
        <p:spPr>
          <a:xfrm>
            <a:off x="502920" y="1499616"/>
            <a:ext cx="393192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Coaxial grueso | 500 m | 100 nodos | conector vampiro</a:t>
            </a:r>
            <a:endParaRPr lang="en-US" sz="1000" dirty="0"/>
          </a:p>
        </p:txBody>
      </p:sp>
      <p:sp>
        <p:nvSpPr>
          <p:cNvPr id="8" name="Shape 6"/>
          <p:cNvSpPr/>
          <p:nvPr/>
        </p:nvSpPr>
        <p:spPr>
          <a:xfrm>
            <a:off x="365760" y="2011680"/>
            <a:ext cx="4206240" cy="713232"/>
          </a:xfrm>
          <a:prstGeom prst="rect">
            <a:avLst/>
          </a:prstGeom>
          <a:solidFill>
            <a:srgbClr val="1E2F3A"/>
          </a:solidFill>
          <a:ln w="6350">
            <a:solidFill>
              <a:srgbClr val="5AA8D8"/>
            </a:solidFill>
            <a:prstDash val="solid"/>
          </a:ln>
        </p:spPr>
      </p:sp>
      <p:sp>
        <p:nvSpPr>
          <p:cNvPr id="9" name="Text 7"/>
          <p:cNvSpPr/>
          <p:nvPr/>
        </p:nvSpPr>
        <p:spPr>
          <a:xfrm>
            <a:off x="502920" y="2066544"/>
            <a:ext cx="393192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10Base2</a:t>
            </a:r>
            <a:endParaRPr lang="en-US" sz="1200" dirty="0"/>
          </a:p>
        </p:txBody>
      </p:sp>
      <p:sp>
        <p:nvSpPr>
          <p:cNvPr id="10" name="Text 8"/>
          <p:cNvSpPr/>
          <p:nvPr/>
        </p:nvSpPr>
        <p:spPr>
          <a:xfrm>
            <a:off x="502920" y="2322576"/>
            <a:ext cx="393192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Coaxial fino | 185 m | 30 nodos | conector BNC T</a:t>
            </a:r>
            <a:endParaRPr lang="en-US" sz="1000" dirty="0"/>
          </a:p>
        </p:txBody>
      </p:sp>
      <p:sp>
        <p:nvSpPr>
          <p:cNvPr id="11" name="Shape 9"/>
          <p:cNvSpPr/>
          <p:nvPr/>
        </p:nvSpPr>
        <p:spPr>
          <a:xfrm>
            <a:off x="365760" y="2834640"/>
            <a:ext cx="4206240" cy="713232"/>
          </a:xfrm>
          <a:prstGeom prst="rect">
            <a:avLst/>
          </a:prstGeom>
          <a:solidFill>
            <a:srgbClr val="1E2F3A"/>
          </a:solidFill>
          <a:ln w="6350">
            <a:solidFill>
              <a:srgbClr val="5AA8D8"/>
            </a:solidFill>
            <a:prstDash val="solid"/>
          </a:ln>
        </p:spPr>
      </p:sp>
      <p:sp>
        <p:nvSpPr>
          <p:cNvPr id="12" name="Text 10"/>
          <p:cNvSpPr/>
          <p:nvPr/>
        </p:nvSpPr>
        <p:spPr>
          <a:xfrm>
            <a:off x="502920" y="2889504"/>
            <a:ext cx="393192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10BaseT / UTP</a:t>
            </a:r>
            <a:endParaRPr lang="en-US" sz="1200" dirty="0"/>
          </a:p>
        </p:txBody>
      </p:sp>
      <p:sp>
        <p:nvSpPr>
          <p:cNvPr id="13" name="Text 11"/>
          <p:cNvSpPr/>
          <p:nvPr/>
        </p:nvSpPr>
        <p:spPr>
          <a:xfrm>
            <a:off x="502920" y="3145536"/>
            <a:ext cx="393192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Estrella con Hub/Switch | RJ45 | TX: pines 1-2, RX: 3-6</a:t>
            </a:r>
            <a:endParaRPr lang="en-US" sz="1000" dirty="0"/>
          </a:p>
        </p:txBody>
      </p:sp>
      <p:sp>
        <p:nvSpPr>
          <p:cNvPr id="14" name="Shape 12"/>
          <p:cNvSpPr/>
          <p:nvPr/>
        </p:nvSpPr>
        <p:spPr>
          <a:xfrm>
            <a:off x="365760" y="3657600"/>
            <a:ext cx="4206240" cy="713232"/>
          </a:xfrm>
          <a:prstGeom prst="rect">
            <a:avLst/>
          </a:prstGeom>
          <a:solidFill>
            <a:srgbClr val="1E2F3A"/>
          </a:solidFill>
          <a:ln w="6350">
            <a:solidFill>
              <a:srgbClr val="5AA8D8"/>
            </a:solidFill>
            <a:prstDash val="solid"/>
          </a:ln>
        </p:spPr>
      </p:sp>
      <p:sp>
        <p:nvSpPr>
          <p:cNvPr id="15" name="Text 13"/>
          <p:cNvSpPr/>
          <p:nvPr/>
        </p:nvSpPr>
        <p:spPr>
          <a:xfrm>
            <a:off x="502920" y="3712464"/>
            <a:ext cx="393192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Categorías UTP</a:t>
            </a:r>
            <a:endParaRPr lang="en-US" sz="1200" dirty="0"/>
          </a:p>
        </p:txBody>
      </p:sp>
      <p:sp>
        <p:nvSpPr>
          <p:cNvPr id="16" name="Text 14"/>
          <p:cNvSpPr/>
          <p:nvPr/>
        </p:nvSpPr>
        <p:spPr>
          <a:xfrm>
            <a:off x="502920" y="3968496"/>
            <a:ext cx="393192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Cat 5e: 1 Gbps | Cat 6A: 10 Gbps (recomendada hoy)</a:t>
            </a:r>
            <a:endParaRPr lang="en-US" sz="1000" dirty="0"/>
          </a:p>
        </p:txBody>
      </p:sp>
      <p:sp>
        <p:nvSpPr>
          <p:cNvPr id="17" name="Shape 15"/>
          <p:cNvSpPr/>
          <p:nvPr/>
        </p:nvSpPr>
        <p:spPr>
          <a:xfrm>
            <a:off x="4800600" y="1188720"/>
            <a:ext cx="4114800" cy="713232"/>
          </a:xfrm>
          <a:prstGeom prst="rect">
            <a:avLst/>
          </a:prstGeom>
          <a:solidFill>
            <a:srgbClr val="1E2F3A"/>
          </a:solidFill>
          <a:ln w="6350">
            <a:solidFill>
              <a:srgbClr val="5AA8D8"/>
            </a:solidFill>
            <a:prstDash val="solid"/>
          </a:ln>
        </p:spPr>
      </p:sp>
      <p:sp>
        <p:nvSpPr>
          <p:cNvPr id="18" name="Text 16"/>
          <p:cNvSpPr/>
          <p:nvPr/>
        </p:nvSpPr>
        <p:spPr>
          <a:xfrm>
            <a:off x="4937760" y="1243584"/>
            <a:ext cx="384048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Fibra Multimodo</a:t>
            </a:r>
            <a:endParaRPr lang="en-US" sz="1200" dirty="0"/>
          </a:p>
        </p:txBody>
      </p:sp>
      <p:sp>
        <p:nvSpPr>
          <p:cNvPr id="19" name="Text 17"/>
          <p:cNvSpPr/>
          <p:nvPr/>
        </p:nvSpPr>
        <p:spPr>
          <a:xfrm>
            <a:off x="4937760" y="1499616"/>
            <a:ext cx="384048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Varios modos | hasta 2 km | LED/VCSEL | económica</a:t>
            </a:r>
            <a:endParaRPr lang="en-US" sz="1000" dirty="0"/>
          </a:p>
        </p:txBody>
      </p:sp>
      <p:sp>
        <p:nvSpPr>
          <p:cNvPr id="20" name="Shape 18"/>
          <p:cNvSpPr/>
          <p:nvPr/>
        </p:nvSpPr>
        <p:spPr>
          <a:xfrm>
            <a:off x="4800600" y="2011680"/>
            <a:ext cx="4114800" cy="713232"/>
          </a:xfrm>
          <a:prstGeom prst="rect">
            <a:avLst/>
          </a:prstGeom>
          <a:solidFill>
            <a:srgbClr val="1E2F3A"/>
          </a:solidFill>
          <a:ln w="6350">
            <a:solidFill>
              <a:srgbClr val="5AA8D8"/>
            </a:solidFill>
            <a:prstDash val="solid"/>
          </a:ln>
        </p:spPr>
      </p:sp>
      <p:sp>
        <p:nvSpPr>
          <p:cNvPr id="21" name="Text 19"/>
          <p:cNvSpPr/>
          <p:nvPr/>
        </p:nvSpPr>
        <p:spPr>
          <a:xfrm>
            <a:off x="4937760" y="2066544"/>
            <a:ext cx="384048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Fibra Monomodo</a:t>
            </a:r>
            <a:endParaRPr lang="en-US" sz="1200" dirty="0"/>
          </a:p>
        </p:txBody>
      </p:sp>
      <p:sp>
        <p:nvSpPr>
          <p:cNvPr id="22" name="Text 20"/>
          <p:cNvSpPr/>
          <p:nvPr/>
        </p:nvSpPr>
        <p:spPr>
          <a:xfrm>
            <a:off x="4937760" y="2322576"/>
            <a:ext cx="384048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Un modo | hasta 80+ km | laser | larga distancia</a:t>
            </a:r>
            <a:endParaRPr lang="en-US" sz="1000" dirty="0"/>
          </a:p>
        </p:txBody>
      </p:sp>
      <p:sp>
        <p:nvSpPr>
          <p:cNvPr id="23" name="Shape 21"/>
          <p:cNvSpPr/>
          <p:nvPr/>
        </p:nvSpPr>
        <p:spPr>
          <a:xfrm>
            <a:off x="4800600" y="2834640"/>
            <a:ext cx="4114800" cy="713232"/>
          </a:xfrm>
          <a:prstGeom prst="rect">
            <a:avLst/>
          </a:prstGeom>
          <a:solidFill>
            <a:srgbClr val="1E2F3A"/>
          </a:solidFill>
          <a:ln w="6350">
            <a:solidFill>
              <a:srgbClr val="5AA8D8"/>
            </a:solidFill>
            <a:prstDash val="solid"/>
          </a:ln>
        </p:spPr>
      </p:sp>
      <p:sp>
        <p:nvSpPr>
          <p:cNvPr id="24" name="Text 22"/>
          <p:cNvSpPr/>
          <p:nvPr/>
        </p:nvSpPr>
        <p:spPr>
          <a:xfrm>
            <a:off x="4937760" y="2889504"/>
            <a:ext cx="3840480" cy="237744"/>
          </a:xfrm>
          <a:prstGeom prst="rect">
            <a:avLst/>
          </a:prstGeom>
          <a:noFill/>
          <a:ln/>
        </p:spPr>
        <p:txBody>
          <a:bodyPr wrap="square" lIns="0" tIns="0" rIns="0" bIns="0" rtlCol="0" anchor="ctr"/>
          <a:lstStyle/>
          <a:p>
            <a:pPr indent="0" marL="0">
              <a:buNone/>
            </a:pPr>
            <a:r>
              <a:rPr lang="en-US" sz="1200" b="1" dirty="0">
                <a:solidFill>
                  <a:srgbClr val="5AA8D8"/>
                </a:solidFill>
                <a:latin typeface="Arial" pitchFamily="34" charset="0"/>
                <a:ea typeface="Arial" pitchFamily="34" charset="-122"/>
                <a:cs typeface="Arial" pitchFamily="34" charset="-120"/>
              </a:rPr>
              <a:t>📏 Regla 5-4-3-2-1</a:t>
            </a:r>
            <a:endParaRPr lang="en-US" sz="1200" dirty="0"/>
          </a:p>
        </p:txBody>
      </p:sp>
      <p:sp>
        <p:nvSpPr>
          <p:cNvPr id="25" name="Text 23"/>
          <p:cNvSpPr/>
          <p:nvPr/>
        </p:nvSpPr>
        <p:spPr>
          <a:xfrm>
            <a:off x="4937760" y="3145536"/>
            <a:ext cx="3840480" cy="329184"/>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5 segmentos, 4 repetidores, 3 con hosts, 2 enlace, 1 dominio</a:t>
            </a:r>
            <a:endParaRPr lang="en-US" sz="1000" dirty="0"/>
          </a:p>
        </p:txBody>
      </p:sp>
      <p:sp>
        <p:nvSpPr>
          <p:cNvPr id="26" name="Text 24"/>
          <p:cNvSpPr/>
          <p:nvPr/>
        </p:nvSpPr>
        <p:spPr>
          <a:xfrm>
            <a:off x="457200" y="4640580"/>
            <a:ext cx="8229600" cy="320040"/>
          </a:xfrm>
          <a:prstGeom prst="rect">
            <a:avLst/>
          </a:prstGeom>
          <a:noFill/>
          <a:ln/>
        </p:spPr>
        <p:txBody>
          <a:bodyPr wrap="square" rtlCol="0" anchor="ctr"/>
          <a:lstStyle/>
          <a:p>
            <a:pPr algn="ctr" indent="0" marL="0">
              <a:buNone/>
            </a:pPr>
            <a:r>
              <a:rPr lang="en-US" sz="1300" dirty="0">
                <a:solidFill>
                  <a:srgbClr val="808080"/>
                </a:solidFill>
                <a:latin typeface="Arial" pitchFamily="34" charset="0"/>
                <a:ea typeface="Arial" pitchFamily="34" charset="-122"/>
                <a:cs typeface="Arial" pitchFamily="34" charset="-120"/>
              </a:rPr>
              <a:t>Prof. Víctor</a:t>
            </a:r>
            <a:endParaRPr lang="en-US" sz="1300" dirty="0"/>
          </a:p>
        </p:txBody>
      </p:sp>
      <p:sp>
        <p:nvSpPr>
          <p:cNvPr id="27" name="Shape 25"/>
          <p:cNvSpPr/>
          <p:nvPr/>
        </p:nvSpPr>
        <p:spPr>
          <a:xfrm>
            <a:off x="0" y="5079492"/>
            <a:ext cx="9144000" cy="64008"/>
          </a:xfrm>
          <a:prstGeom prst="rect">
            <a:avLst/>
          </a:prstGeom>
          <a:solidFill>
            <a:srgbClr val="5AA8D8"/>
          </a:solidFill>
          <a:ln w="12700">
            <a:solidFill>
              <a:srgbClr val="5AA8D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SP5/H2 — Nivel Físico Ethernet</dc:title>
  <dc:subject>PptxGenJS Presentation</dc:subject>
  <dc:creator>Víctor</dc:creator>
  <cp:lastModifiedBy>Víctor</cp:lastModifiedBy>
  <cp:revision>1</cp:revision>
  <dcterms:created xsi:type="dcterms:W3CDTF">2026-04-20T23:36:52Z</dcterms:created>
  <dcterms:modified xsi:type="dcterms:W3CDTF">2026-04-20T23:36:52Z</dcterms:modified>
</cp:coreProperties>
</file>