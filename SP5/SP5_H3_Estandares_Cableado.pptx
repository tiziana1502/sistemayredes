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502920"/>
            <a:ext cx="1463040" cy="4572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· H3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para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Cableado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Cableado estructurado · UTP · Conectores RJ45 · TIA/EIA 568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697480"/>
            <a:ext cx="5486400" cy="54864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Víctor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297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 de esta unidad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583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8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6400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de cableado TIA/EIA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0972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la categoría de cable UTP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5727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5727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5544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Colores y pares — esquema EIA/TIA 568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0116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RJ45: plug y jack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4871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871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4688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Armado del cable: normas T568A y T568B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29443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9260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directo vs. cable cruzado (crossover)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4015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015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3832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para el armado del conector RJ45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8587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587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38404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Mapeado de cableado y errores comunes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4315968"/>
            <a:ext cx="457200" cy="3200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315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2976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tecnológica: redes actuales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TIA/EIA para cableado estructurado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estándares de cableado definen la performance y calidad de cables, conectores y hardware.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TIA/EIA - 568A/B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Cableado para telecomunicaciones en edificios comerciales (el más usado en redes LAN)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TIA/EIA - 569A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Recorridos y espacios de telecomunicaciones en edificios comerciales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TIA/EIA - 570A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Cableado residencial y comerciales menores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TIA/EIA - 606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Administración de infraestructura de telecomunicaciones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TIA/EIA - 607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Conexión a tierra para telecomunicaciones en edificios comerciales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UTP — Selección de categoría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59436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685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UTP?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Unshielded Twisted Pair (Par Trenzado sin Protección)
Contiene 4 pares (8 hilos) de cobre. El trenzado cancela interferencias electromagnéticas (EMI).
Dos tipos de conductor:
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Sólido: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atraviesa paredes y techos.
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Flexible (stranded):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patch cords (de roseta a PC, de patch panel a switch).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6583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Categorías más usadas (2024)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24128"/>
          <a:ext cx="4297680" cy="36576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2286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típico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5e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MHz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extendida, mínimo recomendable hoy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Gbps / 10 Gbps*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MHz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actual para nuevas instalaciones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6A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Gbps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MHz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centers, tramos largos a 10G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Gbps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MHz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Blindado (STP), alta interferencia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0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 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25/40 Gbps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 MHz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centers de alta densidad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0" y="466344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10 Gbps a 55 m máx en Cat 6 sin aumentador.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de colores — EIA/TIA 568 A y B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 pares están coloreados para identificarlos. Cada par tiene un hilo de color sólido y uno blanco con raya del mismo color.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4128"/>
          <a:ext cx="5303520" cy="36576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874520"/>
                <a:gridCol w="187452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T568A — Color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T568B — Color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Blanco/Verde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Blanco/Naranja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TX-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Naranja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RX+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Blanco/Naranja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Blanco/Verde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Telefonía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Telefonía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Blanco/Azul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Blanco/Azul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RX-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Naranja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Blanco/Marrón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Blanco/Marrón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Marrón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Marrón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897880" y="1024128"/>
            <a:ext cx="2926080" cy="1554480"/>
          </a:xfrm>
          <a:prstGeom prst="rect">
            <a:avLst/>
          </a:prstGeom>
          <a:solidFill>
            <a:srgbClr val="E8F4FC"/>
          </a:solidFill>
          <a:ln w="19050">
            <a:solidFill>
              <a:srgbClr val="5AA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1078992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CLAVE
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T568A: TX = par Verde (par 3)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RX = par Naranja (par 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T568B: TX = par Naranja (par 2)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RX = par Verde (par 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 son técnicamente equivalentes.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97880" y="2697480"/>
            <a:ext cx="2926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743200"/>
            <a:ext cx="26517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
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instalación debe usar UNA SOLA norma de extremo a extremo. No se puede mezclar T568A y T568B en la misma instalación permanente.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T568B es la más utilizada en América.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directo vs. Cable cruzado (Crossover)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59436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594360"/>
            <a:ext cx="402336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594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Directo (Straight-through)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078992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extremos: misma norma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(T568A — T568A) ó (T568B — T568B)
Uso: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 → Switch / Hub
• Switch → Router
• Cualquier dispositivo diferente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los switches modernos tienen 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MDI-X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detectan automáticamente el tipo de cable.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59436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594360"/>
            <a:ext cx="402336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594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 Cruzado (Crossover)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078992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Extremos diferentes: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(T568A un extremo — T568B el otro)
Uso histórico:
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 → PC (sin switch)
• Switch → Switch (uplink)
• Hub → Hub
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actual:</a:t>
            </a:r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Auto MDI-X, el crossover ya casi no se usa. Los switches lo detectan solos.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para armar el conector plug RJ45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85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640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Cortar un trozo de cable del tamaño adecuado.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344168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12984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Cortar el revestimiento exterior (no dañar el aislante de los hilos).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002536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19568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y destrenzar los pares de cables.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660904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6151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y aplanar los hilos según T568A o T568B.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319272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2735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Cortar los hilos a ½ pulgada (≈ 13 mm) del revestimiento.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977640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3931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Insertar el cable en la ficha RJ45 manteniendo el orden.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685800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685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3792" y="640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Empujar hasta que hagan tope contra la ficha.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1344168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93792" y="12984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Inspeccionar el código de colores antes de engarzar.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002536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93792" y="19568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Engarzar (crimpear) con pinza crimpadora.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0" y="2660904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93792" y="26151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Inspeccionar ambos extremos.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3319272"/>
            <a:ext cx="347472" cy="3474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93792" y="32735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con analizador de cables (Tester LAN).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Armado del Jack RJ-45 y del Patch Panel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conexión en Jacks y Patch Panels se realiza con una herramienta de impacto (punch-down tool).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impacto (Punch-down)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444752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el cable por impacto en la cavidad del jack o patch panel. Las cuchillas internas cortan el aislante y hacen contacto con el conductor de cobre. Una segunda cuchilla corta el sobrante del cable en la misma operación.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06240" cy="2743200"/>
          </a:xfrm>
          <a:prstGeom prst="rect">
            <a:avLst/>
          </a:prstGeom>
          <a:solidFill>
            <a:srgbClr val="E8F4FC"/>
          </a:solidFill>
          <a:ln w="19050">
            <a:solidFill>
              <a:srgbClr val="5AA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0624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al conectar jacks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64008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447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 solo el revestimiento necesario (mínima exposición de hilos).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993392"/>
            <a:ext cx="64008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9751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el trenzado hasta el punto de terminación (máx. 13 mm sin trenzar en Cat 5).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523744"/>
            <a:ext cx="64008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054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de curvatura ≥ 4× el diámetro del cable; nunca doblar &gt;90°.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054096"/>
            <a:ext cx="64008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0358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estirar el cable durante la manipulación (límite: ~11,3 kg de tracción).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804672"/>
          </a:xfrm>
          <a:prstGeom prst="rect">
            <a:avLst/>
          </a:prstGeom>
          <a:solidFill>
            <a:srgbClr val="E8F4FC"/>
          </a:solidFill>
          <a:ln w="19050">
            <a:solidFill>
              <a:srgbClr val="5AA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840480"/>
            <a:ext cx="8458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máxima longitud permitida para un cable horizontal (de roseta a patch panel) según TIA/EIA 568 es 90 metros, más 10 m de patch cords = 100 m totales (canal completo).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Mapeado de cableado — Pruebas y errores comunes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certificador de cableado verifica que cada instalación cumpla los requisitos del estándar correspondiente.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743200" cy="3017520"/>
          </a:xfrm>
          <a:prstGeom prst="rect">
            <a:avLst/>
          </a:prstGeom>
          <a:solidFill>
            <a:srgbClr val="FFEEEE"/>
          </a:solidFill>
          <a:ln w="19050">
            <a:solidFill>
              <a:srgbClr val="CC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2743200" cy="38404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00584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 Invertidos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1444752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hilos de un par se insertan en orden incorrecto dentro del plug RJ45. La corriente no puede cerrar el circuito correctamente → el cable NO funciona.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0175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7432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0584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 Cruzados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55848" y="1444752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alambres de pares distintos se mezclan entre sí. Las señales son completamente incompatibles entre los extremos → el cable NO funciona.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743200" cy="3017520"/>
          </a:xfrm>
          <a:prstGeom prst="rect">
            <a:avLst/>
          </a:prstGeom>
          <a:solidFill>
            <a:srgbClr val="FFFFF0"/>
          </a:solidFill>
          <a:ln w="19050">
            <a:solidFill>
              <a:srgbClr val="C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05840"/>
            <a:ext cx="2743200" cy="384048"/>
          </a:xfrm>
          <a:prstGeom prst="rect">
            <a:avLst/>
          </a:prstGeom>
          <a:solidFill>
            <a:srgbClr val="C8A020"/>
          </a:solidFill>
          <a:ln w="12700">
            <a:solidFill>
              <a:srgbClr val="C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00584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 Divididos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27648" y="1444752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hilos que forman un par pertenecen a circuitos distintos (ej.: verde y azul en el mismo pin). El cable puede funcionar pero genera diafonía (paradiafonía) y pérdida de señal.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solidFill>
            <a:srgbClr val="E8F4FC"/>
          </a:solidFill>
          <a:ln w="19050">
            <a:solidFill>
              <a:srgbClr val="5AA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114800"/>
            <a:ext cx="8458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CERTIFICAR la instalación se usa un Certificador que realiza múltiples pruebas: mapeado, longitud, atenuación, NEXT, ELFEXT, PowerSum, impedancia, retardo, ACR y más.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tecnológica — Redes actuales (2024-2025)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594360"/>
            <a:ext cx="4023360" cy="1828800"/>
          </a:xfrm>
          <a:prstGeom prst="rect">
            <a:avLst/>
          </a:prstGeom>
          <a:solidFill>
            <a:srgbClr val="E8F4FC"/>
          </a:solidFill>
          <a:ln w="19050">
            <a:solidFill>
              <a:srgbClr val="5AA8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594360"/>
            <a:ext cx="402336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594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7 (802.11be)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978408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Velocidades de hasta 46 Gbps teóricos en 6 GHz. Multi-Link Operation (MLO): usa varias bandas simultáneamente. Requiere Cat 6A o superior para el backbone cableado.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594360"/>
            <a:ext cx="4023360" cy="1828800"/>
          </a:xfrm>
          <a:prstGeom prst="rect">
            <a:avLst/>
          </a:prstGeom>
          <a:solidFill>
            <a:srgbClr val="EEF8EE"/>
          </a:solidFill>
          <a:ln w="19050">
            <a:solidFill>
              <a:srgbClr val="3A9A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594360"/>
            <a:ext cx="4023360" cy="347472"/>
          </a:xfrm>
          <a:prstGeom prst="rect">
            <a:avLst/>
          </a:prstGeom>
          <a:solidFill>
            <a:srgbClr val="3A9A3A"/>
          </a:solidFill>
          <a:ln w="12700">
            <a:solidFill>
              <a:srgbClr val="3A9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594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y cableado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978408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pequeñas celdas 5G (small cells) se instalan en edificios y requieren cableado de fibra óptica o Cat 6A para llevar señal desde la antena al equipo de red interior (fronthaul).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4023360" cy="1828800"/>
          </a:xfrm>
          <a:prstGeom prst="rect">
            <a:avLst/>
          </a:prstGeom>
          <a:solidFill>
            <a:srgbClr val="FFF8E8"/>
          </a:solidFill>
          <a:ln w="19050">
            <a:solidFill>
              <a:srgbClr val="C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60320"/>
            <a:ext cx="4023360" cy="347472"/>
          </a:xfrm>
          <a:prstGeom prst="rect">
            <a:avLst/>
          </a:prstGeom>
          <a:solidFill>
            <a:srgbClr val="C8A020"/>
          </a:solidFill>
          <a:ln w="12700">
            <a:solidFill>
              <a:srgbClr val="C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over Ethernet (PoE++)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2944368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802.3bt permite hasta 90 W por cable UTP. Alimenta cámaras IP 4K, access points Wi-Fi 6/7, teléfonos IP, pantallas y hasta laptops. Exige Cat 5e o superior.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560320"/>
            <a:ext cx="4023360" cy="1828800"/>
          </a:xfrm>
          <a:prstGeom prst="rect">
            <a:avLst/>
          </a:prstGeom>
          <a:solidFill>
            <a:srgbClr val="F8F0FF"/>
          </a:solidFill>
          <a:ln w="19050">
            <a:solidFill>
              <a:srgbClr val="8040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560320"/>
            <a:ext cx="4023360" cy="347472"/>
          </a:xfrm>
          <a:prstGeom prst="rect">
            <a:avLst/>
          </a:prstGeom>
          <a:solidFill>
            <a:srgbClr val="8040C0"/>
          </a:solidFill>
          <a:ln w="12700">
            <a:solidFill>
              <a:srgbClr val="804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Fibra hasta el escritorio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2944368"/>
            <a:ext cx="384048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data centers y entornos de alta densidad, la fibra multimodo OM4/OM5 llega directamente al equipo de usuario. Velocidades de 100 Gbps a 400 Gbps con conectores LC y MPO.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8412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777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7772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la norma T568A, el par de transmisión (TX) utiliza el color VERDE, mientras que en T568B el par TX utiliza el color NARANJA.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2743200" cy="658368"/>
          </a:xfrm>
          <a:prstGeom prst="rect">
            <a:avLst/>
          </a:prstGeom>
          <a:solidFill>
            <a:srgbClr val="E8F8E8"/>
          </a:solidFill>
          <a:ln w="19050">
            <a:solidFill>
              <a:srgbClr val="3A9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97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2697480"/>
            <a:ext cx="2743200" cy="658368"/>
          </a:xfrm>
          <a:prstGeom prst="rect">
            <a:avLst/>
          </a:prstGeom>
          <a:solidFill>
            <a:srgbClr val="FFE8E8"/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97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la respuesta correcta?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solidFill>
            <a:srgbClr val="E8F8E8"/>
          </a:solidFill>
          <a:ln w="25400">
            <a:solidFill>
              <a:srgbClr val="3A9A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VERDADERO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8288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Correcto. En T568A: pines 1-2 = Blanco/Verde y Verde (TX). En T568B: pines 1-2 = Blanco/Naranja y Naranja (TX). Esta es exactamente la diferencia entre ambas normas.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8412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777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7772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cable cruzado (crossover) se construye haciendo ambos extremos con la norma T568B.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2743200" cy="658368"/>
          </a:xfrm>
          <a:prstGeom prst="rect">
            <a:avLst/>
          </a:prstGeom>
          <a:solidFill>
            <a:srgbClr val="E8F8E8"/>
          </a:solidFill>
          <a:ln w="19050">
            <a:solidFill>
              <a:srgbClr val="3A9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97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2697480"/>
            <a:ext cx="2743200" cy="658368"/>
          </a:xfrm>
          <a:prstGeom prst="rect">
            <a:avLst/>
          </a:prstGeom>
          <a:solidFill>
            <a:srgbClr val="FFE8E8"/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97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la respuesta correcta?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solidFill>
            <a:srgbClr val="FFE8E8"/>
          </a:solidFill>
          <a:ln w="25400">
            <a:solidFill>
              <a:srgbClr val="CC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FALSO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8288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Incorrecto. Un cable cruzado requiere que UN extremo sea T568A y el OTRO extremo sea T568B. Si ambos extremos usan la misma norma, el resultado es un cable DIRECTO (straight-through).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8412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777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❓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77724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de 'Pares Divididos' en el mapeado de cableado es imposible de detectar porque el cable funciona correctamente.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2743200" cy="658368"/>
          </a:xfrm>
          <a:prstGeom prst="rect">
            <a:avLst/>
          </a:prstGeom>
          <a:solidFill>
            <a:srgbClr val="E8F8E8"/>
          </a:solidFill>
          <a:ln w="19050">
            <a:solidFill>
              <a:srgbClr val="3A9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97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9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0" y="2697480"/>
            <a:ext cx="2743200" cy="658368"/>
          </a:xfrm>
          <a:prstGeom prst="rect">
            <a:avLst/>
          </a:prstGeom>
          <a:solidFill>
            <a:srgbClr val="FFE8E8"/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6974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la respuesta correcta?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64608"/>
            <a:ext cx="54864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SP5 / H3 · Estándares para el Cableado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solidFill>
            <a:srgbClr val="FFE8E8"/>
          </a:solidFill>
          <a:ln w="25400">
            <a:solidFill>
              <a:srgbClr val="CC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FALSO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8288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Incorrecto. Un cable con pares divididos puede funcionar, pero genera paradiafonía (crosstalk) que degrada la señal. Un certificador de cableado lo detecta midiendo NEXT (Near-End CrossTalk) y otras pruebas de rendimiento.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365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la unidad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914400"/>
            <a:ext cx="6400800" cy="457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051560"/>
            <a:ext cx="274320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estándares TIA/EIA 568 definen los requisitos de cableado para edificios comerciales.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1600200"/>
            <a:ext cx="274320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554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 Cat 5e sigue siendo el mínimo; Cat 6/6A es el estándar actual para nuevas instalaciones.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148840"/>
            <a:ext cx="274320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1031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T568A y T568B difieren en el orden de los pares TX/RX; una instalación debe usar una sola norma.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697480"/>
            <a:ext cx="274320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651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cable cruzado (crossover) conecta dispositivos del mismo tipo; hoy Auto MDI-X lo hace innecesario.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246120"/>
            <a:ext cx="274320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200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errores de mapeado (pares invertidos, cruzados o divididos) se detectan con un certificador.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794760"/>
            <a:ext cx="274320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7490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7, PoE++ y 5G indoor exigen infraestructura de cableado de alta categoría (Cat 6A o fibra).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Víctor  ·  Redes y Comunicaciones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SP5 H3 - Estándares para el Cableado</dc:title>
  <dc:subject>PptxGenJS Presentation</dc:subject>
  <dc:creator>Victor</dc:creator>
  <cp:lastModifiedBy>Victor</cp:lastModifiedBy>
  <cp:revision>1</cp:revision>
  <dcterms:created xsi:type="dcterms:W3CDTF">2026-04-21T22:58:26Z</dcterms:created>
  <dcterms:modified xsi:type="dcterms:W3CDTF">2026-04-21T22:58:26Z</dcterms:modified>
</cp:coreProperties>
</file>