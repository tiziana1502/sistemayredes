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Introducir IEEE 802.11 como el estándar global de Wi-Fi. Destacar que opera en las capas Física y de Enlace de Datos. El CSMA/CA ya fue visto en SP4, conectar con lo anterior. Mencionar que no requiere licencias para operar.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Recorrer la tabla fila por fila. Destacar: 802.11b y g son los más usados históricamente (2.4 GHz). El n fue el primer estándar dual-band. Los marcados en verde (ac y ax) son tecnología actual. Mencionar que Wi-Fi 6 es lo que se usa hoy en smartphones modernos.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Comparar ambos estándares. Punto clave: aunque 802.11a era 'mejor' técnicamente (más velocidad, 5 GHz), perdió la batalla comercial porque llegó tarde y no era compatible con el ya instalado 802.11b. Lección: la adopción de mercado importa tanto como las especificaciones técnicas.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802.11g resolvió el problema de velocidad del 'b' manteniendo compatibilidad. 802.11n fue un salto cuántico: doble banda, MIMO, compatible con todo. Es el más instalado en hogares y empresas durante la última década. Explicar MIMO: Multiple Input Multiple Output, usa múltiples antenas simultáneamente.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slide actualiza el contenido del PDF con la tecnología actual. Wi-Fi 6 es lo que trae un celular de 2022+. 5G es la revolución celular actual: no solo para smartphones, sino para conectar máquinas, vehículos, ciudades. Relacionar: la NIC inalámbrica de un celular moderno puede operar en Wi-Fi Y en redes celulares 4G/5G simultáneamente.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Las interferencias en 2.4 GHz son un problema real y cotidiano. Analogía: es como intentar hablar en un cuarto donde todos hablan al mismo tiempo. La banda de 5 GHz es como tener una sala separada con menos gente. Dato interesante: los routers modernos pueden elegir automáticamente el canal menos congestionado.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NIC es el puente entre la computadora y la red. Analogía: es como la boca y los oídos de la computadora para comunicarse. Hoy en día casi toda NIC está integrada en la placa madre. Las inalámbricas externas por USB son muy comunes para agregar Wi-Fi a equipos que no lo tienen.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Estas 4 funciones son fundamentales. La dirección MAC es inmutable (grabada en hardware) a diferencia de la IP que es lógica y configurable. Analogía: la MAC es como el DNI del dispositivo, la IP es como el domicilio. Conectar con el tema de tramas Ethernet que ya vieron en SP4/H5.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slide conecta el concepto académico de NIC con la realidad del celular que todos tienen en el bolsillo. El SoC de un iPhone o de un Android de gama alta tiene múltiples 'NIC' integradas. La eSIM es la evolución: igual que la IP reemplazó al DNS estático, la eSIM reemplaza a la SIM física.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de cierre de contenido. Repaso rápido. Conectar las cuatro áreas: el estándar base, su evolución, el hardware que lo implementa (NIC) y cómo todo esto se ve en la tecnología de hoy. Pedir a los alumnos que mencionen el Wi-Fi de sus propios routers en casa.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D30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3474720"/>
            <a:ext cx="8823960" cy="73152"/>
          </a:xfrm>
          <a:prstGeom prst="rect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201168"/>
            <a:ext cx="1188720" cy="594360"/>
          </a:xfrm>
          <a:prstGeom prst="roundRect">
            <a:avLst>
              <a:gd name="adj" fmla="val 9231"/>
            </a:avLst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201168"/>
            <a:ext cx="1188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SP5 / H4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96012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A8D8"/>
                </a:solidFill>
              </a:rPr>
              <a:t>Redes y Comunicaciones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4173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Estándares Inalámbricos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640080" y="210312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B9DEF8"/>
                </a:solidFill>
              </a:rPr>
              <a:t>y Dispositivos de Conexión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640080" y="292608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08080"/>
                </a:solidFill>
              </a:rPr>
              <a:t>IEEE 802.11 · Wi-Fi · NIC · Tecnología Inalámbrica Actual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384048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A8D8"/>
                </a:solidFill>
              </a:rPr>
              <a:t>Prof: Ing. Antonio Víctor Pérez Españón</a:t>
            </a:r>
            <a:endParaRPr lang="en-US" sz="12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0" y="4434840"/>
            <a:ext cx="1188720" cy="59436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640080" y="443484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08080"/>
                </a:solidFill>
              </a:rPr>
              <a:t>Colegio Universitario IES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D3030"/>
          </a:solidFill>
          <a:ln w="12700">
            <a:solidFill>
              <a:srgbClr val="2D303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822960"/>
          </a:xfrm>
          <a:prstGeom prst="rect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4592" y="128016"/>
            <a:ext cx="822960" cy="548640"/>
          </a:xfrm>
          <a:prstGeom prst="roundRect">
            <a:avLst>
              <a:gd name="adj" fmla="val 8333"/>
            </a:avLst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4592" y="128016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SP5 / H4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78992" y="0"/>
            <a:ext cx="7955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¿Qué es IEEE 802.11? La familia Wi-Fi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2D3030"/>
          </a:solidFill>
          <a:ln w="12700">
            <a:solidFill>
              <a:srgbClr val="2D303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4937760"/>
            <a:ext cx="3200400" cy="205740"/>
          </a:xfrm>
          <a:prstGeom prst="rect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9601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A7BAA"/>
                </a:solidFill>
              </a:rPr>
              <a:t>El Estándar Base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74320" y="1371600"/>
            <a:ext cx="4114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404040"/>
                </a:solidFill>
              </a:rPr>
              <a:t>• Creado en </a:t>
            </a:r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5AA8D8"/>
                </a:solidFill>
              </a:rPr>
              <a:t>1997</a:t>
            </a:r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404040"/>
                </a:solidFill>
              </a:rPr>
              <a:t> por el comité IEEE
</a:t>
            </a:r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404040"/>
                </a:solidFill>
              </a:rPr>
              <a:t>• Define Capas Física y Enlace de Datos (OSI)
</a:t>
            </a:r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404040"/>
                </a:solidFill>
              </a:rPr>
              <a:t>• Base de todos los productos Wi-Fi del mercado
</a:t>
            </a:r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404040"/>
                </a:solidFill>
              </a:rPr>
              <a:t>• Modulación sobre </a:t>
            </a:r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5AA8D8"/>
                </a:solidFill>
              </a:rPr>
              <a:t>radiofrecuencias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74320" y="2788920"/>
            <a:ext cx="4114800" cy="777240"/>
          </a:xfrm>
          <a:prstGeom prst="rect">
            <a:avLst/>
          </a:prstGeom>
          <a:solidFill>
            <a:srgbClr val="E8F4FC"/>
          </a:solidFill>
          <a:ln w="25400">
            <a:solidFill>
              <a:srgbClr val="5AA8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4048" y="2788920"/>
            <a:ext cx="398678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04040"/>
                </a:solidFill>
              </a:rPr>
              <a:t>Método de acceso: CSMA/CA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04040"/>
                </a:solidFill>
              </a:rPr>
              <a:t>(Múltiple Acceso por Detección de Portadora - Evitando Colisiones)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663440" y="9601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A7BAA"/>
                </a:solidFill>
              </a:rPr>
              <a:t>Características clave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663440" y="1371600"/>
            <a:ext cx="4114800" cy="566928"/>
          </a:xfrm>
          <a:prstGeom prst="rect">
            <a:avLst/>
          </a:prstGeom>
          <a:solidFill>
            <a:srgbClr val="E8F4FC"/>
          </a:solidFill>
          <a:ln w="12700">
            <a:solidFill>
              <a:srgbClr val="B9DEF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0" y="138988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A7BAA"/>
                </a:solidFill>
              </a:rPr>
              <a:t>Rangos de frecuencia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754880" y="164592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04040"/>
                </a:solidFill>
              </a:rPr>
              <a:t>2.4 GHz y 5 GHz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663440" y="2029968"/>
            <a:ext cx="4114800" cy="566928"/>
          </a:xfrm>
          <a:prstGeom prst="rect">
            <a:avLst/>
          </a:prstGeom>
          <a:solidFill>
            <a:srgbClr val="E8F4FC"/>
          </a:solidFill>
          <a:ln w="12700">
            <a:solidFill>
              <a:srgbClr val="B9DEF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54880" y="2048256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A7BAA"/>
                </a:solidFill>
              </a:rPr>
              <a:t>Licencias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754880" y="230428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04040"/>
                </a:solidFill>
              </a:rPr>
              <a:t>Sin licencia requerida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663440" y="2688336"/>
            <a:ext cx="4114800" cy="566928"/>
          </a:xfrm>
          <a:prstGeom prst="rect">
            <a:avLst/>
          </a:prstGeom>
          <a:solidFill>
            <a:srgbClr val="E8F4FC"/>
          </a:solidFill>
          <a:ln w="12700">
            <a:solidFill>
              <a:srgbClr val="B9DEF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54880" y="2706624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A7BAA"/>
                </a:solidFill>
              </a:rPr>
              <a:t>Aplicación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754880" y="2962656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04040"/>
                </a:solidFill>
              </a:rPr>
              <a:t>LAN inalámbrica (WLAN)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663440" y="3346704"/>
            <a:ext cx="4114800" cy="566928"/>
          </a:xfrm>
          <a:prstGeom prst="rect">
            <a:avLst/>
          </a:prstGeom>
          <a:solidFill>
            <a:srgbClr val="E8F4FC"/>
          </a:solidFill>
          <a:ln w="12700">
            <a:solidFill>
              <a:srgbClr val="B9DEF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54880" y="3364992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A7BAA"/>
                </a:solidFill>
              </a:rPr>
              <a:t>Evolución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754880" y="3621024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04040"/>
                </a:solidFill>
              </a:rPr>
              <a:t>a → b → g → n → ac → ax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D3030"/>
          </a:solidFill>
          <a:ln w="12700">
            <a:solidFill>
              <a:srgbClr val="2D303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822960"/>
          </a:xfrm>
          <a:prstGeom prst="rect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4592" y="128016"/>
            <a:ext cx="822960" cy="548640"/>
          </a:xfrm>
          <a:prstGeom prst="roundRect">
            <a:avLst>
              <a:gd name="adj" fmla="val 8333"/>
            </a:avLst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4592" y="128016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SP5 / H4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78992" y="0"/>
            <a:ext cx="7955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Evolución de los Estándares 802.11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2D3030"/>
          </a:solidFill>
          <a:ln w="12700">
            <a:solidFill>
              <a:srgbClr val="2D303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4937760"/>
            <a:ext cx="3200400" cy="205740"/>
          </a:xfrm>
          <a:prstGeom prst="rect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914400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A7BAA"/>
                </a:solidFill>
              </a:rPr>
              <a:t>Comparativa de versiones Wi-Fi</a:t>
            </a:r>
            <a:endParaRPr lang="en-US" sz="14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298448"/>
          <a:ext cx="8595360" cy="3383280"/>
        </p:xfrm>
        <a:graphic>
          <a:graphicData uri="http://schemas.openxmlformats.org/drawingml/2006/table">
            <a:tbl>
              <a:tblPr/>
              <a:tblGrid>
                <a:gridCol w="1432560"/>
                <a:gridCol w="1432560"/>
                <a:gridCol w="1432560"/>
                <a:gridCol w="1432560"/>
                <a:gridCol w="1432560"/>
                <a:gridCol w="1432560"/>
              </a:tblGrid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Estándar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7BA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Año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7BA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Frecuencia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7BA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Vel. Teórica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7BA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Vel. Real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7BA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Alcance interior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7BAA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802.11 (orig.)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1997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2.4 GHz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2 Mbps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~1 Mbps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~20 m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802.11a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1999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5 GHz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54 Mbps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~25 Mbps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8–25 m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A7BAA"/>
                          </a:solidFill>
                        </a:rPr>
                        <a:t>802.11b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1999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2.4 GHz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11 Mbps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~5–7 Mbps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30–50 m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A7BAA"/>
                          </a:solidFill>
                        </a:rPr>
                        <a:t>802.11g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2003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2.4 GHz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54 Mbps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~25 Mbps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30–50 m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5AA8D8"/>
                          </a:solidFill>
                        </a:rPr>
                        <a:t>802.11n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2009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2.4 / 5 GHz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600 Mbps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100–200 Mbps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~70 m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6622"/>
                          </a:solidFill>
                        </a:rPr>
                        <a:t>802.11ac (Wi-Fi 5)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2013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5 GHz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3.5 Gbps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~500 Mbps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~35 m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6622"/>
                          </a:solidFill>
                        </a:rPr>
                        <a:t>802.11ax (Wi-Fi 6/6E)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2021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2.4/5/6 GHz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9.6 Gbps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~1–2 Gbps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~30 m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Text 8"/>
          <p:cNvSpPr/>
          <p:nvPr/>
        </p:nvSpPr>
        <p:spPr>
          <a:xfrm>
            <a:off x="274320" y="4709160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06622"/>
                </a:solidFill>
              </a:rPr>
              <a:t>Los marcados en verde son actualizaciones más allá del PDF original.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D3030"/>
          </a:solidFill>
          <a:ln w="12700">
            <a:solidFill>
              <a:srgbClr val="2D303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822960"/>
          </a:xfrm>
          <a:prstGeom prst="rect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4592" y="128016"/>
            <a:ext cx="822960" cy="548640"/>
          </a:xfrm>
          <a:prstGeom prst="roundRect">
            <a:avLst>
              <a:gd name="adj" fmla="val 8333"/>
            </a:avLst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4592" y="128016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SP5 / H4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78992" y="0"/>
            <a:ext cx="7955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802.11a y 802.11b — Los primeros estándares (1999)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2D3030"/>
          </a:solidFill>
          <a:ln w="12700">
            <a:solidFill>
              <a:srgbClr val="2D303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4937760"/>
            <a:ext cx="3200400" cy="205740"/>
          </a:xfrm>
          <a:prstGeom prst="rect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914400"/>
            <a:ext cx="4023360" cy="3566160"/>
          </a:xfrm>
          <a:prstGeom prst="rect">
            <a:avLst/>
          </a:prstGeom>
          <a:solidFill>
            <a:srgbClr val="FFFFFF"/>
          </a:solidFill>
          <a:ln w="25400">
            <a:solidFill>
              <a:srgbClr val="B9DEF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" y="914400"/>
            <a:ext cx="4023360" cy="502920"/>
          </a:xfrm>
          <a:prstGeom prst="rect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914400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802.11a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11480" y="1481328"/>
            <a:ext cx="374904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3A7BAA"/>
                </a:solidFill>
              </a:rPr>
              <a:t>Frecuencia: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404040"/>
                </a:solidFill>
              </a:rPr>
              <a:t>5 GHz
</a:t>
            </a:r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3A7BAA"/>
                </a:solidFill>
              </a:rPr>
              <a:t>Vel. teórica: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404040"/>
                </a:solidFill>
              </a:rPr>
              <a:t>54 Mbps
</a:t>
            </a:r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3A7BAA"/>
                </a:solidFill>
              </a:rPr>
              <a:t>Vel. real: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404040"/>
                </a:solidFill>
              </a:rPr>
              <a:t>~25 Mbps
</a:t>
            </a:r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3A7BAA"/>
                </a:solidFill>
              </a:rPr>
              <a:t>Alcance: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404040"/>
                </a:solidFill>
              </a:rPr>
              <a:t>8–25 m interior
</a:t>
            </a:r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C05000"/>
                </a:solidFill>
              </a:rPr>
              <a:t>⚠ </a:t>
            </a:r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04040"/>
                </a:solidFill>
              </a:rPr>
              <a:t>No compatible con 802.11b/g
</a:t>
            </a:r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C05000"/>
                </a:solidFill>
              </a:rPr>
              <a:t>⚠ </a:t>
            </a:r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04040"/>
                </a:solidFill>
              </a:rPr>
              <a:t>Salió tarde al mercado
</a:t>
            </a:r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C05000"/>
                </a:solidFill>
              </a:rPr>
              <a:t>⚠ </a:t>
            </a:r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04040"/>
                </a:solidFill>
              </a:rPr>
              <a:t>Precio elevado vs. 802.11b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846320" y="914400"/>
            <a:ext cx="4023360" cy="3566160"/>
          </a:xfrm>
          <a:prstGeom prst="rect">
            <a:avLst/>
          </a:prstGeom>
          <a:solidFill>
            <a:srgbClr val="FFFFFF"/>
          </a:solidFill>
          <a:ln w="25400">
            <a:solidFill>
              <a:srgbClr val="B9DEF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846320" y="914400"/>
            <a:ext cx="4023360" cy="502920"/>
          </a:xfrm>
          <a:prstGeom prst="rect">
            <a:avLst/>
          </a:prstGeom>
          <a:solidFill>
            <a:srgbClr val="3A7BAA"/>
          </a:solidFill>
          <a:ln w="12700">
            <a:solidFill>
              <a:srgbClr val="3A7BA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46320" y="914400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802.11b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983480" y="1481328"/>
            <a:ext cx="374904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3A7BAA"/>
                </a:solidFill>
              </a:rPr>
              <a:t>Frecuencia: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404040"/>
                </a:solidFill>
              </a:rPr>
              <a:t>2.4 GHz
</a:t>
            </a:r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3A7BAA"/>
                </a:solidFill>
              </a:rPr>
              <a:t>Vel. teórica: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404040"/>
                </a:solidFill>
              </a:rPr>
              <a:t>11 Mbps
</a:t>
            </a:r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3A7BAA"/>
                </a:solidFill>
              </a:rPr>
              <a:t>Vel. real TCP: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404040"/>
                </a:solidFill>
              </a:rPr>
              <a:t>~5.9 Mbps
</a:t>
            </a:r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3A7BAA"/>
                </a:solidFill>
              </a:rPr>
              <a:t>Vel. real UDP: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404040"/>
                </a:solidFill>
              </a:rPr>
              <a:t>~7.1 Mbps
</a:t>
            </a:r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3A7BAA"/>
                </a:solidFill>
              </a:rPr>
              <a:t>Alcance: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404040"/>
                </a:solidFill>
              </a:rPr>
              <a:t>30–50 m interior
</a:t>
            </a:r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006622"/>
                </a:solidFill>
              </a:rPr>
              <a:t>✓ </a:t>
            </a:r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04040"/>
                </a:solidFill>
              </a:rPr>
              <a:t>El más adoptado de la época
</a:t>
            </a:r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C05000"/>
                </a:solidFill>
              </a:rPr>
              <a:t>⚠ </a:t>
            </a:r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04040"/>
                </a:solidFill>
              </a:rPr>
              <a:t>Interferencias con microondas,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04040"/>
                </a:solidFill>
              </a:rPr>
              <a:t>    Bluetooth, inalámbricos domésticos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D3030"/>
          </a:solidFill>
          <a:ln w="12700">
            <a:solidFill>
              <a:srgbClr val="2D303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822960"/>
          </a:xfrm>
          <a:prstGeom prst="rect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4592" y="128016"/>
            <a:ext cx="822960" cy="548640"/>
          </a:xfrm>
          <a:prstGeom prst="roundRect">
            <a:avLst>
              <a:gd name="adj" fmla="val 8333"/>
            </a:avLst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4592" y="128016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SP5 / H4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78992" y="0"/>
            <a:ext cx="7955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802.11g y 802.11n — Velocidad y Compatibilidad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2D3030"/>
          </a:solidFill>
          <a:ln w="12700">
            <a:solidFill>
              <a:srgbClr val="2D303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4937760"/>
            <a:ext cx="3200400" cy="205740"/>
          </a:xfrm>
          <a:prstGeom prst="rect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914400"/>
            <a:ext cx="4023360" cy="3566160"/>
          </a:xfrm>
          <a:prstGeom prst="rect">
            <a:avLst/>
          </a:prstGeom>
          <a:solidFill>
            <a:srgbClr val="FFFFFF"/>
          </a:solidFill>
          <a:ln w="25400">
            <a:solidFill>
              <a:srgbClr val="B9DEF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" y="914400"/>
            <a:ext cx="4023360" cy="502920"/>
          </a:xfrm>
          <a:prstGeom prst="rect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914400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802.11g (2003)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11480" y="1481328"/>
            <a:ext cx="374904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3A7BAA"/>
                </a:solidFill>
              </a:rPr>
              <a:t>Frecuencia: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404040"/>
                </a:solidFill>
              </a:rPr>
              <a:t>2.4 GHz
</a:t>
            </a:r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3A7BAA"/>
                </a:solidFill>
              </a:rPr>
              <a:t>Vel. teórica: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404040"/>
                </a:solidFill>
              </a:rPr>
              <a:t>54 Mbps
</a:t>
            </a:r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3A7BAA"/>
                </a:solidFill>
              </a:rPr>
              <a:t>Vel. real: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404040"/>
                </a:solidFill>
              </a:rPr>
              <a:t>~25 Mbps
</a:t>
            </a:r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3A7BAA"/>
                </a:solidFill>
              </a:rPr>
              <a:t>Alcance: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404040"/>
                </a:solidFill>
              </a:rPr>
              <a:t>30–50 m interior
</a:t>
            </a:r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006622"/>
                </a:solidFill>
              </a:rPr>
              <a:t>✓ 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04040"/>
                </a:solidFill>
              </a:rPr>
              <a:t>Compatible con 802.11b
</a:t>
            </a:r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C05000"/>
                </a:solidFill>
              </a:rPr>
              <a:t>⚠ 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04040"/>
                </a:solidFill>
              </a:rPr>
              <a:t>Si hay nodos 802.11b en la red,
    la velocidad total baja
</a:t>
            </a:r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C05000"/>
                </a:solidFill>
              </a:rPr>
              <a:t>⚠ 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04040"/>
                </a:solidFill>
              </a:rPr>
              <a:t>No compatible con 802.11a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846320" y="914400"/>
            <a:ext cx="4023360" cy="3566160"/>
          </a:xfrm>
          <a:prstGeom prst="rect">
            <a:avLst/>
          </a:prstGeom>
          <a:solidFill>
            <a:srgbClr val="FFFFFF"/>
          </a:solidFill>
          <a:ln w="25400">
            <a:solidFill>
              <a:srgbClr val="B9DEF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846320" y="914400"/>
            <a:ext cx="4023360" cy="502920"/>
          </a:xfrm>
          <a:prstGeom prst="rect">
            <a:avLst/>
          </a:prstGeom>
          <a:solidFill>
            <a:srgbClr val="3A7BAA"/>
          </a:solidFill>
          <a:ln w="12700">
            <a:solidFill>
              <a:srgbClr val="3A7BA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46320" y="914400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802.11n (2009)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4983480" y="1481328"/>
            <a:ext cx="374904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3A7BAA"/>
                </a:solidFill>
              </a:rPr>
              <a:t>Frecuencia: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404040"/>
                </a:solidFill>
              </a:rPr>
              <a:t>2.4 GHz y 5 GHz
</a:t>
            </a:r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3A7BAA"/>
                </a:solidFill>
              </a:rPr>
              <a:t>Vel. teórica: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404040"/>
                </a:solidFill>
              </a:rPr>
              <a:t>hasta 600 Mbps
</a:t>
            </a:r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3A7BAA"/>
                </a:solidFill>
              </a:rPr>
              <a:t>Vel. real: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404040"/>
                </a:solidFill>
              </a:rPr>
              <a:t>100–200 Mbps (picos 200 Mbps)
</a:t>
            </a:r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3A7BAA"/>
                </a:solidFill>
              </a:rPr>
              <a:t>Alcance: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404040"/>
                </a:solidFill>
              </a:rPr>
              <a:t>~70 m interior
</a:t>
            </a:r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006622"/>
                </a:solidFill>
              </a:rPr>
              <a:t>✓ 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04040"/>
                </a:solidFill>
              </a:rPr>
              <a:t>Compatible con TODAS las versiones
</a:t>
            </a:r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006622"/>
                </a:solidFill>
              </a:rPr>
              <a:t>✓ 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04040"/>
                </a:solidFill>
              </a:rPr>
              <a:t>Tecnología MIMO (múltiples antenas)
</a:t>
            </a:r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006622"/>
                </a:solidFill>
              </a:rPr>
              <a:t>✓ 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04040"/>
                </a:solidFill>
              </a:rPr>
              <a:t>Primer estándar dual-band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D3030"/>
          </a:solidFill>
          <a:ln w="12700">
            <a:solidFill>
              <a:srgbClr val="2D303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822960"/>
          </a:xfrm>
          <a:prstGeom prst="rect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4592" y="128016"/>
            <a:ext cx="822960" cy="548640"/>
          </a:xfrm>
          <a:prstGeom prst="roundRect">
            <a:avLst>
              <a:gd name="adj" fmla="val 8333"/>
            </a:avLst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4592" y="128016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SP5 / H4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78992" y="0"/>
            <a:ext cx="7955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Actualización Tecnológica: Wi-Fi 5, 6 y Celular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2D3030"/>
          </a:solidFill>
          <a:ln w="12700">
            <a:solidFill>
              <a:srgbClr val="2D303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4937760"/>
            <a:ext cx="3200400" cy="205740"/>
          </a:xfrm>
          <a:prstGeom prst="rect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896112"/>
            <a:ext cx="8595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08080"/>
                </a:solidFill>
              </a:rPr>
              <a:t>Más allá del contenido del curso — tecnología actual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4320" y="1234440"/>
            <a:ext cx="27889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B9DEF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" y="1234440"/>
            <a:ext cx="2788920" cy="411480"/>
          </a:xfrm>
          <a:prstGeom prst="rect">
            <a:avLst/>
          </a:prstGeom>
          <a:solidFill>
            <a:srgbClr val="3A7BAA"/>
          </a:solidFill>
          <a:ln w="12700">
            <a:solidFill>
              <a:srgbClr val="3A7BA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1234440"/>
            <a:ext cx="2697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Wi-Fi 5 (802.11ac)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20040" y="1490472"/>
            <a:ext cx="2697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9DEF8"/>
                </a:solidFill>
              </a:rPr>
              <a:t>2013 · 5 GHz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47472" y="1691640"/>
            <a:ext cx="265176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04040"/>
                </a:solidFill>
              </a:rPr>
              <a:t>Hasta 3.5 Gbps teóricos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04040"/>
                </a:solidFill>
              </a:rPr>
              <a:t>MU-MIMO (múltiples usuarios)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04040"/>
                </a:solidFill>
              </a:rPr>
              <a:t>Beamforming (foco de señal)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04040"/>
                </a:solidFill>
              </a:rPr>
              <a:t>Estándar actual de hogares y routers ISP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154680" y="1234440"/>
            <a:ext cx="27889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B9DEF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154680" y="1234440"/>
            <a:ext cx="2788920" cy="411480"/>
          </a:xfrm>
          <a:prstGeom prst="rect">
            <a:avLst/>
          </a:prstGeom>
          <a:solidFill>
            <a:srgbClr val="006622"/>
          </a:solidFill>
          <a:ln w="12700">
            <a:solidFill>
              <a:srgbClr val="00662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0" y="1234440"/>
            <a:ext cx="2697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Wi-Fi 6 / 6E (802.11ax)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200400" y="1490472"/>
            <a:ext cx="2697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9DEF8"/>
                </a:solidFill>
              </a:rPr>
              <a:t>2021 · 2.4/5/6 GHz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227832" y="1691640"/>
            <a:ext cx="265176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04040"/>
                </a:solidFill>
              </a:rPr>
              <a:t>Hasta 9.6 Gbps teóricos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04040"/>
                </a:solidFill>
              </a:rPr>
              <a:t>OFDMA (acceso eficiente)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04040"/>
                </a:solidFill>
              </a:rPr>
              <a:t>Target Wake Time (ahorro batería)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04040"/>
                </a:solidFill>
              </a:rPr>
              <a:t>Banda 6 GHz = espacio sin congestión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04040"/>
                </a:solidFill>
              </a:rPr>
              <a:t>Presente en smartphones 2021+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035040" y="1234440"/>
            <a:ext cx="27889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B9DEF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035040" y="1234440"/>
            <a:ext cx="2788920" cy="411480"/>
          </a:xfrm>
          <a:prstGeom prst="rect">
            <a:avLst/>
          </a:prstGeom>
          <a:solidFill>
            <a:srgbClr val="5500AA"/>
          </a:solidFill>
          <a:ln w="12700">
            <a:solidFill>
              <a:srgbClr val="5500A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080760" y="1234440"/>
            <a:ext cx="2697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Wi-Fi 7 (802.11be)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080760" y="1490472"/>
            <a:ext cx="2697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9DEF8"/>
                </a:solidFill>
              </a:rPr>
              <a:t>2024 · Multi-link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108192" y="1691640"/>
            <a:ext cx="265176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04040"/>
                </a:solidFill>
              </a:rPr>
              <a:t>Hasta 46 Gbps teóricos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04040"/>
                </a:solidFill>
              </a:rPr>
              <a:t>Opera en 3 bandas simultáneamente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04040"/>
                </a:solidFill>
              </a:rPr>
              <a:t>Latencia ultra-baja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04040"/>
                </a:solidFill>
              </a:rPr>
              <a:t>Ideal para XR/AR y gaming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74320" y="3154680"/>
            <a:ext cx="8595360" cy="320040"/>
          </a:xfrm>
          <a:prstGeom prst="rect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" y="315468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Tecnología Celular y su Relación con las Redes de Datos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274320" y="3538728"/>
            <a:ext cx="2057400" cy="1234440"/>
          </a:xfrm>
          <a:prstGeom prst="rect">
            <a:avLst/>
          </a:prstGeom>
          <a:solidFill>
            <a:srgbClr val="E8F4FC"/>
          </a:solidFill>
          <a:ln w="12700">
            <a:solidFill>
              <a:srgbClr val="B9DEF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0040" y="356616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A7BAA"/>
                </a:solidFill>
              </a:rPr>
              <a:t>3G (UMTS)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20040" y="3840480"/>
            <a:ext cx="1965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6622"/>
                </a:solidFill>
              </a:rPr>
              <a:t>~7 Mbps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20040" y="4069080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04040"/>
                </a:solidFill>
              </a:rPr>
              <a:t>Voz + datos básicos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2423160" y="3538728"/>
            <a:ext cx="2057400" cy="1234440"/>
          </a:xfrm>
          <a:prstGeom prst="rect">
            <a:avLst/>
          </a:prstGeom>
          <a:solidFill>
            <a:srgbClr val="E8F4FC"/>
          </a:solidFill>
          <a:ln w="12700">
            <a:solidFill>
              <a:srgbClr val="B9DEF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468880" y="356616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A7BAA"/>
                </a:solidFill>
              </a:rPr>
              <a:t>4G LTE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2468880" y="3840480"/>
            <a:ext cx="1965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6622"/>
                </a:solidFill>
              </a:rPr>
              <a:t>~150 Mbps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2468880" y="4069080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04040"/>
                </a:solidFill>
              </a:rPr>
              <a:t>Video HD, apps móviles, VoIP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572000" y="3538728"/>
            <a:ext cx="2057400" cy="1234440"/>
          </a:xfrm>
          <a:prstGeom prst="rect">
            <a:avLst/>
          </a:prstGeom>
          <a:solidFill>
            <a:srgbClr val="E8F4FC"/>
          </a:solidFill>
          <a:ln w="12700">
            <a:solidFill>
              <a:srgbClr val="B9DEF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617720" y="356616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A7BAA"/>
                </a:solidFill>
              </a:rPr>
              <a:t>4G LTE-A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617720" y="3840480"/>
            <a:ext cx="1965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6622"/>
                </a:solidFill>
              </a:rPr>
              <a:t>~1 Gbps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617720" y="4069080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04040"/>
                </a:solidFill>
              </a:rPr>
              <a:t>Streaming 4K, IoT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6720840" y="3538728"/>
            <a:ext cx="2057400" cy="1234440"/>
          </a:xfrm>
          <a:prstGeom prst="rect">
            <a:avLst/>
          </a:prstGeom>
          <a:solidFill>
            <a:srgbClr val="E8F4FC"/>
          </a:solidFill>
          <a:ln w="12700">
            <a:solidFill>
              <a:srgbClr val="B9DEF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766560" y="356616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A7BAA"/>
                </a:solidFill>
              </a:rPr>
              <a:t>5G NR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6766560" y="3840480"/>
            <a:ext cx="1965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6622"/>
                </a:solidFill>
              </a:rPr>
              <a:t>hasta 20 Gbps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6766560" y="4069080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04040"/>
                </a:solidFill>
              </a:rPr>
              <a:t>IoT masivo, AR/VR, vehículos autónomos, ciudades inteligentes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D3030"/>
          </a:solidFill>
          <a:ln w="12700">
            <a:solidFill>
              <a:srgbClr val="2D303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822960"/>
          </a:xfrm>
          <a:prstGeom prst="rect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4592" y="128016"/>
            <a:ext cx="822960" cy="548640"/>
          </a:xfrm>
          <a:prstGeom prst="roundRect">
            <a:avLst>
              <a:gd name="adj" fmla="val 8333"/>
            </a:avLst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4592" y="128016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SP5 / H4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78992" y="0"/>
            <a:ext cx="7955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Frecuencias, Interferencias y Canales Wi-Fi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2D3030"/>
          </a:solidFill>
          <a:ln w="12700">
            <a:solidFill>
              <a:srgbClr val="2D303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4937760"/>
            <a:ext cx="3200400" cy="205740"/>
          </a:xfrm>
          <a:prstGeom prst="rect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896112"/>
            <a:ext cx="8595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08080"/>
                </a:solidFill>
              </a:rPr>
              <a:t>El espectro 2.4 GHz está saturado — esto es lo que necesitás saber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74320" y="1234440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A7BAA"/>
                </a:solidFill>
              </a:rPr>
              <a:t>Fuentes de Interferencia en 2.4 GHz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74320" y="1627632"/>
            <a:ext cx="4023360" cy="384048"/>
          </a:xfrm>
          <a:prstGeom prst="rect">
            <a:avLst/>
          </a:prstGeom>
          <a:solidFill>
            <a:srgbClr val="E8F4FC"/>
          </a:solidFill>
          <a:ln w="12700">
            <a:solidFill>
              <a:srgbClr val="B9DEF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4048" y="1627632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04040"/>
                </a:solidFill>
              </a:rPr>
              <a:t>🔄 Hornos microondas (2.45 GHz)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74320" y="2057400"/>
            <a:ext cx="402336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B9DEF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4048" y="2057400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04040"/>
                </a:solidFill>
              </a:rPr>
              <a:t>📞 Teléfonos inalámbricos domésticos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74320" y="2487168"/>
            <a:ext cx="4023360" cy="384048"/>
          </a:xfrm>
          <a:prstGeom prst="rect">
            <a:avLst/>
          </a:prstGeom>
          <a:solidFill>
            <a:srgbClr val="E8F4FC"/>
          </a:solidFill>
          <a:ln w="12700">
            <a:solidFill>
              <a:srgbClr val="B9DEF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84048" y="2487168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04040"/>
                </a:solidFill>
              </a:rPr>
              <a:t>🎧 Bluetooth (versiones &lt; 1.2)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74320" y="2916936"/>
            <a:ext cx="402336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B9DEF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84048" y="2916936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04040"/>
                </a:solidFill>
              </a:rPr>
              <a:t>📷 Cámaras IP inalámbricas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74320" y="3346704"/>
            <a:ext cx="4023360" cy="384048"/>
          </a:xfrm>
          <a:prstGeom prst="rect">
            <a:avLst/>
          </a:prstGeom>
          <a:solidFill>
            <a:srgbClr val="E8F4FC"/>
          </a:solidFill>
          <a:ln w="12700">
            <a:solidFill>
              <a:srgbClr val="B9DEF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84048" y="3346704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04040"/>
                </a:solidFill>
              </a:rPr>
              <a:t>🏠 Routers de vecinos (mismo canal)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74320" y="3776472"/>
            <a:ext cx="402336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B9DEF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84048" y="3776472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04040"/>
                </a:solidFill>
              </a:rPr>
              <a:t>🎮 Controles inalámbricos de consolas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572000" y="1234440"/>
            <a:ext cx="4297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A7BAA"/>
                </a:solidFill>
              </a:rPr>
              <a:t>Canales Wi-Fi — Banda 2.4 GHz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572000" y="1627632"/>
            <a:ext cx="4297680" cy="1097280"/>
          </a:xfrm>
          <a:prstGeom prst="rect">
            <a:avLst/>
          </a:prstGeom>
          <a:solidFill>
            <a:srgbClr val="E8F4FC"/>
          </a:solidFill>
          <a:ln w="25400">
            <a:solidFill>
              <a:srgbClr val="5AA8D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81728" y="1627632"/>
            <a:ext cx="4169664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04040"/>
                </a:solidFill>
              </a:rPr>
              <a:t>La banda 2.4 GHz tiene 13 canales en Argentina.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04040"/>
                </a:solidFill>
              </a:rPr>
              <a:t>Solo los canales 1, 6 y 11 NO se solapan entre sí.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04040"/>
                </a:solidFill>
              </a:rPr>
              <a:t>La mayoría de los routers los elige automáticamente.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572000" y="2816352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6622"/>
                </a:solidFill>
              </a:rPr>
              <a:t>Solución: usar 5 GHz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572000" y="3154680"/>
            <a:ext cx="429768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04040"/>
                </a:solidFill>
              </a:rPr>
              <a:t>• La banda de 5 GHz tiene </a:t>
            </a:r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5AA8D8"/>
                </a:solidFill>
              </a:rPr>
              <a:t>24 canales no solapados
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04040"/>
                </a:solidFill>
              </a:rPr>
              <a:t>• Menos interferencias por ser menos usada
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04040"/>
                </a:solidFill>
              </a:rPr>
              <a:t>• Mayor velocidad pero menor alcance
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04040"/>
                </a:solidFill>
              </a:rPr>
              <a:t>• La banda 6 GHz (Wi-Fi 6E) ofrece aún más espacio libre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274320" y="4681728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06622"/>
                </a:solidFill>
              </a:rPr>
              <a:t>Dato: Bluetooth 1.2+ usa salto de frecuencia (FHSS) para coexistir con Wi-Fi 2.4 GHz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D3030"/>
          </a:solidFill>
          <a:ln w="12700">
            <a:solidFill>
              <a:srgbClr val="2D303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822960"/>
          </a:xfrm>
          <a:prstGeom prst="rect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4592" y="128016"/>
            <a:ext cx="822960" cy="548640"/>
          </a:xfrm>
          <a:prstGeom prst="roundRect">
            <a:avLst>
              <a:gd name="adj" fmla="val 8333"/>
            </a:avLst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4592" y="128016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SP5 / H4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78992" y="0"/>
            <a:ext cx="7955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La Tarjeta de Red — NIC (Network Interface Card)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2D3030"/>
          </a:solidFill>
          <a:ln w="12700">
            <a:solidFill>
              <a:srgbClr val="2D303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4937760"/>
            <a:ext cx="3200400" cy="205740"/>
          </a:xfrm>
          <a:prstGeom prst="rect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914400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A7BAA"/>
                </a:solidFill>
              </a:rPr>
              <a:t>¿Qué es una NIC?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74320" y="1298448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04040"/>
                </a:solidFill>
              </a:rPr>
              <a:t>Se conecta a la placa madre y provee los puertos para conexión con cable o de forma inalámbrica. Opera en la Capa 2 del modelo OSI.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74320" y="1828800"/>
            <a:ext cx="8595360" cy="347472"/>
          </a:xfrm>
          <a:prstGeom prst="rect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1828800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 Factores para seleccionar una NIC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74320" y="2212848"/>
            <a:ext cx="2788920" cy="1554480"/>
          </a:xfrm>
          <a:prstGeom prst="rect">
            <a:avLst/>
          </a:prstGeom>
          <a:solidFill>
            <a:srgbClr val="FFFFFF"/>
          </a:solidFill>
          <a:ln w="25400">
            <a:solidFill>
              <a:srgbClr val="B9DEF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4320" y="2212848"/>
            <a:ext cx="640080" cy="1554480"/>
          </a:xfrm>
          <a:prstGeom prst="rect">
            <a:avLst/>
          </a:prstGeom>
          <a:solidFill>
            <a:srgbClr val="E8F4FC"/>
          </a:solidFill>
          <a:ln w="12700">
            <a:solidFill>
              <a:srgbClr val="B9DEF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2212848"/>
            <a:ext cx="6400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5AA8D8"/>
                </a:solidFill>
              </a:rPr>
              <a:t>1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960120" y="2286000"/>
            <a:ext cx="2057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A7BAA"/>
                </a:solidFill>
              </a:rPr>
              <a:t>Tipo de Red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60120" y="2633472"/>
            <a:ext cx="2057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04040"/>
                </a:solidFill>
              </a:rPr>
              <a:t>Ethernet · Token Ring · FDDI · Inalámbrica (Wi-Fi)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154680" y="2212848"/>
            <a:ext cx="2788920" cy="1554480"/>
          </a:xfrm>
          <a:prstGeom prst="rect">
            <a:avLst/>
          </a:prstGeom>
          <a:solidFill>
            <a:srgbClr val="FFFFFF"/>
          </a:solidFill>
          <a:ln w="25400">
            <a:solidFill>
              <a:srgbClr val="B9DEF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154680" y="2212848"/>
            <a:ext cx="640080" cy="1554480"/>
          </a:xfrm>
          <a:prstGeom prst="rect">
            <a:avLst/>
          </a:prstGeom>
          <a:solidFill>
            <a:srgbClr val="E8F4FC"/>
          </a:solidFill>
          <a:ln w="12700">
            <a:solidFill>
              <a:srgbClr val="B9DEF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154680" y="2212848"/>
            <a:ext cx="6400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5AA8D8"/>
                </a:solidFill>
              </a:rPr>
              <a:t>2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3840480" y="2286000"/>
            <a:ext cx="2057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A7BAA"/>
                </a:solidFill>
              </a:rPr>
              <a:t>Tipo de Medios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840480" y="2633472"/>
            <a:ext cx="2057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04040"/>
                </a:solidFill>
              </a:rPr>
              <a:t>Cable UTP · Coaxial · Fibra Óptica · Wireless · USB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035040" y="2212848"/>
            <a:ext cx="2788920" cy="1554480"/>
          </a:xfrm>
          <a:prstGeom prst="rect">
            <a:avLst/>
          </a:prstGeom>
          <a:solidFill>
            <a:srgbClr val="FFFFFF"/>
          </a:solidFill>
          <a:ln w="25400">
            <a:solidFill>
              <a:srgbClr val="B9DEF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035040" y="2212848"/>
            <a:ext cx="640080" cy="1554480"/>
          </a:xfrm>
          <a:prstGeom prst="rect">
            <a:avLst/>
          </a:prstGeom>
          <a:solidFill>
            <a:srgbClr val="E8F4FC"/>
          </a:solidFill>
          <a:ln w="12700">
            <a:solidFill>
              <a:srgbClr val="B9DEF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035040" y="2212848"/>
            <a:ext cx="6400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5AA8D8"/>
                </a:solidFill>
              </a:rPr>
              <a:t>3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6720840" y="2286000"/>
            <a:ext cx="2057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A7BAA"/>
                </a:solidFill>
              </a:rPr>
              <a:t>Tipo de Bus del Sistema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720840" y="2633472"/>
            <a:ext cx="2057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04040"/>
                </a:solidFill>
              </a:rPr>
              <a:t>PCI · PCIe · ISA (obsoleto) · USB · M.2 (integrada en motherboard)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274320" y="3858768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A7BAA"/>
                </a:solidFill>
              </a:rPr>
              <a:t>Tipos de NIC según interfaz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274320" y="4178808"/>
            <a:ext cx="2788920" cy="347472"/>
          </a:xfrm>
          <a:prstGeom prst="rect">
            <a:avLst/>
          </a:prstGeom>
          <a:solidFill>
            <a:srgbClr val="E8F4FC"/>
          </a:solidFill>
          <a:ln w="12700">
            <a:solidFill>
              <a:srgbClr val="B9DEF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0040" y="4178808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04040"/>
                </a:solidFill>
              </a:rPr>
              <a:t>🔌 BNC + RJ45 / ISA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154680" y="4178808"/>
            <a:ext cx="2788920" cy="347472"/>
          </a:xfrm>
          <a:prstGeom prst="rect">
            <a:avLst/>
          </a:prstGeom>
          <a:solidFill>
            <a:srgbClr val="E8F4FC"/>
          </a:solidFill>
          <a:ln w="12700">
            <a:solidFill>
              <a:srgbClr val="B9DEF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200400" y="4178808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04040"/>
                </a:solidFill>
              </a:rPr>
              <a:t>🔌 RJ45 / PCI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035040" y="4178808"/>
            <a:ext cx="2788920" cy="347472"/>
          </a:xfrm>
          <a:prstGeom prst="rect">
            <a:avLst/>
          </a:prstGeom>
          <a:solidFill>
            <a:srgbClr val="E8F4FC"/>
          </a:solidFill>
          <a:ln w="12700">
            <a:solidFill>
              <a:srgbClr val="B9DEF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080760" y="4178808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04040"/>
                </a:solidFill>
              </a:rPr>
              <a:t>🔌 RJ45 / PCIe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274320" y="4590288"/>
            <a:ext cx="2788920" cy="347472"/>
          </a:xfrm>
          <a:prstGeom prst="rect">
            <a:avLst/>
          </a:prstGeom>
          <a:solidFill>
            <a:srgbClr val="F0FCF0"/>
          </a:solidFill>
          <a:ln w="12700">
            <a:solidFill>
              <a:srgbClr val="B9DEF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20040" y="4590288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04040"/>
                </a:solidFill>
              </a:rPr>
              <a:t>📡 Inalámbrica / PCI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3154680" y="4590288"/>
            <a:ext cx="2788920" cy="347472"/>
          </a:xfrm>
          <a:prstGeom prst="rect">
            <a:avLst/>
          </a:prstGeom>
          <a:solidFill>
            <a:srgbClr val="F0FCF0"/>
          </a:solidFill>
          <a:ln w="12700">
            <a:solidFill>
              <a:srgbClr val="B9DEF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200400" y="4590288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04040"/>
                </a:solidFill>
              </a:rPr>
              <a:t>📡 USB (externa)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035040" y="4590288"/>
            <a:ext cx="2788920" cy="347472"/>
          </a:xfrm>
          <a:prstGeom prst="rect">
            <a:avLst/>
          </a:prstGeom>
          <a:solidFill>
            <a:srgbClr val="F0FCF0"/>
          </a:solidFill>
          <a:ln w="12700">
            <a:solidFill>
              <a:srgbClr val="B9DEF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080760" y="4590288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04040"/>
                </a:solidFill>
              </a:rPr>
              <a:t>📡 Integrada en Motherboard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D3030"/>
          </a:solidFill>
          <a:ln w="12700">
            <a:solidFill>
              <a:srgbClr val="2D303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822960"/>
          </a:xfrm>
          <a:prstGeom prst="rect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4592" y="128016"/>
            <a:ext cx="822960" cy="548640"/>
          </a:xfrm>
          <a:prstGeom prst="roundRect">
            <a:avLst>
              <a:gd name="adj" fmla="val 8333"/>
            </a:avLst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4592" y="128016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SP5 / H4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78992" y="0"/>
            <a:ext cx="7955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Operaciones de la NIC en la Capa de Enlace (Capa 2)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2D3030"/>
          </a:solidFill>
          <a:ln w="12700">
            <a:solidFill>
              <a:srgbClr val="2D303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4937760"/>
            <a:ext cx="3200400" cy="205740"/>
          </a:xfrm>
          <a:prstGeom prst="rect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896112"/>
            <a:ext cx="8595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04040"/>
                </a:solidFill>
              </a:rPr>
              <a:t>La NIC ejecuta funciones críticas del modelo OSI Capa 2: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74320" y="1261872"/>
            <a:ext cx="164592" cy="804672"/>
          </a:xfrm>
          <a:prstGeom prst="rect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5488" y="1261872"/>
            <a:ext cx="8394192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B9DEF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130759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AA8D8"/>
                </a:solidFill>
              </a:rPr>
              <a:t>1. Control del Enlace Lógico (LLC)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158191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04040"/>
                </a:solidFill>
              </a:rPr>
              <a:t>Se comunica con las capas superiores de la computadora (software, sistema operativo). Actúa como intermediario entre hardware y software de red.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2176272"/>
            <a:ext cx="164592" cy="804672"/>
          </a:xfrm>
          <a:prstGeom prst="rect">
            <a:avLst/>
          </a:prstGeom>
          <a:solidFill>
            <a:srgbClr val="3A7BAA"/>
          </a:solidFill>
          <a:ln w="12700">
            <a:solidFill>
              <a:srgbClr val="3A7BA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5488" y="2176272"/>
            <a:ext cx="8394192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B9DEF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222199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A7BAA"/>
                </a:solidFill>
              </a:rPr>
              <a:t>2. Denominación / Direccionamiento MAC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48640" y="249631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04040"/>
                </a:solidFill>
              </a:rPr>
              <a:t>Proporciona un identificador único: la dirección MAC (48 bits, grabada en fábrica). Ejemplo: AA:BB:CC:DD:EE:FF. Es la 'identidad física' del dispositivo en la red.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74320" y="3090672"/>
            <a:ext cx="164592" cy="804672"/>
          </a:xfrm>
          <a:prstGeom prst="rect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75488" y="3090672"/>
            <a:ext cx="8394192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B9DEF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313639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AA8D8"/>
                </a:solidFill>
              </a:rPr>
              <a:t>3. Creación de Tramas (Framing)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48640" y="341071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04040"/>
                </a:solidFill>
              </a:rPr>
              <a:t>Parte del proceso de encapsulamiento. Agrupa bits en tramas (frames) para su transporte. Agrega cabeceras con dirección MAC origen y destino.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74320" y="4005072"/>
            <a:ext cx="164592" cy="804672"/>
          </a:xfrm>
          <a:prstGeom prst="rect">
            <a:avLst/>
          </a:prstGeom>
          <a:solidFill>
            <a:srgbClr val="3A7BAA"/>
          </a:solidFill>
          <a:ln w="12700">
            <a:solidFill>
              <a:srgbClr val="3A7BA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75488" y="4005072"/>
            <a:ext cx="8394192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B9DEF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405079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A7BAA"/>
                </a:solidFill>
              </a:rPr>
              <a:t>4. Control de Acceso al Medio (MAC)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48640" y="432511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04040"/>
                </a:solidFill>
              </a:rPr>
              <a:t>Define cómo y cuándo el dispositivo puede transmitir en el medio compartido. En Wi-Fi usa CSMA/CA. En Ethernet usa CSMA/CD.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D3030"/>
          </a:solidFill>
          <a:ln w="12700">
            <a:solidFill>
              <a:srgbClr val="2D303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822960"/>
          </a:xfrm>
          <a:prstGeom prst="rect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4592" y="128016"/>
            <a:ext cx="822960" cy="548640"/>
          </a:xfrm>
          <a:prstGeom prst="roundRect">
            <a:avLst>
              <a:gd name="adj" fmla="val 8333"/>
            </a:avLst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4592" y="128016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SP5 / H4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78992" y="0"/>
            <a:ext cx="7955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NIC en Dispositivos Móviles — La Conectividad Actual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2D3030"/>
          </a:solidFill>
          <a:ln w="12700">
            <a:solidFill>
              <a:srgbClr val="2D303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4937760"/>
            <a:ext cx="3200400" cy="205740"/>
          </a:xfrm>
          <a:prstGeom prst="rect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896112"/>
            <a:ext cx="8595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08080"/>
                </a:solidFill>
              </a:rPr>
              <a:t>El smartphone moderno es un hub de conectividad inalámbrica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4320" y="1234440"/>
            <a:ext cx="20574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B9DEF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" y="1234440"/>
            <a:ext cx="2057400" cy="457200"/>
          </a:xfrm>
          <a:prstGeom prst="rect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123444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📶 Wi-Fi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20040" y="1737360"/>
            <a:ext cx="1965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AA8D8"/>
                </a:solidFill>
              </a:rPr>
              <a:t>802.11ax (Wi-Fi 6)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20040" y="1993392"/>
            <a:ext cx="1965960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</a:rPr>
              <a:t>NIC Wi-Fi integrada en el SoC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</a:rPr>
              <a:t>Dual-band, hasta 9.6 Gbps teórico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423160" y="1234440"/>
            <a:ext cx="20574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B9DEF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423160" y="1234440"/>
            <a:ext cx="2057400" cy="457200"/>
          </a:xfrm>
          <a:prstGeom prst="rect">
            <a:avLst/>
          </a:prstGeom>
          <a:solidFill>
            <a:srgbClr val="006622"/>
          </a:solidFill>
          <a:ln w="12700">
            <a:solidFill>
              <a:srgbClr val="00662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468880" y="123444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📡 4G/5G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468880" y="1737360"/>
            <a:ext cx="1965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AA8D8"/>
                </a:solidFill>
              </a:rPr>
              <a:t>LTE-A / NR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468880" y="1993392"/>
            <a:ext cx="1965960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</a:rPr>
              <a:t>Módem celular integrado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</a:rPr>
              <a:t>Funciona como NIC de acceso WAN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0" y="1234440"/>
            <a:ext cx="20574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B9DEF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0" y="1234440"/>
            <a:ext cx="2057400" cy="457200"/>
          </a:xfrm>
          <a:prstGeom prst="rect">
            <a:avLst/>
          </a:prstGeom>
          <a:solidFill>
            <a:srgbClr val="3A7BAA"/>
          </a:solidFill>
          <a:ln w="12700">
            <a:solidFill>
              <a:srgbClr val="3A7BA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17720" y="123444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🔵 Bluetooth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617720" y="1737360"/>
            <a:ext cx="1965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AA8D8"/>
                </a:solidFill>
              </a:rPr>
              <a:t>Bluetooth 5.3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617720" y="1993392"/>
            <a:ext cx="1965960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</a:rPr>
              <a:t>PAN (Personal Area Network)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</a:rPr>
              <a:t>Coexiste con Wi-Fi en 2.4 GHz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720840" y="1234440"/>
            <a:ext cx="20574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B9DEF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720840" y="1234440"/>
            <a:ext cx="2057400" cy="457200"/>
          </a:xfrm>
          <a:prstGeom prst="rect">
            <a:avLst/>
          </a:prstGeom>
          <a:solidFill>
            <a:srgbClr val="5500AA"/>
          </a:solidFill>
          <a:ln w="12700">
            <a:solidFill>
              <a:srgbClr val="5500A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766560" y="123444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📲 NFC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766560" y="1737360"/>
            <a:ext cx="1965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AA8D8"/>
                </a:solidFill>
              </a:rPr>
              <a:t>ISO 18092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766560" y="1993392"/>
            <a:ext cx="1965960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</a:rPr>
              <a:t>Pagos sin contacto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</a:rPr>
              <a:t>Rango ~10 cm, 424 kbps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74320" y="3246120"/>
            <a:ext cx="8595360" cy="1051560"/>
          </a:xfrm>
          <a:prstGeom prst="rect">
            <a:avLst/>
          </a:prstGeom>
          <a:solidFill>
            <a:srgbClr val="E8F4FC"/>
          </a:solidFill>
          <a:ln w="25400">
            <a:solidFill>
              <a:srgbClr val="5AA8D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84048" y="3246120"/>
            <a:ext cx="8467344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04040"/>
                </a:solidFill>
              </a:rPr>
              <a:t>Un smartphone moderno NO tiene una NIC física separada: el SoC (System-on-Chip) integra el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04040"/>
                </a:solidFill>
              </a:rPr>
              <a:t>módem Wi-Fi, el módem celular 5G, Bluetooth y NFC en un solo chip.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04040"/>
                </a:solidFill>
              </a:rPr>
              <a:t>Las eSIM reemplazan la SIM física: el perfil de red se descarga digitalmente.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04040"/>
                </a:solidFill>
              </a:rPr>
              <a:t>Los routers domésticos actuales combinan: switch Gigabit + AP Wi-Fi 6 + módem (en routers ISP)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D3030"/>
          </a:solidFill>
          <a:ln w="12700">
            <a:solidFill>
              <a:srgbClr val="2D303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822960"/>
          </a:xfrm>
          <a:prstGeom prst="rect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4592" y="128016"/>
            <a:ext cx="822960" cy="548640"/>
          </a:xfrm>
          <a:prstGeom prst="roundRect">
            <a:avLst>
              <a:gd name="adj" fmla="val 8333"/>
            </a:avLst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4592" y="128016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SP5 / H4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78992" y="0"/>
            <a:ext cx="7955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Síntesis: Lo que debes recordar de SP5/H4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2D3030"/>
          </a:solidFill>
          <a:ln w="12700">
            <a:solidFill>
              <a:srgbClr val="2D303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4937760"/>
            <a:ext cx="3200400" cy="205740"/>
          </a:xfrm>
          <a:prstGeom prst="rect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960120"/>
            <a:ext cx="425196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B9DEF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" y="960120"/>
            <a:ext cx="4251960" cy="365760"/>
          </a:xfrm>
          <a:prstGeom prst="rect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960120"/>
            <a:ext cx="4069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IEEE 802.11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65760" y="1371600"/>
            <a:ext cx="4069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04040"/>
                </a:solidFill>
              </a:rPr>
              <a:t>• Estándar base Wi-Fi, opera en Capas 1 y 2 del OSI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65760" y="1719072"/>
            <a:ext cx="4069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04040"/>
                </a:solidFill>
              </a:rPr>
              <a:t>• Usa CSMA/CA como método de acceso al medio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65760" y="2066544"/>
            <a:ext cx="4069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04040"/>
                </a:solidFill>
              </a:rPr>
              <a:t>• No requiere licencias de espectro electromagnético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709160" y="960120"/>
            <a:ext cx="425196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B9DEF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709160" y="960120"/>
            <a:ext cx="4251960" cy="365760"/>
          </a:xfrm>
          <a:prstGeom prst="rect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00600" y="960120"/>
            <a:ext cx="4069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Familia 802.11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800600" y="1371600"/>
            <a:ext cx="4069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04040"/>
                </a:solidFill>
              </a:rPr>
              <a:t>• a: 5GHz/54Mbps (fracasó comercialmente)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800600" y="1719072"/>
            <a:ext cx="4069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04040"/>
                </a:solidFill>
              </a:rPr>
              <a:t>• b: 2.4GHz/11Mbps (primer éxito masivo)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800600" y="2066544"/>
            <a:ext cx="4069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04040"/>
                </a:solidFill>
              </a:rPr>
              <a:t>• g: 2.4GHz/54Mbps (compatible con b)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800600" y="2414016"/>
            <a:ext cx="4069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04040"/>
                </a:solidFill>
              </a:rPr>
              <a:t>• n: dual-band/600Mbps (compatible con todos)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800600" y="2761488"/>
            <a:ext cx="4069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04040"/>
                </a:solidFill>
              </a:rPr>
              <a:t>• ac/ax (Wi-Fi 5/6): estándares actuales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74320" y="2880360"/>
            <a:ext cx="425196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B9DEF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74320" y="2880360"/>
            <a:ext cx="4251960" cy="365760"/>
          </a:xfrm>
          <a:prstGeom prst="rect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2880360"/>
            <a:ext cx="4069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NIC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65760" y="3291840"/>
            <a:ext cx="4069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04040"/>
                </a:solidFill>
              </a:rPr>
              <a:t>• Conecta el equipo a la red (física o inalámbrica)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65760" y="3639312"/>
            <a:ext cx="4069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04040"/>
                </a:solidFill>
              </a:rPr>
              <a:t>• Opera en Capa 2: LLC, MAC, tramas, direccionamiento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65760" y="3986784"/>
            <a:ext cx="4069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04040"/>
                </a:solidFill>
              </a:rPr>
              <a:t>• Factores de selección: tipo de red, medios y bus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709160" y="2880360"/>
            <a:ext cx="425196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B9DEF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709160" y="2880360"/>
            <a:ext cx="4251960" cy="365760"/>
          </a:xfrm>
          <a:prstGeom prst="rect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00600" y="2880360"/>
            <a:ext cx="4069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Actualidad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800600" y="3291840"/>
            <a:ext cx="4069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04040"/>
                </a:solidFill>
              </a:rPr>
              <a:t>• Wi-Fi 6/6E y 5G son los estándares presentes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800600" y="3639312"/>
            <a:ext cx="4069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04040"/>
                </a:solidFill>
              </a:rPr>
              <a:t>• El celular moderno tiene múltiples NICs integradas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800600" y="3986784"/>
            <a:ext cx="4069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04040"/>
                </a:solidFill>
              </a:rPr>
              <a:t>• Las eSIM y el SoC redefinen la conectividad móvil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D30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08080"/>
                </a:solidFill>
              </a:rPr>
              <a:t>Pregunta 1 de 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5AA8D8"/>
                </a:solidFill>
              </a:rPr>
              <a:t>¿Verdadero o Falso?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8412480" cy="2560320"/>
          </a:xfrm>
          <a:prstGeom prst="rect">
            <a:avLst/>
          </a:prstGeom>
          <a:solidFill>
            <a:srgbClr val="1A1F1F"/>
          </a:solidFill>
          <a:ln w="25400">
            <a:solidFill>
              <a:srgbClr val="5AA8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280160"/>
            <a:ext cx="813816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</a:rPr>
              <a:t>IEEE 802.11 define los estándares de funcionamiento para LAN inalámbricas, operando en las capas Física y de Enlace de Datos del modelo OSI.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1371600" y="3931920"/>
            <a:ext cx="2560320" cy="731520"/>
          </a:xfrm>
          <a:prstGeom prst="roundRect">
            <a:avLst>
              <a:gd name="adj" fmla="val 12500"/>
            </a:avLst>
          </a:prstGeom>
          <a:solidFill>
            <a:srgbClr val="006622"/>
          </a:solidFill>
          <a:ln w="12700">
            <a:solidFill>
              <a:srgbClr val="00662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71600" y="393192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  VERDADERO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212080" y="3931920"/>
            <a:ext cx="2560320" cy="731520"/>
          </a:xfrm>
          <a:prstGeom prst="roundRect">
            <a:avLst>
              <a:gd name="adj" fmla="val 12500"/>
            </a:avLst>
          </a:prstGeom>
          <a:solidFill>
            <a:srgbClr val="AA2200"/>
          </a:solidFill>
          <a:ln w="12700">
            <a:solidFill>
              <a:srgbClr val="AA22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212080" y="393192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  FALSO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D30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006622"/>
          </a:solidFill>
          <a:ln w="12700">
            <a:solidFill>
              <a:srgbClr val="00662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08080"/>
                </a:solidFill>
              </a:rPr>
              <a:t>Respuesta 1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828800" y="594360"/>
            <a:ext cx="5486400" cy="777240"/>
          </a:xfrm>
          <a:prstGeom prst="roundRect">
            <a:avLst>
              <a:gd name="adj" fmla="val 9412"/>
            </a:avLst>
          </a:prstGeom>
          <a:solidFill>
            <a:srgbClr val="006622"/>
          </a:solidFill>
          <a:ln w="12700">
            <a:solidFill>
              <a:srgbClr val="00662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28800" y="594360"/>
            <a:ext cx="5486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✓  VERDADERO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1508760"/>
            <a:ext cx="8412480" cy="3108960"/>
          </a:xfrm>
          <a:prstGeom prst="rect">
            <a:avLst/>
          </a:prstGeom>
          <a:solidFill>
            <a:srgbClr val="1A1F1F"/>
          </a:solidFill>
          <a:ln w="25400">
            <a:solidFill>
              <a:srgbClr val="00662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627632"/>
            <a:ext cx="8138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4CC77"/>
                </a:solidFill>
              </a:rPr>
              <a:t>Justificación: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94360" y="1993392"/>
            <a:ext cx="813816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</a:rPr>
              <a:t>Correcto. El comité IEEE 802.11 define exactamente las dos capas inferiores del modelo OSI (Física y Enlace de Datos) para la comunicación en redes LAN inalámbricas. Esto permite que dispositivos de distintos fabricantes interoperen bajo la marca Wi-Fi.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2D30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08080"/>
                </a:solidFill>
              </a:rPr>
              <a:t>Pregunta 2 de 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5AA8D8"/>
                </a:solidFill>
              </a:rPr>
              <a:t>¿Verdadero o Falso?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8412480" cy="2560320"/>
          </a:xfrm>
          <a:prstGeom prst="rect">
            <a:avLst/>
          </a:prstGeom>
          <a:solidFill>
            <a:srgbClr val="1A1F1F"/>
          </a:solidFill>
          <a:ln w="25400">
            <a:solidFill>
              <a:srgbClr val="5AA8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280160"/>
            <a:ext cx="813816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</a:rPr>
              <a:t>El estándar 802.11b opera en la banda de 5 GHz y fue el primer estándar inalámbrico en obtener amplia adopción comercial.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1371600" y="3931920"/>
            <a:ext cx="2560320" cy="731520"/>
          </a:xfrm>
          <a:prstGeom prst="roundRect">
            <a:avLst>
              <a:gd name="adj" fmla="val 12500"/>
            </a:avLst>
          </a:prstGeom>
          <a:solidFill>
            <a:srgbClr val="006622"/>
          </a:solidFill>
          <a:ln w="12700">
            <a:solidFill>
              <a:srgbClr val="00662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71600" y="393192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  VERDADERO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212080" y="3931920"/>
            <a:ext cx="2560320" cy="731520"/>
          </a:xfrm>
          <a:prstGeom prst="roundRect">
            <a:avLst>
              <a:gd name="adj" fmla="val 12500"/>
            </a:avLst>
          </a:prstGeom>
          <a:solidFill>
            <a:srgbClr val="AA2200"/>
          </a:solidFill>
          <a:ln w="12700">
            <a:solidFill>
              <a:srgbClr val="AA22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212080" y="393192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  FALSO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2D30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AA2200"/>
          </a:solidFill>
          <a:ln w="12700">
            <a:solidFill>
              <a:srgbClr val="AA22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08080"/>
                </a:solidFill>
              </a:rPr>
              <a:t>Respuesta 2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828800" y="594360"/>
            <a:ext cx="5486400" cy="777240"/>
          </a:xfrm>
          <a:prstGeom prst="roundRect">
            <a:avLst>
              <a:gd name="adj" fmla="val 9412"/>
            </a:avLst>
          </a:prstGeom>
          <a:solidFill>
            <a:srgbClr val="AA2200"/>
          </a:solidFill>
          <a:ln w="12700">
            <a:solidFill>
              <a:srgbClr val="AA22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28800" y="594360"/>
            <a:ext cx="5486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✗  FALSO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1508760"/>
            <a:ext cx="8412480" cy="3108960"/>
          </a:xfrm>
          <a:prstGeom prst="rect">
            <a:avLst/>
          </a:prstGeom>
          <a:solidFill>
            <a:srgbClr val="1A1F1F"/>
          </a:solidFill>
          <a:ln w="25400">
            <a:solidFill>
              <a:srgbClr val="AA22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627632"/>
            <a:ext cx="8138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644"/>
                </a:solidFill>
              </a:rPr>
              <a:t>Justificación: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94360" y="1993392"/>
            <a:ext cx="813816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</a:rPr>
              <a:t>Falso. 802.11b opera en la banda de 2.4 GHz (no 5 GHz). El que opera en 5 GHz es 802.11a. El enunciado combina características de dos estándares distintos para confundir. Sí es correcto que 802.11b tuvo amplia adopción comercial.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2D30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08080"/>
                </a:solidFill>
              </a:rPr>
              <a:t>Pregunta 3 de 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5AA8D8"/>
                </a:solidFill>
              </a:rPr>
              <a:t>¿Verdadero o Falso?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8412480" cy="2560320"/>
          </a:xfrm>
          <a:prstGeom prst="rect">
            <a:avLst/>
          </a:prstGeom>
          <a:solidFill>
            <a:srgbClr val="1A1F1F"/>
          </a:solidFill>
          <a:ln w="25400">
            <a:solidFill>
              <a:srgbClr val="5AA8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280160"/>
            <a:ext cx="813816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</a:rPr>
              <a:t>Al seleccionar una NIC, el tipo de administración de red es uno de los tres factores principales que deben considerarse.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1371600" y="3931920"/>
            <a:ext cx="2560320" cy="731520"/>
          </a:xfrm>
          <a:prstGeom prst="roundRect">
            <a:avLst>
              <a:gd name="adj" fmla="val 12500"/>
            </a:avLst>
          </a:prstGeom>
          <a:solidFill>
            <a:srgbClr val="006622"/>
          </a:solidFill>
          <a:ln w="12700">
            <a:solidFill>
              <a:srgbClr val="00662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71600" y="393192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  VERDADERO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212080" y="3931920"/>
            <a:ext cx="2560320" cy="731520"/>
          </a:xfrm>
          <a:prstGeom prst="roundRect">
            <a:avLst>
              <a:gd name="adj" fmla="val 12500"/>
            </a:avLst>
          </a:prstGeom>
          <a:solidFill>
            <a:srgbClr val="AA2200"/>
          </a:solidFill>
          <a:ln w="12700">
            <a:solidFill>
              <a:srgbClr val="AA22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212080" y="393192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  FALSO</a:t>
            </a: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2D30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AA2200"/>
          </a:solidFill>
          <a:ln w="12700">
            <a:solidFill>
              <a:srgbClr val="AA22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08080"/>
                </a:solidFill>
              </a:rPr>
              <a:t>Respuesta 3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828800" y="594360"/>
            <a:ext cx="5486400" cy="777240"/>
          </a:xfrm>
          <a:prstGeom prst="roundRect">
            <a:avLst>
              <a:gd name="adj" fmla="val 9412"/>
            </a:avLst>
          </a:prstGeom>
          <a:solidFill>
            <a:srgbClr val="AA2200"/>
          </a:solidFill>
          <a:ln w="12700">
            <a:solidFill>
              <a:srgbClr val="AA22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28800" y="594360"/>
            <a:ext cx="5486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✗  FALSO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1508760"/>
            <a:ext cx="8412480" cy="3108960"/>
          </a:xfrm>
          <a:prstGeom prst="rect">
            <a:avLst/>
          </a:prstGeom>
          <a:solidFill>
            <a:srgbClr val="1A1F1F"/>
          </a:solidFill>
          <a:ln w="25400">
            <a:solidFill>
              <a:srgbClr val="AA22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627632"/>
            <a:ext cx="8138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644"/>
                </a:solidFill>
              </a:rPr>
              <a:t>Justificación: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94360" y="1993392"/>
            <a:ext cx="813816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</a:rPr>
              <a:t>Falso. Los tres factores correctos son: (1) Tipo de red (Ethernet, Wi-Fi, etc.), (2) Tipo de medios (UTP, fibra, wireless), y (3) Tipo de bus del sistema (PCI, PCIe, USB). El 'tipo de administración' NO es un factor de selección de NIC.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2D30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1828800"/>
            <a:ext cx="8823960" cy="73152"/>
          </a:xfrm>
          <a:prstGeom prst="rect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3200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AA8D8"/>
                </a:solidFill>
              </a:rPr>
              <a:t>SP5 / H4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77724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Estándares Inalámbricos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40080" y="1371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B9DEF8"/>
                </a:solidFill>
              </a:rPr>
              <a:t>y Dispositivos de Conexión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40080" y="202996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08080"/>
                </a:solidFill>
              </a:rPr>
              <a:t>Conceptos cubiertos en esta clase: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77240" y="242316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9DEF8"/>
                </a:solidFill>
              </a:rPr>
              <a:t>• IEEE 802.11 y la familia de estándares Wi-Fi (a/b/g/n/ac/ax)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77240" y="2770632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9DEF8"/>
                </a:solidFill>
              </a:rPr>
              <a:t>• Interferencias, bandas de frecuencia y canales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77240" y="3118104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9DEF8"/>
                </a:solidFill>
              </a:rPr>
              <a:t>• Wi-Fi 5, Wi-Fi 6 y tecnología celular 4G/5G actual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77240" y="3465576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9DEF8"/>
                </a:solidFill>
              </a:rPr>
              <a:t>• La Tarjeta de Red (NIC): tipos, bus y funciones en Capa 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77240" y="3813048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9DEF8"/>
                </a:solidFill>
              </a:rPr>
              <a:t>• NIC en dispositivos móviles modernos y eSIM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0080" y="416052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A8D8"/>
                </a:solidFill>
              </a:rPr>
              <a:t>Prof: Ing. Antonio Víctor Pérez Españón</a:t>
            </a:r>
            <a:endParaRPr lang="en-US" sz="1200" dirty="0"/>
          </a:p>
        </p:txBody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0" y="4434840"/>
            <a:ext cx="1188720" cy="59436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640080" y="452628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08080"/>
                </a:solidFill>
              </a:rPr>
              <a:t>Colegio Universitario IES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SP5 / H4: Estándares Inalámbricos y Dispositivos de Conexión</dc:title>
  <dc:subject>PptxGenJS Presentation</dc:subject>
  <dc:creator>IES - Redes y Comunicaciones</dc:creator>
  <cp:lastModifiedBy>IES - Redes y Comunicaciones</cp:lastModifiedBy>
  <cp:revision>1</cp:revision>
  <dcterms:created xsi:type="dcterms:W3CDTF">2026-04-27T22:49:29Z</dcterms:created>
  <dcterms:modified xsi:type="dcterms:W3CDTF">2026-04-27T22:49:29Z</dcterms:modified>
</cp:coreProperties>
</file>