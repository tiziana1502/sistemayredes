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topologías son lógicas: la forma en que fluyen los datos, no cómo están físicamente los cables. Destacar que cada topología requiere su propia placa de red (NIC). La distinción entre medio guiado y no guiado sirve de puente hacia las WLAN.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bus lineal es la topología más simple pero más frágil. La clave es que es PASIVA: los nodos no retransmiten. Los terminadores son críticos. Hoy prácticamente no se usa en redes nuevas (reemplazada por estrella con switch), pero es fundamental entenderla para comprender la evolución.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estrella es la topología dominante en redes modernas. La distinción Hub vs Switch es fundamental: el Hub difunde (broadcast), el Switch direcciona. En la práctica de hoy, los Hubs son obsoletos; todos los dispositivos modernos usan Switch. Mencionar los LED de estado de los Hub/Switch para diagnóstico.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anillo es activo: cada nodo regenera la señal. Comparar con bus (pasivo). Token Ring fue la implementación más conocida (IBM). Hoy casi en desuso en LAN, pero el concepto vive en anillos de fibra óptica en redes WAN y de proveedores (SONET/SDH).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Usar esta tabla como referencia. Preguntar a los alumnos: ¿Por qué la estrella es el estándar hoy? Respuesta: centralización facilita diagnóstico, switch elimina colisiones, costo bajo del cableado UTP. El anillo prácticamente desapareció de 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el concepto de difusión con la seguridad. Hoy el switch es la solución principal. Las VLANs son imprescindibles en redes medianas y grandes. 802.1X es obligatorio en entornos corporativos modernos. Mencionar que WPA3 en WiFi es el equivalente inalámbrico.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WiFi Direct (Android, impresoras modernas) y AirDrop son las implementaciones cotidianas de Ad-Hoc. La autenticación en entornos Ad-Hoc es compleja. Ideal para destacar: contextos donde no hay infraestructura disponible (catástrofes naturales, campo).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Diferenciar BSS (un AP) de ESS (múltiples AP). El roaming en ESS es clave en oficinas y universidades. WiFi 6E añade banda de 6 GHz, clave en entornos densos. WPA3 usa SAE (Simultaneous Authentication of Equals), resistente a ataques de diccionario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303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sp>
      <p:sp>
        <p:nvSpPr>
          <p:cNvPr id="3" name="Shape 1"/>
          <p:cNvSpPr/>
          <p:nvPr/>
        </p:nvSpPr>
        <p:spPr>
          <a:xfrm>
            <a:off x="0" y="73152"/>
            <a:ext cx="411480" cy="4777740"/>
          </a:xfrm>
          <a:prstGeom prst="rect">
            <a:avLst/>
          </a:prstGeom>
          <a:solidFill>
            <a:srgbClr val="3A7BAA"/>
          </a:solidFill>
          <a:ln w="12700">
            <a:solidFill>
              <a:srgbClr val="3A7BAA"/>
            </a:solidFill>
            <a:prstDash val="solid"/>
          </a:ln>
        </p:spPr>
      </p:sp>
      <p:sp>
        <p:nvSpPr>
          <p:cNvPr id="4" name="Shape 2"/>
          <p:cNvSpPr/>
          <p:nvPr/>
        </p:nvSpPr>
        <p:spPr>
          <a:xfrm>
            <a:off x="0" y="73152"/>
            <a:ext cx="109728" cy="4777740"/>
          </a:xfrm>
          <a:prstGeom prst="rect">
            <a:avLst/>
          </a:prstGeom>
          <a:solidFill>
            <a:srgbClr val="5AA8D8"/>
          </a:solidFill>
          <a:ln w="12700">
            <a:solidFill>
              <a:srgbClr val="5AA8D8"/>
            </a:solidFill>
            <a:prstDash val="solid"/>
          </a:ln>
        </p:spPr>
      </p:sp>
      <p:sp>
        <p:nvSpPr>
          <p:cNvPr id="5" name="Shape 3"/>
          <p:cNvSpPr/>
          <p:nvPr/>
        </p:nvSpPr>
        <p:spPr>
          <a:xfrm>
            <a:off x="640080" y="228600"/>
            <a:ext cx="1828800" cy="384048"/>
          </a:xfrm>
          <a:prstGeom prst="roundRect">
            <a:avLst>
              <a:gd name="adj" fmla="val 14286"/>
            </a:avLst>
          </a:prstGeom>
          <a:solidFill>
            <a:srgbClr val="5AA8D8"/>
          </a:solidFill>
          <a:ln w="12700">
            <a:solidFill>
              <a:srgbClr val="5AA8D8"/>
            </a:solidFill>
            <a:prstDash val="solid"/>
          </a:ln>
        </p:spPr>
      </p:sp>
      <p:sp>
        <p:nvSpPr>
          <p:cNvPr id="6" name="Text 4"/>
          <p:cNvSpPr/>
          <p:nvPr/>
        </p:nvSpPr>
        <p:spPr>
          <a:xfrm>
            <a:off x="640080" y="228600"/>
            <a:ext cx="1828800" cy="384048"/>
          </a:xfrm>
          <a:prstGeom prst="rect">
            <a:avLst/>
          </a:prstGeom>
          <a:noFill/>
          <a:ln/>
        </p:spPr>
        <p:txBody>
          <a:bodyPr wrap="square" rtlCol="0" anchor="ctr"/>
          <a:lstStyle/>
          <a:p>
            <a:pPr algn="ctr" indent="0" marL="0">
              <a:buNone/>
            </a:pPr>
            <a:r>
              <a:rPr lang="en-US" sz="1000" b="1" dirty="0">
                <a:solidFill>
                  <a:srgbClr val="FFFFFF"/>
                </a:solidFill>
              </a:rPr>
              <a:t>SP5 — Módulo H1</a:t>
            </a:r>
            <a:endParaRPr lang="en-US" sz="1000" dirty="0"/>
          </a:p>
        </p:txBody>
      </p:sp>
      <p:sp>
        <p:nvSpPr>
          <p:cNvPr id="7" name="Text 5"/>
          <p:cNvSpPr/>
          <p:nvPr/>
        </p:nvSpPr>
        <p:spPr>
          <a:xfrm>
            <a:off x="640080" y="731520"/>
            <a:ext cx="7772400" cy="1737360"/>
          </a:xfrm>
          <a:prstGeom prst="rect">
            <a:avLst/>
          </a:prstGeom>
          <a:noFill/>
          <a:ln/>
        </p:spPr>
        <p:txBody>
          <a:bodyPr wrap="square" rtlCol="0" anchor="ctr"/>
          <a:lstStyle/>
          <a:p>
            <a:pPr indent="0" marL="0">
              <a:buNone/>
            </a:pPr>
            <a:r>
              <a:rPr lang="en-US" sz="3800" b="1" dirty="0">
                <a:solidFill>
                  <a:srgbClr val="FFFFFF"/>
                </a:solidFill>
                <a:latin typeface="Arial" pitchFamily="34" charset="0"/>
                <a:ea typeface="Arial" pitchFamily="34" charset="-122"/>
                <a:cs typeface="Arial" pitchFamily="34" charset="-120"/>
              </a:rPr>
              <a:t>Topologías Básicas</a:t>
            </a:r>
            <a:endParaRPr lang="en-US" sz="3800" dirty="0"/>
          </a:p>
          <a:p>
            <a:pPr indent="0" marL="0">
              <a:buNone/>
            </a:pPr>
            <a:r>
              <a:rPr lang="en-US" sz="3800" b="1" dirty="0">
                <a:solidFill>
                  <a:srgbClr val="FFFFFF"/>
                </a:solidFill>
                <a:latin typeface="Arial" pitchFamily="34" charset="0"/>
                <a:ea typeface="Arial" pitchFamily="34" charset="-122"/>
                <a:cs typeface="Arial" pitchFamily="34" charset="-120"/>
              </a:rPr>
              <a:t>de Redes LAN</a:t>
            </a:r>
            <a:endParaRPr lang="en-US" sz="3800" dirty="0"/>
          </a:p>
        </p:txBody>
      </p:sp>
      <p:sp>
        <p:nvSpPr>
          <p:cNvPr id="8" name="Text 6"/>
          <p:cNvSpPr/>
          <p:nvPr/>
        </p:nvSpPr>
        <p:spPr>
          <a:xfrm>
            <a:off x="640080" y="2514600"/>
            <a:ext cx="7772400" cy="457200"/>
          </a:xfrm>
          <a:prstGeom prst="rect">
            <a:avLst/>
          </a:prstGeom>
          <a:noFill/>
          <a:ln/>
        </p:spPr>
        <p:txBody>
          <a:bodyPr wrap="square" rtlCol="0" anchor="ctr"/>
          <a:lstStyle/>
          <a:p>
            <a:pPr indent="0" marL="0">
              <a:buNone/>
            </a:pPr>
            <a:r>
              <a:rPr lang="en-US" sz="1400" i="1" dirty="0">
                <a:solidFill>
                  <a:srgbClr val="B9DEF8"/>
                </a:solidFill>
                <a:latin typeface="Arial" pitchFamily="34" charset="0"/>
                <a:ea typeface="Arial" pitchFamily="34" charset="-122"/>
                <a:cs typeface="Arial" pitchFamily="34" charset="-120"/>
              </a:rPr>
              <a:t>Bus · Estrella · Anillo · Wireless (Ad-Hoc e Infraestructura)</a:t>
            </a:r>
            <a:endParaRPr lang="en-US" sz="1400" dirty="0"/>
          </a:p>
        </p:txBody>
      </p:sp>
      <p:sp>
        <p:nvSpPr>
          <p:cNvPr id="9" name="Shape 7"/>
          <p:cNvSpPr/>
          <p:nvPr/>
        </p:nvSpPr>
        <p:spPr>
          <a:xfrm>
            <a:off x="640080" y="3017520"/>
            <a:ext cx="8046720" cy="0"/>
          </a:xfrm>
          <a:prstGeom prst="line">
            <a:avLst/>
          </a:prstGeom>
          <a:noFill/>
          <a:ln w="12700">
            <a:solidFill>
              <a:srgbClr val="3A7BAA"/>
            </a:solidFill>
            <a:prstDash val="solid"/>
          </a:ln>
        </p:spPr>
      </p:sp>
      <p:sp>
        <p:nvSpPr>
          <p:cNvPr id="10" name="Text 8"/>
          <p:cNvSpPr/>
          <p:nvPr/>
        </p:nvSpPr>
        <p:spPr>
          <a:xfrm>
            <a:off x="640080" y="3154680"/>
            <a:ext cx="7772400" cy="365760"/>
          </a:xfrm>
          <a:prstGeom prst="rect">
            <a:avLst/>
          </a:prstGeom>
          <a:noFill/>
          <a:ln/>
        </p:spPr>
        <p:txBody>
          <a:bodyPr wrap="square" rtlCol="0" anchor="ctr"/>
          <a:lstStyle/>
          <a:p>
            <a:pPr indent="0" marL="0">
              <a:buNone/>
            </a:pPr>
            <a:r>
              <a:rPr lang="en-US" sz="1300" dirty="0">
                <a:solidFill>
                  <a:srgbClr val="808080"/>
                </a:solidFill>
                <a:latin typeface="Arial" pitchFamily="34" charset="0"/>
                <a:ea typeface="Arial" pitchFamily="34" charset="-122"/>
                <a:cs typeface="Arial" pitchFamily="34" charset="-120"/>
              </a:rPr>
              <a:t>Prof. Víctor</a:t>
            </a:r>
            <a:endParaRPr lang="en-US" sz="1300" dirty="0"/>
          </a:p>
        </p:txBody>
      </p:sp>
      <p:sp>
        <p:nvSpPr>
          <p:cNvPr id="11" name="Text 9"/>
          <p:cNvSpPr/>
          <p:nvPr/>
        </p:nvSpPr>
        <p:spPr>
          <a:xfrm>
            <a:off x="640080" y="3520440"/>
            <a:ext cx="7772400" cy="320040"/>
          </a:xfrm>
          <a:prstGeom prst="rect">
            <a:avLst/>
          </a:prstGeom>
          <a:noFill/>
          <a:ln/>
        </p:spPr>
        <p:txBody>
          <a:bodyPr wrap="square" rtlCol="0" anchor="ctr"/>
          <a:lstStyle/>
          <a:p>
            <a:pPr indent="0" marL="0">
              <a:buNone/>
            </a:pPr>
            <a:r>
              <a:rPr lang="en-US" sz="1100" i="1" dirty="0">
                <a:solidFill>
                  <a:srgbClr val="808080"/>
                </a:solidFill>
                <a:latin typeface="Arial" pitchFamily="34" charset="0"/>
                <a:ea typeface="Arial" pitchFamily="34" charset="-122"/>
                <a:cs typeface="Arial" pitchFamily="34" charset="-120"/>
              </a:rPr>
              <a:t>Redes y Comunicaciones</a:t>
            </a:r>
            <a:endParaRPr lang="en-US" sz="1100" dirty="0"/>
          </a:p>
        </p:txBody>
      </p:sp>
      <p:sp>
        <p:nvSpPr>
          <p:cNvPr id="12" name="Shape 10"/>
          <p:cNvSpPr/>
          <p:nvPr/>
        </p:nvSpPr>
        <p:spPr>
          <a:xfrm>
            <a:off x="5943600" y="3383280"/>
            <a:ext cx="320040" cy="320040"/>
          </a:xfrm>
          <a:prstGeom prst="ellipse">
            <a:avLst/>
          </a:prstGeom>
          <a:solidFill>
            <a:srgbClr val="3A7BAA"/>
          </a:solidFill>
          <a:ln w="19050">
            <a:solidFill>
              <a:srgbClr val="5AA8D8"/>
            </a:solidFill>
            <a:prstDash val="solid"/>
          </a:ln>
        </p:spPr>
      </p:sp>
      <p:sp>
        <p:nvSpPr>
          <p:cNvPr id="13" name="Shape 11"/>
          <p:cNvSpPr/>
          <p:nvPr/>
        </p:nvSpPr>
        <p:spPr>
          <a:xfrm>
            <a:off x="6766560" y="3383280"/>
            <a:ext cx="320040" cy="320040"/>
          </a:xfrm>
          <a:prstGeom prst="ellipse">
            <a:avLst/>
          </a:prstGeom>
          <a:solidFill>
            <a:srgbClr val="3A7BAA"/>
          </a:solidFill>
          <a:ln w="19050">
            <a:solidFill>
              <a:srgbClr val="5AA8D8"/>
            </a:solidFill>
            <a:prstDash val="solid"/>
          </a:ln>
        </p:spPr>
      </p:sp>
      <p:sp>
        <p:nvSpPr>
          <p:cNvPr id="14" name="Shape 12"/>
          <p:cNvSpPr/>
          <p:nvPr/>
        </p:nvSpPr>
        <p:spPr>
          <a:xfrm>
            <a:off x="7589520" y="3383280"/>
            <a:ext cx="320040" cy="320040"/>
          </a:xfrm>
          <a:prstGeom prst="ellipse">
            <a:avLst/>
          </a:prstGeom>
          <a:solidFill>
            <a:srgbClr val="3A7BAA"/>
          </a:solidFill>
          <a:ln w="19050">
            <a:solidFill>
              <a:srgbClr val="5AA8D8"/>
            </a:solidFill>
            <a:prstDash val="solid"/>
          </a:ln>
        </p:spPr>
      </p:sp>
      <p:sp>
        <p:nvSpPr>
          <p:cNvPr id="15" name="Shape 13"/>
          <p:cNvSpPr/>
          <p:nvPr/>
        </p:nvSpPr>
        <p:spPr>
          <a:xfrm>
            <a:off x="5943600" y="4023360"/>
            <a:ext cx="320040" cy="320040"/>
          </a:xfrm>
          <a:prstGeom prst="ellipse">
            <a:avLst/>
          </a:prstGeom>
          <a:solidFill>
            <a:srgbClr val="3A7BAA"/>
          </a:solidFill>
          <a:ln w="19050">
            <a:solidFill>
              <a:srgbClr val="5AA8D8"/>
            </a:solidFill>
            <a:prstDash val="solid"/>
          </a:ln>
        </p:spPr>
      </p:sp>
      <p:sp>
        <p:nvSpPr>
          <p:cNvPr id="16" name="Shape 14"/>
          <p:cNvSpPr/>
          <p:nvPr/>
        </p:nvSpPr>
        <p:spPr>
          <a:xfrm>
            <a:off x="6766560" y="4023360"/>
            <a:ext cx="320040" cy="320040"/>
          </a:xfrm>
          <a:prstGeom prst="ellipse">
            <a:avLst/>
          </a:prstGeom>
          <a:solidFill>
            <a:srgbClr val="3A7BAA"/>
          </a:solidFill>
          <a:ln w="19050">
            <a:solidFill>
              <a:srgbClr val="5AA8D8"/>
            </a:solidFill>
            <a:prstDash val="solid"/>
          </a:ln>
        </p:spPr>
      </p:sp>
      <p:sp>
        <p:nvSpPr>
          <p:cNvPr id="17" name="Shape 15"/>
          <p:cNvSpPr/>
          <p:nvPr/>
        </p:nvSpPr>
        <p:spPr>
          <a:xfrm>
            <a:off x="0" y="4850892"/>
            <a:ext cx="9144000" cy="292608"/>
          </a:xfrm>
          <a:prstGeom prst="rect">
            <a:avLst/>
          </a:prstGeom>
          <a:solidFill>
            <a:srgbClr val="1A1E1E"/>
          </a:solidFill>
          <a:ln w="12700">
            <a:solidFill>
              <a:srgbClr val="1A1E1E"/>
            </a:solidFill>
            <a:prstDash val="solid"/>
          </a:ln>
        </p:spPr>
      </p:sp>
      <p:sp>
        <p:nvSpPr>
          <p:cNvPr id="18" name="Text 16"/>
          <p:cNvSpPr/>
          <p:nvPr/>
        </p:nvSpPr>
        <p:spPr>
          <a:xfrm>
            <a:off x="182880" y="4869180"/>
            <a:ext cx="4572000" cy="256032"/>
          </a:xfrm>
          <a:prstGeom prst="rect">
            <a:avLst/>
          </a:prstGeom>
          <a:noFill/>
          <a:ln/>
        </p:spPr>
        <p:txBody>
          <a:bodyPr wrap="square" rtlCol="0" anchor="ctr"/>
          <a:lstStyle/>
          <a:p>
            <a:pPr indent="0" marL="0">
              <a:buNone/>
            </a:pPr>
            <a:r>
              <a:rPr lang="en-US" sz="800" dirty="0">
                <a:solidFill>
                  <a:srgbClr val="808080"/>
                </a:solidFill>
              </a:rPr>
              <a:t>Redes y Comunicaciones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12700">
            <a:solidFill>
              <a:srgbClr val="2D3030"/>
            </a:solidFill>
            <a:prstDash val="solid"/>
          </a:ln>
        </p:spPr>
      </p:sp>
      <p:sp>
        <p:nvSpPr>
          <p:cNvPr id="3" name="Shape 1"/>
          <p:cNvSpPr/>
          <p:nvPr/>
        </p:nvSpPr>
        <p:spPr>
          <a:xfrm>
            <a:off x="0" y="0"/>
            <a:ext cx="109728" cy="1005840"/>
          </a:xfrm>
          <a:prstGeom prst="rect">
            <a:avLst/>
          </a:prstGeom>
          <a:solidFill>
            <a:srgbClr val="5AA8D8"/>
          </a:solidFill>
          <a:ln w="12700">
            <a:solidFill>
              <a:srgbClr val="5AA8D8"/>
            </a:solidFill>
            <a:prstDash val="solid"/>
          </a:ln>
        </p:spPr>
      </p:sp>
      <p:sp>
        <p:nvSpPr>
          <p:cNvPr id="4" name="Text 2"/>
          <p:cNvSpPr/>
          <p:nvPr/>
        </p:nvSpPr>
        <p:spPr>
          <a:xfrm>
            <a:off x="228600" y="73152"/>
            <a:ext cx="868680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¿Qué es una Topología de Red?</a:t>
            </a:r>
            <a:endParaRPr lang="en-US" sz="2200" dirty="0"/>
          </a:p>
        </p:txBody>
      </p:sp>
      <p:sp>
        <p:nvSpPr>
          <p:cNvPr id="5" name="Text 3"/>
          <p:cNvSpPr/>
          <p:nvPr/>
        </p:nvSpPr>
        <p:spPr>
          <a:xfrm>
            <a:off x="228600" y="566928"/>
            <a:ext cx="8686800" cy="347472"/>
          </a:xfrm>
          <a:prstGeom prst="rect">
            <a:avLst/>
          </a:prstGeom>
          <a:noFill/>
          <a:ln/>
        </p:spPr>
        <p:txBody>
          <a:bodyPr wrap="square" rtlCol="0" anchor="ctr"/>
          <a:lstStyle/>
          <a:p>
            <a:pPr indent="0" marL="0">
              <a:buNone/>
            </a:pPr>
            <a:r>
              <a:rPr lang="en-US" sz="1100" i="1" dirty="0">
                <a:solidFill>
                  <a:srgbClr val="B9DEF8"/>
                </a:solidFill>
                <a:latin typeface="Arial" pitchFamily="34" charset="0"/>
                <a:ea typeface="Arial" pitchFamily="34" charset="-122"/>
                <a:cs typeface="Arial" pitchFamily="34" charset="-120"/>
              </a:rPr>
              <a:t>Conceptos clave antes de avanzar</a:t>
            </a:r>
            <a:endParaRPr lang="en-US" sz="1100" dirty="0"/>
          </a:p>
        </p:txBody>
      </p:sp>
      <p:sp>
        <p:nvSpPr>
          <p:cNvPr id="6" name="Text 4"/>
          <p:cNvSpPr/>
          <p:nvPr/>
        </p:nvSpPr>
        <p:spPr>
          <a:xfrm>
            <a:off x="274320" y="1143000"/>
            <a:ext cx="8595360" cy="320040"/>
          </a:xfrm>
          <a:prstGeom prst="rect">
            <a:avLst/>
          </a:prstGeom>
          <a:noFill/>
          <a:ln/>
        </p:spPr>
        <p:txBody>
          <a:bodyPr wrap="square" rtlCol="0" anchor="ctr"/>
          <a:lstStyle/>
          <a:p>
            <a:pPr indent="0" marL="0">
              <a:buNone/>
            </a:pPr>
            <a:r>
              <a:rPr lang="en-US" sz="1400" b="1" dirty="0">
                <a:solidFill>
                  <a:srgbClr val="3A7BAA"/>
                </a:solidFill>
                <a:latin typeface="Arial" pitchFamily="34" charset="0"/>
                <a:ea typeface="Arial" pitchFamily="34" charset="-122"/>
                <a:cs typeface="Arial" pitchFamily="34" charset="-120"/>
              </a:rPr>
              <a:t>Definición</a:t>
            </a:r>
            <a:endParaRPr lang="en-US" sz="1400" dirty="0"/>
          </a:p>
        </p:txBody>
      </p:sp>
      <p:sp>
        <p:nvSpPr>
          <p:cNvPr id="7" name="Shape 5"/>
          <p:cNvSpPr/>
          <p:nvPr/>
        </p:nvSpPr>
        <p:spPr>
          <a:xfrm>
            <a:off x="274320" y="1481328"/>
            <a:ext cx="8595360" cy="685800"/>
          </a:xfrm>
          <a:prstGeom prst="rect">
            <a:avLst/>
          </a:prstGeom>
          <a:solidFill>
            <a:srgbClr val="B9DEF8"/>
          </a:solidFill>
          <a:ln w="19050">
            <a:solidFill>
              <a:srgbClr val="5AA8D8"/>
            </a:solidFill>
            <a:prstDash val="solid"/>
          </a:ln>
        </p:spPr>
      </p:sp>
      <p:sp>
        <p:nvSpPr>
          <p:cNvPr id="8" name="Shape 6"/>
          <p:cNvSpPr/>
          <p:nvPr/>
        </p:nvSpPr>
        <p:spPr>
          <a:xfrm>
            <a:off x="274320" y="1481328"/>
            <a:ext cx="64008" cy="685800"/>
          </a:xfrm>
          <a:prstGeom prst="rect">
            <a:avLst/>
          </a:prstGeom>
          <a:solidFill>
            <a:srgbClr val="5AA8D8"/>
          </a:solidFill>
          <a:ln w="12700">
            <a:solidFill>
              <a:srgbClr val="5AA8D8"/>
            </a:solidFill>
            <a:prstDash val="solid"/>
          </a:ln>
        </p:spPr>
      </p:sp>
      <p:sp>
        <p:nvSpPr>
          <p:cNvPr id="9" name="Text 7"/>
          <p:cNvSpPr/>
          <p:nvPr/>
        </p:nvSpPr>
        <p:spPr>
          <a:xfrm>
            <a:off x="411480" y="1481328"/>
            <a:ext cx="8412480" cy="685800"/>
          </a:xfrm>
          <a:prstGeom prst="rect">
            <a:avLst/>
          </a:prstGeom>
          <a:noFill/>
          <a:ln/>
        </p:spPr>
        <p:txBody>
          <a:bodyPr wrap="square" rtlCol="0" anchor="ctr"/>
          <a:lstStyle/>
          <a:p>
            <a:pPr indent="0" marL="0">
              <a:buNone/>
            </a:pPr>
            <a:r>
              <a:rPr lang="en-US" sz="1200" dirty="0">
                <a:solidFill>
                  <a:srgbClr val="404040"/>
                </a:solidFill>
                <a:latin typeface="Arial" pitchFamily="34" charset="0"/>
                <a:ea typeface="Arial" pitchFamily="34" charset="-122"/>
                <a:cs typeface="Arial" pitchFamily="34" charset="-120"/>
              </a:rPr>
              <a:t>La topología de red es la forma en que se interconectan los dispositivos. Es una topología LÓGICA, no necesariamente física; el cable puede adoptar cualquier disposición en la oficina.</a:t>
            </a:r>
            <a:endParaRPr lang="en-US" sz="1200" dirty="0"/>
          </a:p>
        </p:txBody>
      </p:sp>
      <p:sp>
        <p:nvSpPr>
          <p:cNvPr id="10" name="Text 8"/>
          <p:cNvSpPr/>
          <p:nvPr/>
        </p:nvSpPr>
        <p:spPr>
          <a:xfrm>
            <a:off x="274320" y="2286000"/>
            <a:ext cx="8595360" cy="320040"/>
          </a:xfrm>
          <a:prstGeom prst="rect">
            <a:avLst/>
          </a:prstGeom>
          <a:noFill/>
          <a:ln/>
        </p:spPr>
        <p:txBody>
          <a:bodyPr wrap="square" rtlCol="0" anchor="ctr"/>
          <a:lstStyle/>
          <a:p>
            <a:pPr indent="0" marL="0">
              <a:buNone/>
            </a:pPr>
            <a:r>
              <a:rPr lang="en-US" sz="1400" b="1" dirty="0">
                <a:solidFill>
                  <a:srgbClr val="3A7BAA"/>
                </a:solidFill>
                <a:latin typeface="Arial" pitchFamily="34" charset="0"/>
                <a:ea typeface="Arial" pitchFamily="34" charset="-122"/>
                <a:cs typeface="Arial" pitchFamily="34" charset="-120"/>
              </a:rPr>
              <a:t>Conceptos clave</a:t>
            </a:r>
            <a:endParaRPr lang="en-US" sz="1400" dirty="0"/>
          </a:p>
        </p:txBody>
      </p:sp>
      <p:sp>
        <p:nvSpPr>
          <p:cNvPr id="11" name="Shape 9"/>
          <p:cNvSpPr/>
          <p:nvPr/>
        </p:nvSpPr>
        <p:spPr>
          <a:xfrm>
            <a:off x="274320" y="2734056"/>
            <a:ext cx="201168" cy="201168"/>
          </a:xfrm>
          <a:prstGeom prst="ellipse">
            <a:avLst/>
          </a:prstGeom>
          <a:solidFill>
            <a:srgbClr val="5AA8D8"/>
          </a:solidFill>
          <a:ln w="12700">
            <a:solidFill>
              <a:srgbClr val="5AA8D8"/>
            </a:solidFill>
            <a:prstDash val="solid"/>
          </a:ln>
        </p:spPr>
      </p:sp>
      <p:sp>
        <p:nvSpPr>
          <p:cNvPr id="12" name="Text 10"/>
          <p:cNvSpPr/>
          <p:nvPr/>
        </p:nvSpPr>
        <p:spPr>
          <a:xfrm>
            <a:off x="566928" y="2670048"/>
            <a:ext cx="8321040" cy="274320"/>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Nodo / Host: </a:t>
            </a:r>
            <a:endParaRPr lang="en-US" sz="1100" dirty="0"/>
          </a:p>
        </p:txBody>
      </p:sp>
      <p:sp>
        <p:nvSpPr>
          <p:cNvPr id="13" name="Text 11"/>
          <p:cNvSpPr/>
          <p:nvPr/>
        </p:nvSpPr>
        <p:spPr>
          <a:xfrm>
            <a:off x="566928" y="2926080"/>
            <a:ext cx="822960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Cualquier dispositivo conectado a la red (PC, impresora, servidor).</a:t>
            </a:r>
            <a:endParaRPr lang="en-US" sz="1000" dirty="0"/>
          </a:p>
        </p:txBody>
      </p:sp>
      <p:sp>
        <p:nvSpPr>
          <p:cNvPr id="14" name="Shape 12"/>
          <p:cNvSpPr/>
          <p:nvPr/>
        </p:nvSpPr>
        <p:spPr>
          <a:xfrm>
            <a:off x="274320" y="3282696"/>
            <a:ext cx="201168" cy="201168"/>
          </a:xfrm>
          <a:prstGeom prst="ellipse">
            <a:avLst/>
          </a:prstGeom>
          <a:solidFill>
            <a:srgbClr val="5AA8D8"/>
          </a:solidFill>
          <a:ln w="12700">
            <a:solidFill>
              <a:srgbClr val="5AA8D8"/>
            </a:solidFill>
            <a:prstDash val="solid"/>
          </a:ln>
        </p:spPr>
      </p:sp>
      <p:sp>
        <p:nvSpPr>
          <p:cNvPr id="15" name="Text 13"/>
          <p:cNvSpPr/>
          <p:nvPr/>
        </p:nvSpPr>
        <p:spPr>
          <a:xfrm>
            <a:off x="566928" y="3218688"/>
            <a:ext cx="8321040" cy="274320"/>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Placa de red (NIC): </a:t>
            </a:r>
            <a:endParaRPr lang="en-US" sz="1100" dirty="0"/>
          </a:p>
        </p:txBody>
      </p:sp>
      <p:sp>
        <p:nvSpPr>
          <p:cNvPr id="16" name="Text 14"/>
          <p:cNvSpPr/>
          <p:nvPr/>
        </p:nvSpPr>
        <p:spPr>
          <a:xfrm>
            <a:off x="566928" y="3474720"/>
            <a:ext cx="822960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Hardware que gestiona la comunicación según la topología. Cada topología tiene su propio tipo de NIC.</a:t>
            </a:r>
            <a:endParaRPr lang="en-US" sz="1000" dirty="0"/>
          </a:p>
        </p:txBody>
      </p:sp>
      <p:sp>
        <p:nvSpPr>
          <p:cNvPr id="17" name="Shape 15"/>
          <p:cNvSpPr/>
          <p:nvPr/>
        </p:nvSpPr>
        <p:spPr>
          <a:xfrm>
            <a:off x="274320" y="3831336"/>
            <a:ext cx="201168" cy="201168"/>
          </a:xfrm>
          <a:prstGeom prst="ellipse">
            <a:avLst/>
          </a:prstGeom>
          <a:solidFill>
            <a:srgbClr val="5AA8D8"/>
          </a:solidFill>
          <a:ln w="12700">
            <a:solidFill>
              <a:srgbClr val="5AA8D8"/>
            </a:solidFill>
            <a:prstDash val="solid"/>
          </a:ln>
        </p:spPr>
      </p:sp>
      <p:sp>
        <p:nvSpPr>
          <p:cNvPr id="18" name="Text 16"/>
          <p:cNvSpPr/>
          <p:nvPr/>
        </p:nvSpPr>
        <p:spPr>
          <a:xfrm>
            <a:off x="566928" y="3767328"/>
            <a:ext cx="8321040" cy="274320"/>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Medio de transmisión: </a:t>
            </a:r>
            <a:endParaRPr lang="en-US" sz="1100" dirty="0"/>
          </a:p>
        </p:txBody>
      </p:sp>
      <p:sp>
        <p:nvSpPr>
          <p:cNvPr id="19" name="Text 17"/>
          <p:cNvSpPr/>
          <p:nvPr/>
        </p:nvSpPr>
        <p:spPr>
          <a:xfrm>
            <a:off x="566928" y="4023360"/>
            <a:ext cx="822960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Canal de comunicación: guiado (cables) o no guiado (ondas, infrarrojo, satélite).</a:t>
            </a:r>
            <a:endParaRPr lang="en-US" sz="1000" dirty="0"/>
          </a:p>
        </p:txBody>
      </p:sp>
      <p:sp>
        <p:nvSpPr>
          <p:cNvPr id="20" name="Shape 18"/>
          <p:cNvSpPr/>
          <p:nvPr/>
        </p:nvSpPr>
        <p:spPr>
          <a:xfrm>
            <a:off x="274320" y="4379976"/>
            <a:ext cx="201168" cy="201168"/>
          </a:xfrm>
          <a:prstGeom prst="ellipse">
            <a:avLst/>
          </a:prstGeom>
          <a:solidFill>
            <a:srgbClr val="5AA8D8"/>
          </a:solidFill>
          <a:ln w="12700">
            <a:solidFill>
              <a:srgbClr val="5AA8D8"/>
            </a:solidFill>
            <a:prstDash val="solid"/>
          </a:ln>
        </p:spPr>
      </p:sp>
      <p:sp>
        <p:nvSpPr>
          <p:cNvPr id="21" name="Text 19"/>
          <p:cNvSpPr/>
          <p:nvPr/>
        </p:nvSpPr>
        <p:spPr>
          <a:xfrm>
            <a:off x="566928" y="4315968"/>
            <a:ext cx="8321040" cy="274320"/>
          </a:xfrm>
          <a:prstGeom prst="rect">
            <a:avLst/>
          </a:prstGeom>
          <a:noFill/>
          <a:ln/>
        </p:spPr>
        <p:txBody>
          <a:bodyPr wrap="square" rtlCol="0" anchor="ctr"/>
          <a:lstStyle/>
          <a:p>
            <a:pPr indent="0" marL="0">
              <a:buNone/>
            </a:pPr>
            <a:r>
              <a:rPr lang="en-US" sz="1100" b="1" dirty="0">
                <a:solidFill>
                  <a:srgbClr val="2D3030"/>
                </a:solidFill>
                <a:latin typeface="Arial" pitchFamily="34" charset="0"/>
                <a:ea typeface="Arial" pitchFamily="34" charset="-122"/>
                <a:cs typeface="Arial" pitchFamily="34" charset="-120"/>
              </a:rPr>
              <a:t>Backbone / Segmento: </a:t>
            </a:r>
            <a:endParaRPr lang="en-US" sz="1100" dirty="0"/>
          </a:p>
        </p:txBody>
      </p:sp>
      <p:sp>
        <p:nvSpPr>
          <p:cNvPr id="22" name="Text 20"/>
          <p:cNvSpPr/>
          <p:nvPr/>
        </p:nvSpPr>
        <p:spPr>
          <a:xfrm>
            <a:off x="566928" y="4572000"/>
            <a:ext cx="822960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El medio físico compartido en topología bus.</a:t>
            </a:r>
            <a:endParaRPr lang="en-US" sz="1000" dirty="0"/>
          </a:p>
        </p:txBody>
      </p:sp>
      <p:sp>
        <p:nvSpPr>
          <p:cNvPr id="23" name="Shape 21"/>
          <p:cNvSpPr/>
          <p:nvPr/>
        </p:nvSpPr>
        <p:spPr>
          <a:xfrm>
            <a:off x="0" y="4850892"/>
            <a:ext cx="9144000" cy="292608"/>
          </a:xfrm>
          <a:prstGeom prst="rect">
            <a:avLst/>
          </a:prstGeom>
          <a:solidFill>
            <a:srgbClr val="2D3030"/>
          </a:solidFill>
          <a:ln w="12700">
            <a:solidFill>
              <a:srgbClr val="2D3030"/>
            </a:solidFill>
            <a:prstDash val="solid"/>
          </a:ln>
        </p:spPr>
      </p:sp>
      <p:sp>
        <p:nvSpPr>
          <p:cNvPr id="24" name="Text 22"/>
          <p:cNvSpPr/>
          <p:nvPr/>
        </p:nvSpPr>
        <p:spPr>
          <a:xfrm>
            <a:off x="182880" y="4869180"/>
            <a:ext cx="5486400" cy="256032"/>
          </a:xfrm>
          <a:prstGeom prst="rect">
            <a:avLst/>
          </a:prstGeom>
          <a:noFill/>
          <a:ln/>
        </p:spPr>
        <p:txBody>
          <a:bodyPr wrap="square" rtlCol="0" anchor="ctr"/>
          <a:lstStyle/>
          <a:p>
            <a:pPr indent="0" marL="0">
              <a:buNone/>
            </a:pPr>
            <a:r>
              <a:rPr lang="en-US" sz="800" dirty="0">
                <a:solidFill>
                  <a:srgbClr val="808080"/>
                </a:solidFill>
                <a:latin typeface="Arial" pitchFamily="34" charset="0"/>
                <a:ea typeface="Arial" pitchFamily="34" charset="-122"/>
                <a:cs typeface="Arial" pitchFamily="34" charset="-120"/>
              </a:rPr>
              <a:t>SP5 · H1 · Topologías LAN</a:t>
            </a:r>
            <a:endParaRPr lang="en-US" sz="800" dirty="0"/>
          </a:p>
        </p:txBody>
      </p:sp>
      <p:sp>
        <p:nvSpPr>
          <p:cNvPr id="25" name="Text 23"/>
          <p:cNvSpPr/>
          <p:nvPr/>
        </p:nvSpPr>
        <p:spPr>
          <a:xfrm>
            <a:off x="6583680" y="4869180"/>
            <a:ext cx="2377440" cy="256032"/>
          </a:xfrm>
          <a:prstGeom prst="rect">
            <a:avLst/>
          </a:prstGeom>
          <a:noFill/>
          <a:ln/>
        </p:spPr>
        <p:txBody>
          <a:bodyPr wrap="square" rtlCol="0" anchor="ctr"/>
          <a:lstStyle/>
          <a:p>
            <a:pPr algn="r" indent="0" marL="0">
              <a:buNone/>
            </a:pPr>
            <a:r>
              <a:rPr lang="en-US" sz="800" dirty="0">
                <a:solidFill>
                  <a:srgbClr val="B9DEF8"/>
                </a:solidFill>
                <a:latin typeface="Arial" pitchFamily="34" charset="0"/>
                <a:ea typeface="Arial" pitchFamily="34" charset="-122"/>
                <a:cs typeface="Arial" pitchFamily="34" charset="-120"/>
              </a:rPr>
              <a:t>Conceptos Generales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12700">
            <a:solidFill>
              <a:srgbClr val="2D3030"/>
            </a:solidFill>
            <a:prstDash val="solid"/>
          </a:ln>
        </p:spPr>
      </p:sp>
      <p:sp>
        <p:nvSpPr>
          <p:cNvPr id="3" name="Shape 1"/>
          <p:cNvSpPr/>
          <p:nvPr/>
        </p:nvSpPr>
        <p:spPr>
          <a:xfrm>
            <a:off x="0" y="0"/>
            <a:ext cx="109728" cy="1005840"/>
          </a:xfrm>
          <a:prstGeom prst="rect">
            <a:avLst/>
          </a:prstGeom>
          <a:solidFill>
            <a:srgbClr val="5AA8D8"/>
          </a:solidFill>
          <a:ln w="12700">
            <a:solidFill>
              <a:srgbClr val="5AA8D8"/>
            </a:solidFill>
            <a:prstDash val="solid"/>
          </a:ln>
        </p:spPr>
      </p:sp>
      <p:sp>
        <p:nvSpPr>
          <p:cNvPr id="4" name="Text 2"/>
          <p:cNvSpPr/>
          <p:nvPr/>
        </p:nvSpPr>
        <p:spPr>
          <a:xfrm>
            <a:off x="228600" y="73152"/>
            <a:ext cx="868680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Topología de Bus</a:t>
            </a:r>
            <a:endParaRPr lang="en-US" sz="2200" dirty="0"/>
          </a:p>
        </p:txBody>
      </p:sp>
      <p:sp>
        <p:nvSpPr>
          <p:cNvPr id="5" name="Text 3"/>
          <p:cNvSpPr/>
          <p:nvPr/>
        </p:nvSpPr>
        <p:spPr>
          <a:xfrm>
            <a:off x="228600" y="566928"/>
            <a:ext cx="8686800" cy="347472"/>
          </a:xfrm>
          <a:prstGeom prst="rect">
            <a:avLst/>
          </a:prstGeom>
          <a:noFill/>
          <a:ln/>
        </p:spPr>
        <p:txBody>
          <a:bodyPr wrap="square" rtlCol="0" anchor="ctr"/>
          <a:lstStyle/>
          <a:p>
            <a:pPr indent="0" marL="0">
              <a:buNone/>
            </a:pPr>
            <a:r>
              <a:rPr lang="en-US" sz="1100" i="1" dirty="0">
                <a:solidFill>
                  <a:srgbClr val="B9DEF8"/>
                </a:solidFill>
                <a:latin typeface="Arial" pitchFamily="34" charset="0"/>
                <a:ea typeface="Arial" pitchFamily="34" charset="-122"/>
                <a:cs typeface="Arial" pitchFamily="34" charset="-120"/>
              </a:rPr>
              <a:t>Bus lineal — medio compartido</a:t>
            </a:r>
            <a:endParaRPr lang="en-US" sz="1100" dirty="0"/>
          </a:p>
        </p:txBody>
      </p:sp>
      <p:sp>
        <p:nvSpPr>
          <p:cNvPr id="6" name="Shape 4"/>
          <p:cNvSpPr/>
          <p:nvPr/>
        </p:nvSpPr>
        <p:spPr>
          <a:xfrm>
            <a:off x="457200" y="2148840"/>
            <a:ext cx="8046720" cy="109728"/>
          </a:xfrm>
          <a:prstGeom prst="rect">
            <a:avLst/>
          </a:prstGeom>
          <a:solidFill>
            <a:srgbClr val="3A7BAA"/>
          </a:solidFill>
          <a:ln w="12700">
            <a:solidFill>
              <a:srgbClr val="3A7BAA"/>
            </a:solidFill>
            <a:prstDash val="solid"/>
          </a:ln>
        </p:spPr>
      </p:sp>
      <p:sp>
        <p:nvSpPr>
          <p:cNvPr id="7" name="Shape 5"/>
          <p:cNvSpPr/>
          <p:nvPr/>
        </p:nvSpPr>
        <p:spPr>
          <a:xfrm>
            <a:off x="320040" y="1947672"/>
            <a:ext cx="164592" cy="512064"/>
          </a:xfrm>
          <a:prstGeom prst="rect">
            <a:avLst/>
          </a:prstGeom>
          <a:solidFill>
            <a:srgbClr val="E74C3C"/>
          </a:solidFill>
          <a:ln w="12700">
            <a:solidFill>
              <a:srgbClr val="E74C3C"/>
            </a:solidFill>
            <a:prstDash val="solid"/>
          </a:ln>
        </p:spPr>
      </p:sp>
      <p:sp>
        <p:nvSpPr>
          <p:cNvPr id="8" name="Shape 6"/>
          <p:cNvSpPr/>
          <p:nvPr/>
        </p:nvSpPr>
        <p:spPr>
          <a:xfrm>
            <a:off x="8476488" y="1947672"/>
            <a:ext cx="164592" cy="512064"/>
          </a:xfrm>
          <a:prstGeom prst="rect">
            <a:avLst/>
          </a:prstGeom>
          <a:solidFill>
            <a:srgbClr val="E74C3C"/>
          </a:solidFill>
          <a:ln w="12700">
            <a:solidFill>
              <a:srgbClr val="E74C3C"/>
            </a:solidFill>
            <a:prstDash val="solid"/>
          </a:ln>
        </p:spPr>
      </p:sp>
      <p:sp>
        <p:nvSpPr>
          <p:cNvPr id="9" name="Text 7"/>
          <p:cNvSpPr/>
          <p:nvPr/>
        </p:nvSpPr>
        <p:spPr>
          <a:xfrm>
            <a:off x="320040" y="1984248"/>
            <a:ext cx="164592" cy="402336"/>
          </a:xfrm>
          <a:prstGeom prst="rect">
            <a:avLst/>
          </a:prstGeom>
          <a:noFill/>
          <a:ln/>
        </p:spPr>
        <p:txBody>
          <a:bodyPr wrap="square" rtlCol="0" anchor="ctr"/>
          <a:lstStyle/>
          <a:p>
            <a:pPr algn="ctr" indent="0" marL="0">
              <a:buNone/>
            </a:pPr>
            <a:r>
              <a:rPr lang="en-US" sz="800" b="1" dirty="0">
                <a:solidFill>
                  <a:srgbClr val="FFFFFF"/>
                </a:solidFill>
              </a:rPr>
              <a:t>T</a:t>
            </a:r>
            <a:endParaRPr lang="en-US" sz="800" dirty="0"/>
          </a:p>
        </p:txBody>
      </p:sp>
      <p:sp>
        <p:nvSpPr>
          <p:cNvPr id="10" name="Text 8"/>
          <p:cNvSpPr/>
          <p:nvPr/>
        </p:nvSpPr>
        <p:spPr>
          <a:xfrm>
            <a:off x="8476488" y="1984248"/>
            <a:ext cx="164592" cy="402336"/>
          </a:xfrm>
          <a:prstGeom prst="rect">
            <a:avLst/>
          </a:prstGeom>
          <a:noFill/>
          <a:ln/>
        </p:spPr>
        <p:txBody>
          <a:bodyPr wrap="square" rtlCol="0" anchor="ctr"/>
          <a:lstStyle/>
          <a:p>
            <a:pPr algn="ctr" indent="0" marL="0">
              <a:buNone/>
            </a:pPr>
            <a:r>
              <a:rPr lang="en-US" sz="800" b="1" dirty="0">
                <a:solidFill>
                  <a:srgbClr val="FFFFFF"/>
                </a:solidFill>
              </a:rPr>
              <a:t>T</a:t>
            </a:r>
            <a:endParaRPr lang="en-US" sz="800" dirty="0"/>
          </a:p>
        </p:txBody>
      </p:sp>
      <p:sp>
        <p:nvSpPr>
          <p:cNvPr id="11" name="Shape 9"/>
          <p:cNvSpPr/>
          <p:nvPr/>
        </p:nvSpPr>
        <p:spPr>
          <a:xfrm>
            <a:off x="1188720" y="1600200"/>
            <a:ext cx="0" cy="548640"/>
          </a:xfrm>
          <a:prstGeom prst="line">
            <a:avLst/>
          </a:prstGeom>
          <a:noFill/>
          <a:ln w="25400">
            <a:solidFill>
              <a:srgbClr val="3A7BAA"/>
            </a:solidFill>
            <a:prstDash val="solid"/>
          </a:ln>
        </p:spPr>
      </p:sp>
      <p:sp>
        <p:nvSpPr>
          <p:cNvPr id="12" name="Shape 10"/>
          <p:cNvSpPr/>
          <p:nvPr/>
        </p:nvSpPr>
        <p:spPr>
          <a:xfrm>
            <a:off x="1051560" y="1188720"/>
            <a:ext cx="292608" cy="384048"/>
          </a:xfrm>
          <a:prstGeom prst="rect">
            <a:avLst/>
          </a:prstGeom>
          <a:solidFill>
            <a:srgbClr val="5AA8D8"/>
          </a:solidFill>
          <a:ln w="12700">
            <a:solidFill>
              <a:srgbClr val="3A7BAA"/>
            </a:solidFill>
            <a:prstDash val="solid"/>
          </a:ln>
        </p:spPr>
      </p:sp>
      <p:sp>
        <p:nvSpPr>
          <p:cNvPr id="13" name="Text 11"/>
          <p:cNvSpPr/>
          <p:nvPr/>
        </p:nvSpPr>
        <p:spPr>
          <a:xfrm>
            <a:off x="1051560" y="1188720"/>
            <a:ext cx="292608" cy="384048"/>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14" name="Shape 12"/>
          <p:cNvSpPr/>
          <p:nvPr/>
        </p:nvSpPr>
        <p:spPr>
          <a:xfrm>
            <a:off x="2651760" y="1600200"/>
            <a:ext cx="0" cy="548640"/>
          </a:xfrm>
          <a:prstGeom prst="line">
            <a:avLst/>
          </a:prstGeom>
          <a:noFill/>
          <a:ln w="25400">
            <a:solidFill>
              <a:srgbClr val="3A7BAA"/>
            </a:solidFill>
            <a:prstDash val="solid"/>
          </a:ln>
        </p:spPr>
      </p:sp>
      <p:sp>
        <p:nvSpPr>
          <p:cNvPr id="15" name="Shape 13"/>
          <p:cNvSpPr/>
          <p:nvPr/>
        </p:nvSpPr>
        <p:spPr>
          <a:xfrm>
            <a:off x="2514600" y="1188720"/>
            <a:ext cx="292608" cy="384048"/>
          </a:xfrm>
          <a:prstGeom prst="rect">
            <a:avLst/>
          </a:prstGeom>
          <a:solidFill>
            <a:srgbClr val="5AA8D8"/>
          </a:solidFill>
          <a:ln w="12700">
            <a:solidFill>
              <a:srgbClr val="3A7BAA"/>
            </a:solidFill>
            <a:prstDash val="solid"/>
          </a:ln>
        </p:spPr>
      </p:sp>
      <p:sp>
        <p:nvSpPr>
          <p:cNvPr id="16" name="Text 14"/>
          <p:cNvSpPr/>
          <p:nvPr/>
        </p:nvSpPr>
        <p:spPr>
          <a:xfrm>
            <a:off x="2514600" y="1188720"/>
            <a:ext cx="292608" cy="384048"/>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17" name="Shape 15"/>
          <p:cNvSpPr/>
          <p:nvPr/>
        </p:nvSpPr>
        <p:spPr>
          <a:xfrm>
            <a:off x="4206240" y="1600200"/>
            <a:ext cx="0" cy="548640"/>
          </a:xfrm>
          <a:prstGeom prst="line">
            <a:avLst/>
          </a:prstGeom>
          <a:noFill/>
          <a:ln w="25400">
            <a:solidFill>
              <a:srgbClr val="3A7BAA"/>
            </a:solidFill>
            <a:prstDash val="solid"/>
          </a:ln>
        </p:spPr>
      </p:sp>
      <p:sp>
        <p:nvSpPr>
          <p:cNvPr id="18" name="Shape 16"/>
          <p:cNvSpPr/>
          <p:nvPr/>
        </p:nvSpPr>
        <p:spPr>
          <a:xfrm>
            <a:off x="4069080" y="1188720"/>
            <a:ext cx="292608" cy="384048"/>
          </a:xfrm>
          <a:prstGeom prst="rect">
            <a:avLst/>
          </a:prstGeom>
          <a:solidFill>
            <a:srgbClr val="5AA8D8"/>
          </a:solidFill>
          <a:ln w="12700">
            <a:solidFill>
              <a:srgbClr val="3A7BAA"/>
            </a:solidFill>
            <a:prstDash val="solid"/>
          </a:ln>
        </p:spPr>
      </p:sp>
      <p:sp>
        <p:nvSpPr>
          <p:cNvPr id="19" name="Text 17"/>
          <p:cNvSpPr/>
          <p:nvPr/>
        </p:nvSpPr>
        <p:spPr>
          <a:xfrm>
            <a:off x="4069080" y="1188720"/>
            <a:ext cx="292608" cy="384048"/>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20" name="Shape 18"/>
          <p:cNvSpPr/>
          <p:nvPr/>
        </p:nvSpPr>
        <p:spPr>
          <a:xfrm>
            <a:off x="5760720" y="1600200"/>
            <a:ext cx="0" cy="548640"/>
          </a:xfrm>
          <a:prstGeom prst="line">
            <a:avLst/>
          </a:prstGeom>
          <a:noFill/>
          <a:ln w="25400">
            <a:solidFill>
              <a:srgbClr val="3A7BAA"/>
            </a:solidFill>
            <a:prstDash val="solid"/>
          </a:ln>
        </p:spPr>
      </p:sp>
      <p:sp>
        <p:nvSpPr>
          <p:cNvPr id="21" name="Shape 19"/>
          <p:cNvSpPr/>
          <p:nvPr/>
        </p:nvSpPr>
        <p:spPr>
          <a:xfrm>
            <a:off x="5623560" y="1188720"/>
            <a:ext cx="292608" cy="384048"/>
          </a:xfrm>
          <a:prstGeom prst="rect">
            <a:avLst/>
          </a:prstGeom>
          <a:solidFill>
            <a:srgbClr val="5AA8D8"/>
          </a:solidFill>
          <a:ln w="12700">
            <a:solidFill>
              <a:srgbClr val="3A7BAA"/>
            </a:solidFill>
            <a:prstDash val="solid"/>
          </a:ln>
        </p:spPr>
      </p:sp>
      <p:sp>
        <p:nvSpPr>
          <p:cNvPr id="22" name="Text 20"/>
          <p:cNvSpPr/>
          <p:nvPr/>
        </p:nvSpPr>
        <p:spPr>
          <a:xfrm>
            <a:off x="5623560" y="1188720"/>
            <a:ext cx="292608" cy="384048"/>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23" name="Shape 21"/>
          <p:cNvSpPr/>
          <p:nvPr/>
        </p:nvSpPr>
        <p:spPr>
          <a:xfrm>
            <a:off x="7315200" y="1600200"/>
            <a:ext cx="0" cy="548640"/>
          </a:xfrm>
          <a:prstGeom prst="line">
            <a:avLst/>
          </a:prstGeom>
          <a:noFill/>
          <a:ln w="25400">
            <a:solidFill>
              <a:srgbClr val="3A7BAA"/>
            </a:solidFill>
            <a:prstDash val="solid"/>
          </a:ln>
        </p:spPr>
      </p:sp>
      <p:sp>
        <p:nvSpPr>
          <p:cNvPr id="24" name="Shape 22"/>
          <p:cNvSpPr/>
          <p:nvPr/>
        </p:nvSpPr>
        <p:spPr>
          <a:xfrm>
            <a:off x="7178040" y="1188720"/>
            <a:ext cx="292608" cy="384048"/>
          </a:xfrm>
          <a:prstGeom prst="rect">
            <a:avLst/>
          </a:prstGeom>
          <a:solidFill>
            <a:srgbClr val="5AA8D8"/>
          </a:solidFill>
          <a:ln w="12700">
            <a:solidFill>
              <a:srgbClr val="3A7BAA"/>
            </a:solidFill>
            <a:prstDash val="solid"/>
          </a:ln>
        </p:spPr>
      </p:sp>
      <p:sp>
        <p:nvSpPr>
          <p:cNvPr id="25" name="Text 23"/>
          <p:cNvSpPr/>
          <p:nvPr/>
        </p:nvSpPr>
        <p:spPr>
          <a:xfrm>
            <a:off x="7178040" y="1188720"/>
            <a:ext cx="292608" cy="384048"/>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26" name="Text 24"/>
          <p:cNvSpPr/>
          <p:nvPr/>
        </p:nvSpPr>
        <p:spPr>
          <a:xfrm>
            <a:off x="2743200" y="2286000"/>
            <a:ext cx="3657600" cy="228600"/>
          </a:xfrm>
          <a:prstGeom prst="rect">
            <a:avLst/>
          </a:prstGeom>
          <a:noFill/>
          <a:ln/>
        </p:spPr>
        <p:txBody>
          <a:bodyPr wrap="square" rtlCol="0" anchor="ctr"/>
          <a:lstStyle/>
          <a:p>
            <a:pPr algn="ctr" indent="0" marL="0">
              <a:buNone/>
            </a:pPr>
            <a:r>
              <a:rPr lang="en-US" sz="800" i="1" dirty="0">
                <a:solidFill>
                  <a:srgbClr val="808080"/>
                </a:solidFill>
              </a:rPr>
              <a:t>Backbone (cable compartido)</a:t>
            </a:r>
            <a:endParaRPr lang="en-US" sz="800" dirty="0"/>
          </a:p>
        </p:txBody>
      </p:sp>
      <p:sp>
        <p:nvSpPr>
          <p:cNvPr id="27" name="Shape 25"/>
          <p:cNvSpPr/>
          <p:nvPr/>
        </p:nvSpPr>
        <p:spPr>
          <a:xfrm>
            <a:off x="256032" y="2697480"/>
            <a:ext cx="155448" cy="155448"/>
          </a:xfrm>
          <a:prstGeom prst="ellipse">
            <a:avLst/>
          </a:prstGeom>
          <a:solidFill>
            <a:srgbClr val="5AA8D8"/>
          </a:solidFill>
          <a:ln w="12700">
            <a:solidFill>
              <a:srgbClr val="5AA8D8"/>
            </a:solidFill>
            <a:prstDash val="solid"/>
          </a:ln>
        </p:spPr>
      </p:sp>
      <p:sp>
        <p:nvSpPr>
          <p:cNvPr id="28" name="Text 26"/>
          <p:cNvSpPr/>
          <p:nvPr/>
        </p:nvSpPr>
        <p:spPr>
          <a:xfrm>
            <a:off x="493776" y="2651760"/>
            <a:ext cx="841248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Todos los dispositivos comparten UN solo medio de transmisión.</a:t>
            </a:r>
            <a:endParaRPr lang="en-US" sz="1000" dirty="0"/>
          </a:p>
        </p:txBody>
      </p:sp>
      <p:sp>
        <p:nvSpPr>
          <p:cNvPr id="29" name="Shape 27"/>
          <p:cNvSpPr/>
          <p:nvPr/>
        </p:nvSpPr>
        <p:spPr>
          <a:xfrm>
            <a:off x="256032" y="2990088"/>
            <a:ext cx="155448" cy="155448"/>
          </a:xfrm>
          <a:prstGeom prst="ellipse">
            <a:avLst/>
          </a:prstGeom>
          <a:solidFill>
            <a:srgbClr val="5AA8D8"/>
          </a:solidFill>
          <a:ln w="12700">
            <a:solidFill>
              <a:srgbClr val="5AA8D8"/>
            </a:solidFill>
            <a:prstDash val="solid"/>
          </a:ln>
        </p:spPr>
      </p:sp>
      <p:sp>
        <p:nvSpPr>
          <p:cNvPr id="30" name="Text 28"/>
          <p:cNvSpPr/>
          <p:nvPr/>
        </p:nvSpPr>
        <p:spPr>
          <a:xfrm>
            <a:off x="493776" y="2944368"/>
            <a:ext cx="841248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Los extremos del cable se conectan a terminadores (evitan rebote de señal).</a:t>
            </a:r>
            <a:endParaRPr lang="en-US" sz="1000" dirty="0"/>
          </a:p>
        </p:txBody>
      </p:sp>
      <p:sp>
        <p:nvSpPr>
          <p:cNvPr id="31" name="Shape 29"/>
          <p:cNvSpPr/>
          <p:nvPr/>
        </p:nvSpPr>
        <p:spPr>
          <a:xfrm>
            <a:off x="256032" y="3282696"/>
            <a:ext cx="155448" cy="155448"/>
          </a:xfrm>
          <a:prstGeom prst="ellipse">
            <a:avLst/>
          </a:prstGeom>
          <a:solidFill>
            <a:srgbClr val="5AA8D8"/>
          </a:solidFill>
          <a:ln w="12700">
            <a:solidFill>
              <a:srgbClr val="5AA8D8"/>
            </a:solidFill>
            <a:prstDash val="solid"/>
          </a:ln>
        </p:spPr>
      </p:sp>
      <p:sp>
        <p:nvSpPr>
          <p:cNvPr id="32" name="Text 30"/>
          <p:cNvSpPr/>
          <p:nvPr/>
        </p:nvSpPr>
        <p:spPr>
          <a:xfrm>
            <a:off x="493776" y="3236976"/>
            <a:ext cx="841248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Tecnología PASIVA: si un nodo falla, la red sigue funcionando.</a:t>
            </a:r>
            <a:endParaRPr lang="en-US" sz="1000" dirty="0"/>
          </a:p>
        </p:txBody>
      </p:sp>
      <p:sp>
        <p:nvSpPr>
          <p:cNvPr id="33" name="Shape 31"/>
          <p:cNvSpPr/>
          <p:nvPr/>
        </p:nvSpPr>
        <p:spPr>
          <a:xfrm>
            <a:off x="256032" y="3575304"/>
            <a:ext cx="155448" cy="155448"/>
          </a:xfrm>
          <a:prstGeom prst="ellipse">
            <a:avLst/>
          </a:prstGeom>
          <a:solidFill>
            <a:srgbClr val="5AA8D8"/>
          </a:solidFill>
          <a:ln w="12700">
            <a:solidFill>
              <a:srgbClr val="5AA8D8"/>
            </a:solidFill>
            <a:prstDash val="solid"/>
          </a:ln>
        </p:spPr>
      </p:sp>
      <p:sp>
        <p:nvSpPr>
          <p:cNvPr id="34" name="Text 32"/>
          <p:cNvSpPr/>
          <p:nvPr/>
        </p:nvSpPr>
        <p:spPr>
          <a:xfrm>
            <a:off x="493776" y="3529584"/>
            <a:ext cx="841248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Fallo en terminadores o conexiones → toda la red cae. Difícil diagnóstico.</a:t>
            </a:r>
            <a:endParaRPr lang="en-US" sz="1000" dirty="0"/>
          </a:p>
        </p:txBody>
      </p:sp>
      <p:sp>
        <p:nvSpPr>
          <p:cNvPr id="35" name="Shape 33"/>
          <p:cNvSpPr/>
          <p:nvPr/>
        </p:nvSpPr>
        <p:spPr>
          <a:xfrm>
            <a:off x="256032" y="3867912"/>
            <a:ext cx="155448" cy="155448"/>
          </a:xfrm>
          <a:prstGeom prst="ellipse">
            <a:avLst/>
          </a:prstGeom>
          <a:solidFill>
            <a:srgbClr val="5AA8D8"/>
          </a:solidFill>
          <a:ln w="12700">
            <a:solidFill>
              <a:srgbClr val="5AA8D8"/>
            </a:solidFill>
            <a:prstDash val="solid"/>
          </a:ln>
        </p:spPr>
      </p:sp>
      <p:sp>
        <p:nvSpPr>
          <p:cNvPr id="36" name="Text 34"/>
          <p:cNvSpPr/>
          <p:nvPr/>
        </p:nvSpPr>
        <p:spPr>
          <a:xfrm>
            <a:off x="493776" y="3822192"/>
            <a:ext cx="8412480" cy="256032"/>
          </a:xfrm>
          <a:prstGeom prst="rect">
            <a:avLst/>
          </a:prstGeom>
          <a:noFill/>
          <a:ln/>
        </p:spPr>
        <p:txBody>
          <a:bodyPr wrap="square" rtlCol="0" anchor="ctr"/>
          <a:lstStyle/>
          <a:p>
            <a:pPr indent="0" marL="0">
              <a:buNone/>
            </a:pPr>
            <a:r>
              <a:rPr lang="en-US" sz="1000" dirty="0">
                <a:solidFill>
                  <a:srgbClr val="404040"/>
                </a:solidFill>
                <a:latin typeface="Arial" pitchFamily="34" charset="0"/>
                <a:ea typeface="Arial" pitchFamily="34" charset="-122"/>
                <a:cs typeface="Arial" pitchFamily="34" charset="-120"/>
              </a:rPr>
              <a:t>Menor cantidad de cable requerida entre todas las topologías.</a:t>
            </a:r>
            <a:endParaRPr lang="en-US" sz="1000" dirty="0"/>
          </a:p>
        </p:txBody>
      </p:sp>
      <p:sp>
        <p:nvSpPr>
          <p:cNvPr id="37" name="Shape 35"/>
          <p:cNvSpPr/>
          <p:nvPr/>
        </p:nvSpPr>
        <p:spPr>
          <a:xfrm>
            <a:off x="0" y="4850892"/>
            <a:ext cx="9144000" cy="292608"/>
          </a:xfrm>
          <a:prstGeom prst="rect">
            <a:avLst/>
          </a:prstGeom>
          <a:solidFill>
            <a:srgbClr val="2D3030"/>
          </a:solidFill>
          <a:ln w="12700">
            <a:solidFill>
              <a:srgbClr val="2D3030"/>
            </a:solidFill>
            <a:prstDash val="solid"/>
          </a:ln>
        </p:spPr>
      </p:sp>
      <p:sp>
        <p:nvSpPr>
          <p:cNvPr id="38" name="Text 36"/>
          <p:cNvSpPr/>
          <p:nvPr/>
        </p:nvSpPr>
        <p:spPr>
          <a:xfrm>
            <a:off x="182880" y="4869180"/>
            <a:ext cx="5486400" cy="256032"/>
          </a:xfrm>
          <a:prstGeom prst="rect">
            <a:avLst/>
          </a:prstGeom>
          <a:noFill/>
          <a:ln/>
        </p:spPr>
        <p:txBody>
          <a:bodyPr wrap="square" rtlCol="0" anchor="ctr"/>
          <a:lstStyle/>
          <a:p>
            <a:pPr indent="0" marL="0">
              <a:buNone/>
            </a:pPr>
            <a:r>
              <a:rPr lang="en-US" sz="800" dirty="0">
                <a:solidFill>
                  <a:srgbClr val="808080"/>
                </a:solidFill>
                <a:latin typeface="Arial" pitchFamily="34" charset="0"/>
                <a:ea typeface="Arial" pitchFamily="34" charset="-122"/>
                <a:cs typeface="Arial" pitchFamily="34" charset="-120"/>
              </a:rPr>
              <a:t>SP5 · H1 · Topologías LAN</a:t>
            </a:r>
            <a:endParaRPr lang="en-US" sz="800" dirty="0"/>
          </a:p>
        </p:txBody>
      </p:sp>
      <p:sp>
        <p:nvSpPr>
          <p:cNvPr id="39" name="Text 37"/>
          <p:cNvSpPr/>
          <p:nvPr/>
        </p:nvSpPr>
        <p:spPr>
          <a:xfrm>
            <a:off x="6583680" y="4869180"/>
            <a:ext cx="2377440" cy="256032"/>
          </a:xfrm>
          <a:prstGeom prst="rect">
            <a:avLst/>
          </a:prstGeom>
          <a:noFill/>
          <a:ln/>
        </p:spPr>
        <p:txBody>
          <a:bodyPr wrap="square" rtlCol="0" anchor="ctr"/>
          <a:lstStyle/>
          <a:p>
            <a:pPr algn="r" indent="0" marL="0">
              <a:buNone/>
            </a:pPr>
            <a:r>
              <a:rPr lang="en-US" sz="800" dirty="0">
                <a:solidFill>
                  <a:srgbClr val="B9DEF8"/>
                </a:solidFill>
                <a:latin typeface="Arial" pitchFamily="34" charset="0"/>
                <a:ea typeface="Arial" pitchFamily="34" charset="-122"/>
                <a:cs typeface="Arial" pitchFamily="34" charset="-120"/>
              </a:rPr>
              <a:t>Topología Bus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12700">
            <a:solidFill>
              <a:srgbClr val="2D3030"/>
            </a:solidFill>
            <a:prstDash val="solid"/>
          </a:ln>
        </p:spPr>
      </p:sp>
      <p:sp>
        <p:nvSpPr>
          <p:cNvPr id="3" name="Shape 1"/>
          <p:cNvSpPr/>
          <p:nvPr/>
        </p:nvSpPr>
        <p:spPr>
          <a:xfrm>
            <a:off x="0" y="0"/>
            <a:ext cx="109728" cy="1005840"/>
          </a:xfrm>
          <a:prstGeom prst="rect">
            <a:avLst/>
          </a:prstGeom>
          <a:solidFill>
            <a:srgbClr val="5AA8D8"/>
          </a:solidFill>
          <a:ln w="12700">
            <a:solidFill>
              <a:srgbClr val="5AA8D8"/>
            </a:solidFill>
            <a:prstDash val="solid"/>
          </a:ln>
        </p:spPr>
      </p:sp>
      <p:sp>
        <p:nvSpPr>
          <p:cNvPr id="4" name="Text 2"/>
          <p:cNvSpPr/>
          <p:nvPr/>
        </p:nvSpPr>
        <p:spPr>
          <a:xfrm>
            <a:off x="228600" y="73152"/>
            <a:ext cx="868680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Topología de Estrella</a:t>
            </a:r>
            <a:endParaRPr lang="en-US" sz="2200" dirty="0"/>
          </a:p>
        </p:txBody>
      </p:sp>
      <p:sp>
        <p:nvSpPr>
          <p:cNvPr id="5" name="Text 3"/>
          <p:cNvSpPr/>
          <p:nvPr/>
        </p:nvSpPr>
        <p:spPr>
          <a:xfrm>
            <a:off x="228600" y="566928"/>
            <a:ext cx="8686800" cy="347472"/>
          </a:xfrm>
          <a:prstGeom prst="rect">
            <a:avLst/>
          </a:prstGeom>
          <a:noFill/>
          <a:ln/>
        </p:spPr>
        <p:txBody>
          <a:bodyPr wrap="square" rtlCol="0" anchor="ctr"/>
          <a:lstStyle/>
          <a:p>
            <a:pPr indent="0" marL="0">
              <a:buNone/>
            </a:pPr>
            <a:r>
              <a:rPr lang="en-US" sz="1100" i="1" dirty="0">
                <a:solidFill>
                  <a:srgbClr val="B9DEF8"/>
                </a:solidFill>
                <a:latin typeface="Arial" pitchFamily="34" charset="0"/>
                <a:ea typeface="Arial" pitchFamily="34" charset="-122"/>
                <a:cs typeface="Arial" pitchFamily="34" charset="-120"/>
              </a:rPr>
              <a:t>Concentrador central (Hub/Switch)</a:t>
            </a:r>
            <a:endParaRPr lang="en-US" sz="1100" dirty="0"/>
          </a:p>
        </p:txBody>
      </p:sp>
      <p:sp>
        <p:nvSpPr>
          <p:cNvPr id="6" name="Shape 4"/>
          <p:cNvSpPr/>
          <p:nvPr/>
        </p:nvSpPr>
        <p:spPr>
          <a:xfrm>
            <a:off x="4224528" y="2377440"/>
            <a:ext cx="694944" cy="457200"/>
          </a:xfrm>
          <a:prstGeom prst="rect">
            <a:avLst/>
          </a:prstGeom>
          <a:solidFill>
            <a:srgbClr val="3A7BAA"/>
          </a:solidFill>
          <a:ln w="12700">
            <a:solidFill>
              <a:srgbClr val="5AA8D8"/>
            </a:solidFill>
            <a:prstDash val="solid"/>
          </a:ln>
        </p:spPr>
      </p:sp>
      <p:sp>
        <p:nvSpPr>
          <p:cNvPr id="7" name="Text 5"/>
          <p:cNvSpPr/>
          <p:nvPr/>
        </p:nvSpPr>
        <p:spPr>
          <a:xfrm>
            <a:off x="4224528" y="2404872"/>
            <a:ext cx="694944" cy="402336"/>
          </a:xfrm>
          <a:prstGeom prst="rect">
            <a:avLst/>
          </a:prstGeom>
          <a:noFill/>
          <a:ln/>
        </p:spPr>
        <p:txBody>
          <a:bodyPr wrap="square" rtlCol="0" anchor="ctr"/>
          <a:lstStyle/>
          <a:p>
            <a:pPr algn="ctr" indent="0" marL="0">
              <a:buNone/>
            </a:pPr>
            <a:r>
              <a:rPr lang="en-US" sz="800" b="1" dirty="0">
                <a:solidFill>
                  <a:srgbClr val="FFFFFF"/>
                </a:solidFill>
              </a:rPr>
              <a:t>HUB</a:t>
            </a:r>
            <a:endParaRPr lang="en-US" sz="800" dirty="0"/>
          </a:p>
        </p:txBody>
      </p:sp>
      <p:sp>
        <p:nvSpPr>
          <p:cNvPr id="8" name="Shape 6"/>
          <p:cNvSpPr/>
          <p:nvPr/>
        </p:nvSpPr>
        <p:spPr>
          <a:xfrm>
            <a:off x="4224528" y="2606040"/>
            <a:ext cx="-274320" cy="-896112"/>
          </a:xfrm>
          <a:prstGeom prst="line">
            <a:avLst/>
          </a:prstGeom>
          <a:noFill/>
          <a:ln w="19050">
            <a:solidFill>
              <a:srgbClr val="B9DEF8"/>
            </a:solidFill>
            <a:prstDash val="solid"/>
          </a:ln>
        </p:spPr>
      </p:sp>
      <p:sp>
        <p:nvSpPr>
          <p:cNvPr id="9" name="Shape 7"/>
          <p:cNvSpPr/>
          <p:nvPr/>
        </p:nvSpPr>
        <p:spPr>
          <a:xfrm>
            <a:off x="4370832" y="1508760"/>
            <a:ext cx="402336" cy="320040"/>
          </a:xfrm>
          <a:prstGeom prst="roundRect">
            <a:avLst>
              <a:gd name="adj" fmla="val 11429"/>
            </a:avLst>
          </a:prstGeom>
          <a:solidFill>
            <a:srgbClr val="5AA8D8"/>
          </a:solidFill>
          <a:ln w="12700">
            <a:solidFill>
              <a:srgbClr val="3A7BAA"/>
            </a:solidFill>
            <a:prstDash val="solid"/>
          </a:ln>
        </p:spPr>
      </p:sp>
      <p:sp>
        <p:nvSpPr>
          <p:cNvPr id="10" name="Text 8"/>
          <p:cNvSpPr/>
          <p:nvPr/>
        </p:nvSpPr>
        <p:spPr>
          <a:xfrm>
            <a:off x="4370832" y="1527048"/>
            <a:ext cx="402336" cy="274320"/>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11" name="Shape 9"/>
          <p:cNvSpPr/>
          <p:nvPr/>
        </p:nvSpPr>
        <p:spPr>
          <a:xfrm>
            <a:off x="4919472" y="2606040"/>
            <a:ext cx="834331" cy="-448056"/>
          </a:xfrm>
          <a:prstGeom prst="line">
            <a:avLst/>
          </a:prstGeom>
          <a:noFill/>
          <a:ln w="19050">
            <a:solidFill>
              <a:srgbClr val="B9DEF8"/>
            </a:solidFill>
            <a:prstDash val="solid"/>
          </a:ln>
        </p:spPr>
      </p:sp>
      <p:sp>
        <p:nvSpPr>
          <p:cNvPr id="12" name="Shape 10"/>
          <p:cNvSpPr/>
          <p:nvPr/>
        </p:nvSpPr>
        <p:spPr>
          <a:xfrm>
            <a:off x="5479483" y="1956816"/>
            <a:ext cx="402336" cy="320040"/>
          </a:xfrm>
          <a:prstGeom prst="roundRect">
            <a:avLst>
              <a:gd name="adj" fmla="val 11429"/>
            </a:avLst>
          </a:prstGeom>
          <a:solidFill>
            <a:srgbClr val="5AA8D8"/>
          </a:solidFill>
          <a:ln w="12700">
            <a:solidFill>
              <a:srgbClr val="3A7BAA"/>
            </a:solidFill>
            <a:prstDash val="solid"/>
          </a:ln>
        </p:spPr>
      </p:sp>
      <p:sp>
        <p:nvSpPr>
          <p:cNvPr id="13" name="Text 11"/>
          <p:cNvSpPr/>
          <p:nvPr/>
        </p:nvSpPr>
        <p:spPr>
          <a:xfrm>
            <a:off x="5479483" y="1975104"/>
            <a:ext cx="402336" cy="274320"/>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14" name="Shape 12"/>
          <p:cNvSpPr/>
          <p:nvPr/>
        </p:nvSpPr>
        <p:spPr>
          <a:xfrm>
            <a:off x="4919472" y="2606040"/>
            <a:ext cx="834331" cy="448056"/>
          </a:xfrm>
          <a:prstGeom prst="line">
            <a:avLst/>
          </a:prstGeom>
          <a:noFill/>
          <a:ln w="19050">
            <a:solidFill>
              <a:srgbClr val="B9DEF8"/>
            </a:solidFill>
            <a:prstDash val="solid"/>
          </a:ln>
        </p:spPr>
      </p:sp>
      <p:sp>
        <p:nvSpPr>
          <p:cNvPr id="15" name="Shape 13"/>
          <p:cNvSpPr/>
          <p:nvPr/>
        </p:nvSpPr>
        <p:spPr>
          <a:xfrm>
            <a:off x="5479483" y="2852928"/>
            <a:ext cx="402336" cy="320040"/>
          </a:xfrm>
          <a:prstGeom prst="roundRect">
            <a:avLst>
              <a:gd name="adj" fmla="val 11429"/>
            </a:avLst>
          </a:prstGeom>
          <a:solidFill>
            <a:srgbClr val="5AA8D8"/>
          </a:solidFill>
          <a:ln w="12700">
            <a:solidFill>
              <a:srgbClr val="3A7BAA"/>
            </a:solidFill>
            <a:prstDash val="solid"/>
          </a:ln>
        </p:spPr>
      </p:sp>
      <p:sp>
        <p:nvSpPr>
          <p:cNvPr id="16" name="Text 14"/>
          <p:cNvSpPr/>
          <p:nvPr/>
        </p:nvSpPr>
        <p:spPr>
          <a:xfrm>
            <a:off x="5479483" y="2871216"/>
            <a:ext cx="402336" cy="274320"/>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17" name="Shape 15"/>
          <p:cNvSpPr/>
          <p:nvPr/>
        </p:nvSpPr>
        <p:spPr>
          <a:xfrm>
            <a:off x="4224528" y="2606040"/>
            <a:ext cx="-274320" cy="896112"/>
          </a:xfrm>
          <a:prstGeom prst="line">
            <a:avLst/>
          </a:prstGeom>
          <a:noFill/>
          <a:ln w="19050">
            <a:solidFill>
              <a:srgbClr val="B9DEF8"/>
            </a:solidFill>
            <a:prstDash val="solid"/>
          </a:ln>
        </p:spPr>
      </p:sp>
      <p:sp>
        <p:nvSpPr>
          <p:cNvPr id="18" name="Shape 16"/>
          <p:cNvSpPr/>
          <p:nvPr/>
        </p:nvSpPr>
        <p:spPr>
          <a:xfrm>
            <a:off x="4370832" y="3300984"/>
            <a:ext cx="402336" cy="320040"/>
          </a:xfrm>
          <a:prstGeom prst="roundRect">
            <a:avLst>
              <a:gd name="adj" fmla="val 11429"/>
            </a:avLst>
          </a:prstGeom>
          <a:solidFill>
            <a:srgbClr val="5AA8D8"/>
          </a:solidFill>
          <a:ln w="12700">
            <a:solidFill>
              <a:srgbClr val="3A7BAA"/>
            </a:solidFill>
            <a:prstDash val="solid"/>
          </a:ln>
        </p:spPr>
      </p:sp>
      <p:sp>
        <p:nvSpPr>
          <p:cNvPr id="19" name="Text 17"/>
          <p:cNvSpPr/>
          <p:nvPr/>
        </p:nvSpPr>
        <p:spPr>
          <a:xfrm>
            <a:off x="4370832" y="3319272"/>
            <a:ext cx="402336" cy="274320"/>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20" name="Shape 18"/>
          <p:cNvSpPr/>
          <p:nvPr/>
        </p:nvSpPr>
        <p:spPr>
          <a:xfrm>
            <a:off x="3115877" y="2606040"/>
            <a:ext cx="834331" cy="448056"/>
          </a:xfrm>
          <a:prstGeom prst="line">
            <a:avLst/>
          </a:prstGeom>
          <a:noFill/>
          <a:ln w="19050">
            <a:solidFill>
              <a:srgbClr val="B9DEF8"/>
            </a:solidFill>
            <a:prstDash val="solid"/>
          </a:ln>
        </p:spPr>
      </p:sp>
      <p:sp>
        <p:nvSpPr>
          <p:cNvPr id="21" name="Shape 19"/>
          <p:cNvSpPr/>
          <p:nvPr/>
        </p:nvSpPr>
        <p:spPr>
          <a:xfrm>
            <a:off x="3262181" y="2852928"/>
            <a:ext cx="402336" cy="320040"/>
          </a:xfrm>
          <a:prstGeom prst="roundRect">
            <a:avLst>
              <a:gd name="adj" fmla="val 11429"/>
            </a:avLst>
          </a:prstGeom>
          <a:solidFill>
            <a:srgbClr val="5AA8D8"/>
          </a:solidFill>
          <a:ln w="12700">
            <a:solidFill>
              <a:srgbClr val="3A7BAA"/>
            </a:solidFill>
            <a:prstDash val="solid"/>
          </a:ln>
        </p:spPr>
      </p:sp>
      <p:sp>
        <p:nvSpPr>
          <p:cNvPr id="22" name="Text 20"/>
          <p:cNvSpPr/>
          <p:nvPr/>
        </p:nvSpPr>
        <p:spPr>
          <a:xfrm>
            <a:off x="3262181" y="2871216"/>
            <a:ext cx="402336" cy="274320"/>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23" name="Shape 21"/>
          <p:cNvSpPr/>
          <p:nvPr/>
        </p:nvSpPr>
        <p:spPr>
          <a:xfrm>
            <a:off x="3115877" y="2606040"/>
            <a:ext cx="834331" cy="-448056"/>
          </a:xfrm>
          <a:prstGeom prst="line">
            <a:avLst/>
          </a:prstGeom>
          <a:noFill/>
          <a:ln w="19050">
            <a:solidFill>
              <a:srgbClr val="B9DEF8"/>
            </a:solidFill>
            <a:prstDash val="solid"/>
          </a:ln>
        </p:spPr>
      </p:sp>
      <p:sp>
        <p:nvSpPr>
          <p:cNvPr id="24" name="Shape 22"/>
          <p:cNvSpPr/>
          <p:nvPr/>
        </p:nvSpPr>
        <p:spPr>
          <a:xfrm>
            <a:off x="3262181" y="1956816"/>
            <a:ext cx="402336" cy="320040"/>
          </a:xfrm>
          <a:prstGeom prst="roundRect">
            <a:avLst>
              <a:gd name="adj" fmla="val 11429"/>
            </a:avLst>
          </a:prstGeom>
          <a:solidFill>
            <a:srgbClr val="5AA8D8"/>
          </a:solidFill>
          <a:ln w="12700">
            <a:solidFill>
              <a:srgbClr val="3A7BAA"/>
            </a:solidFill>
            <a:prstDash val="solid"/>
          </a:ln>
        </p:spPr>
      </p:sp>
      <p:sp>
        <p:nvSpPr>
          <p:cNvPr id="25" name="Text 23"/>
          <p:cNvSpPr/>
          <p:nvPr/>
        </p:nvSpPr>
        <p:spPr>
          <a:xfrm>
            <a:off x="3262181" y="1975104"/>
            <a:ext cx="402336" cy="274320"/>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26" name="Shape 24"/>
          <p:cNvSpPr/>
          <p:nvPr/>
        </p:nvSpPr>
        <p:spPr>
          <a:xfrm>
            <a:off x="256032" y="3465576"/>
            <a:ext cx="146304" cy="146304"/>
          </a:xfrm>
          <a:prstGeom prst="ellipse">
            <a:avLst/>
          </a:prstGeom>
          <a:solidFill>
            <a:srgbClr val="5AA8D8"/>
          </a:solidFill>
          <a:ln w="12700">
            <a:solidFill>
              <a:srgbClr val="5AA8D8"/>
            </a:solidFill>
            <a:prstDash val="solid"/>
          </a:ln>
        </p:spPr>
      </p:sp>
      <p:sp>
        <p:nvSpPr>
          <p:cNvPr id="27" name="Text 25"/>
          <p:cNvSpPr/>
          <p:nvPr/>
        </p:nvSpPr>
        <p:spPr>
          <a:xfrm>
            <a:off x="493776" y="3429000"/>
            <a:ext cx="8412480" cy="256032"/>
          </a:xfrm>
          <a:prstGeom prst="rect">
            <a:avLst/>
          </a:prstGeom>
          <a:noFill/>
          <a:ln/>
        </p:spPr>
        <p:txBody>
          <a:bodyPr wrap="square" rtlCol="0" anchor="ctr"/>
          <a:lstStyle/>
          <a:p>
            <a:pPr indent="0" marL="0">
              <a:buNone/>
            </a:pPr>
            <a:r>
              <a:rPr lang="en-US" sz="1000" dirty="0">
                <a:solidFill>
                  <a:srgbClr val="404040"/>
                </a:solidFill>
              </a:rPr>
              <a:t>Cada nodo se conecta INDIVIDUALMENTE al concentrador (Hub o Switch).</a:t>
            </a:r>
            <a:endParaRPr lang="en-US" sz="1000" dirty="0"/>
          </a:p>
        </p:txBody>
      </p:sp>
      <p:sp>
        <p:nvSpPr>
          <p:cNvPr id="28" name="Shape 26"/>
          <p:cNvSpPr/>
          <p:nvPr/>
        </p:nvSpPr>
        <p:spPr>
          <a:xfrm>
            <a:off x="256032" y="3739896"/>
            <a:ext cx="146304" cy="146304"/>
          </a:xfrm>
          <a:prstGeom prst="ellipse">
            <a:avLst/>
          </a:prstGeom>
          <a:solidFill>
            <a:srgbClr val="5AA8D8"/>
          </a:solidFill>
          <a:ln w="12700">
            <a:solidFill>
              <a:srgbClr val="5AA8D8"/>
            </a:solidFill>
            <a:prstDash val="solid"/>
          </a:ln>
        </p:spPr>
      </p:sp>
      <p:sp>
        <p:nvSpPr>
          <p:cNvPr id="29" name="Text 27"/>
          <p:cNvSpPr/>
          <p:nvPr/>
        </p:nvSpPr>
        <p:spPr>
          <a:xfrm>
            <a:off x="493776" y="3703320"/>
            <a:ext cx="8412480" cy="256032"/>
          </a:xfrm>
          <a:prstGeom prst="rect">
            <a:avLst/>
          </a:prstGeom>
          <a:noFill/>
          <a:ln/>
        </p:spPr>
        <p:txBody>
          <a:bodyPr wrap="square" rtlCol="0" anchor="ctr"/>
          <a:lstStyle/>
          <a:p>
            <a:pPr indent="0" marL="0">
              <a:buNone/>
            </a:pPr>
            <a:r>
              <a:rPr lang="en-US" sz="1000" dirty="0">
                <a:solidFill>
                  <a:srgbClr val="404040"/>
                </a:solidFill>
              </a:rPr>
              <a:t>Hub: difunde el mensaje a todos los puertos. Sin direccionamiento.</a:t>
            </a:r>
            <a:endParaRPr lang="en-US" sz="1000" dirty="0"/>
          </a:p>
        </p:txBody>
      </p:sp>
      <p:sp>
        <p:nvSpPr>
          <p:cNvPr id="30" name="Shape 28"/>
          <p:cNvSpPr/>
          <p:nvPr/>
        </p:nvSpPr>
        <p:spPr>
          <a:xfrm>
            <a:off x="256032" y="4014216"/>
            <a:ext cx="146304" cy="146304"/>
          </a:xfrm>
          <a:prstGeom prst="ellipse">
            <a:avLst/>
          </a:prstGeom>
          <a:solidFill>
            <a:srgbClr val="5AA8D8"/>
          </a:solidFill>
          <a:ln w="12700">
            <a:solidFill>
              <a:srgbClr val="5AA8D8"/>
            </a:solidFill>
            <a:prstDash val="solid"/>
          </a:ln>
        </p:spPr>
      </p:sp>
      <p:sp>
        <p:nvSpPr>
          <p:cNvPr id="31" name="Text 29"/>
          <p:cNvSpPr/>
          <p:nvPr/>
        </p:nvSpPr>
        <p:spPr>
          <a:xfrm>
            <a:off x="493776" y="3977640"/>
            <a:ext cx="8412480" cy="256032"/>
          </a:xfrm>
          <a:prstGeom prst="rect">
            <a:avLst/>
          </a:prstGeom>
          <a:noFill/>
          <a:ln/>
        </p:spPr>
        <p:txBody>
          <a:bodyPr wrap="square" rtlCol="0" anchor="ctr"/>
          <a:lstStyle/>
          <a:p>
            <a:pPr indent="0" marL="0">
              <a:buNone/>
            </a:pPr>
            <a:r>
              <a:rPr lang="en-US" sz="1000" dirty="0">
                <a:solidFill>
                  <a:srgbClr val="404040"/>
                </a:solidFill>
              </a:rPr>
              <a:t>Switch (moderno): envía el mensaje SOLO al puerto destino. Más eficiente y seguro.</a:t>
            </a:r>
            <a:endParaRPr lang="en-US" sz="1000" dirty="0"/>
          </a:p>
        </p:txBody>
      </p:sp>
      <p:sp>
        <p:nvSpPr>
          <p:cNvPr id="32" name="Shape 30"/>
          <p:cNvSpPr/>
          <p:nvPr/>
        </p:nvSpPr>
        <p:spPr>
          <a:xfrm>
            <a:off x="256032" y="4288536"/>
            <a:ext cx="146304" cy="146304"/>
          </a:xfrm>
          <a:prstGeom prst="ellipse">
            <a:avLst/>
          </a:prstGeom>
          <a:solidFill>
            <a:srgbClr val="5AA8D8"/>
          </a:solidFill>
          <a:ln w="12700">
            <a:solidFill>
              <a:srgbClr val="5AA8D8"/>
            </a:solidFill>
            <a:prstDash val="solid"/>
          </a:ln>
        </p:spPr>
      </p:sp>
      <p:sp>
        <p:nvSpPr>
          <p:cNvPr id="33" name="Text 31"/>
          <p:cNvSpPr/>
          <p:nvPr/>
        </p:nvSpPr>
        <p:spPr>
          <a:xfrm>
            <a:off x="493776" y="4251960"/>
            <a:ext cx="8412480" cy="256032"/>
          </a:xfrm>
          <a:prstGeom prst="rect">
            <a:avLst/>
          </a:prstGeom>
          <a:noFill/>
          <a:ln/>
        </p:spPr>
        <p:txBody>
          <a:bodyPr wrap="square" rtlCol="0" anchor="ctr"/>
          <a:lstStyle/>
          <a:p>
            <a:pPr indent="0" marL="0">
              <a:buNone/>
            </a:pPr>
            <a:r>
              <a:rPr lang="en-US" sz="1000" dirty="0">
                <a:solidFill>
                  <a:srgbClr val="404040"/>
                </a:solidFill>
              </a:rPr>
              <a:t>Caída de un nodo no afecta la red. El Hub/Switch permite aislar fallas fácilmente.</a:t>
            </a:r>
            <a:endParaRPr lang="en-US" sz="1000" dirty="0"/>
          </a:p>
        </p:txBody>
      </p:sp>
      <p:sp>
        <p:nvSpPr>
          <p:cNvPr id="34" name="Shape 32"/>
          <p:cNvSpPr/>
          <p:nvPr/>
        </p:nvSpPr>
        <p:spPr>
          <a:xfrm>
            <a:off x="256032" y="4562856"/>
            <a:ext cx="146304" cy="146304"/>
          </a:xfrm>
          <a:prstGeom prst="ellipse">
            <a:avLst/>
          </a:prstGeom>
          <a:solidFill>
            <a:srgbClr val="5AA8D8"/>
          </a:solidFill>
          <a:ln w="12700">
            <a:solidFill>
              <a:srgbClr val="5AA8D8"/>
            </a:solidFill>
            <a:prstDash val="solid"/>
          </a:ln>
        </p:spPr>
      </p:sp>
      <p:sp>
        <p:nvSpPr>
          <p:cNvPr id="35" name="Text 33"/>
          <p:cNvSpPr/>
          <p:nvPr/>
        </p:nvSpPr>
        <p:spPr>
          <a:xfrm>
            <a:off x="493776" y="4526280"/>
            <a:ext cx="8412480" cy="256032"/>
          </a:xfrm>
          <a:prstGeom prst="rect">
            <a:avLst/>
          </a:prstGeom>
          <a:noFill/>
          <a:ln/>
        </p:spPr>
        <p:txBody>
          <a:bodyPr wrap="square" rtlCol="0" anchor="ctr"/>
          <a:lstStyle/>
          <a:p>
            <a:pPr indent="0" marL="0">
              <a:buNone/>
            </a:pPr>
            <a:r>
              <a:rPr lang="en-US" sz="1000" dirty="0">
                <a:solidFill>
                  <a:srgbClr val="404040"/>
                </a:solidFill>
              </a:rPr>
              <a:t>Si el Hub/Switch falla → toda la red cae. Es el punto único de fallo.</a:t>
            </a:r>
            <a:endParaRPr lang="en-US" sz="1000" dirty="0"/>
          </a:p>
        </p:txBody>
      </p:sp>
      <p:sp>
        <p:nvSpPr>
          <p:cNvPr id="36" name="Shape 34"/>
          <p:cNvSpPr/>
          <p:nvPr/>
        </p:nvSpPr>
        <p:spPr>
          <a:xfrm>
            <a:off x="0" y="4850892"/>
            <a:ext cx="9144000" cy="292608"/>
          </a:xfrm>
          <a:prstGeom prst="rect">
            <a:avLst/>
          </a:prstGeom>
          <a:solidFill>
            <a:srgbClr val="2D3030"/>
          </a:solidFill>
          <a:ln w="12700">
            <a:solidFill>
              <a:srgbClr val="2D3030"/>
            </a:solidFill>
            <a:prstDash val="solid"/>
          </a:ln>
        </p:spPr>
      </p:sp>
      <p:sp>
        <p:nvSpPr>
          <p:cNvPr id="37" name="Text 35"/>
          <p:cNvSpPr/>
          <p:nvPr/>
        </p:nvSpPr>
        <p:spPr>
          <a:xfrm>
            <a:off x="182880" y="4869180"/>
            <a:ext cx="5486400" cy="256032"/>
          </a:xfrm>
          <a:prstGeom prst="rect">
            <a:avLst/>
          </a:prstGeom>
          <a:noFill/>
          <a:ln/>
        </p:spPr>
        <p:txBody>
          <a:bodyPr wrap="square" rtlCol="0" anchor="ctr"/>
          <a:lstStyle/>
          <a:p>
            <a:pPr indent="0" marL="0">
              <a:buNone/>
            </a:pPr>
            <a:r>
              <a:rPr lang="en-US" sz="800" dirty="0">
                <a:solidFill>
                  <a:srgbClr val="808080"/>
                </a:solidFill>
                <a:latin typeface="Arial" pitchFamily="34" charset="0"/>
                <a:ea typeface="Arial" pitchFamily="34" charset="-122"/>
                <a:cs typeface="Arial" pitchFamily="34" charset="-120"/>
              </a:rPr>
              <a:t>SP5 · H1 · Topologías LAN</a:t>
            </a:r>
            <a:endParaRPr lang="en-US" sz="800" dirty="0"/>
          </a:p>
        </p:txBody>
      </p:sp>
      <p:sp>
        <p:nvSpPr>
          <p:cNvPr id="38" name="Text 36"/>
          <p:cNvSpPr/>
          <p:nvPr/>
        </p:nvSpPr>
        <p:spPr>
          <a:xfrm>
            <a:off x="6583680" y="4869180"/>
            <a:ext cx="2377440" cy="256032"/>
          </a:xfrm>
          <a:prstGeom prst="rect">
            <a:avLst/>
          </a:prstGeom>
          <a:noFill/>
          <a:ln/>
        </p:spPr>
        <p:txBody>
          <a:bodyPr wrap="square" rtlCol="0" anchor="ctr"/>
          <a:lstStyle/>
          <a:p>
            <a:pPr algn="r" indent="0" marL="0">
              <a:buNone/>
            </a:pPr>
            <a:r>
              <a:rPr lang="en-US" sz="800" dirty="0">
                <a:solidFill>
                  <a:srgbClr val="B9DEF8"/>
                </a:solidFill>
                <a:latin typeface="Arial" pitchFamily="34" charset="0"/>
                <a:ea typeface="Arial" pitchFamily="34" charset="-122"/>
                <a:cs typeface="Arial" pitchFamily="34" charset="-120"/>
              </a:rPr>
              <a:t>Topología Estrella</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12700">
            <a:solidFill>
              <a:srgbClr val="2D3030"/>
            </a:solidFill>
            <a:prstDash val="solid"/>
          </a:ln>
        </p:spPr>
      </p:sp>
      <p:sp>
        <p:nvSpPr>
          <p:cNvPr id="3" name="Shape 1"/>
          <p:cNvSpPr/>
          <p:nvPr/>
        </p:nvSpPr>
        <p:spPr>
          <a:xfrm>
            <a:off x="0" y="0"/>
            <a:ext cx="109728" cy="1005840"/>
          </a:xfrm>
          <a:prstGeom prst="rect">
            <a:avLst/>
          </a:prstGeom>
          <a:solidFill>
            <a:srgbClr val="5AA8D8"/>
          </a:solidFill>
          <a:ln w="12700">
            <a:solidFill>
              <a:srgbClr val="5AA8D8"/>
            </a:solidFill>
            <a:prstDash val="solid"/>
          </a:ln>
        </p:spPr>
      </p:sp>
      <p:sp>
        <p:nvSpPr>
          <p:cNvPr id="4" name="Text 2"/>
          <p:cNvSpPr/>
          <p:nvPr/>
        </p:nvSpPr>
        <p:spPr>
          <a:xfrm>
            <a:off x="228600" y="73152"/>
            <a:ext cx="868680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Topología de Anillo (Ring)</a:t>
            </a:r>
            <a:endParaRPr lang="en-US" sz="2200" dirty="0"/>
          </a:p>
        </p:txBody>
      </p:sp>
      <p:sp>
        <p:nvSpPr>
          <p:cNvPr id="5" name="Text 3"/>
          <p:cNvSpPr/>
          <p:nvPr/>
        </p:nvSpPr>
        <p:spPr>
          <a:xfrm>
            <a:off x="228600" y="566928"/>
            <a:ext cx="8686800" cy="347472"/>
          </a:xfrm>
          <a:prstGeom prst="rect">
            <a:avLst/>
          </a:prstGeom>
          <a:noFill/>
          <a:ln/>
        </p:spPr>
        <p:txBody>
          <a:bodyPr wrap="square" rtlCol="0" anchor="ctr"/>
          <a:lstStyle/>
          <a:p>
            <a:pPr indent="0" marL="0">
              <a:buNone/>
            </a:pPr>
            <a:r>
              <a:rPr lang="en-US" sz="1100" i="1" dirty="0">
                <a:solidFill>
                  <a:srgbClr val="B9DEF8"/>
                </a:solidFill>
                <a:latin typeface="Arial" pitchFamily="34" charset="0"/>
                <a:ea typeface="Arial" pitchFamily="34" charset="-122"/>
                <a:cs typeface="Arial" pitchFamily="34" charset="-120"/>
              </a:rPr>
              <a:t>Transmisión activa en un solo sentido</a:t>
            </a:r>
            <a:endParaRPr lang="en-US" sz="1100" dirty="0"/>
          </a:p>
        </p:txBody>
      </p:sp>
      <p:sp>
        <p:nvSpPr>
          <p:cNvPr id="6" name="Shape 4"/>
          <p:cNvSpPr/>
          <p:nvPr/>
        </p:nvSpPr>
        <p:spPr>
          <a:xfrm>
            <a:off x="2286000" y="1773936"/>
            <a:ext cx="959416" cy="448056"/>
          </a:xfrm>
          <a:prstGeom prst="line">
            <a:avLst/>
          </a:prstGeom>
          <a:noFill/>
          <a:ln w="25400">
            <a:solidFill>
              <a:srgbClr val="3A7BAA"/>
            </a:solidFill>
            <a:prstDash val="solid"/>
          </a:ln>
        </p:spPr>
      </p:sp>
      <p:sp>
        <p:nvSpPr>
          <p:cNvPr id="7" name="Shape 5"/>
          <p:cNvSpPr/>
          <p:nvPr/>
        </p:nvSpPr>
        <p:spPr>
          <a:xfrm>
            <a:off x="2103120" y="1609344"/>
            <a:ext cx="347472" cy="274320"/>
          </a:xfrm>
          <a:prstGeom prst="roundRect">
            <a:avLst>
              <a:gd name="adj" fmla="val 13333"/>
            </a:avLst>
          </a:prstGeom>
          <a:solidFill>
            <a:srgbClr val="5AA8D8"/>
          </a:solidFill>
          <a:ln w="12700">
            <a:solidFill>
              <a:srgbClr val="3A7BAA"/>
            </a:solidFill>
            <a:prstDash val="solid"/>
          </a:ln>
        </p:spPr>
      </p:sp>
      <p:sp>
        <p:nvSpPr>
          <p:cNvPr id="8" name="Text 6"/>
          <p:cNvSpPr/>
          <p:nvPr/>
        </p:nvSpPr>
        <p:spPr>
          <a:xfrm>
            <a:off x="2103120" y="1627632"/>
            <a:ext cx="347472" cy="237744"/>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9" name="Shape 7"/>
          <p:cNvSpPr/>
          <p:nvPr/>
        </p:nvSpPr>
        <p:spPr>
          <a:xfrm>
            <a:off x="3236272" y="2212848"/>
            <a:ext cx="9144" cy="886968"/>
          </a:xfrm>
          <a:prstGeom prst="line">
            <a:avLst/>
          </a:prstGeom>
          <a:noFill/>
          <a:ln w="25400">
            <a:solidFill>
              <a:srgbClr val="3A7BAA"/>
            </a:solidFill>
            <a:prstDash val="solid"/>
          </a:ln>
        </p:spPr>
      </p:sp>
      <p:sp>
        <p:nvSpPr>
          <p:cNvPr id="10" name="Shape 8"/>
          <p:cNvSpPr/>
          <p:nvPr/>
        </p:nvSpPr>
        <p:spPr>
          <a:xfrm>
            <a:off x="3053392" y="2048256"/>
            <a:ext cx="347472" cy="274320"/>
          </a:xfrm>
          <a:prstGeom prst="roundRect">
            <a:avLst>
              <a:gd name="adj" fmla="val 13333"/>
            </a:avLst>
          </a:prstGeom>
          <a:solidFill>
            <a:srgbClr val="5AA8D8"/>
          </a:solidFill>
          <a:ln w="12700">
            <a:solidFill>
              <a:srgbClr val="3A7BAA"/>
            </a:solidFill>
            <a:prstDash val="solid"/>
          </a:ln>
        </p:spPr>
      </p:sp>
      <p:sp>
        <p:nvSpPr>
          <p:cNvPr id="11" name="Text 9"/>
          <p:cNvSpPr/>
          <p:nvPr/>
        </p:nvSpPr>
        <p:spPr>
          <a:xfrm>
            <a:off x="3053392" y="2066544"/>
            <a:ext cx="347472" cy="237744"/>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12" name="Shape 10"/>
          <p:cNvSpPr/>
          <p:nvPr/>
        </p:nvSpPr>
        <p:spPr>
          <a:xfrm>
            <a:off x="2286000" y="3090672"/>
            <a:ext cx="959416" cy="448056"/>
          </a:xfrm>
          <a:prstGeom prst="line">
            <a:avLst/>
          </a:prstGeom>
          <a:noFill/>
          <a:ln w="25400">
            <a:solidFill>
              <a:srgbClr val="3A7BAA"/>
            </a:solidFill>
            <a:prstDash val="solid"/>
          </a:ln>
        </p:spPr>
      </p:sp>
      <p:sp>
        <p:nvSpPr>
          <p:cNvPr id="13" name="Shape 11"/>
          <p:cNvSpPr/>
          <p:nvPr/>
        </p:nvSpPr>
        <p:spPr>
          <a:xfrm>
            <a:off x="3053392" y="2926080"/>
            <a:ext cx="347472" cy="274320"/>
          </a:xfrm>
          <a:prstGeom prst="roundRect">
            <a:avLst>
              <a:gd name="adj" fmla="val 13333"/>
            </a:avLst>
          </a:prstGeom>
          <a:solidFill>
            <a:srgbClr val="5AA8D8"/>
          </a:solidFill>
          <a:ln w="12700">
            <a:solidFill>
              <a:srgbClr val="3A7BAA"/>
            </a:solidFill>
            <a:prstDash val="solid"/>
          </a:ln>
        </p:spPr>
      </p:sp>
      <p:sp>
        <p:nvSpPr>
          <p:cNvPr id="14" name="Text 12"/>
          <p:cNvSpPr/>
          <p:nvPr/>
        </p:nvSpPr>
        <p:spPr>
          <a:xfrm>
            <a:off x="3053392" y="2944368"/>
            <a:ext cx="347472" cy="237744"/>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15" name="Shape 13"/>
          <p:cNvSpPr/>
          <p:nvPr/>
        </p:nvSpPr>
        <p:spPr>
          <a:xfrm>
            <a:off x="1335728" y="3090672"/>
            <a:ext cx="959416" cy="448056"/>
          </a:xfrm>
          <a:prstGeom prst="line">
            <a:avLst/>
          </a:prstGeom>
          <a:noFill/>
          <a:ln w="25400">
            <a:solidFill>
              <a:srgbClr val="3A7BAA"/>
            </a:solidFill>
            <a:prstDash val="solid"/>
          </a:ln>
        </p:spPr>
      </p:sp>
      <p:sp>
        <p:nvSpPr>
          <p:cNvPr id="16" name="Shape 14"/>
          <p:cNvSpPr/>
          <p:nvPr/>
        </p:nvSpPr>
        <p:spPr>
          <a:xfrm>
            <a:off x="2103120" y="3364992"/>
            <a:ext cx="347472" cy="274320"/>
          </a:xfrm>
          <a:prstGeom prst="roundRect">
            <a:avLst>
              <a:gd name="adj" fmla="val 13333"/>
            </a:avLst>
          </a:prstGeom>
          <a:solidFill>
            <a:srgbClr val="5AA8D8"/>
          </a:solidFill>
          <a:ln w="12700">
            <a:solidFill>
              <a:srgbClr val="3A7BAA"/>
            </a:solidFill>
            <a:prstDash val="solid"/>
          </a:ln>
        </p:spPr>
      </p:sp>
      <p:sp>
        <p:nvSpPr>
          <p:cNvPr id="17" name="Text 15"/>
          <p:cNvSpPr/>
          <p:nvPr/>
        </p:nvSpPr>
        <p:spPr>
          <a:xfrm>
            <a:off x="2103120" y="3383280"/>
            <a:ext cx="347472" cy="237744"/>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18" name="Shape 16"/>
          <p:cNvSpPr/>
          <p:nvPr/>
        </p:nvSpPr>
        <p:spPr>
          <a:xfrm>
            <a:off x="1335728" y="2212848"/>
            <a:ext cx="9144" cy="886968"/>
          </a:xfrm>
          <a:prstGeom prst="line">
            <a:avLst/>
          </a:prstGeom>
          <a:noFill/>
          <a:ln w="25400">
            <a:solidFill>
              <a:srgbClr val="3A7BAA"/>
            </a:solidFill>
            <a:prstDash val="solid"/>
          </a:ln>
        </p:spPr>
      </p:sp>
      <p:sp>
        <p:nvSpPr>
          <p:cNvPr id="19" name="Shape 17"/>
          <p:cNvSpPr/>
          <p:nvPr/>
        </p:nvSpPr>
        <p:spPr>
          <a:xfrm>
            <a:off x="1152848" y="2926080"/>
            <a:ext cx="347472" cy="274320"/>
          </a:xfrm>
          <a:prstGeom prst="roundRect">
            <a:avLst>
              <a:gd name="adj" fmla="val 13333"/>
            </a:avLst>
          </a:prstGeom>
          <a:solidFill>
            <a:srgbClr val="5AA8D8"/>
          </a:solidFill>
          <a:ln w="12700">
            <a:solidFill>
              <a:srgbClr val="3A7BAA"/>
            </a:solidFill>
            <a:prstDash val="solid"/>
          </a:ln>
        </p:spPr>
      </p:sp>
      <p:sp>
        <p:nvSpPr>
          <p:cNvPr id="20" name="Text 18"/>
          <p:cNvSpPr/>
          <p:nvPr/>
        </p:nvSpPr>
        <p:spPr>
          <a:xfrm>
            <a:off x="1152848" y="2944368"/>
            <a:ext cx="347472" cy="237744"/>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21" name="Shape 19"/>
          <p:cNvSpPr/>
          <p:nvPr/>
        </p:nvSpPr>
        <p:spPr>
          <a:xfrm>
            <a:off x="1335728" y="1773936"/>
            <a:ext cx="959416" cy="448056"/>
          </a:xfrm>
          <a:prstGeom prst="line">
            <a:avLst/>
          </a:prstGeom>
          <a:noFill/>
          <a:ln w="25400">
            <a:solidFill>
              <a:srgbClr val="3A7BAA"/>
            </a:solidFill>
            <a:prstDash val="solid"/>
          </a:ln>
        </p:spPr>
      </p:sp>
      <p:sp>
        <p:nvSpPr>
          <p:cNvPr id="22" name="Shape 20"/>
          <p:cNvSpPr/>
          <p:nvPr/>
        </p:nvSpPr>
        <p:spPr>
          <a:xfrm>
            <a:off x="1152848" y="2048256"/>
            <a:ext cx="347472" cy="274320"/>
          </a:xfrm>
          <a:prstGeom prst="roundRect">
            <a:avLst>
              <a:gd name="adj" fmla="val 13333"/>
            </a:avLst>
          </a:prstGeom>
          <a:solidFill>
            <a:srgbClr val="5AA8D8"/>
          </a:solidFill>
          <a:ln w="12700">
            <a:solidFill>
              <a:srgbClr val="3A7BAA"/>
            </a:solidFill>
            <a:prstDash val="solid"/>
          </a:ln>
        </p:spPr>
      </p:sp>
      <p:sp>
        <p:nvSpPr>
          <p:cNvPr id="23" name="Text 21"/>
          <p:cNvSpPr/>
          <p:nvPr/>
        </p:nvSpPr>
        <p:spPr>
          <a:xfrm>
            <a:off x="1152848" y="2066544"/>
            <a:ext cx="347472" cy="237744"/>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24" name="Text 22"/>
          <p:cNvSpPr/>
          <p:nvPr/>
        </p:nvSpPr>
        <p:spPr>
          <a:xfrm>
            <a:off x="2834640" y="2423160"/>
            <a:ext cx="365760" cy="365760"/>
          </a:xfrm>
          <a:prstGeom prst="rect">
            <a:avLst/>
          </a:prstGeom>
          <a:noFill/>
          <a:ln/>
        </p:spPr>
        <p:txBody>
          <a:bodyPr wrap="square" rtlCol="0" anchor="ctr"/>
          <a:lstStyle/>
          <a:p>
            <a:pPr indent="0" marL="0">
              <a:buNone/>
            </a:pPr>
            <a:r>
              <a:rPr lang="en-US" sz="1800" b="1" dirty="0">
                <a:solidFill>
                  <a:srgbClr val="F39C12"/>
                </a:solidFill>
              </a:rPr>
              <a:t>→</a:t>
            </a:r>
            <a:endParaRPr lang="en-US" sz="1800" dirty="0"/>
          </a:p>
        </p:txBody>
      </p:sp>
      <p:sp>
        <p:nvSpPr>
          <p:cNvPr id="25" name="Text 23"/>
          <p:cNvSpPr/>
          <p:nvPr/>
        </p:nvSpPr>
        <p:spPr>
          <a:xfrm>
            <a:off x="4572000" y="1143000"/>
            <a:ext cx="4389120" cy="3657600"/>
          </a:xfrm>
          <a:prstGeom prst="rect">
            <a:avLst/>
          </a:prstGeom>
          <a:noFill/>
          <a:ln/>
        </p:spPr>
        <p:txBody>
          <a:bodyPr wrap="square" rtlCol="0" anchor="t"/>
          <a:lstStyle/>
          <a:p>
            <a:pPr marL="342900" indent="-342900">
              <a:spcAft>
                <a:spcPts val="800"/>
              </a:spcAft>
              <a:buSzPct val="100000"/>
              <a:buChar char="•"/>
            </a:pPr>
            <a:r>
              <a:rPr lang="en-US" sz="1000" dirty="0">
                <a:solidFill>
                  <a:srgbClr val="404040"/>
                </a:solidFill>
                <a:latin typeface="Arial" pitchFamily="34" charset="0"/>
                <a:ea typeface="Arial" pitchFamily="34" charset="-122"/>
                <a:cs typeface="Arial" pitchFamily="34" charset="-120"/>
              </a:rPr>
              <a:t>Cada nodo conectado a OTROS DOS, bucle cerrado. Sin terminadores.</a:t>
            </a:r>
            <a:endParaRPr lang="en-US" sz="1000" dirty="0"/>
          </a:p>
          <a:p>
            <a:pPr marL="342900" indent="-342900">
              <a:spcAft>
                <a:spcPts val="800"/>
              </a:spcAft>
              <a:buSzPct val="100000"/>
              <a:buChar char="•"/>
            </a:pPr>
            <a:r>
              <a:rPr lang="en-US" sz="1000" dirty="0">
                <a:solidFill>
                  <a:srgbClr val="404040"/>
                </a:solidFill>
                <a:latin typeface="Arial" pitchFamily="34" charset="0"/>
                <a:ea typeface="Arial" pitchFamily="34" charset="-122"/>
                <a:cs typeface="Arial" pitchFamily="34" charset="-120"/>
              </a:rPr>
              <a:t>Tecnología ACTIVA: cada nodo retransmite la señal al siguiente.</a:t>
            </a:r>
            <a:endParaRPr lang="en-US" sz="1000" dirty="0"/>
          </a:p>
          <a:p>
            <a:pPr marL="342900" indent="-342900">
              <a:spcAft>
                <a:spcPts val="800"/>
              </a:spcAft>
              <a:buSzPct val="100000"/>
              <a:buChar char="•"/>
            </a:pPr>
            <a:r>
              <a:rPr lang="en-US" sz="1000" dirty="0">
                <a:solidFill>
                  <a:srgbClr val="404040"/>
                </a:solidFill>
                <a:latin typeface="Arial" pitchFamily="34" charset="0"/>
                <a:ea typeface="Arial" pitchFamily="34" charset="-122"/>
                <a:cs typeface="Arial" pitchFamily="34" charset="-120"/>
              </a:rPr>
              <a:t>Si un nodo falla → la red DEJA DE FUNCIONAR (diferencia con bus).</a:t>
            </a:r>
            <a:endParaRPr lang="en-US" sz="1000" dirty="0"/>
          </a:p>
          <a:p>
            <a:pPr marL="342900" indent="-342900">
              <a:spcAft>
                <a:spcPts val="800"/>
              </a:spcAft>
              <a:buSzPct val="100000"/>
              <a:buChar char="•"/>
            </a:pPr>
            <a:r>
              <a:rPr lang="en-US" sz="1000" dirty="0">
                <a:solidFill>
                  <a:srgbClr val="404040"/>
                </a:solidFill>
                <a:latin typeface="Arial" pitchFamily="34" charset="0"/>
                <a:ea typeface="Arial" pitchFamily="34" charset="-122"/>
                <a:cs typeface="Arial" pitchFamily="34" charset="-120"/>
              </a:rPr>
              <a:t>MAU: concentrador para anillo, actúa como HUB del ring.</a:t>
            </a:r>
            <a:endParaRPr lang="en-US" sz="1000" dirty="0"/>
          </a:p>
          <a:p>
            <a:pPr marL="342900" indent="-342900">
              <a:spcAft>
                <a:spcPts val="800"/>
              </a:spcAft>
              <a:buSzPct val="100000"/>
              <a:buChar char="•"/>
            </a:pPr>
            <a:r>
              <a:rPr lang="en-US" sz="1000" dirty="0">
                <a:solidFill>
                  <a:srgbClr val="404040"/>
                </a:solidFill>
                <a:latin typeface="Arial" pitchFamily="34" charset="0"/>
                <a:ea typeface="Arial" pitchFamily="34" charset="-122"/>
                <a:cs typeface="Arial" pitchFamily="34" charset="-120"/>
              </a:rPr>
              <a:t>Mayor orden y rendimiento estable al crecer la red.</a:t>
            </a:r>
            <a:endParaRPr lang="en-US" sz="1000" dirty="0"/>
          </a:p>
          <a:p>
            <a:pPr marL="342900" indent="-342900">
              <a:spcAft>
                <a:spcPts val="800"/>
              </a:spcAft>
              <a:buSzPct val="100000"/>
              <a:buChar char="•"/>
            </a:pPr>
            <a:r>
              <a:rPr lang="en-US" sz="1000" dirty="0">
                <a:solidFill>
                  <a:srgbClr val="404040"/>
                </a:solidFill>
                <a:latin typeface="Arial" pitchFamily="34" charset="0"/>
                <a:ea typeface="Arial" pitchFamily="34" charset="-122"/>
                <a:cs typeface="Arial" pitchFamily="34" charset="-120"/>
              </a:rPr>
              <a:t>Seguridad: cualquier nodo puede leer todas las tramas del anillo.</a:t>
            </a:r>
            <a:endParaRPr lang="en-US" sz="1000" dirty="0"/>
          </a:p>
        </p:txBody>
      </p:sp>
      <p:sp>
        <p:nvSpPr>
          <p:cNvPr id="26" name="Shape 24"/>
          <p:cNvSpPr/>
          <p:nvPr/>
        </p:nvSpPr>
        <p:spPr>
          <a:xfrm>
            <a:off x="0" y="4850892"/>
            <a:ext cx="9144000" cy="292608"/>
          </a:xfrm>
          <a:prstGeom prst="rect">
            <a:avLst/>
          </a:prstGeom>
          <a:solidFill>
            <a:srgbClr val="2D3030"/>
          </a:solidFill>
          <a:ln w="12700">
            <a:solidFill>
              <a:srgbClr val="2D3030"/>
            </a:solidFill>
            <a:prstDash val="solid"/>
          </a:ln>
        </p:spPr>
      </p:sp>
      <p:sp>
        <p:nvSpPr>
          <p:cNvPr id="27" name="Text 25"/>
          <p:cNvSpPr/>
          <p:nvPr/>
        </p:nvSpPr>
        <p:spPr>
          <a:xfrm>
            <a:off x="182880" y="4869180"/>
            <a:ext cx="5486400" cy="256032"/>
          </a:xfrm>
          <a:prstGeom prst="rect">
            <a:avLst/>
          </a:prstGeom>
          <a:noFill/>
          <a:ln/>
        </p:spPr>
        <p:txBody>
          <a:bodyPr wrap="square" rtlCol="0" anchor="ctr"/>
          <a:lstStyle/>
          <a:p>
            <a:pPr indent="0" marL="0">
              <a:buNone/>
            </a:pPr>
            <a:r>
              <a:rPr lang="en-US" sz="800" dirty="0">
                <a:solidFill>
                  <a:srgbClr val="808080"/>
                </a:solidFill>
                <a:latin typeface="Arial" pitchFamily="34" charset="0"/>
                <a:ea typeface="Arial" pitchFamily="34" charset="-122"/>
                <a:cs typeface="Arial" pitchFamily="34" charset="-120"/>
              </a:rPr>
              <a:t>SP5 · H1 · Topologías LAN</a:t>
            </a:r>
            <a:endParaRPr lang="en-US" sz="800" dirty="0"/>
          </a:p>
        </p:txBody>
      </p:sp>
      <p:sp>
        <p:nvSpPr>
          <p:cNvPr id="28" name="Text 26"/>
          <p:cNvSpPr/>
          <p:nvPr/>
        </p:nvSpPr>
        <p:spPr>
          <a:xfrm>
            <a:off x="6583680" y="4869180"/>
            <a:ext cx="2377440" cy="256032"/>
          </a:xfrm>
          <a:prstGeom prst="rect">
            <a:avLst/>
          </a:prstGeom>
          <a:noFill/>
          <a:ln/>
        </p:spPr>
        <p:txBody>
          <a:bodyPr wrap="square" rtlCol="0" anchor="ctr"/>
          <a:lstStyle/>
          <a:p>
            <a:pPr algn="r" indent="0" marL="0">
              <a:buNone/>
            </a:pPr>
            <a:r>
              <a:rPr lang="en-US" sz="800" dirty="0">
                <a:solidFill>
                  <a:srgbClr val="B9DEF8"/>
                </a:solidFill>
                <a:latin typeface="Arial" pitchFamily="34" charset="0"/>
                <a:ea typeface="Arial" pitchFamily="34" charset="-122"/>
                <a:cs typeface="Arial" pitchFamily="34" charset="-120"/>
              </a:rPr>
              <a:t>Topología Anillo</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12700">
            <a:solidFill>
              <a:srgbClr val="2D3030"/>
            </a:solidFill>
            <a:prstDash val="solid"/>
          </a:ln>
        </p:spPr>
      </p:sp>
      <p:sp>
        <p:nvSpPr>
          <p:cNvPr id="3" name="Shape 1"/>
          <p:cNvSpPr/>
          <p:nvPr/>
        </p:nvSpPr>
        <p:spPr>
          <a:xfrm>
            <a:off x="0" y="0"/>
            <a:ext cx="109728" cy="1005840"/>
          </a:xfrm>
          <a:prstGeom prst="rect">
            <a:avLst/>
          </a:prstGeom>
          <a:solidFill>
            <a:srgbClr val="5AA8D8"/>
          </a:solidFill>
          <a:ln w="12700">
            <a:solidFill>
              <a:srgbClr val="5AA8D8"/>
            </a:solidFill>
            <a:prstDash val="solid"/>
          </a:ln>
        </p:spPr>
      </p:sp>
      <p:sp>
        <p:nvSpPr>
          <p:cNvPr id="4" name="Text 2"/>
          <p:cNvSpPr/>
          <p:nvPr/>
        </p:nvSpPr>
        <p:spPr>
          <a:xfrm>
            <a:off x="228600" y="73152"/>
            <a:ext cx="868680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Comparación de Topologías Cableadas</a:t>
            </a:r>
            <a:endParaRPr lang="en-US" sz="2200" dirty="0"/>
          </a:p>
        </p:txBody>
      </p:sp>
      <p:sp>
        <p:nvSpPr>
          <p:cNvPr id="5" name="Text 3"/>
          <p:cNvSpPr/>
          <p:nvPr/>
        </p:nvSpPr>
        <p:spPr>
          <a:xfrm>
            <a:off x="228600" y="566928"/>
            <a:ext cx="8686800" cy="347472"/>
          </a:xfrm>
          <a:prstGeom prst="rect">
            <a:avLst/>
          </a:prstGeom>
          <a:noFill/>
          <a:ln/>
        </p:spPr>
        <p:txBody>
          <a:bodyPr wrap="square" rtlCol="0" anchor="ctr"/>
          <a:lstStyle/>
          <a:p>
            <a:pPr indent="0" marL="0">
              <a:buNone/>
            </a:pPr>
            <a:r>
              <a:rPr lang="en-US" sz="1100" i="1" dirty="0">
                <a:solidFill>
                  <a:srgbClr val="B9DEF8"/>
                </a:solidFill>
                <a:latin typeface="Arial" pitchFamily="34" charset="0"/>
                <a:ea typeface="Arial" pitchFamily="34" charset="-122"/>
                <a:cs typeface="Arial" pitchFamily="34" charset="-120"/>
              </a:rPr>
              <a:t>Bus vs Estrella vs Anillo</a:t>
            </a:r>
            <a:endParaRPr lang="en-US" sz="1100" dirty="0"/>
          </a:p>
        </p:txBody>
      </p:sp>
      <p:sp>
        <p:nvSpPr>
          <p:cNvPr id="6" name="Shape 4"/>
          <p:cNvSpPr/>
          <p:nvPr/>
        </p:nvSpPr>
        <p:spPr>
          <a:xfrm>
            <a:off x="320040" y="1078992"/>
            <a:ext cx="2560320" cy="347472"/>
          </a:xfrm>
          <a:prstGeom prst="rect">
            <a:avLst/>
          </a:prstGeom>
          <a:solidFill>
            <a:srgbClr val="2D3030"/>
          </a:solidFill>
          <a:ln w="12700">
            <a:solidFill>
              <a:srgbClr val="2D3030"/>
            </a:solidFill>
            <a:prstDash val="solid"/>
          </a:ln>
        </p:spPr>
      </p:sp>
      <p:sp>
        <p:nvSpPr>
          <p:cNvPr id="7" name="Text 5"/>
          <p:cNvSpPr/>
          <p:nvPr/>
        </p:nvSpPr>
        <p:spPr>
          <a:xfrm>
            <a:off x="365760" y="1078992"/>
            <a:ext cx="2468880" cy="347472"/>
          </a:xfrm>
          <a:prstGeom prst="rect">
            <a:avLst/>
          </a:prstGeom>
          <a:noFill/>
          <a:ln/>
        </p:spPr>
        <p:txBody>
          <a:bodyPr wrap="square" rtlCol="0" anchor="ctr"/>
          <a:lstStyle/>
          <a:p>
            <a:pPr algn="ctr" indent="0" marL="0">
              <a:buNone/>
            </a:pPr>
            <a:r>
              <a:rPr lang="en-US" sz="1000" b="1" dirty="0">
                <a:solidFill>
                  <a:srgbClr val="FFFFFF"/>
                </a:solidFill>
              </a:rPr>
              <a:t>Característica</a:t>
            </a:r>
            <a:endParaRPr lang="en-US" sz="1000" dirty="0"/>
          </a:p>
        </p:txBody>
      </p:sp>
      <p:sp>
        <p:nvSpPr>
          <p:cNvPr id="8" name="Shape 6"/>
          <p:cNvSpPr/>
          <p:nvPr/>
        </p:nvSpPr>
        <p:spPr>
          <a:xfrm>
            <a:off x="2880360" y="1078992"/>
            <a:ext cx="1920240" cy="347472"/>
          </a:xfrm>
          <a:prstGeom prst="rect">
            <a:avLst/>
          </a:prstGeom>
          <a:solidFill>
            <a:srgbClr val="2D3030"/>
          </a:solidFill>
          <a:ln w="12700">
            <a:solidFill>
              <a:srgbClr val="2D3030"/>
            </a:solidFill>
            <a:prstDash val="solid"/>
          </a:ln>
        </p:spPr>
      </p:sp>
      <p:sp>
        <p:nvSpPr>
          <p:cNvPr id="9" name="Text 7"/>
          <p:cNvSpPr/>
          <p:nvPr/>
        </p:nvSpPr>
        <p:spPr>
          <a:xfrm>
            <a:off x="2926080" y="1078992"/>
            <a:ext cx="1828800" cy="347472"/>
          </a:xfrm>
          <a:prstGeom prst="rect">
            <a:avLst/>
          </a:prstGeom>
          <a:noFill/>
          <a:ln/>
        </p:spPr>
        <p:txBody>
          <a:bodyPr wrap="square" rtlCol="0" anchor="ctr"/>
          <a:lstStyle/>
          <a:p>
            <a:pPr algn="ctr" indent="0" marL="0">
              <a:buNone/>
            </a:pPr>
            <a:r>
              <a:rPr lang="en-US" sz="1000" b="1" dirty="0">
                <a:solidFill>
                  <a:srgbClr val="FFFFFF"/>
                </a:solidFill>
              </a:rPr>
              <a:t>Bus</a:t>
            </a:r>
            <a:endParaRPr lang="en-US" sz="1000" dirty="0"/>
          </a:p>
        </p:txBody>
      </p:sp>
      <p:sp>
        <p:nvSpPr>
          <p:cNvPr id="10" name="Shape 8"/>
          <p:cNvSpPr/>
          <p:nvPr/>
        </p:nvSpPr>
        <p:spPr>
          <a:xfrm>
            <a:off x="4800600" y="1078992"/>
            <a:ext cx="1920240" cy="347472"/>
          </a:xfrm>
          <a:prstGeom prst="rect">
            <a:avLst/>
          </a:prstGeom>
          <a:solidFill>
            <a:srgbClr val="2D3030"/>
          </a:solidFill>
          <a:ln w="12700">
            <a:solidFill>
              <a:srgbClr val="2D3030"/>
            </a:solidFill>
            <a:prstDash val="solid"/>
          </a:ln>
        </p:spPr>
      </p:sp>
      <p:sp>
        <p:nvSpPr>
          <p:cNvPr id="11" name="Text 9"/>
          <p:cNvSpPr/>
          <p:nvPr/>
        </p:nvSpPr>
        <p:spPr>
          <a:xfrm>
            <a:off x="4846320" y="1078992"/>
            <a:ext cx="1828800" cy="347472"/>
          </a:xfrm>
          <a:prstGeom prst="rect">
            <a:avLst/>
          </a:prstGeom>
          <a:noFill/>
          <a:ln/>
        </p:spPr>
        <p:txBody>
          <a:bodyPr wrap="square" rtlCol="0" anchor="ctr"/>
          <a:lstStyle/>
          <a:p>
            <a:pPr algn="ctr" indent="0" marL="0">
              <a:buNone/>
            </a:pPr>
            <a:r>
              <a:rPr lang="en-US" sz="1000" b="1" dirty="0">
                <a:solidFill>
                  <a:srgbClr val="FFFFFF"/>
                </a:solidFill>
              </a:rPr>
              <a:t>Estrella</a:t>
            </a:r>
            <a:endParaRPr lang="en-US" sz="1000" dirty="0"/>
          </a:p>
        </p:txBody>
      </p:sp>
      <p:sp>
        <p:nvSpPr>
          <p:cNvPr id="12" name="Shape 10"/>
          <p:cNvSpPr/>
          <p:nvPr/>
        </p:nvSpPr>
        <p:spPr>
          <a:xfrm>
            <a:off x="6720840" y="1078992"/>
            <a:ext cx="1920240" cy="347472"/>
          </a:xfrm>
          <a:prstGeom prst="rect">
            <a:avLst/>
          </a:prstGeom>
          <a:solidFill>
            <a:srgbClr val="2D3030"/>
          </a:solidFill>
          <a:ln w="12700">
            <a:solidFill>
              <a:srgbClr val="2D3030"/>
            </a:solidFill>
            <a:prstDash val="solid"/>
          </a:ln>
        </p:spPr>
      </p:sp>
      <p:sp>
        <p:nvSpPr>
          <p:cNvPr id="13" name="Text 11"/>
          <p:cNvSpPr/>
          <p:nvPr/>
        </p:nvSpPr>
        <p:spPr>
          <a:xfrm>
            <a:off x="6766560" y="1078992"/>
            <a:ext cx="1828800" cy="347472"/>
          </a:xfrm>
          <a:prstGeom prst="rect">
            <a:avLst/>
          </a:prstGeom>
          <a:noFill/>
          <a:ln/>
        </p:spPr>
        <p:txBody>
          <a:bodyPr wrap="square" rtlCol="0" anchor="ctr"/>
          <a:lstStyle/>
          <a:p>
            <a:pPr algn="ctr" indent="0" marL="0">
              <a:buNone/>
            </a:pPr>
            <a:r>
              <a:rPr lang="en-US" sz="1000" b="1" dirty="0">
                <a:solidFill>
                  <a:srgbClr val="FFFFFF"/>
                </a:solidFill>
              </a:rPr>
              <a:t>Anillo</a:t>
            </a:r>
            <a:endParaRPr lang="en-US" sz="1000" dirty="0"/>
          </a:p>
        </p:txBody>
      </p:sp>
      <p:sp>
        <p:nvSpPr>
          <p:cNvPr id="14" name="Shape 12"/>
          <p:cNvSpPr/>
          <p:nvPr/>
        </p:nvSpPr>
        <p:spPr>
          <a:xfrm>
            <a:off x="320040" y="1426464"/>
            <a:ext cx="2560320" cy="338328"/>
          </a:xfrm>
          <a:prstGeom prst="rect">
            <a:avLst/>
          </a:prstGeom>
          <a:solidFill>
            <a:srgbClr val="D5EAF7"/>
          </a:solidFill>
          <a:ln w="6350">
            <a:solidFill>
              <a:srgbClr val="C5D9E8"/>
            </a:solidFill>
            <a:prstDash val="solid"/>
          </a:ln>
        </p:spPr>
      </p:sp>
      <p:sp>
        <p:nvSpPr>
          <p:cNvPr id="15" name="Text 13"/>
          <p:cNvSpPr/>
          <p:nvPr/>
        </p:nvSpPr>
        <p:spPr>
          <a:xfrm>
            <a:off x="374904" y="1426464"/>
            <a:ext cx="2450592" cy="338328"/>
          </a:xfrm>
          <a:prstGeom prst="rect">
            <a:avLst/>
          </a:prstGeom>
          <a:noFill/>
          <a:ln/>
        </p:spPr>
        <p:txBody>
          <a:bodyPr wrap="square" rtlCol="0" anchor="ctr"/>
          <a:lstStyle/>
          <a:p>
            <a:pPr algn="l" indent="0" marL="0">
              <a:buNone/>
            </a:pPr>
            <a:r>
              <a:rPr lang="en-US" sz="950" dirty="0">
                <a:solidFill>
                  <a:srgbClr val="2D3030"/>
                </a:solidFill>
              </a:rPr>
              <a:t>Conexión</a:t>
            </a:r>
            <a:endParaRPr lang="en-US" sz="950" dirty="0"/>
          </a:p>
        </p:txBody>
      </p:sp>
      <p:sp>
        <p:nvSpPr>
          <p:cNvPr id="16" name="Shape 14"/>
          <p:cNvSpPr/>
          <p:nvPr/>
        </p:nvSpPr>
        <p:spPr>
          <a:xfrm>
            <a:off x="2880360" y="1426464"/>
            <a:ext cx="1920240" cy="338328"/>
          </a:xfrm>
          <a:prstGeom prst="rect">
            <a:avLst/>
          </a:prstGeom>
          <a:solidFill>
            <a:srgbClr val="EAF4FB"/>
          </a:solidFill>
          <a:ln w="6350">
            <a:solidFill>
              <a:srgbClr val="C5D9E8"/>
            </a:solidFill>
            <a:prstDash val="solid"/>
          </a:ln>
        </p:spPr>
      </p:sp>
      <p:sp>
        <p:nvSpPr>
          <p:cNvPr id="17" name="Text 15"/>
          <p:cNvSpPr/>
          <p:nvPr/>
        </p:nvSpPr>
        <p:spPr>
          <a:xfrm>
            <a:off x="2935224" y="1426464"/>
            <a:ext cx="1810512" cy="338328"/>
          </a:xfrm>
          <a:prstGeom prst="rect">
            <a:avLst/>
          </a:prstGeom>
          <a:noFill/>
          <a:ln/>
        </p:spPr>
        <p:txBody>
          <a:bodyPr wrap="square" rtlCol="0" anchor="ctr"/>
          <a:lstStyle/>
          <a:p>
            <a:pPr algn="ctr" indent="0" marL="0">
              <a:buNone/>
            </a:pPr>
            <a:r>
              <a:rPr lang="en-US" sz="950" dirty="0">
                <a:solidFill>
                  <a:srgbClr val="2D3030"/>
                </a:solidFill>
              </a:rPr>
              <a:t>Todos al backbone</a:t>
            </a:r>
            <a:endParaRPr lang="en-US" sz="950" dirty="0"/>
          </a:p>
        </p:txBody>
      </p:sp>
      <p:sp>
        <p:nvSpPr>
          <p:cNvPr id="18" name="Shape 16"/>
          <p:cNvSpPr/>
          <p:nvPr/>
        </p:nvSpPr>
        <p:spPr>
          <a:xfrm>
            <a:off x="4800600" y="1426464"/>
            <a:ext cx="1920240" cy="338328"/>
          </a:xfrm>
          <a:prstGeom prst="rect">
            <a:avLst/>
          </a:prstGeom>
          <a:solidFill>
            <a:srgbClr val="EAF4FB"/>
          </a:solidFill>
          <a:ln w="6350">
            <a:solidFill>
              <a:srgbClr val="C5D9E8"/>
            </a:solidFill>
            <a:prstDash val="solid"/>
          </a:ln>
        </p:spPr>
      </p:sp>
      <p:sp>
        <p:nvSpPr>
          <p:cNvPr id="19" name="Text 17"/>
          <p:cNvSpPr/>
          <p:nvPr/>
        </p:nvSpPr>
        <p:spPr>
          <a:xfrm>
            <a:off x="4855464" y="1426464"/>
            <a:ext cx="1810512" cy="338328"/>
          </a:xfrm>
          <a:prstGeom prst="rect">
            <a:avLst/>
          </a:prstGeom>
          <a:noFill/>
          <a:ln/>
        </p:spPr>
        <p:txBody>
          <a:bodyPr wrap="square" rtlCol="0" anchor="ctr"/>
          <a:lstStyle/>
          <a:p>
            <a:pPr algn="ctr" indent="0" marL="0">
              <a:buNone/>
            </a:pPr>
            <a:r>
              <a:rPr lang="en-US" sz="950" dirty="0">
                <a:solidFill>
                  <a:srgbClr val="2D3030"/>
                </a:solidFill>
              </a:rPr>
              <a:t>Cada uno al Hub/SW</a:t>
            </a:r>
            <a:endParaRPr lang="en-US" sz="950" dirty="0"/>
          </a:p>
        </p:txBody>
      </p:sp>
      <p:sp>
        <p:nvSpPr>
          <p:cNvPr id="20" name="Shape 18"/>
          <p:cNvSpPr/>
          <p:nvPr/>
        </p:nvSpPr>
        <p:spPr>
          <a:xfrm>
            <a:off x="6720840" y="1426464"/>
            <a:ext cx="1920240" cy="338328"/>
          </a:xfrm>
          <a:prstGeom prst="rect">
            <a:avLst/>
          </a:prstGeom>
          <a:solidFill>
            <a:srgbClr val="EAF4FB"/>
          </a:solidFill>
          <a:ln w="6350">
            <a:solidFill>
              <a:srgbClr val="C5D9E8"/>
            </a:solidFill>
            <a:prstDash val="solid"/>
          </a:ln>
        </p:spPr>
      </p:sp>
      <p:sp>
        <p:nvSpPr>
          <p:cNvPr id="21" name="Text 19"/>
          <p:cNvSpPr/>
          <p:nvPr/>
        </p:nvSpPr>
        <p:spPr>
          <a:xfrm>
            <a:off x="6775704" y="1426464"/>
            <a:ext cx="1810512" cy="338328"/>
          </a:xfrm>
          <a:prstGeom prst="rect">
            <a:avLst/>
          </a:prstGeom>
          <a:noFill/>
          <a:ln/>
        </p:spPr>
        <p:txBody>
          <a:bodyPr wrap="square" rtlCol="0" anchor="ctr"/>
          <a:lstStyle/>
          <a:p>
            <a:pPr algn="ctr" indent="0" marL="0">
              <a:buNone/>
            </a:pPr>
            <a:r>
              <a:rPr lang="en-US" sz="950" dirty="0">
                <a:solidFill>
                  <a:srgbClr val="2D3030"/>
                </a:solidFill>
              </a:rPr>
              <a:t>Nodo a nodo (bucle)</a:t>
            </a:r>
            <a:endParaRPr lang="en-US" sz="950" dirty="0"/>
          </a:p>
        </p:txBody>
      </p:sp>
      <p:sp>
        <p:nvSpPr>
          <p:cNvPr id="22" name="Shape 20"/>
          <p:cNvSpPr/>
          <p:nvPr/>
        </p:nvSpPr>
        <p:spPr>
          <a:xfrm>
            <a:off x="320040" y="1764792"/>
            <a:ext cx="2560320" cy="338328"/>
          </a:xfrm>
          <a:prstGeom prst="rect">
            <a:avLst/>
          </a:prstGeom>
          <a:solidFill>
            <a:srgbClr val="D5EAF7"/>
          </a:solidFill>
          <a:ln w="6350">
            <a:solidFill>
              <a:srgbClr val="C5D9E8"/>
            </a:solidFill>
            <a:prstDash val="solid"/>
          </a:ln>
        </p:spPr>
      </p:sp>
      <p:sp>
        <p:nvSpPr>
          <p:cNvPr id="23" name="Text 21"/>
          <p:cNvSpPr/>
          <p:nvPr/>
        </p:nvSpPr>
        <p:spPr>
          <a:xfrm>
            <a:off x="374904" y="1764792"/>
            <a:ext cx="2450592" cy="338328"/>
          </a:xfrm>
          <a:prstGeom prst="rect">
            <a:avLst/>
          </a:prstGeom>
          <a:noFill/>
          <a:ln/>
        </p:spPr>
        <p:txBody>
          <a:bodyPr wrap="square" rtlCol="0" anchor="ctr"/>
          <a:lstStyle/>
          <a:p>
            <a:pPr algn="l" indent="0" marL="0">
              <a:buNone/>
            </a:pPr>
            <a:r>
              <a:rPr lang="en-US" sz="950" dirty="0">
                <a:solidFill>
                  <a:srgbClr val="2D3030"/>
                </a:solidFill>
              </a:rPr>
              <a:t>Dispositivo</a:t>
            </a:r>
            <a:endParaRPr lang="en-US" sz="950" dirty="0"/>
          </a:p>
        </p:txBody>
      </p:sp>
      <p:sp>
        <p:nvSpPr>
          <p:cNvPr id="24" name="Shape 22"/>
          <p:cNvSpPr/>
          <p:nvPr/>
        </p:nvSpPr>
        <p:spPr>
          <a:xfrm>
            <a:off x="2880360" y="1764792"/>
            <a:ext cx="1920240" cy="338328"/>
          </a:xfrm>
          <a:prstGeom prst="rect">
            <a:avLst/>
          </a:prstGeom>
          <a:solidFill>
            <a:srgbClr val="FFFFFF"/>
          </a:solidFill>
          <a:ln w="6350">
            <a:solidFill>
              <a:srgbClr val="C5D9E8"/>
            </a:solidFill>
            <a:prstDash val="solid"/>
          </a:ln>
        </p:spPr>
      </p:sp>
      <p:sp>
        <p:nvSpPr>
          <p:cNvPr id="25" name="Text 23"/>
          <p:cNvSpPr/>
          <p:nvPr/>
        </p:nvSpPr>
        <p:spPr>
          <a:xfrm>
            <a:off x="2935224" y="1764792"/>
            <a:ext cx="1810512" cy="338328"/>
          </a:xfrm>
          <a:prstGeom prst="rect">
            <a:avLst/>
          </a:prstGeom>
          <a:noFill/>
          <a:ln/>
        </p:spPr>
        <p:txBody>
          <a:bodyPr wrap="square" rtlCol="0" anchor="ctr"/>
          <a:lstStyle/>
          <a:p>
            <a:pPr algn="ctr" indent="0" marL="0">
              <a:buNone/>
            </a:pPr>
            <a:r>
              <a:rPr lang="en-US" sz="950" dirty="0">
                <a:solidFill>
                  <a:srgbClr val="2D3030"/>
                </a:solidFill>
              </a:rPr>
              <a:t>Terminadores</a:t>
            </a:r>
            <a:endParaRPr lang="en-US" sz="950" dirty="0"/>
          </a:p>
        </p:txBody>
      </p:sp>
      <p:sp>
        <p:nvSpPr>
          <p:cNvPr id="26" name="Shape 24"/>
          <p:cNvSpPr/>
          <p:nvPr/>
        </p:nvSpPr>
        <p:spPr>
          <a:xfrm>
            <a:off x="4800600" y="1764792"/>
            <a:ext cx="1920240" cy="338328"/>
          </a:xfrm>
          <a:prstGeom prst="rect">
            <a:avLst/>
          </a:prstGeom>
          <a:solidFill>
            <a:srgbClr val="FFFFFF"/>
          </a:solidFill>
          <a:ln w="6350">
            <a:solidFill>
              <a:srgbClr val="C5D9E8"/>
            </a:solidFill>
            <a:prstDash val="solid"/>
          </a:ln>
        </p:spPr>
      </p:sp>
      <p:sp>
        <p:nvSpPr>
          <p:cNvPr id="27" name="Text 25"/>
          <p:cNvSpPr/>
          <p:nvPr/>
        </p:nvSpPr>
        <p:spPr>
          <a:xfrm>
            <a:off x="4855464" y="1764792"/>
            <a:ext cx="1810512" cy="338328"/>
          </a:xfrm>
          <a:prstGeom prst="rect">
            <a:avLst/>
          </a:prstGeom>
          <a:noFill/>
          <a:ln/>
        </p:spPr>
        <p:txBody>
          <a:bodyPr wrap="square" rtlCol="0" anchor="ctr"/>
          <a:lstStyle/>
          <a:p>
            <a:pPr algn="ctr" indent="0" marL="0">
              <a:buNone/>
            </a:pPr>
            <a:r>
              <a:rPr lang="en-US" sz="950" dirty="0">
                <a:solidFill>
                  <a:srgbClr val="2D3030"/>
                </a:solidFill>
              </a:rPr>
              <a:t>Hub / Switch</a:t>
            </a:r>
            <a:endParaRPr lang="en-US" sz="950" dirty="0"/>
          </a:p>
        </p:txBody>
      </p:sp>
      <p:sp>
        <p:nvSpPr>
          <p:cNvPr id="28" name="Shape 26"/>
          <p:cNvSpPr/>
          <p:nvPr/>
        </p:nvSpPr>
        <p:spPr>
          <a:xfrm>
            <a:off x="6720840" y="1764792"/>
            <a:ext cx="1920240" cy="338328"/>
          </a:xfrm>
          <a:prstGeom prst="rect">
            <a:avLst/>
          </a:prstGeom>
          <a:solidFill>
            <a:srgbClr val="FFFFFF"/>
          </a:solidFill>
          <a:ln w="6350">
            <a:solidFill>
              <a:srgbClr val="C5D9E8"/>
            </a:solidFill>
            <a:prstDash val="solid"/>
          </a:ln>
        </p:spPr>
      </p:sp>
      <p:sp>
        <p:nvSpPr>
          <p:cNvPr id="29" name="Text 27"/>
          <p:cNvSpPr/>
          <p:nvPr/>
        </p:nvSpPr>
        <p:spPr>
          <a:xfrm>
            <a:off x="6775704" y="1764792"/>
            <a:ext cx="1810512" cy="338328"/>
          </a:xfrm>
          <a:prstGeom prst="rect">
            <a:avLst/>
          </a:prstGeom>
          <a:noFill/>
          <a:ln/>
        </p:spPr>
        <p:txBody>
          <a:bodyPr wrap="square" rtlCol="0" anchor="ctr"/>
          <a:lstStyle/>
          <a:p>
            <a:pPr algn="ctr" indent="0" marL="0">
              <a:buNone/>
            </a:pPr>
            <a:r>
              <a:rPr lang="en-US" sz="950" dirty="0">
                <a:solidFill>
                  <a:srgbClr val="2D3030"/>
                </a:solidFill>
              </a:rPr>
              <a:t>MAU</a:t>
            </a:r>
            <a:endParaRPr lang="en-US" sz="950" dirty="0"/>
          </a:p>
        </p:txBody>
      </p:sp>
      <p:sp>
        <p:nvSpPr>
          <p:cNvPr id="30" name="Shape 28"/>
          <p:cNvSpPr/>
          <p:nvPr/>
        </p:nvSpPr>
        <p:spPr>
          <a:xfrm>
            <a:off x="320040" y="2103120"/>
            <a:ext cx="2560320" cy="338328"/>
          </a:xfrm>
          <a:prstGeom prst="rect">
            <a:avLst/>
          </a:prstGeom>
          <a:solidFill>
            <a:srgbClr val="D5EAF7"/>
          </a:solidFill>
          <a:ln w="6350">
            <a:solidFill>
              <a:srgbClr val="C5D9E8"/>
            </a:solidFill>
            <a:prstDash val="solid"/>
          </a:ln>
        </p:spPr>
      </p:sp>
      <p:sp>
        <p:nvSpPr>
          <p:cNvPr id="31" name="Text 29"/>
          <p:cNvSpPr/>
          <p:nvPr/>
        </p:nvSpPr>
        <p:spPr>
          <a:xfrm>
            <a:off x="374904" y="2103120"/>
            <a:ext cx="2450592" cy="338328"/>
          </a:xfrm>
          <a:prstGeom prst="rect">
            <a:avLst/>
          </a:prstGeom>
          <a:noFill/>
          <a:ln/>
        </p:spPr>
        <p:txBody>
          <a:bodyPr wrap="square" rtlCol="0" anchor="ctr"/>
          <a:lstStyle/>
          <a:p>
            <a:pPr algn="l" indent="0" marL="0">
              <a:buNone/>
            </a:pPr>
            <a:r>
              <a:rPr lang="en-US" sz="950" dirty="0">
                <a:solidFill>
                  <a:srgbClr val="2D3030"/>
                </a:solidFill>
              </a:rPr>
              <a:t>Tipo</a:t>
            </a:r>
            <a:endParaRPr lang="en-US" sz="950" dirty="0"/>
          </a:p>
        </p:txBody>
      </p:sp>
      <p:sp>
        <p:nvSpPr>
          <p:cNvPr id="32" name="Shape 30"/>
          <p:cNvSpPr/>
          <p:nvPr/>
        </p:nvSpPr>
        <p:spPr>
          <a:xfrm>
            <a:off x="2880360" y="2103120"/>
            <a:ext cx="1920240" cy="338328"/>
          </a:xfrm>
          <a:prstGeom prst="rect">
            <a:avLst/>
          </a:prstGeom>
          <a:solidFill>
            <a:srgbClr val="EAF4FB"/>
          </a:solidFill>
          <a:ln w="6350">
            <a:solidFill>
              <a:srgbClr val="C5D9E8"/>
            </a:solidFill>
            <a:prstDash val="solid"/>
          </a:ln>
        </p:spPr>
      </p:sp>
      <p:sp>
        <p:nvSpPr>
          <p:cNvPr id="33" name="Text 31"/>
          <p:cNvSpPr/>
          <p:nvPr/>
        </p:nvSpPr>
        <p:spPr>
          <a:xfrm>
            <a:off x="2935224" y="2103120"/>
            <a:ext cx="1810512" cy="338328"/>
          </a:xfrm>
          <a:prstGeom prst="rect">
            <a:avLst/>
          </a:prstGeom>
          <a:noFill/>
          <a:ln/>
        </p:spPr>
        <p:txBody>
          <a:bodyPr wrap="square" rtlCol="0" anchor="ctr"/>
          <a:lstStyle/>
          <a:p>
            <a:pPr algn="ctr" indent="0" marL="0">
              <a:buNone/>
            </a:pPr>
            <a:r>
              <a:rPr lang="en-US" sz="950" dirty="0">
                <a:solidFill>
                  <a:srgbClr val="2D3030"/>
                </a:solidFill>
              </a:rPr>
              <a:t>Pasiva</a:t>
            </a:r>
            <a:endParaRPr lang="en-US" sz="950" dirty="0"/>
          </a:p>
        </p:txBody>
      </p:sp>
      <p:sp>
        <p:nvSpPr>
          <p:cNvPr id="34" name="Shape 32"/>
          <p:cNvSpPr/>
          <p:nvPr/>
        </p:nvSpPr>
        <p:spPr>
          <a:xfrm>
            <a:off x="4800600" y="2103120"/>
            <a:ext cx="1920240" cy="338328"/>
          </a:xfrm>
          <a:prstGeom prst="rect">
            <a:avLst/>
          </a:prstGeom>
          <a:solidFill>
            <a:srgbClr val="EAF4FB"/>
          </a:solidFill>
          <a:ln w="6350">
            <a:solidFill>
              <a:srgbClr val="C5D9E8"/>
            </a:solidFill>
            <a:prstDash val="solid"/>
          </a:ln>
        </p:spPr>
      </p:sp>
      <p:sp>
        <p:nvSpPr>
          <p:cNvPr id="35" name="Text 33"/>
          <p:cNvSpPr/>
          <p:nvPr/>
        </p:nvSpPr>
        <p:spPr>
          <a:xfrm>
            <a:off x="4855464" y="2103120"/>
            <a:ext cx="1810512" cy="338328"/>
          </a:xfrm>
          <a:prstGeom prst="rect">
            <a:avLst/>
          </a:prstGeom>
          <a:noFill/>
          <a:ln/>
        </p:spPr>
        <p:txBody>
          <a:bodyPr wrap="square" rtlCol="0" anchor="ctr"/>
          <a:lstStyle/>
          <a:p>
            <a:pPr algn="ctr" indent="0" marL="0">
              <a:buNone/>
            </a:pPr>
            <a:r>
              <a:rPr lang="en-US" sz="950" dirty="0">
                <a:solidFill>
                  <a:srgbClr val="2D3030"/>
                </a:solidFill>
              </a:rPr>
              <a:t>Pasiva (Hub)</a:t>
            </a:r>
            <a:endParaRPr lang="en-US" sz="950" dirty="0"/>
          </a:p>
        </p:txBody>
      </p:sp>
      <p:sp>
        <p:nvSpPr>
          <p:cNvPr id="36" name="Shape 34"/>
          <p:cNvSpPr/>
          <p:nvPr/>
        </p:nvSpPr>
        <p:spPr>
          <a:xfrm>
            <a:off x="6720840" y="2103120"/>
            <a:ext cx="1920240" cy="338328"/>
          </a:xfrm>
          <a:prstGeom prst="rect">
            <a:avLst/>
          </a:prstGeom>
          <a:solidFill>
            <a:srgbClr val="EAF4FB"/>
          </a:solidFill>
          <a:ln w="6350">
            <a:solidFill>
              <a:srgbClr val="C5D9E8"/>
            </a:solidFill>
            <a:prstDash val="solid"/>
          </a:ln>
        </p:spPr>
      </p:sp>
      <p:sp>
        <p:nvSpPr>
          <p:cNvPr id="37" name="Text 35"/>
          <p:cNvSpPr/>
          <p:nvPr/>
        </p:nvSpPr>
        <p:spPr>
          <a:xfrm>
            <a:off x="6775704" y="2103120"/>
            <a:ext cx="1810512" cy="338328"/>
          </a:xfrm>
          <a:prstGeom prst="rect">
            <a:avLst/>
          </a:prstGeom>
          <a:noFill/>
          <a:ln/>
        </p:spPr>
        <p:txBody>
          <a:bodyPr wrap="square" rtlCol="0" anchor="ctr"/>
          <a:lstStyle/>
          <a:p>
            <a:pPr algn="ctr" indent="0" marL="0">
              <a:buNone/>
            </a:pPr>
            <a:r>
              <a:rPr lang="en-US" sz="950" dirty="0">
                <a:solidFill>
                  <a:srgbClr val="2D3030"/>
                </a:solidFill>
              </a:rPr>
              <a:t>Activa</a:t>
            </a:r>
            <a:endParaRPr lang="en-US" sz="950" dirty="0"/>
          </a:p>
        </p:txBody>
      </p:sp>
      <p:sp>
        <p:nvSpPr>
          <p:cNvPr id="38" name="Shape 36"/>
          <p:cNvSpPr/>
          <p:nvPr/>
        </p:nvSpPr>
        <p:spPr>
          <a:xfrm>
            <a:off x="320040" y="2441448"/>
            <a:ext cx="2560320" cy="338328"/>
          </a:xfrm>
          <a:prstGeom prst="rect">
            <a:avLst/>
          </a:prstGeom>
          <a:solidFill>
            <a:srgbClr val="D5EAF7"/>
          </a:solidFill>
          <a:ln w="6350">
            <a:solidFill>
              <a:srgbClr val="C5D9E8"/>
            </a:solidFill>
            <a:prstDash val="solid"/>
          </a:ln>
        </p:spPr>
      </p:sp>
      <p:sp>
        <p:nvSpPr>
          <p:cNvPr id="39" name="Text 37"/>
          <p:cNvSpPr/>
          <p:nvPr/>
        </p:nvSpPr>
        <p:spPr>
          <a:xfrm>
            <a:off x="374904" y="2441448"/>
            <a:ext cx="2450592" cy="338328"/>
          </a:xfrm>
          <a:prstGeom prst="rect">
            <a:avLst/>
          </a:prstGeom>
          <a:noFill/>
          <a:ln/>
        </p:spPr>
        <p:txBody>
          <a:bodyPr wrap="square" rtlCol="0" anchor="ctr"/>
          <a:lstStyle/>
          <a:p>
            <a:pPr algn="l" indent="0" marL="0">
              <a:buNone/>
            </a:pPr>
            <a:r>
              <a:rPr lang="en-US" sz="950" dirty="0">
                <a:solidFill>
                  <a:srgbClr val="2D3030"/>
                </a:solidFill>
              </a:rPr>
              <a:t>Fallo de nodo</a:t>
            </a:r>
            <a:endParaRPr lang="en-US" sz="950" dirty="0"/>
          </a:p>
        </p:txBody>
      </p:sp>
      <p:sp>
        <p:nvSpPr>
          <p:cNvPr id="40" name="Shape 38"/>
          <p:cNvSpPr/>
          <p:nvPr/>
        </p:nvSpPr>
        <p:spPr>
          <a:xfrm>
            <a:off x="2880360" y="2441448"/>
            <a:ext cx="1920240" cy="338328"/>
          </a:xfrm>
          <a:prstGeom prst="rect">
            <a:avLst/>
          </a:prstGeom>
          <a:solidFill>
            <a:srgbClr val="FFFFFF"/>
          </a:solidFill>
          <a:ln w="6350">
            <a:solidFill>
              <a:srgbClr val="C5D9E8"/>
            </a:solidFill>
            <a:prstDash val="solid"/>
          </a:ln>
        </p:spPr>
      </p:sp>
      <p:sp>
        <p:nvSpPr>
          <p:cNvPr id="41" name="Text 39"/>
          <p:cNvSpPr/>
          <p:nvPr/>
        </p:nvSpPr>
        <p:spPr>
          <a:xfrm>
            <a:off x="2935224" y="2441448"/>
            <a:ext cx="1810512" cy="338328"/>
          </a:xfrm>
          <a:prstGeom prst="rect">
            <a:avLst/>
          </a:prstGeom>
          <a:noFill/>
          <a:ln/>
        </p:spPr>
        <p:txBody>
          <a:bodyPr wrap="square" rtlCol="0" anchor="ctr"/>
          <a:lstStyle/>
          <a:p>
            <a:pPr algn="ctr" indent="0" marL="0">
              <a:buNone/>
            </a:pPr>
            <a:r>
              <a:rPr lang="en-US" sz="950" b="1" dirty="0">
                <a:solidFill>
                  <a:srgbClr val="1A7A3A"/>
                </a:solidFill>
              </a:rPr>
              <a:t>Red sigue</a:t>
            </a:r>
            <a:endParaRPr lang="en-US" sz="950" dirty="0"/>
          </a:p>
        </p:txBody>
      </p:sp>
      <p:sp>
        <p:nvSpPr>
          <p:cNvPr id="42" name="Shape 40"/>
          <p:cNvSpPr/>
          <p:nvPr/>
        </p:nvSpPr>
        <p:spPr>
          <a:xfrm>
            <a:off x="4800600" y="2441448"/>
            <a:ext cx="1920240" cy="338328"/>
          </a:xfrm>
          <a:prstGeom prst="rect">
            <a:avLst/>
          </a:prstGeom>
          <a:solidFill>
            <a:srgbClr val="FFFFFF"/>
          </a:solidFill>
          <a:ln w="6350">
            <a:solidFill>
              <a:srgbClr val="C5D9E8"/>
            </a:solidFill>
            <a:prstDash val="solid"/>
          </a:ln>
        </p:spPr>
      </p:sp>
      <p:sp>
        <p:nvSpPr>
          <p:cNvPr id="43" name="Text 41"/>
          <p:cNvSpPr/>
          <p:nvPr/>
        </p:nvSpPr>
        <p:spPr>
          <a:xfrm>
            <a:off x="4855464" y="2441448"/>
            <a:ext cx="1810512" cy="338328"/>
          </a:xfrm>
          <a:prstGeom prst="rect">
            <a:avLst/>
          </a:prstGeom>
          <a:noFill/>
          <a:ln/>
        </p:spPr>
        <p:txBody>
          <a:bodyPr wrap="square" rtlCol="0" anchor="ctr"/>
          <a:lstStyle/>
          <a:p>
            <a:pPr algn="ctr" indent="0" marL="0">
              <a:buNone/>
            </a:pPr>
            <a:r>
              <a:rPr lang="en-US" sz="950" b="1" dirty="0">
                <a:solidFill>
                  <a:srgbClr val="1A7A3A"/>
                </a:solidFill>
              </a:rPr>
              <a:t>Red sigue</a:t>
            </a:r>
            <a:endParaRPr lang="en-US" sz="950" dirty="0"/>
          </a:p>
        </p:txBody>
      </p:sp>
      <p:sp>
        <p:nvSpPr>
          <p:cNvPr id="44" name="Shape 42"/>
          <p:cNvSpPr/>
          <p:nvPr/>
        </p:nvSpPr>
        <p:spPr>
          <a:xfrm>
            <a:off x="6720840" y="2441448"/>
            <a:ext cx="1920240" cy="338328"/>
          </a:xfrm>
          <a:prstGeom prst="rect">
            <a:avLst/>
          </a:prstGeom>
          <a:solidFill>
            <a:srgbClr val="FFFFFF"/>
          </a:solidFill>
          <a:ln w="6350">
            <a:solidFill>
              <a:srgbClr val="C5D9E8"/>
            </a:solidFill>
            <a:prstDash val="solid"/>
          </a:ln>
        </p:spPr>
      </p:sp>
      <p:sp>
        <p:nvSpPr>
          <p:cNvPr id="45" name="Text 43"/>
          <p:cNvSpPr/>
          <p:nvPr/>
        </p:nvSpPr>
        <p:spPr>
          <a:xfrm>
            <a:off x="6775704" y="2441448"/>
            <a:ext cx="1810512" cy="338328"/>
          </a:xfrm>
          <a:prstGeom prst="rect">
            <a:avLst/>
          </a:prstGeom>
          <a:noFill/>
          <a:ln/>
        </p:spPr>
        <p:txBody>
          <a:bodyPr wrap="square" rtlCol="0" anchor="ctr"/>
          <a:lstStyle/>
          <a:p>
            <a:pPr algn="ctr" indent="0" marL="0">
              <a:buNone/>
            </a:pPr>
            <a:r>
              <a:rPr lang="en-US" sz="950" b="1" dirty="0">
                <a:solidFill>
                  <a:srgbClr val="E74C3C"/>
                </a:solidFill>
              </a:rPr>
              <a:t>Red cae</a:t>
            </a:r>
            <a:endParaRPr lang="en-US" sz="950" dirty="0"/>
          </a:p>
        </p:txBody>
      </p:sp>
      <p:sp>
        <p:nvSpPr>
          <p:cNvPr id="46" name="Shape 44"/>
          <p:cNvSpPr/>
          <p:nvPr/>
        </p:nvSpPr>
        <p:spPr>
          <a:xfrm>
            <a:off x="320040" y="2779776"/>
            <a:ext cx="2560320" cy="338328"/>
          </a:xfrm>
          <a:prstGeom prst="rect">
            <a:avLst/>
          </a:prstGeom>
          <a:solidFill>
            <a:srgbClr val="D5EAF7"/>
          </a:solidFill>
          <a:ln w="6350">
            <a:solidFill>
              <a:srgbClr val="C5D9E8"/>
            </a:solidFill>
            <a:prstDash val="solid"/>
          </a:ln>
        </p:spPr>
      </p:sp>
      <p:sp>
        <p:nvSpPr>
          <p:cNvPr id="47" name="Text 45"/>
          <p:cNvSpPr/>
          <p:nvPr/>
        </p:nvSpPr>
        <p:spPr>
          <a:xfrm>
            <a:off x="374904" y="2779776"/>
            <a:ext cx="2450592" cy="338328"/>
          </a:xfrm>
          <a:prstGeom prst="rect">
            <a:avLst/>
          </a:prstGeom>
          <a:noFill/>
          <a:ln/>
        </p:spPr>
        <p:txBody>
          <a:bodyPr wrap="square" rtlCol="0" anchor="ctr"/>
          <a:lstStyle/>
          <a:p>
            <a:pPr algn="l" indent="0" marL="0">
              <a:buNone/>
            </a:pPr>
            <a:r>
              <a:rPr lang="en-US" sz="950" dirty="0">
                <a:solidFill>
                  <a:srgbClr val="2D3030"/>
                </a:solidFill>
              </a:rPr>
              <a:t>Fallo del medio</a:t>
            </a:r>
            <a:endParaRPr lang="en-US" sz="950" dirty="0"/>
          </a:p>
        </p:txBody>
      </p:sp>
      <p:sp>
        <p:nvSpPr>
          <p:cNvPr id="48" name="Shape 46"/>
          <p:cNvSpPr/>
          <p:nvPr/>
        </p:nvSpPr>
        <p:spPr>
          <a:xfrm>
            <a:off x="2880360" y="2779776"/>
            <a:ext cx="1920240" cy="338328"/>
          </a:xfrm>
          <a:prstGeom prst="rect">
            <a:avLst/>
          </a:prstGeom>
          <a:solidFill>
            <a:srgbClr val="EAF4FB"/>
          </a:solidFill>
          <a:ln w="6350">
            <a:solidFill>
              <a:srgbClr val="C5D9E8"/>
            </a:solidFill>
            <a:prstDash val="solid"/>
          </a:ln>
        </p:spPr>
      </p:sp>
      <p:sp>
        <p:nvSpPr>
          <p:cNvPr id="49" name="Text 47"/>
          <p:cNvSpPr/>
          <p:nvPr/>
        </p:nvSpPr>
        <p:spPr>
          <a:xfrm>
            <a:off x="2935224" y="2779776"/>
            <a:ext cx="1810512" cy="338328"/>
          </a:xfrm>
          <a:prstGeom prst="rect">
            <a:avLst/>
          </a:prstGeom>
          <a:noFill/>
          <a:ln/>
        </p:spPr>
        <p:txBody>
          <a:bodyPr wrap="square" rtlCol="0" anchor="ctr"/>
          <a:lstStyle/>
          <a:p>
            <a:pPr algn="ctr" indent="0" marL="0">
              <a:buNone/>
            </a:pPr>
            <a:r>
              <a:rPr lang="en-US" sz="950" b="1" dirty="0">
                <a:solidFill>
                  <a:srgbClr val="E74C3C"/>
                </a:solidFill>
              </a:rPr>
              <a:t>Red cae</a:t>
            </a:r>
            <a:endParaRPr lang="en-US" sz="950" dirty="0"/>
          </a:p>
        </p:txBody>
      </p:sp>
      <p:sp>
        <p:nvSpPr>
          <p:cNvPr id="50" name="Shape 48"/>
          <p:cNvSpPr/>
          <p:nvPr/>
        </p:nvSpPr>
        <p:spPr>
          <a:xfrm>
            <a:off x="4800600" y="2779776"/>
            <a:ext cx="1920240" cy="338328"/>
          </a:xfrm>
          <a:prstGeom prst="rect">
            <a:avLst/>
          </a:prstGeom>
          <a:solidFill>
            <a:srgbClr val="EAF4FB"/>
          </a:solidFill>
          <a:ln w="6350">
            <a:solidFill>
              <a:srgbClr val="C5D9E8"/>
            </a:solidFill>
            <a:prstDash val="solid"/>
          </a:ln>
        </p:spPr>
      </p:sp>
      <p:sp>
        <p:nvSpPr>
          <p:cNvPr id="51" name="Text 49"/>
          <p:cNvSpPr/>
          <p:nvPr/>
        </p:nvSpPr>
        <p:spPr>
          <a:xfrm>
            <a:off x="4855464" y="2779776"/>
            <a:ext cx="1810512" cy="338328"/>
          </a:xfrm>
          <a:prstGeom prst="rect">
            <a:avLst/>
          </a:prstGeom>
          <a:noFill/>
          <a:ln/>
        </p:spPr>
        <p:txBody>
          <a:bodyPr wrap="square" rtlCol="0" anchor="ctr"/>
          <a:lstStyle/>
          <a:p>
            <a:pPr algn="ctr" indent="0" marL="0">
              <a:buNone/>
            </a:pPr>
            <a:r>
              <a:rPr lang="en-US" sz="950" dirty="0">
                <a:solidFill>
                  <a:srgbClr val="2D3030"/>
                </a:solidFill>
              </a:rPr>
              <a:t>Nodo aislado</a:t>
            </a:r>
            <a:endParaRPr lang="en-US" sz="950" dirty="0"/>
          </a:p>
        </p:txBody>
      </p:sp>
      <p:sp>
        <p:nvSpPr>
          <p:cNvPr id="52" name="Shape 50"/>
          <p:cNvSpPr/>
          <p:nvPr/>
        </p:nvSpPr>
        <p:spPr>
          <a:xfrm>
            <a:off x="6720840" y="2779776"/>
            <a:ext cx="1920240" cy="338328"/>
          </a:xfrm>
          <a:prstGeom prst="rect">
            <a:avLst/>
          </a:prstGeom>
          <a:solidFill>
            <a:srgbClr val="EAF4FB"/>
          </a:solidFill>
          <a:ln w="6350">
            <a:solidFill>
              <a:srgbClr val="C5D9E8"/>
            </a:solidFill>
            <a:prstDash val="solid"/>
          </a:ln>
        </p:spPr>
      </p:sp>
      <p:sp>
        <p:nvSpPr>
          <p:cNvPr id="53" name="Text 51"/>
          <p:cNvSpPr/>
          <p:nvPr/>
        </p:nvSpPr>
        <p:spPr>
          <a:xfrm>
            <a:off x="6775704" y="2779776"/>
            <a:ext cx="1810512" cy="338328"/>
          </a:xfrm>
          <a:prstGeom prst="rect">
            <a:avLst/>
          </a:prstGeom>
          <a:noFill/>
          <a:ln/>
        </p:spPr>
        <p:txBody>
          <a:bodyPr wrap="square" rtlCol="0" anchor="ctr"/>
          <a:lstStyle/>
          <a:p>
            <a:pPr algn="ctr" indent="0" marL="0">
              <a:buNone/>
            </a:pPr>
            <a:r>
              <a:rPr lang="en-US" sz="950" b="1" dirty="0">
                <a:solidFill>
                  <a:srgbClr val="E74C3C"/>
                </a:solidFill>
              </a:rPr>
              <a:t>Red cae</a:t>
            </a:r>
            <a:endParaRPr lang="en-US" sz="950" dirty="0"/>
          </a:p>
        </p:txBody>
      </p:sp>
      <p:sp>
        <p:nvSpPr>
          <p:cNvPr id="54" name="Shape 52"/>
          <p:cNvSpPr/>
          <p:nvPr/>
        </p:nvSpPr>
        <p:spPr>
          <a:xfrm>
            <a:off x="320040" y="3118104"/>
            <a:ext cx="2560320" cy="338328"/>
          </a:xfrm>
          <a:prstGeom prst="rect">
            <a:avLst/>
          </a:prstGeom>
          <a:solidFill>
            <a:srgbClr val="D5EAF7"/>
          </a:solidFill>
          <a:ln w="6350">
            <a:solidFill>
              <a:srgbClr val="C5D9E8"/>
            </a:solidFill>
            <a:prstDash val="solid"/>
          </a:ln>
        </p:spPr>
      </p:sp>
      <p:sp>
        <p:nvSpPr>
          <p:cNvPr id="55" name="Text 53"/>
          <p:cNvSpPr/>
          <p:nvPr/>
        </p:nvSpPr>
        <p:spPr>
          <a:xfrm>
            <a:off x="374904" y="3118104"/>
            <a:ext cx="2450592" cy="338328"/>
          </a:xfrm>
          <a:prstGeom prst="rect">
            <a:avLst/>
          </a:prstGeom>
          <a:noFill/>
          <a:ln/>
        </p:spPr>
        <p:txBody>
          <a:bodyPr wrap="square" rtlCol="0" anchor="ctr"/>
          <a:lstStyle/>
          <a:p>
            <a:pPr algn="l" indent="0" marL="0">
              <a:buNone/>
            </a:pPr>
            <a:r>
              <a:rPr lang="en-US" sz="950" dirty="0">
                <a:solidFill>
                  <a:srgbClr val="2D3030"/>
                </a:solidFill>
              </a:rPr>
              <a:t>Cable necesario</a:t>
            </a:r>
            <a:endParaRPr lang="en-US" sz="950" dirty="0"/>
          </a:p>
        </p:txBody>
      </p:sp>
      <p:sp>
        <p:nvSpPr>
          <p:cNvPr id="56" name="Shape 54"/>
          <p:cNvSpPr/>
          <p:nvPr/>
        </p:nvSpPr>
        <p:spPr>
          <a:xfrm>
            <a:off x="2880360" y="3118104"/>
            <a:ext cx="1920240" cy="338328"/>
          </a:xfrm>
          <a:prstGeom prst="rect">
            <a:avLst/>
          </a:prstGeom>
          <a:solidFill>
            <a:srgbClr val="FFFFFF"/>
          </a:solidFill>
          <a:ln w="6350">
            <a:solidFill>
              <a:srgbClr val="C5D9E8"/>
            </a:solidFill>
            <a:prstDash val="solid"/>
          </a:ln>
        </p:spPr>
      </p:sp>
      <p:sp>
        <p:nvSpPr>
          <p:cNvPr id="57" name="Text 55"/>
          <p:cNvSpPr/>
          <p:nvPr/>
        </p:nvSpPr>
        <p:spPr>
          <a:xfrm>
            <a:off x="2935224" y="3118104"/>
            <a:ext cx="1810512" cy="338328"/>
          </a:xfrm>
          <a:prstGeom prst="rect">
            <a:avLst/>
          </a:prstGeom>
          <a:noFill/>
          <a:ln/>
        </p:spPr>
        <p:txBody>
          <a:bodyPr wrap="square" rtlCol="0" anchor="ctr"/>
          <a:lstStyle/>
          <a:p>
            <a:pPr algn="ctr" indent="0" marL="0">
              <a:buNone/>
            </a:pPr>
            <a:r>
              <a:rPr lang="en-US" sz="950" b="1" dirty="0">
                <a:solidFill>
                  <a:srgbClr val="1A7A3A"/>
                </a:solidFill>
              </a:rPr>
              <a:t>Mínimo</a:t>
            </a:r>
            <a:endParaRPr lang="en-US" sz="950" dirty="0"/>
          </a:p>
        </p:txBody>
      </p:sp>
      <p:sp>
        <p:nvSpPr>
          <p:cNvPr id="58" name="Shape 56"/>
          <p:cNvSpPr/>
          <p:nvPr/>
        </p:nvSpPr>
        <p:spPr>
          <a:xfrm>
            <a:off x="4800600" y="3118104"/>
            <a:ext cx="1920240" cy="338328"/>
          </a:xfrm>
          <a:prstGeom prst="rect">
            <a:avLst/>
          </a:prstGeom>
          <a:solidFill>
            <a:srgbClr val="FFFFFF"/>
          </a:solidFill>
          <a:ln w="6350">
            <a:solidFill>
              <a:srgbClr val="C5D9E8"/>
            </a:solidFill>
            <a:prstDash val="solid"/>
          </a:ln>
        </p:spPr>
      </p:sp>
      <p:sp>
        <p:nvSpPr>
          <p:cNvPr id="59" name="Text 57"/>
          <p:cNvSpPr/>
          <p:nvPr/>
        </p:nvSpPr>
        <p:spPr>
          <a:xfrm>
            <a:off x="4855464" y="3118104"/>
            <a:ext cx="1810512" cy="338328"/>
          </a:xfrm>
          <a:prstGeom prst="rect">
            <a:avLst/>
          </a:prstGeom>
          <a:noFill/>
          <a:ln/>
        </p:spPr>
        <p:txBody>
          <a:bodyPr wrap="square" rtlCol="0" anchor="ctr"/>
          <a:lstStyle/>
          <a:p>
            <a:pPr algn="ctr" indent="0" marL="0">
              <a:buNone/>
            </a:pPr>
            <a:r>
              <a:rPr lang="en-US" sz="950" dirty="0">
                <a:solidFill>
                  <a:srgbClr val="2D3030"/>
                </a:solidFill>
              </a:rPr>
              <a:t>Moderado</a:t>
            </a:r>
            <a:endParaRPr lang="en-US" sz="950" dirty="0"/>
          </a:p>
        </p:txBody>
      </p:sp>
      <p:sp>
        <p:nvSpPr>
          <p:cNvPr id="60" name="Shape 58"/>
          <p:cNvSpPr/>
          <p:nvPr/>
        </p:nvSpPr>
        <p:spPr>
          <a:xfrm>
            <a:off x="6720840" y="3118104"/>
            <a:ext cx="1920240" cy="338328"/>
          </a:xfrm>
          <a:prstGeom prst="rect">
            <a:avLst/>
          </a:prstGeom>
          <a:solidFill>
            <a:srgbClr val="FFFFFF"/>
          </a:solidFill>
          <a:ln w="6350">
            <a:solidFill>
              <a:srgbClr val="C5D9E8"/>
            </a:solidFill>
            <a:prstDash val="solid"/>
          </a:ln>
        </p:spPr>
      </p:sp>
      <p:sp>
        <p:nvSpPr>
          <p:cNvPr id="61" name="Text 59"/>
          <p:cNvSpPr/>
          <p:nvPr/>
        </p:nvSpPr>
        <p:spPr>
          <a:xfrm>
            <a:off x="6775704" y="3118104"/>
            <a:ext cx="1810512" cy="338328"/>
          </a:xfrm>
          <a:prstGeom prst="rect">
            <a:avLst/>
          </a:prstGeom>
          <a:noFill/>
          <a:ln/>
        </p:spPr>
        <p:txBody>
          <a:bodyPr wrap="square" rtlCol="0" anchor="ctr"/>
          <a:lstStyle/>
          <a:p>
            <a:pPr algn="ctr" indent="0" marL="0">
              <a:buNone/>
            </a:pPr>
            <a:r>
              <a:rPr lang="en-US" sz="950" dirty="0">
                <a:solidFill>
                  <a:srgbClr val="2D3030"/>
                </a:solidFill>
              </a:rPr>
              <a:t>Moderado</a:t>
            </a:r>
            <a:endParaRPr lang="en-US" sz="950" dirty="0"/>
          </a:p>
        </p:txBody>
      </p:sp>
      <p:sp>
        <p:nvSpPr>
          <p:cNvPr id="62" name="Shape 60"/>
          <p:cNvSpPr/>
          <p:nvPr/>
        </p:nvSpPr>
        <p:spPr>
          <a:xfrm>
            <a:off x="320040" y="3456432"/>
            <a:ext cx="2560320" cy="338328"/>
          </a:xfrm>
          <a:prstGeom prst="rect">
            <a:avLst/>
          </a:prstGeom>
          <a:solidFill>
            <a:srgbClr val="D5EAF7"/>
          </a:solidFill>
          <a:ln w="6350">
            <a:solidFill>
              <a:srgbClr val="C5D9E8"/>
            </a:solidFill>
            <a:prstDash val="solid"/>
          </a:ln>
        </p:spPr>
      </p:sp>
      <p:sp>
        <p:nvSpPr>
          <p:cNvPr id="63" name="Text 61"/>
          <p:cNvSpPr/>
          <p:nvPr/>
        </p:nvSpPr>
        <p:spPr>
          <a:xfrm>
            <a:off x="374904" y="3456432"/>
            <a:ext cx="2450592" cy="338328"/>
          </a:xfrm>
          <a:prstGeom prst="rect">
            <a:avLst/>
          </a:prstGeom>
          <a:noFill/>
          <a:ln/>
        </p:spPr>
        <p:txBody>
          <a:bodyPr wrap="square" rtlCol="0" anchor="ctr"/>
          <a:lstStyle/>
          <a:p>
            <a:pPr algn="l" indent="0" marL="0">
              <a:buNone/>
            </a:pPr>
            <a:r>
              <a:rPr lang="en-US" sz="950" dirty="0">
                <a:solidFill>
                  <a:srgbClr val="2D3030"/>
                </a:solidFill>
              </a:rPr>
              <a:t>Diagnóstico</a:t>
            </a:r>
            <a:endParaRPr lang="en-US" sz="950" dirty="0"/>
          </a:p>
        </p:txBody>
      </p:sp>
      <p:sp>
        <p:nvSpPr>
          <p:cNvPr id="64" name="Shape 62"/>
          <p:cNvSpPr/>
          <p:nvPr/>
        </p:nvSpPr>
        <p:spPr>
          <a:xfrm>
            <a:off x="2880360" y="3456432"/>
            <a:ext cx="1920240" cy="338328"/>
          </a:xfrm>
          <a:prstGeom prst="rect">
            <a:avLst/>
          </a:prstGeom>
          <a:solidFill>
            <a:srgbClr val="EAF4FB"/>
          </a:solidFill>
          <a:ln w="6350">
            <a:solidFill>
              <a:srgbClr val="C5D9E8"/>
            </a:solidFill>
            <a:prstDash val="solid"/>
          </a:ln>
        </p:spPr>
      </p:sp>
      <p:sp>
        <p:nvSpPr>
          <p:cNvPr id="65" name="Text 63"/>
          <p:cNvSpPr/>
          <p:nvPr/>
        </p:nvSpPr>
        <p:spPr>
          <a:xfrm>
            <a:off x="2935224" y="3456432"/>
            <a:ext cx="1810512" cy="338328"/>
          </a:xfrm>
          <a:prstGeom prst="rect">
            <a:avLst/>
          </a:prstGeom>
          <a:noFill/>
          <a:ln/>
        </p:spPr>
        <p:txBody>
          <a:bodyPr wrap="square" rtlCol="0" anchor="ctr"/>
          <a:lstStyle/>
          <a:p>
            <a:pPr algn="ctr" indent="0" marL="0">
              <a:buNone/>
            </a:pPr>
            <a:r>
              <a:rPr lang="en-US" sz="950" b="1" dirty="0">
                <a:solidFill>
                  <a:srgbClr val="E74C3C"/>
                </a:solidFill>
              </a:rPr>
              <a:t>Difícil</a:t>
            </a:r>
            <a:endParaRPr lang="en-US" sz="950" dirty="0"/>
          </a:p>
        </p:txBody>
      </p:sp>
      <p:sp>
        <p:nvSpPr>
          <p:cNvPr id="66" name="Shape 64"/>
          <p:cNvSpPr/>
          <p:nvPr/>
        </p:nvSpPr>
        <p:spPr>
          <a:xfrm>
            <a:off x="4800600" y="3456432"/>
            <a:ext cx="1920240" cy="338328"/>
          </a:xfrm>
          <a:prstGeom prst="rect">
            <a:avLst/>
          </a:prstGeom>
          <a:solidFill>
            <a:srgbClr val="EAF4FB"/>
          </a:solidFill>
          <a:ln w="6350">
            <a:solidFill>
              <a:srgbClr val="C5D9E8"/>
            </a:solidFill>
            <a:prstDash val="solid"/>
          </a:ln>
        </p:spPr>
      </p:sp>
      <p:sp>
        <p:nvSpPr>
          <p:cNvPr id="67" name="Text 65"/>
          <p:cNvSpPr/>
          <p:nvPr/>
        </p:nvSpPr>
        <p:spPr>
          <a:xfrm>
            <a:off x="4855464" y="3456432"/>
            <a:ext cx="1810512" cy="338328"/>
          </a:xfrm>
          <a:prstGeom prst="rect">
            <a:avLst/>
          </a:prstGeom>
          <a:noFill/>
          <a:ln/>
        </p:spPr>
        <p:txBody>
          <a:bodyPr wrap="square" rtlCol="0" anchor="ctr"/>
          <a:lstStyle/>
          <a:p>
            <a:pPr algn="ctr" indent="0" marL="0">
              <a:buNone/>
            </a:pPr>
            <a:r>
              <a:rPr lang="en-US" sz="950" b="1" dirty="0">
                <a:solidFill>
                  <a:srgbClr val="1A7A3A"/>
                </a:solidFill>
              </a:rPr>
              <a:t>Fácil (LEDs)</a:t>
            </a:r>
            <a:endParaRPr lang="en-US" sz="950" dirty="0"/>
          </a:p>
        </p:txBody>
      </p:sp>
      <p:sp>
        <p:nvSpPr>
          <p:cNvPr id="68" name="Shape 66"/>
          <p:cNvSpPr/>
          <p:nvPr/>
        </p:nvSpPr>
        <p:spPr>
          <a:xfrm>
            <a:off x="6720840" y="3456432"/>
            <a:ext cx="1920240" cy="338328"/>
          </a:xfrm>
          <a:prstGeom prst="rect">
            <a:avLst/>
          </a:prstGeom>
          <a:solidFill>
            <a:srgbClr val="EAF4FB"/>
          </a:solidFill>
          <a:ln w="6350">
            <a:solidFill>
              <a:srgbClr val="C5D9E8"/>
            </a:solidFill>
            <a:prstDash val="solid"/>
          </a:ln>
        </p:spPr>
      </p:sp>
      <p:sp>
        <p:nvSpPr>
          <p:cNvPr id="69" name="Text 67"/>
          <p:cNvSpPr/>
          <p:nvPr/>
        </p:nvSpPr>
        <p:spPr>
          <a:xfrm>
            <a:off x="6775704" y="3456432"/>
            <a:ext cx="1810512" cy="338328"/>
          </a:xfrm>
          <a:prstGeom prst="rect">
            <a:avLst/>
          </a:prstGeom>
          <a:noFill/>
          <a:ln/>
        </p:spPr>
        <p:txBody>
          <a:bodyPr wrap="square" rtlCol="0" anchor="ctr"/>
          <a:lstStyle/>
          <a:p>
            <a:pPr algn="ctr" indent="0" marL="0">
              <a:buNone/>
            </a:pPr>
            <a:r>
              <a:rPr lang="en-US" sz="950" dirty="0">
                <a:solidFill>
                  <a:srgbClr val="2D3030"/>
                </a:solidFill>
              </a:rPr>
              <a:t>Medio</a:t>
            </a:r>
            <a:endParaRPr lang="en-US" sz="950" dirty="0"/>
          </a:p>
        </p:txBody>
      </p:sp>
      <p:sp>
        <p:nvSpPr>
          <p:cNvPr id="70" name="Shape 68"/>
          <p:cNvSpPr/>
          <p:nvPr/>
        </p:nvSpPr>
        <p:spPr>
          <a:xfrm>
            <a:off x="320040" y="3794760"/>
            <a:ext cx="2560320" cy="338328"/>
          </a:xfrm>
          <a:prstGeom prst="rect">
            <a:avLst/>
          </a:prstGeom>
          <a:solidFill>
            <a:srgbClr val="D5EAF7"/>
          </a:solidFill>
          <a:ln w="6350">
            <a:solidFill>
              <a:srgbClr val="C5D9E8"/>
            </a:solidFill>
            <a:prstDash val="solid"/>
          </a:ln>
        </p:spPr>
      </p:sp>
      <p:sp>
        <p:nvSpPr>
          <p:cNvPr id="71" name="Text 69"/>
          <p:cNvSpPr/>
          <p:nvPr/>
        </p:nvSpPr>
        <p:spPr>
          <a:xfrm>
            <a:off x="374904" y="3794760"/>
            <a:ext cx="2450592" cy="338328"/>
          </a:xfrm>
          <a:prstGeom prst="rect">
            <a:avLst/>
          </a:prstGeom>
          <a:noFill/>
          <a:ln/>
        </p:spPr>
        <p:txBody>
          <a:bodyPr wrap="square" rtlCol="0" anchor="ctr"/>
          <a:lstStyle/>
          <a:p>
            <a:pPr algn="l" indent="0" marL="0">
              <a:buNone/>
            </a:pPr>
            <a:r>
              <a:rPr lang="en-US" sz="950" dirty="0">
                <a:solidFill>
                  <a:srgbClr val="2D3030"/>
                </a:solidFill>
              </a:rPr>
              <a:t>Uso actual</a:t>
            </a:r>
            <a:endParaRPr lang="en-US" sz="950" dirty="0"/>
          </a:p>
        </p:txBody>
      </p:sp>
      <p:sp>
        <p:nvSpPr>
          <p:cNvPr id="72" name="Shape 70"/>
          <p:cNvSpPr/>
          <p:nvPr/>
        </p:nvSpPr>
        <p:spPr>
          <a:xfrm>
            <a:off x="2880360" y="3794760"/>
            <a:ext cx="1920240" cy="338328"/>
          </a:xfrm>
          <a:prstGeom prst="rect">
            <a:avLst/>
          </a:prstGeom>
          <a:solidFill>
            <a:srgbClr val="FFFFFF"/>
          </a:solidFill>
          <a:ln w="6350">
            <a:solidFill>
              <a:srgbClr val="C5D9E8"/>
            </a:solidFill>
            <a:prstDash val="solid"/>
          </a:ln>
        </p:spPr>
      </p:sp>
      <p:sp>
        <p:nvSpPr>
          <p:cNvPr id="73" name="Text 71"/>
          <p:cNvSpPr/>
          <p:nvPr/>
        </p:nvSpPr>
        <p:spPr>
          <a:xfrm>
            <a:off x="2935224" y="3794760"/>
            <a:ext cx="1810512" cy="338328"/>
          </a:xfrm>
          <a:prstGeom prst="rect">
            <a:avLst/>
          </a:prstGeom>
          <a:noFill/>
          <a:ln/>
        </p:spPr>
        <p:txBody>
          <a:bodyPr wrap="square" rtlCol="0" anchor="ctr"/>
          <a:lstStyle/>
          <a:p>
            <a:pPr algn="ctr" indent="0" marL="0">
              <a:buNone/>
            </a:pPr>
            <a:r>
              <a:rPr lang="en-US" sz="950" b="1" dirty="0">
                <a:solidFill>
                  <a:srgbClr val="E74C3C"/>
                </a:solidFill>
              </a:rPr>
              <a:t>Obsoleta</a:t>
            </a:r>
            <a:endParaRPr lang="en-US" sz="950" dirty="0"/>
          </a:p>
        </p:txBody>
      </p:sp>
      <p:sp>
        <p:nvSpPr>
          <p:cNvPr id="74" name="Shape 72"/>
          <p:cNvSpPr/>
          <p:nvPr/>
        </p:nvSpPr>
        <p:spPr>
          <a:xfrm>
            <a:off x="4800600" y="3794760"/>
            <a:ext cx="1920240" cy="338328"/>
          </a:xfrm>
          <a:prstGeom prst="rect">
            <a:avLst/>
          </a:prstGeom>
          <a:solidFill>
            <a:srgbClr val="FFFFFF"/>
          </a:solidFill>
          <a:ln w="6350">
            <a:solidFill>
              <a:srgbClr val="C5D9E8"/>
            </a:solidFill>
            <a:prstDash val="solid"/>
          </a:ln>
        </p:spPr>
      </p:sp>
      <p:sp>
        <p:nvSpPr>
          <p:cNvPr id="75" name="Text 73"/>
          <p:cNvSpPr/>
          <p:nvPr/>
        </p:nvSpPr>
        <p:spPr>
          <a:xfrm>
            <a:off x="4855464" y="3794760"/>
            <a:ext cx="1810512" cy="338328"/>
          </a:xfrm>
          <a:prstGeom prst="rect">
            <a:avLst/>
          </a:prstGeom>
          <a:noFill/>
          <a:ln/>
        </p:spPr>
        <p:txBody>
          <a:bodyPr wrap="square" rtlCol="0" anchor="ctr"/>
          <a:lstStyle/>
          <a:p>
            <a:pPr algn="ctr" indent="0" marL="0">
              <a:buNone/>
            </a:pPr>
            <a:r>
              <a:rPr lang="en-US" sz="950" b="1" dirty="0">
                <a:solidFill>
                  <a:srgbClr val="1A7A3A"/>
                </a:solidFill>
              </a:rPr>
              <a:t>Estándar actual</a:t>
            </a:r>
            <a:endParaRPr lang="en-US" sz="950" dirty="0"/>
          </a:p>
        </p:txBody>
      </p:sp>
      <p:sp>
        <p:nvSpPr>
          <p:cNvPr id="76" name="Shape 74"/>
          <p:cNvSpPr/>
          <p:nvPr/>
        </p:nvSpPr>
        <p:spPr>
          <a:xfrm>
            <a:off x="6720840" y="3794760"/>
            <a:ext cx="1920240" cy="338328"/>
          </a:xfrm>
          <a:prstGeom prst="rect">
            <a:avLst/>
          </a:prstGeom>
          <a:solidFill>
            <a:srgbClr val="FFFFFF"/>
          </a:solidFill>
          <a:ln w="6350">
            <a:solidFill>
              <a:srgbClr val="C5D9E8"/>
            </a:solidFill>
            <a:prstDash val="solid"/>
          </a:ln>
        </p:spPr>
      </p:sp>
      <p:sp>
        <p:nvSpPr>
          <p:cNvPr id="77" name="Text 75"/>
          <p:cNvSpPr/>
          <p:nvPr/>
        </p:nvSpPr>
        <p:spPr>
          <a:xfrm>
            <a:off x="6775704" y="3794760"/>
            <a:ext cx="1810512" cy="338328"/>
          </a:xfrm>
          <a:prstGeom prst="rect">
            <a:avLst/>
          </a:prstGeom>
          <a:noFill/>
          <a:ln/>
        </p:spPr>
        <p:txBody>
          <a:bodyPr wrap="square" rtlCol="0" anchor="ctr"/>
          <a:lstStyle/>
          <a:p>
            <a:pPr algn="ctr" indent="0" marL="0">
              <a:buNone/>
            </a:pPr>
            <a:r>
              <a:rPr lang="en-US" sz="950" dirty="0">
                <a:solidFill>
                  <a:srgbClr val="2D3030"/>
                </a:solidFill>
              </a:rPr>
              <a:t>Rara (WAN/fibra)</a:t>
            </a:r>
            <a:endParaRPr lang="en-US" sz="950" dirty="0"/>
          </a:p>
        </p:txBody>
      </p:sp>
      <p:sp>
        <p:nvSpPr>
          <p:cNvPr id="78" name="Shape 76"/>
          <p:cNvSpPr/>
          <p:nvPr/>
        </p:nvSpPr>
        <p:spPr>
          <a:xfrm>
            <a:off x="0" y="4850892"/>
            <a:ext cx="9144000" cy="292608"/>
          </a:xfrm>
          <a:prstGeom prst="rect">
            <a:avLst/>
          </a:prstGeom>
          <a:solidFill>
            <a:srgbClr val="2D3030"/>
          </a:solidFill>
          <a:ln w="12700">
            <a:solidFill>
              <a:srgbClr val="2D3030"/>
            </a:solidFill>
            <a:prstDash val="solid"/>
          </a:ln>
        </p:spPr>
      </p:sp>
      <p:sp>
        <p:nvSpPr>
          <p:cNvPr id="79" name="Text 77"/>
          <p:cNvSpPr/>
          <p:nvPr/>
        </p:nvSpPr>
        <p:spPr>
          <a:xfrm>
            <a:off x="182880" y="4869180"/>
            <a:ext cx="5486400" cy="256032"/>
          </a:xfrm>
          <a:prstGeom prst="rect">
            <a:avLst/>
          </a:prstGeom>
          <a:noFill/>
          <a:ln/>
        </p:spPr>
        <p:txBody>
          <a:bodyPr wrap="square" rtlCol="0" anchor="ctr"/>
          <a:lstStyle/>
          <a:p>
            <a:pPr indent="0" marL="0">
              <a:buNone/>
            </a:pPr>
            <a:r>
              <a:rPr lang="en-US" sz="800" dirty="0">
                <a:solidFill>
                  <a:srgbClr val="808080"/>
                </a:solidFill>
                <a:latin typeface="Arial" pitchFamily="34" charset="0"/>
                <a:ea typeface="Arial" pitchFamily="34" charset="-122"/>
                <a:cs typeface="Arial" pitchFamily="34" charset="-120"/>
              </a:rPr>
              <a:t>SP5 · H1 · Topologías LAN</a:t>
            </a:r>
            <a:endParaRPr lang="en-US" sz="800" dirty="0"/>
          </a:p>
        </p:txBody>
      </p:sp>
      <p:sp>
        <p:nvSpPr>
          <p:cNvPr id="80" name="Text 78"/>
          <p:cNvSpPr/>
          <p:nvPr/>
        </p:nvSpPr>
        <p:spPr>
          <a:xfrm>
            <a:off x="6583680" y="4869180"/>
            <a:ext cx="2377440" cy="256032"/>
          </a:xfrm>
          <a:prstGeom prst="rect">
            <a:avLst/>
          </a:prstGeom>
          <a:noFill/>
          <a:ln/>
        </p:spPr>
        <p:txBody>
          <a:bodyPr wrap="square" rtlCol="0" anchor="ctr"/>
          <a:lstStyle/>
          <a:p>
            <a:pPr algn="r" indent="0" marL="0">
              <a:buNone/>
            </a:pPr>
            <a:r>
              <a:rPr lang="en-US" sz="800" dirty="0">
                <a:solidFill>
                  <a:srgbClr val="B9DEF8"/>
                </a:solidFill>
                <a:latin typeface="Arial" pitchFamily="34" charset="0"/>
                <a:ea typeface="Arial" pitchFamily="34" charset="-122"/>
                <a:cs typeface="Arial" pitchFamily="34" charset="-120"/>
              </a:rPr>
              <a:t>Comparativa</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12700">
            <a:solidFill>
              <a:srgbClr val="2D3030"/>
            </a:solidFill>
            <a:prstDash val="solid"/>
          </a:ln>
        </p:spPr>
      </p:sp>
      <p:sp>
        <p:nvSpPr>
          <p:cNvPr id="3" name="Shape 1"/>
          <p:cNvSpPr/>
          <p:nvPr/>
        </p:nvSpPr>
        <p:spPr>
          <a:xfrm>
            <a:off x="0" y="0"/>
            <a:ext cx="109728" cy="1005840"/>
          </a:xfrm>
          <a:prstGeom prst="rect">
            <a:avLst/>
          </a:prstGeom>
          <a:solidFill>
            <a:srgbClr val="5AA8D8"/>
          </a:solidFill>
          <a:ln w="12700">
            <a:solidFill>
              <a:srgbClr val="5AA8D8"/>
            </a:solidFill>
            <a:prstDash val="solid"/>
          </a:ln>
        </p:spPr>
      </p:sp>
      <p:sp>
        <p:nvSpPr>
          <p:cNvPr id="4" name="Text 2"/>
          <p:cNvSpPr/>
          <p:nvPr/>
        </p:nvSpPr>
        <p:spPr>
          <a:xfrm>
            <a:off x="228600" y="73152"/>
            <a:ext cx="868680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Problema de Seguridad Inherente</a:t>
            </a:r>
            <a:endParaRPr lang="en-US" sz="2200" dirty="0"/>
          </a:p>
        </p:txBody>
      </p:sp>
      <p:sp>
        <p:nvSpPr>
          <p:cNvPr id="5" name="Text 3"/>
          <p:cNvSpPr/>
          <p:nvPr/>
        </p:nvSpPr>
        <p:spPr>
          <a:xfrm>
            <a:off x="228600" y="566928"/>
            <a:ext cx="8686800" cy="347472"/>
          </a:xfrm>
          <a:prstGeom prst="rect">
            <a:avLst/>
          </a:prstGeom>
          <a:noFill/>
          <a:ln/>
        </p:spPr>
        <p:txBody>
          <a:bodyPr wrap="square" rtlCol="0" anchor="ctr"/>
          <a:lstStyle/>
          <a:p>
            <a:pPr indent="0" marL="0">
              <a:buNone/>
            </a:pPr>
            <a:r>
              <a:rPr lang="en-US" sz="1100" i="1" dirty="0">
                <a:solidFill>
                  <a:srgbClr val="B9DEF8"/>
                </a:solidFill>
                <a:latin typeface="Arial" pitchFamily="34" charset="0"/>
                <a:ea typeface="Arial" pitchFamily="34" charset="-122"/>
                <a:cs typeface="Arial" pitchFamily="34" charset="-120"/>
              </a:rPr>
              <a:t>El mecanismo de difusión como vulnerabilidad</a:t>
            </a:r>
            <a:endParaRPr lang="en-US" sz="1100" dirty="0"/>
          </a:p>
        </p:txBody>
      </p:sp>
      <p:sp>
        <p:nvSpPr>
          <p:cNvPr id="6" name="Text 4"/>
          <p:cNvSpPr/>
          <p:nvPr/>
        </p:nvSpPr>
        <p:spPr>
          <a:xfrm>
            <a:off x="274320" y="1078992"/>
            <a:ext cx="8595360" cy="347472"/>
          </a:xfrm>
          <a:prstGeom prst="rect">
            <a:avLst/>
          </a:prstGeom>
          <a:noFill/>
          <a:ln/>
        </p:spPr>
        <p:txBody>
          <a:bodyPr wrap="square" rtlCol="0" anchor="ctr"/>
          <a:lstStyle/>
          <a:p>
            <a:pPr indent="0" marL="0">
              <a:buNone/>
            </a:pPr>
            <a:r>
              <a:rPr lang="en-US" sz="1400" b="1" dirty="0">
                <a:solidFill>
                  <a:srgbClr val="E74C3C"/>
                </a:solidFill>
                <a:latin typeface="Arial" pitchFamily="34" charset="0"/>
                <a:ea typeface="Arial" pitchFamily="34" charset="-122"/>
                <a:cs typeface="Arial" pitchFamily="34" charset="-120"/>
              </a:rPr>
              <a:t>⚠  El problema de fondo</a:t>
            </a:r>
            <a:endParaRPr lang="en-US" sz="1400" dirty="0"/>
          </a:p>
        </p:txBody>
      </p:sp>
      <p:sp>
        <p:nvSpPr>
          <p:cNvPr id="7" name="Shape 5"/>
          <p:cNvSpPr/>
          <p:nvPr/>
        </p:nvSpPr>
        <p:spPr>
          <a:xfrm>
            <a:off x="274320" y="1444752"/>
            <a:ext cx="8503920" cy="594360"/>
          </a:xfrm>
          <a:prstGeom prst="rect">
            <a:avLst/>
          </a:prstGeom>
          <a:solidFill>
            <a:srgbClr val="FDF0F0"/>
          </a:solidFill>
          <a:ln w="19050">
            <a:solidFill>
              <a:srgbClr val="E74C3C"/>
            </a:solidFill>
            <a:prstDash val="solid"/>
          </a:ln>
        </p:spPr>
      </p:sp>
      <p:sp>
        <p:nvSpPr>
          <p:cNvPr id="8" name="Shape 6"/>
          <p:cNvSpPr/>
          <p:nvPr/>
        </p:nvSpPr>
        <p:spPr>
          <a:xfrm>
            <a:off x="274320" y="1444752"/>
            <a:ext cx="64008" cy="594360"/>
          </a:xfrm>
          <a:prstGeom prst="rect">
            <a:avLst/>
          </a:prstGeom>
          <a:solidFill>
            <a:srgbClr val="E74C3C"/>
          </a:solidFill>
          <a:ln w="12700">
            <a:solidFill>
              <a:srgbClr val="E74C3C"/>
            </a:solidFill>
            <a:prstDash val="solid"/>
          </a:ln>
        </p:spPr>
      </p:sp>
      <p:sp>
        <p:nvSpPr>
          <p:cNvPr id="9" name="Text 7"/>
          <p:cNvSpPr/>
          <p:nvPr/>
        </p:nvSpPr>
        <p:spPr>
          <a:xfrm>
            <a:off x="411480" y="1444752"/>
            <a:ext cx="8321040" cy="594360"/>
          </a:xfrm>
          <a:prstGeom prst="rect">
            <a:avLst/>
          </a:prstGeom>
          <a:noFill/>
          <a:ln/>
        </p:spPr>
        <p:txBody>
          <a:bodyPr wrap="square" rtlCol="0" anchor="ctr"/>
          <a:lstStyle/>
          <a:p>
            <a:pPr indent="0" marL="0">
              <a:buNone/>
            </a:pPr>
            <a:r>
              <a:rPr lang="en-US" sz="1200" dirty="0">
                <a:solidFill>
                  <a:srgbClr val="2D3030"/>
                </a:solidFill>
                <a:latin typeface="Arial" pitchFamily="34" charset="0"/>
                <a:ea typeface="Arial" pitchFamily="34" charset="-122"/>
                <a:cs typeface="Arial" pitchFamily="34" charset="-120"/>
              </a:rPr>
              <a:t>En bus y estrella con hub, TODOS los mensajes pasan por el medio compartido. Si una placa de red NO descarta los mensajes ajenos (modo promiscuo), puede capturar todo el tráfico. Esto se llama SNIFFING.</a:t>
            </a:r>
            <a:endParaRPr lang="en-US" sz="1200" dirty="0"/>
          </a:p>
        </p:txBody>
      </p:sp>
      <p:sp>
        <p:nvSpPr>
          <p:cNvPr id="10" name="Text 8"/>
          <p:cNvSpPr/>
          <p:nvPr/>
        </p:nvSpPr>
        <p:spPr>
          <a:xfrm>
            <a:off x="274320" y="2176272"/>
            <a:ext cx="8595360" cy="320040"/>
          </a:xfrm>
          <a:prstGeom prst="rect">
            <a:avLst/>
          </a:prstGeom>
          <a:noFill/>
          <a:ln/>
        </p:spPr>
        <p:txBody>
          <a:bodyPr wrap="square" rtlCol="0" anchor="ctr"/>
          <a:lstStyle/>
          <a:p>
            <a:pPr indent="0" marL="0">
              <a:buNone/>
            </a:pPr>
            <a:r>
              <a:rPr lang="en-US" sz="1400" b="1" dirty="0">
                <a:solidFill>
                  <a:srgbClr val="3A7BAA"/>
                </a:solidFill>
              </a:rPr>
              <a:t>Medidas de protección actuales</a:t>
            </a:r>
            <a:endParaRPr lang="en-US" sz="1400" dirty="0"/>
          </a:p>
        </p:txBody>
      </p:sp>
      <p:sp>
        <p:nvSpPr>
          <p:cNvPr id="11" name="Shape 9"/>
          <p:cNvSpPr/>
          <p:nvPr/>
        </p:nvSpPr>
        <p:spPr>
          <a:xfrm>
            <a:off x="274320" y="2606040"/>
            <a:ext cx="164592" cy="164592"/>
          </a:xfrm>
          <a:prstGeom prst="ellipse">
            <a:avLst/>
          </a:prstGeom>
          <a:solidFill>
            <a:srgbClr val="3A7BAA"/>
          </a:solidFill>
          <a:ln w="12700">
            <a:solidFill>
              <a:srgbClr val="3A7BAA"/>
            </a:solidFill>
            <a:prstDash val="solid"/>
          </a:ln>
        </p:spPr>
      </p:sp>
      <p:sp>
        <p:nvSpPr>
          <p:cNvPr id="12" name="Text 10"/>
          <p:cNvSpPr/>
          <p:nvPr/>
        </p:nvSpPr>
        <p:spPr>
          <a:xfrm>
            <a:off x="530352" y="2542032"/>
            <a:ext cx="8321040" cy="237744"/>
          </a:xfrm>
          <a:prstGeom prst="rect">
            <a:avLst/>
          </a:prstGeom>
          <a:noFill/>
          <a:ln/>
        </p:spPr>
        <p:txBody>
          <a:bodyPr wrap="square" rtlCol="0" anchor="ctr"/>
          <a:lstStyle/>
          <a:p>
            <a:pPr indent="0" marL="0">
              <a:buNone/>
            </a:pPr>
            <a:r>
              <a:rPr lang="en-US" sz="1050" b="1" dirty="0">
                <a:solidFill>
                  <a:srgbClr val="2D3030"/>
                </a:solidFill>
              </a:rPr>
              <a:t>Encriptación (TLS/HTTPS): </a:t>
            </a:r>
            <a:endParaRPr lang="en-US" sz="1050" dirty="0"/>
          </a:p>
        </p:txBody>
      </p:sp>
      <p:sp>
        <p:nvSpPr>
          <p:cNvPr id="13" name="Text 11"/>
          <p:cNvSpPr/>
          <p:nvPr/>
        </p:nvSpPr>
        <p:spPr>
          <a:xfrm>
            <a:off x="530352" y="2770632"/>
            <a:ext cx="8321040" cy="228600"/>
          </a:xfrm>
          <a:prstGeom prst="rect">
            <a:avLst/>
          </a:prstGeom>
          <a:noFill/>
          <a:ln/>
        </p:spPr>
        <p:txBody>
          <a:bodyPr wrap="square" rtlCol="0" anchor="ctr"/>
          <a:lstStyle/>
          <a:p>
            <a:pPr indent="0" marL="0">
              <a:buNone/>
            </a:pPr>
            <a:r>
              <a:rPr lang="en-US" sz="950" dirty="0">
                <a:solidFill>
                  <a:srgbClr val="404040"/>
                </a:solidFill>
              </a:rPr>
              <a:t>Los datos cifrados son inútiles aunque sean interceptados. Estándar en la web desde 2015+.</a:t>
            </a:r>
            <a:endParaRPr lang="en-US" sz="950" dirty="0"/>
          </a:p>
        </p:txBody>
      </p:sp>
      <p:sp>
        <p:nvSpPr>
          <p:cNvPr id="14" name="Shape 12"/>
          <p:cNvSpPr/>
          <p:nvPr/>
        </p:nvSpPr>
        <p:spPr>
          <a:xfrm>
            <a:off x="274320" y="3099816"/>
            <a:ext cx="164592" cy="164592"/>
          </a:xfrm>
          <a:prstGeom prst="ellipse">
            <a:avLst/>
          </a:prstGeom>
          <a:solidFill>
            <a:srgbClr val="3A7BAA"/>
          </a:solidFill>
          <a:ln w="12700">
            <a:solidFill>
              <a:srgbClr val="3A7BAA"/>
            </a:solidFill>
            <a:prstDash val="solid"/>
          </a:ln>
        </p:spPr>
      </p:sp>
      <p:sp>
        <p:nvSpPr>
          <p:cNvPr id="15" name="Text 13"/>
          <p:cNvSpPr/>
          <p:nvPr/>
        </p:nvSpPr>
        <p:spPr>
          <a:xfrm>
            <a:off x="530352" y="3035808"/>
            <a:ext cx="8321040" cy="237744"/>
          </a:xfrm>
          <a:prstGeom prst="rect">
            <a:avLst/>
          </a:prstGeom>
          <a:noFill/>
          <a:ln/>
        </p:spPr>
        <p:txBody>
          <a:bodyPr wrap="square" rtlCol="0" anchor="ctr"/>
          <a:lstStyle/>
          <a:p>
            <a:pPr indent="0" marL="0">
              <a:buNone/>
            </a:pPr>
            <a:r>
              <a:rPr lang="en-US" sz="1050" b="1" dirty="0">
                <a:solidFill>
                  <a:srgbClr val="2D3030"/>
                </a:solidFill>
              </a:rPr>
              <a:t>Switch en lugar de Hub: </a:t>
            </a:r>
            <a:endParaRPr lang="en-US" sz="1050" dirty="0"/>
          </a:p>
        </p:txBody>
      </p:sp>
      <p:sp>
        <p:nvSpPr>
          <p:cNvPr id="16" name="Text 14"/>
          <p:cNvSpPr/>
          <p:nvPr/>
        </p:nvSpPr>
        <p:spPr>
          <a:xfrm>
            <a:off x="530352" y="3264408"/>
            <a:ext cx="8321040" cy="228600"/>
          </a:xfrm>
          <a:prstGeom prst="rect">
            <a:avLst/>
          </a:prstGeom>
          <a:noFill/>
          <a:ln/>
        </p:spPr>
        <p:txBody>
          <a:bodyPr wrap="square" rtlCol="0" anchor="ctr"/>
          <a:lstStyle/>
          <a:p>
            <a:pPr indent="0" marL="0">
              <a:buNone/>
            </a:pPr>
            <a:r>
              <a:rPr lang="en-US" sz="950" dirty="0">
                <a:solidFill>
                  <a:srgbClr val="404040"/>
                </a:solidFill>
              </a:rPr>
              <a:t>El switch envía cada trama SÓLO al puerto correcto. Elimina el broadcast innecesario.</a:t>
            </a:r>
            <a:endParaRPr lang="en-US" sz="950" dirty="0"/>
          </a:p>
        </p:txBody>
      </p:sp>
      <p:sp>
        <p:nvSpPr>
          <p:cNvPr id="17" name="Shape 15"/>
          <p:cNvSpPr/>
          <p:nvPr/>
        </p:nvSpPr>
        <p:spPr>
          <a:xfrm>
            <a:off x="274320" y="3593592"/>
            <a:ext cx="164592" cy="164592"/>
          </a:xfrm>
          <a:prstGeom prst="ellipse">
            <a:avLst/>
          </a:prstGeom>
          <a:solidFill>
            <a:srgbClr val="3A7BAA"/>
          </a:solidFill>
          <a:ln w="12700">
            <a:solidFill>
              <a:srgbClr val="3A7BAA"/>
            </a:solidFill>
            <a:prstDash val="solid"/>
          </a:ln>
        </p:spPr>
      </p:sp>
      <p:sp>
        <p:nvSpPr>
          <p:cNvPr id="18" name="Text 16"/>
          <p:cNvSpPr/>
          <p:nvPr/>
        </p:nvSpPr>
        <p:spPr>
          <a:xfrm>
            <a:off x="530352" y="3529584"/>
            <a:ext cx="8321040" cy="237744"/>
          </a:xfrm>
          <a:prstGeom prst="rect">
            <a:avLst/>
          </a:prstGeom>
          <a:noFill/>
          <a:ln/>
        </p:spPr>
        <p:txBody>
          <a:bodyPr wrap="square" rtlCol="0" anchor="ctr"/>
          <a:lstStyle/>
          <a:p>
            <a:pPr indent="0" marL="0">
              <a:buNone/>
            </a:pPr>
            <a:r>
              <a:rPr lang="en-US" sz="1050" b="1" dirty="0">
                <a:solidFill>
                  <a:srgbClr val="2D3030"/>
                </a:solidFill>
              </a:rPr>
              <a:t>VLANs: </a:t>
            </a:r>
            <a:endParaRPr lang="en-US" sz="1050" dirty="0"/>
          </a:p>
        </p:txBody>
      </p:sp>
      <p:sp>
        <p:nvSpPr>
          <p:cNvPr id="19" name="Text 17"/>
          <p:cNvSpPr/>
          <p:nvPr/>
        </p:nvSpPr>
        <p:spPr>
          <a:xfrm>
            <a:off x="530352" y="3758184"/>
            <a:ext cx="8321040" cy="228600"/>
          </a:xfrm>
          <a:prstGeom prst="rect">
            <a:avLst/>
          </a:prstGeom>
          <a:noFill/>
          <a:ln/>
        </p:spPr>
        <p:txBody>
          <a:bodyPr wrap="square" rtlCol="0" anchor="ctr"/>
          <a:lstStyle/>
          <a:p>
            <a:pPr indent="0" marL="0">
              <a:buNone/>
            </a:pPr>
            <a:r>
              <a:rPr lang="en-US" sz="950" dirty="0">
                <a:solidFill>
                  <a:srgbClr val="404040"/>
                </a:solidFill>
              </a:rPr>
              <a:t>Segmentan lógicamente la red; aunque compartan infraestructura, los segmentos no se ven entre sí.</a:t>
            </a:r>
            <a:endParaRPr lang="en-US" sz="950" dirty="0"/>
          </a:p>
        </p:txBody>
      </p:sp>
      <p:sp>
        <p:nvSpPr>
          <p:cNvPr id="20" name="Shape 18"/>
          <p:cNvSpPr/>
          <p:nvPr/>
        </p:nvSpPr>
        <p:spPr>
          <a:xfrm>
            <a:off x="274320" y="4087368"/>
            <a:ext cx="164592" cy="164592"/>
          </a:xfrm>
          <a:prstGeom prst="ellipse">
            <a:avLst/>
          </a:prstGeom>
          <a:solidFill>
            <a:srgbClr val="3A7BAA"/>
          </a:solidFill>
          <a:ln w="12700">
            <a:solidFill>
              <a:srgbClr val="3A7BAA"/>
            </a:solidFill>
            <a:prstDash val="solid"/>
          </a:ln>
        </p:spPr>
      </p:sp>
      <p:sp>
        <p:nvSpPr>
          <p:cNvPr id="21" name="Text 19"/>
          <p:cNvSpPr/>
          <p:nvPr/>
        </p:nvSpPr>
        <p:spPr>
          <a:xfrm>
            <a:off x="530352" y="4023360"/>
            <a:ext cx="8321040" cy="237744"/>
          </a:xfrm>
          <a:prstGeom prst="rect">
            <a:avLst/>
          </a:prstGeom>
          <a:noFill/>
          <a:ln/>
        </p:spPr>
        <p:txBody>
          <a:bodyPr wrap="square" rtlCol="0" anchor="ctr"/>
          <a:lstStyle/>
          <a:p>
            <a:pPr indent="0" marL="0">
              <a:buNone/>
            </a:pPr>
            <a:r>
              <a:rPr lang="en-US" sz="1050" b="1" dirty="0">
                <a:solidFill>
                  <a:srgbClr val="2D3030"/>
                </a:solidFill>
              </a:rPr>
              <a:t>802.1X (autenticación de puerto): </a:t>
            </a:r>
            <a:endParaRPr lang="en-US" sz="1050" dirty="0"/>
          </a:p>
        </p:txBody>
      </p:sp>
      <p:sp>
        <p:nvSpPr>
          <p:cNvPr id="22" name="Text 20"/>
          <p:cNvSpPr/>
          <p:nvPr/>
        </p:nvSpPr>
        <p:spPr>
          <a:xfrm>
            <a:off x="530352" y="4251960"/>
            <a:ext cx="8321040" cy="228600"/>
          </a:xfrm>
          <a:prstGeom prst="rect">
            <a:avLst/>
          </a:prstGeom>
          <a:noFill/>
          <a:ln/>
        </p:spPr>
        <p:txBody>
          <a:bodyPr wrap="square" rtlCol="0" anchor="ctr"/>
          <a:lstStyle/>
          <a:p>
            <a:pPr indent="0" marL="0">
              <a:buNone/>
            </a:pPr>
            <a:r>
              <a:rPr lang="en-US" sz="950" dirty="0">
                <a:solidFill>
                  <a:srgbClr val="404040"/>
                </a:solidFill>
              </a:rPr>
              <a:t>Standard actual: ningún dispositivo accede a la red sin autenticarse primero.</a:t>
            </a:r>
            <a:endParaRPr lang="en-US" sz="950" dirty="0"/>
          </a:p>
        </p:txBody>
      </p:sp>
      <p:sp>
        <p:nvSpPr>
          <p:cNvPr id="23" name="Shape 21"/>
          <p:cNvSpPr/>
          <p:nvPr/>
        </p:nvSpPr>
        <p:spPr>
          <a:xfrm>
            <a:off x="274320" y="4581144"/>
            <a:ext cx="164592" cy="164592"/>
          </a:xfrm>
          <a:prstGeom prst="ellipse">
            <a:avLst/>
          </a:prstGeom>
          <a:solidFill>
            <a:srgbClr val="3A7BAA"/>
          </a:solidFill>
          <a:ln w="12700">
            <a:solidFill>
              <a:srgbClr val="3A7BAA"/>
            </a:solidFill>
            <a:prstDash val="solid"/>
          </a:ln>
        </p:spPr>
      </p:sp>
      <p:sp>
        <p:nvSpPr>
          <p:cNvPr id="24" name="Text 22"/>
          <p:cNvSpPr/>
          <p:nvPr/>
        </p:nvSpPr>
        <p:spPr>
          <a:xfrm>
            <a:off x="530352" y="4517136"/>
            <a:ext cx="8321040" cy="237744"/>
          </a:xfrm>
          <a:prstGeom prst="rect">
            <a:avLst/>
          </a:prstGeom>
          <a:noFill/>
          <a:ln/>
        </p:spPr>
        <p:txBody>
          <a:bodyPr wrap="square" rtlCol="0" anchor="ctr"/>
          <a:lstStyle/>
          <a:p>
            <a:pPr indent="0" marL="0">
              <a:buNone/>
            </a:pPr>
            <a:r>
              <a:rPr lang="en-US" sz="1050" b="1" dirty="0">
                <a:solidFill>
                  <a:srgbClr val="2D3030"/>
                </a:solidFill>
              </a:rPr>
              <a:t>Seguridad física: </a:t>
            </a:r>
            <a:endParaRPr lang="en-US" sz="1050" dirty="0"/>
          </a:p>
        </p:txBody>
      </p:sp>
      <p:sp>
        <p:nvSpPr>
          <p:cNvPr id="25" name="Text 23"/>
          <p:cNvSpPr/>
          <p:nvPr/>
        </p:nvSpPr>
        <p:spPr>
          <a:xfrm>
            <a:off x="530352" y="4745736"/>
            <a:ext cx="8321040" cy="228600"/>
          </a:xfrm>
          <a:prstGeom prst="rect">
            <a:avLst/>
          </a:prstGeom>
          <a:noFill/>
          <a:ln/>
        </p:spPr>
        <p:txBody>
          <a:bodyPr wrap="square" rtlCol="0" anchor="ctr"/>
          <a:lstStyle/>
          <a:p>
            <a:pPr indent="0" marL="0">
              <a:buNone/>
            </a:pPr>
            <a:r>
              <a:rPr lang="en-US" sz="950" dirty="0">
                <a:solidFill>
                  <a:srgbClr val="404040"/>
                </a:solidFill>
              </a:rPr>
              <a:t>Control de acceso físico al cableado. Ej.: monitoreo de presión de gas en conduits (soluciones enterprise).</a:t>
            </a:r>
            <a:endParaRPr lang="en-US" sz="950" dirty="0"/>
          </a:p>
        </p:txBody>
      </p:sp>
      <p:sp>
        <p:nvSpPr>
          <p:cNvPr id="26" name="Shape 24"/>
          <p:cNvSpPr/>
          <p:nvPr/>
        </p:nvSpPr>
        <p:spPr>
          <a:xfrm>
            <a:off x="0" y="4850892"/>
            <a:ext cx="9144000" cy="292608"/>
          </a:xfrm>
          <a:prstGeom prst="rect">
            <a:avLst/>
          </a:prstGeom>
          <a:solidFill>
            <a:srgbClr val="2D3030"/>
          </a:solidFill>
          <a:ln w="12700">
            <a:solidFill>
              <a:srgbClr val="2D3030"/>
            </a:solidFill>
            <a:prstDash val="solid"/>
          </a:ln>
        </p:spPr>
      </p:sp>
      <p:sp>
        <p:nvSpPr>
          <p:cNvPr id="27" name="Text 25"/>
          <p:cNvSpPr/>
          <p:nvPr/>
        </p:nvSpPr>
        <p:spPr>
          <a:xfrm>
            <a:off x="182880" y="4869180"/>
            <a:ext cx="5486400" cy="256032"/>
          </a:xfrm>
          <a:prstGeom prst="rect">
            <a:avLst/>
          </a:prstGeom>
          <a:noFill/>
          <a:ln/>
        </p:spPr>
        <p:txBody>
          <a:bodyPr wrap="square" rtlCol="0" anchor="ctr"/>
          <a:lstStyle/>
          <a:p>
            <a:pPr indent="0" marL="0">
              <a:buNone/>
            </a:pPr>
            <a:r>
              <a:rPr lang="en-US" sz="800" dirty="0">
                <a:solidFill>
                  <a:srgbClr val="808080"/>
                </a:solidFill>
                <a:latin typeface="Arial" pitchFamily="34" charset="0"/>
                <a:ea typeface="Arial" pitchFamily="34" charset="-122"/>
                <a:cs typeface="Arial" pitchFamily="34" charset="-120"/>
              </a:rPr>
              <a:t>SP5 · H1 · Topologías LAN</a:t>
            </a:r>
            <a:endParaRPr lang="en-US" sz="800" dirty="0"/>
          </a:p>
        </p:txBody>
      </p:sp>
      <p:sp>
        <p:nvSpPr>
          <p:cNvPr id="28" name="Text 26"/>
          <p:cNvSpPr/>
          <p:nvPr/>
        </p:nvSpPr>
        <p:spPr>
          <a:xfrm>
            <a:off x="6583680" y="4869180"/>
            <a:ext cx="2377440" cy="256032"/>
          </a:xfrm>
          <a:prstGeom prst="rect">
            <a:avLst/>
          </a:prstGeom>
          <a:noFill/>
          <a:ln/>
        </p:spPr>
        <p:txBody>
          <a:bodyPr wrap="square" rtlCol="0" anchor="ctr"/>
          <a:lstStyle/>
          <a:p>
            <a:pPr algn="r" indent="0" marL="0">
              <a:buNone/>
            </a:pPr>
            <a:r>
              <a:rPr lang="en-US" sz="800" dirty="0">
                <a:solidFill>
                  <a:srgbClr val="B9DEF8"/>
                </a:solidFill>
                <a:latin typeface="Arial" pitchFamily="34" charset="0"/>
                <a:ea typeface="Arial" pitchFamily="34" charset="-122"/>
                <a:cs typeface="Arial" pitchFamily="34" charset="-120"/>
              </a:rPr>
              <a:t>Seguridad</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12700">
            <a:solidFill>
              <a:srgbClr val="2D3030"/>
            </a:solidFill>
            <a:prstDash val="solid"/>
          </a:ln>
        </p:spPr>
      </p:sp>
      <p:sp>
        <p:nvSpPr>
          <p:cNvPr id="3" name="Shape 1"/>
          <p:cNvSpPr/>
          <p:nvPr/>
        </p:nvSpPr>
        <p:spPr>
          <a:xfrm>
            <a:off x="0" y="0"/>
            <a:ext cx="109728" cy="1005840"/>
          </a:xfrm>
          <a:prstGeom prst="rect">
            <a:avLst/>
          </a:prstGeom>
          <a:solidFill>
            <a:srgbClr val="5AA8D8"/>
          </a:solidFill>
          <a:ln w="12700">
            <a:solidFill>
              <a:srgbClr val="5AA8D8"/>
            </a:solidFill>
            <a:prstDash val="solid"/>
          </a:ln>
        </p:spPr>
      </p:sp>
      <p:sp>
        <p:nvSpPr>
          <p:cNvPr id="4" name="Text 2"/>
          <p:cNvSpPr/>
          <p:nvPr/>
        </p:nvSpPr>
        <p:spPr>
          <a:xfrm>
            <a:off x="228600" y="73152"/>
            <a:ext cx="868680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Topologías Wireless – Ad-Hoc (IBSS)</a:t>
            </a:r>
            <a:endParaRPr lang="en-US" sz="2200" dirty="0"/>
          </a:p>
        </p:txBody>
      </p:sp>
      <p:sp>
        <p:nvSpPr>
          <p:cNvPr id="5" name="Text 3"/>
          <p:cNvSpPr/>
          <p:nvPr/>
        </p:nvSpPr>
        <p:spPr>
          <a:xfrm>
            <a:off x="228600" y="566928"/>
            <a:ext cx="8686800" cy="347472"/>
          </a:xfrm>
          <a:prstGeom prst="rect">
            <a:avLst/>
          </a:prstGeom>
          <a:noFill/>
          <a:ln/>
        </p:spPr>
        <p:txBody>
          <a:bodyPr wrap="square" rtlCol="0" anchor="ctr"/>
          <a:lstStyle/>
          <a:p>
            <a:pPr indent="0" marL="0">
              <a:buNone/>
            </a:pPr>
            <a:r>
              <a:rPr lang="en-US" sz="1100" i="1" dirty="0">
                <a:solidFill>
                  <a:srgbClr val="B9DEF8"/>
                </a:solidFill>
                <a:latin typeface="Arial" pitchFamily="34" charset="0"/>
                <a:ea typeface="Arial" pitchFamily="34" charset="-122"/>
                <a:cs typeface="Arial" pitchFamily="34" charset="-120"/>
              </a:rPr>
              <a:t>Peer-to-peer sin infraestructura central</a:t>
            </a:r>
            <a:endParaRPr lang="en-US" sz="1100" dirty="0"/>
          </a:p>
        </p:txBody>
      </p:sp>
      <p:sp>
        <p:nvSpPr>
          <p:cNvPr id="6" name="Shape 4"/>
          <p:cNvSpPr/>
          <p:nvPr/>
        </p:nvSpPr>
        <p:spPr>
          <a:xfrm>
            <a:off x="868680" y="1508760"/>
            <a:ext cx="1280160" cy="1005840"/>
          </a:xfrm>
          <a:prstGeom prst="line">
            <a:avLst/>
          </a:prstGeom>
          <a:noFill/>
          <a:ln w="19050">
            <a:solidFill>
              <a:srgbClr val="B9DEF8"/>
            </a:solidFill>
            <a:prstDash val="dash"/>
          </a:ln>
        </p:spPr>
      </p:sp>
      <p:sp>
        <p:nvSpPr>
          <p:cNvPr id="7" name="Shape 5"/>
          <p:cNvSpPr/>
          <p:nvPr/>
        </p:nvSpPr>
        <p:spPr>
          <a:xfrm>
            <a:off x="2148840" y="2514600"/>
            <a:ext cx="-731520" cy="914400"/>
          </a:xfrm>
          <a:prstGeom prst="line">
            <a:avLst/>
          </a:prstGeom>
          <a:noFill/>
          <a:ln w="19050">
            <a:solidFill>
              <a:srgbClr val="B9DEF8"/>
            </a:solidFill>
            <a:prstDash val="dash"/>
          </a:ln>
        </p:spPr>
      </p:sp>
      <p:sp>
        <p:nvSpPr>
          <p:cNvPr id="8" name="Shape 6"/>
          <p:cNvSpPr/>
          <p:nvPr/>
        </p:nvSpPr>
        <p:spPr>
          <a:xfrm>
            <a:off x="2148840" y="2514600"/>
            <a:ext cx="914400" cy="-731520"/>
          </a:xfrm>
          <a:prstGeom prst="line">
            <a:avLst/>
          </a:prstGeom>
          <a:noFill/>
          <a:ln w="19050">
            <a:solidFill>
              <a:srgbClr val="B9DEF8"/>
            </a:solidFill>
            <a:prstDash val="dash"/>
          </a:ln>
        </p:spPr>
      </p:sp>
      <p:sp>
        <p:nvSpPr>
          <p:cNvPr id="9" name="Shape 7"/>
          <p:cNvSpPr/>
          <p:nvPr/>
        </p:nvSpPr>
        <p:spPr>
          <a:xfrm>
            <a:off x="1417320" y="3429000"/>
            <a:ext cx="2011680" cy="-182880"/>
          </a:xfrm>
          <a:prstGeom prst="line">
            <a:avLst/>
          </a:prstGeom>
          <a:noFill/>
          <a:ln w="19050">
            <a:solidFill>
              <a:srgbClr val="B9DEF8"/>
            </a:solidFill>
            <a:prstDash val="dash"/>
          </a:ln>
        </p:spPr>
      </p:sp>
      <p:sp>
        <p:nvSpPr>
          <p:cNvPr id="10" name="Shape 8"/>
          <p:cNvSpPr/>
          <p:nvPr/>
        </p:nvSpPr>
        <p:spPr>
          <a:xfrm>
            <a:off x="3063240" y="1783080"/>
            <a:ext cx="365760" cy="1463040"/>
          </a:xfrm>
          <a:prstGeom prst="line">
            <a:avLst/>
          </a:prstGeom>
          <a:noFill/>
          <a:ln w="19050">
            <a:solidFill>
              <a:srgbClr val="B9DEF8"/>
            </a:solidFill>
            <a:prstDash val="dash"/>
          </a:ln>
        </p:spPr>
      </p:sp>
      <p:sp>
        <p:nvSpPr>
          <p:cNvPr id="11" name="Shape 9"/>
          <p:cNvSpPr/>
          <p:nvPr/>
        </p:nvSpPr>
        <p:spPr>
          <a:xfrm>
            <a:off x="731520" y="1371600"/>
            <a:ext cx="292608" cy="292608"/>
          </a:xfrm>
          <a:prstGeom prst="ellipse">
            <a:avLst/>
          </a:prstGeom>
          <a:solidFill>
            <a:srgbClr val="5AA8D8"/>
          </a:solidFill>
          <a:ln w="12700">
            <a:solidFill>
              <a:srgbClr val="3A7BAA"/>
            </a:solidFill>
            <a:prstDash val="solid"/>
          </a:ln>
        </p:spPr>
      </p:sp>
      <p:sp>
        <p:nvSpPr>
          <p:cNvPr id="12" name="Text 10"/>
          <p:cNvSpPr/>
          <p:nvPr/>
        </p:nvSpPr>
        <p:spPr>
          <a:xfrm>
            <a:off x="731520" y="1371600"/>
            <a:ext cx="292608" cy="292608"/>
          </a:xfrm>
          <a:prstGeom prst="rect">
            <a:avLst/>
          </a:prstGeom>
          <a:noFill/>
          <a:ln/>
        </p:spPr>
        <p:txBody>
          <a:bodyPr wrap="square" rtlCol="0" anchor="ctr"/>
          <a:lstStyle/>
          <a:p>
            <a:pPr algn="ctr" indent="0" marL="0">
              <a:buNone/>
            </a:pPr>
            <a:r>
              <a:rPr lang="en-US" sz="700" dirty="0">
                <a:solidFill>
                  <a:srgbClr val="FFFFFF"/>
                </a:solidFill>
              </a:rPr>
              <a:t>NB</a:t>
            </a:r>
            <a:endParaRPr lang="en-US" sz="700" dirty="0"/>
          </a:p>
        </p:txBody>
      </p:sp>
      <p:sp>
        <p:nvSpPr>
          <p:cNvPr id="13" name="Shape 11"/>
          <p:cNvSpPr/>
          <p:nvPr/>
        </p:nvSpPr>
        <p:spPr>
          <a:xfrm>
            <a:off x="2011680" y="2377440"/>
            <a:ext cx="292608" cy="292608"/>
          </a:xfrm>
          <a:prstGeom prst="ellipse">
            <a:avLst/>
          </a:prstGeom>
          <a:solidFill>
            <a:srgbClr val="5AA8D8"/>
          </a:solidFill>
          <a:ln w="12700">
            <a:solidFill>
              <a:srgbClr val="3A7BAA"/>
            </a:solidFill>
            <a:prstDash val="solid"/>
          </a:ln>
        </p:spPr>
      </p:sp>
      <p:sp>
        <p:nvSpPr>
          <p:cNvPr id="14" name="Text 12"/>
          <p:cNvSpPr/>
          <p:nvPr/>
        </p:nvSpPr>
        <p:spPr>
          <a:xfrm>
            <a:off x="2011680" y="2377440"/>
            <a:ext cx="292608" cy="292608"/>
          </a:xfrm>
          <a:prstGeom prst="rect">
            <a:avLst/>
          </a:prstGeom>
          <a:noFill/>
          <a:ln/>
        </p:spPr>
        <p:txBody>
          <a:bodyPr wrap="square" rtlCol="0" anchor="ctr"/>
          <a:lstStyle/>
          <a:p>
            <a:pPr algn="ctr" indent="0" marL="0">
              <a:buNone/>
            </a:pPr>
            <a:r>
              <a:rPr lang="en-US" sz="700" dirty="0">
                <a:solidFill>
                  <a:srgbClr val="FFFFFF"/>
                </a:solidFill>
              </a:rPr>
              <a:t>PC</a:t>
            </a:r>
            <a:endParaRPr lang="en-US" sz="700" dirty="0"/>
          </a:p>
        </p:txBody>
      </p:sp>
      <p:sp>
        <p:nvSpPr>
          <p:cNvPr id="15" name="Shape 13"/>
          <p:cNvSpPr/>
          <p:nvPr/>
        </p:nvSpPr>
        <p:spPr>
          <a:xfrm>
            <a:off x="1280160" y="3291840"/>
            <a:ext cx="292608" cy="292608"/>
          </a:xfrm>
          <a:prstGeom prst="ellipse">
            <a:avLst/>
          </a:prstGeom>
          <a:solidFill>
            <a:srgbClr val="5AA8D8"/>
          </a:solidFill>
          <a:ln w="12700">
            <a:solidFill>
              <a:srgbClr val="3A7BAA"/>
            </a:solidFill>
            <a:prstDash val="solid"/>
          </a:ln>
        </p:spPr>
      </p:sp>
      <p:sp>
        <p:nvSpPr>
          <p:cNvPr id="16" name="Text 14"/>
          <p:cNvSpPr/>
          <p:nvPr/>
        </p:nvSpPr>
        <p:spPr>
          <a:xfrm>
            <a:off x="1280160" y="3291840"/>
            <a:ext cx="292608" cy="292608"/>
          </a:xfrm>
          <a:prstGeom prst="rect">
            <a:avLst/>
          </a:prstGeom>
          <a:noFill/>
          <a:ln/>
        </p:spPr>
        <p:txBody>
          <a:bodyPr wrap="square" rtlCol="0" anchor="ctr"/>
          <a:lstStyle/>
          <a:p>
            <a:pPr algn="ctr" indent="0" marL="0">
              <a:buNone/>
            </a:pPr>
            <a:r>
              <a:rPr lang="en-US" sz="700" dirty="0">
                <a:solidFill>
                  <a:srgbClr val="FFFFFF"/>
                </a:solidFill>
              </a:rPr>
              <a:t>Tab</a:t>
            </a:r>
            <a:endParaRPr lang="en-US" sz="700" dirty="0"/>
          </a:p>
        </p:txBody>
      </p:sp>
      <p:sp>
        <p:nvSpPr>
          <p:cNvPr id="17" name="Shape 15"/>
          <p:cNvSpPr/>
          <p:nvPr/>
        </p:nvSpPr>
        <p:spPr>
          <a:xfrm>
            <a:off x="2926080" y="1645920"/>
            <a:ext cx="292608" cy="292608"/>
          </a:xfrm>
          <a:prstGeom prst="ellipse">
            <a:avLst/>
          </a:prstGeom>
          <a:solidFill>
            <a:srgbClr val="5AA8D8"/>
          </a:solidFill>
          <a:ln w="12700">
            <a:solidFill>
              <a:srgbClr val="3A7BAA"/>
            </a:solidFill>
            <a:prstDash val="solid"/>
          </a:ln>
        </p:spPr>
      </p:sp>
      <p:sp>
        <p:nvSpPr>
          <p:cNvPr id="18" name="Text 16"/>
          <p:cNvSpPr/>
          <p:nvPr/>
        </p:nvSpPr>
        <p:spPr>
          <a:xfrm>
            <a:off x="2926080" y="1645920"/>
            <a:ext cx="292608" cy="292608"/>
          </a:xfrm>
          <a:prstGeom prst="rect">
            <a:avLst/>
          </a:prstGeom>
          <a:noFill/>
          <a:ln/>
        </p:spPr>
        <p:txBody>
          <a:bodyPr wrap="square" rtlCol="0" anchor="ctr"/>
          <a:lstStyle/>
          <a:p>
            <a:pPr algn="ctr" indent="0" marL="0">
              <a:buNone/>
            </a:pPr>
            <a:r>
              <a:rPr lang="en-US" sz="700" dirty="0">
                <a:solidFill>
                  <a:srgbClr val="FFFFFF"/>
                </a:solidFill>
              </a:rPr>
              <a:t>Cel</a:t>
            </a:r>
            <a:endParaRPr lang="en-US" sz="700" dirty="0"/>
          </a:p>
        </p:txBody>
      </p:sp>
      <p:sp>
        <p:nvSpPr>
          <p:cNvPr id="19" name="Shape 17"/>
          <p:cNvSpPr/>
          <p:nvPr/>
        </p:nvSpPr>
        <p:spPr>
          <a:xfrm>
            <a:off x="3291840" y="3108960"/>
            <a:ext cx="292608" cy="292608"/>
          </a:xfrm>
          <a:prstGeom prst="ellipse">
            <a:avLst/>
          </a:prstGeom>
          <a:solidFill>
            <a:srgbClr val="5AA8D8"/>
          </a:solidFill>
          <a:ln w="12700">
            <a:solidFill>
              <a:srgbClr val="3A7BAA"/>
            </a:solidFill>
            <a:prstDash val="solid"/>
          </a:ln>
        </p:spPr>
      </p:sp>
      <p:sp>
        <p:nvSpPr>
          <p:cNvPr id="20" name="Text 18"/>
          <p:cNvSpPr/>
          <p:nvPr/>
        </p:nvSpPr>
        <p:spPr>
          <a:xfrm>
            <a:off x="3291840" y="3108960"/>
            <a:ext cx="292608" cy="292608"/>
          </a:xfrm>
          <a:prstGeom prst="rect">
            <a:avLst/>
          </a:prstGeom>
          <a:noFill/>
          <a:ln/>
        </p:spPr>
        <p:txBody>
          <a:bodyPr wrap="square" rtlCol="0" anchor="ctr"/>
          <a:lstStyle/>
          <a:p>
            <a:pPr algn="ctr" indent="0" marL="0">
              <a:buNone/>
            </a:pPr>
            <a:r>
              <a:rPr lang="en-US" sz="700" dirty="0">
                <a:solidFill>
                  <a:srgbClr val="FFFFFF"/>
                </a:solidFill>
              </a:rPr>
              <a:t>NB2</a:t>
            </a:r>
            <a:endParaRPr lang="en-US" sz="700" dirty="0"/>
          </a:p>
        </p:txBody>
      </p:sp>
      <p:sp>
        <p:nvSpPr>
          <p:cNvPr id="21" name="Text 19"/>
          <p:cNvSpPr/>
          <p:nvPr/>
        </p:nvSpPr>
        <p:spPr>
          <a:xfrm>
            <a:off x="457200" y="3703320"/>
            <a:ext cx="3474720" cy="256032"/>
          </a:xfrm>
          <a:prstGeom prst="rect">
            <a:avLst/>
          </a:prstGeom>
          <a:noFill/>
          <a:ln/>
        </p:spPr>
        <p:txBody>
          <a:bodyPr wrap="square" rtlCol="0" anchor="ctr"/>
          <a:lstStyle/>
          <a:p>
            <a:pPr algn="ctr" indent="0" marL="0">
              <a:buNone/>
            </a:pPr>
            <a:r>
              <a:rPr lang="en-US" sz="800" i="1" dirty="0">
                <a:solidFill>
                  <a:srgbClr val="808080"/>
                </a:solidFill>
              </a:rPr>
              <a:t>Ad-Hoc: sin nodo central</a:t>
            </a:r>
            <a:endParaRPr lang="en-US" sz="800" dirty="0"/>
          </a:p>
        </p:txBody>
      </p:sp>
      <p:sp>
        <p:nvSpPr>
          <p:cNvPr id="22" name="Shape 20"/>
          <p:cNvSpPr/>
          <p:nvPr/>
        </p:nvSpPr>
        <p:spPr>
          <a:xfrm>
            <a:off x="4251960" y="1234440"/>
            <a:ext cx="146304" cy="146304"/>
          </a:xfrm>
          <a:prstGeom prst="ellipse">
            <a:avLst/>
          </a:prstGeom>
          <a:solidFill>
            <a:srgbClr val="5AA8D8"/>
          </a:solidFill>
          <a:ln w="12700">
            <a:solidFill>
              <a:srgbClr val="5AA8D8"/>
            </a:solidFill>
            <a:prstDash val="solid"/>
          </a:ln>
        </p:spPr>
      </p:sp>
      <p:sp>
        <p:nvSpPr>
          <p:cNvPr id="23" name="Text 21"/>
          <p:cNvSpPr/>
          <p:nvPr/>
        </p:nvSpPr>
        <p:spPr>
          <a:xfrm>
            <a:off x="4480560" y="1188720"/>
            <a:ext cx="4480560" cy="411480"/>
          </a:xfrm>
          <a:prstGeom prst="rect">
            <a:avLst/>
          </a:prstGeom>
          <a:noFill/>
          <a:ln/>
        </p:spPr>
        <p:txBody>
          <a:bodyPr wrap="square" rtlCol="0" anchor="ctr"/>
          <a:lstStyle/>
          <a:p>
            <a:pPr indent="0" marL="0">
              <a:buNone/>
            </a:pPr>
            <a:r>
              <a:rPr lang="en-US" sz="1000" dirty="0">
                <a:solidFill>
                  <a:srgbClr val="404040"/>
                </a:solidFill>
              </a:rPr>
              <a:t>Los propios dispositivos crean la red (peer-to-peer); no requiere Access Point.</a:t>
            </a:r>
            <a:endParaRPr lang="en-US" sz="1000" dirty="0"/>
          </a:p>
        </p:txBody>
      </p:sp>
      <p:sp>
        <p:nvSpPr>
          <p:cNvPr id="24" name="Shape 22"/>
          <p:cNvSpPr/>
          <p:nvPr/>
        </p:nvSpPr>
        <p:spPr>
          <a:xfrm>
            <a:off x="4251960" y="1691640"/>
            <a:ext cx="146304" cy="146304"/>
          </a:xfrm>
          <a:prstGeom prst="ellipse">
            <a:avLst/>
          </a:prstGeom>
          <a:solidFill>
            <a:srgbClr val="5AA8D8"/>
          </a:solidFill>
          <a:ln w="12700">
            <a:solidFill>
              <a:srgbClr val="5AA8D8"/>
            </a:solidFill>
            <a:prstDash val="solid"/>
          </a:ln>
        </p:spPr>
      </p:sp>
      <p:sp>
        <p:nvSpPr>
          <p:cNvPr id="25" name="Text 23"/>
          <p:cNvSpPr/>
          <p:nvPr/>
        </p:nvSpPr>
        <p:spPr>
          <a:xfrm>
            <a:off x="4480560" y="1645920"/>
            <a:ext cx="4480560" cy="411480"/>
          </a:xfrm>
          <a:prstGeom prst="rect">
            <a:avLst/>
          </a:prstGeom>
          <a:noFill/>
          <a:ln/>
        </p:spPr>
        <p:txBody>
          <a:bodyPr wrap="square" rtlCol="0" anchor="ctr"/>
          <a:lstStyle/>
          <a:p>
            <a:pPr indent="0" marL="0">
              <a:buNone/>
            </a:pPr>
            <a:r>
              <a:rPr lang="en-US" sz="1000" dirty="0">
                <a:solidFill>
                  <a:srgbClr val="404040"/>
                </a:solidFill>
              </a:rPr>
              <a:t>Todos los nodos deben usar el mismo SSID.</a:t>
            </a:r>
            <a:endParaRPr lang="en-US" sz="1000" dirty="0"/>
          </a:p>
        </p:txBody>
      </p:sp>
      <p:sp>
        <p:nvSpPr>
          <p:cNvPr id="26" name="Shape 24"/>
          <p:cNvSpPr/>
          <p:nvPr/>
        </p:nvSpPr>
        <p:spPr>
          <a:xfrm>
            <a:off x="4251960" y="2148840"/>
            <a:ext cx="146304" cy="146304"/>
          </a:xfrm>
          <a:prstGeom prst="ellipse">
            <a:avLst/>
          </a:prstGeom>
          <a:solidFill>
            <a:srgbClr val="5AA8D8"/>
          </a:solidFill>
          <a:ln w="12700">
            <a:solidFill>
              <a:srgbClr val="5AA8D8"/>
            </a:solidFill>
            <a:prstDash val="solid"/>
          </a:ln>
        </p:spPr>
      </p:sp>
      <p:sp>
        <p:nvSpPr>
          <p:cNvPr id="27" name="Text 25"/>
          <p:cNvSpPr/>
          <p:nvPr/>
        </p:nvSpPr>
        <p:spPr>
          <a:xfrm>
            <a:off x="4480560" y="2103120"/>
            <a:ext cx="4480560" cy="411480"/>
          </a:xfrm>
          <a:prstGeom prst="rect">
            <a:avLst/>
          </a:prstGeom>
          <a:noFill/>
          <a:ln/>
        </p:spPr>
        <p:txBody>
          <a:bodyPr wrap="square" rtlCol="0" anchor="ctr"/>
          <a:lstStyle/>
          <a:p>
            <a:pPr indent="0" marL="0">
              <a:buNone/>
            </a:pPr>
            <a:r>
              <a:rPr lang="en-US" sz="1000" dirty="0">
                <a:solidFill>
                  <a:srgbClr val="404040"/>
                </a:solidFill>
              </a:rPr>
              <a:t>Limite práctico: ~9 dispositivos (recomendación Windows). Rendimiento cae al crecer.</a:t>
            </a:r>
            <a:endParaRPr lang="en-US" sz="1000" dirty="0"/>
          </a:p>
        </p:txBody>
      </p:sp>
      <p:sp>
        <p:nvSpPr>
          <p:cNvPr id="28" name="Shape 26"/>
          <p:cNvSpPr/>
          <p:nvPr/>
        </p:nvSpPr>
        <p:spPr>
          <a:xfrm>
            <a:off x="4251960" y="2606040"/>
            <a:ext cx="146304" cy="146304"/>
          </a:xfrm>
          <a:prstGeom prst="ellipse">
            <a:avLst/>
          </a:prstGeom>
          <a:solidFill>
            <a:srgbClr val="5AA8D8"/>
          </a:solidFill>
          <a:ln w="12700">
            <a:solidFill>
              <a:srgbClr val="5AA8D8"/>
            </a:solidFill>
            <a:prstDash val="solid"/>
          </a:ln>
        </p:spPr>
      </p:sp>
      <p:sp>
        <p:nvSpPr>
          <p:cNvPr id="29" name="Text 27"/>
          <p:cNvSpPr/>
          <p:nvPr/>
        </p:nvSpPr>
        <p:spPr>
          <a:xfrm>
            <a:off x="4480560" y="2560320"/>
            <a:ext cx="4480560" cy="411480"/>
          </a:xfrm>
          <a:prstGeom prst="rect">
            <a:avLst/>
          </a:prstGeom>
          <a:noFill/>
          <a:ln/>
        </p:spPr>
        <p:txBody>
          <a:bodyPr wrap="square" rtlCol="0" anchor="ctr"/>
          <a:lstStyle/>
          <a:p>
            <a:pPr indent="0" marL="0">
              <a:buNone/>
            </a:pPr>
            <a:r>
              <a:rPr lang="en-US" sz="1000" dirty="0">
                <a:solidFill>
                  <a:srgbClr val="404040"/>
                </a:solidFill>
              </a:rPr>
              <a:t>Uso ideal: intercambio de archivos rápido, situaciones de emergencia, entornos sin infraestructura.</a:t>
            </a:r>
            <a:endParaRPr lang="en-US" sz="1000" dirty="0"/>
          </a:p>
        </p:txBody>
      </p:sp>
      <p:sp>
        <p:nvSpPr>
          <p:cNvPr id="30" name="Shape 28"/>
          <p:cNvSpPr/>
          <p:nvPr/>
        </p:nvSpPr>
        <p:spPr>
          <a:xfrm>
            <a:off x="4251960" y="3063240"/>
            <a:ext cx="146304" cy="146304"/>
          </a:xfrm>
          <a:prstGeom prst="ellipse">
            <a:avLst/>
          </a:prstGeom>
          <a:solidFill>
            <a:srgbClr val="5AA8D8"/>
          </a:solidFill>
          <a:ln w="12700">
            <a:solidFill>
              <a:srgbClr val="5AA8D8"/>
            </a:solidFill>
            <a:prstDash val="solid"/>
          </a:ln>
        </p:spPr>
      </p:sp>
      <p:sp>
        <p:nvSpPr>
          <p:cNvPr id="31" name="Text 29"/>
          <p:cNvSpPr/>
          <p:nvPr/>
        </p:nvSpPr>
        <p:spPr>
          <a:xfrm>
            <a:off x="4480560" y="3017520"/>
            <a:ext cx="4480560" cy="411480"/>
          </a:xfrm>
          <a:prstGeom prst="rect">
            <a:avLst/>
          </a:prstGeom>
          <a:noFill/>
          <a:ln/>
        </p:spPr>
        <p:txBody>
          <a:bodyPr wrap="square" rtlCol="0" anchor="ctr"/>
          <a:lstStyle/>
          <a:p>
            <a:pPr indent="0" marL="0">
              <a:buNone/>
            </a:pPr>
            <a:r>
              <a:rPr lang="en-US" sz="1000" dirty="0">
                <a:solidFill>
                  <a:srgbClr val="404040"/>
                </a:solidFill>
              </a:rPr>
              <a:t>Casos de uso modernos: Bluetooth PAN, WiFi Direct, AirDrop de Apple.</a:t>
            </a:r>
            <a:endParaRPr lang="en-US" sz="1000" dirty="0"/>
          </a:p>
        </p:txBody>
      </p:sp>
      <p:sp>
        <p:nvSpPr>
          <p:cNvPr id="32" name="Shape 30"/>
          <p:cNvSpPr/>
          <p:nvPr/>
        </p:nvSpPr>
        <p:spPr>
          <a:xfrm>
            <a:off x="4251960" y="3520440"/>
            <a:ext cx="146304" cy="146304"/>
          </a:xfrm>
          <a:prstGeom prst="ellipse">
            <a:avLst/>
          </a:prstGeom>
          <a:solidFill>
            <a:srgbClr val="5AA8D8"/>
          </a:solidFill>
          <a:ln w="12700">
            <a:solidFill>
              <a:srgbClr val="5AA8D8"/>
            </a:solidFill>
            <a:prstDash val="solid"/>
          </a:ln>
        </p:spPr>
      </p:sp>
      <p:sp>
        <p:nvSpPr>
          <p:cNvPr id="33" name="Text 31"/>
          <p:cNvSpPr/>
          <p:nvPr/>
        </p:nvSpPr>
        <p:spPr>
          <a:xfrm>
            <a:off x="4480560" y="3474720"/>
            <a:ext cx="4480560" cy="411480"/>
          </a:xfrm>
          <a:prstGeom prst="rect">
            <a:avLst/>
          </a:prstGeom>
          <a:noFill/>
          <a:ln/>
        </p:spPr>
        <p:txBody>
          <a:bodyPr wrap="square" rtlCol="0" anchor="ctr"/>
          <a:lstStyle/>
          <a:p>
            <a:pPr indent="0" marL="0">
              <a:buNone/>
            </a:pPr>
            <a:r>
              <a:rPr lang="en-US" sz="1000" dirty="0">
                <a:solidFill>
                  <a:srgbClr val="404040"/>
                </a:solidFill>
              </a:rPr>
              <a:t>Seguridad: más vulnerable. Sin AP central, difícil aplicar políticas unificadas.</a:t>
            </a:r>
            <a:endParaRPr lang="en-US" sz="1000" dirty="0"/>
          </a:p>
        </p:txBody>
      </p:sp>
      <p:sp>
        <p:nvSpPr>
          <p:cNvPr id="34" name="Shape 32"/>
          <p:cNvSpPr/>
          <p:nvPr/>
        </p:nvSpPr>
        <p:spPr>
          <a:xfrm>
            <a:off x="0" y="4850892"/>
            <a:ext cx="9144000" cy="292608"/>
          </a:xfrm>
          <a:prstGeom prst="rect">
            <a:avLst/>
          </a:prstGeom>
          <a:solidFill>
            <a:srgbClr val="2D3030"/>
          </a:solidFill>
          <a:ln w="12700">
            <a:solidFill>
              <a:srgbClr val="2D3030"/>
            </a:solidFill>
            <a:prstDash val="solid"/>
          </a:ln>
        </p:spPr>
      </p:sp>
      <p:sp>
        <p:nvSpPr>
          <p:cNvPr id="35" name="Text 33"/>
          <p:cNvSpPr/>
          <p:nvPr/>
        </p:nvSpPr>
        <p:spPr>
          <a:xfrm>
            <a:off x="182880" y="4869180"/>
            <a:ext cx="5486400" cy="256032"/>
          </a:xfrm>
          <a:prstGeom prst="rect">
            <a:avLst/>
          </a:prstGeom>
          <a:noFill/>
          <a:ln/>
        </p:spPr>
        <p:txBody>
          <a:bodyPr wrap="square" rtlCol="0" anchor="ctr"/>
          <a:lstStyle/>
          <a:p>
            <a:pPr indent="0" marL="0">
              <a:buNone/>
            </a:pPr>
            <a:r>
              <a:rPr lang="en-US" sz="800" dirty="0">
                <a:solidFill>
                  <a:srgbClr val="808080"/>
                </a:solidFill>
                <a:latin typeface="Arial" pitchFamily="34" charset="0"/>
                <a:ea typeface="Arial" pitchFamily="34" charset="-122"/>
                <a:cs typeface="Arial" pitchFamily="34" charset="-120"/>
              </a:rPr>
              <a:t>SP5 · H1 · Topologías LAN</a:t>
            </a:r>
            <a:endParaRPr lang="en-US" sz="800" dirty="0"/>
          </a:p>
        </p:txBody>
      </p:sp>
      <p:sp>
        <p:nvSpPr>
          <p:cNvPr id="36" name="Text 34"/>
          <p:cNvSpPr/>
          <p:nvPr/>
        </p:nvSpPr>
        <p:spPr>
          <a:xfrm>
            <a:off x="6583680" y="4869180"/>
            <a:ext cx="2377440" cy="256032"/>
          </a:xfrm>
          <a:prstGeom prst="rect">
            <a:avLst/>
          </a:prstGeom>
          <a:noFill/>
          <a:ln/>
        </p:spPr>
        <p:txBody>
          <a:bodyPr wrap="square" rtlCol="0" anchor="ctr"/>
          <a:lstStyle/>
          <a:p>
            <a:pPr algn="r" indent="0" marL="0">
              <a:buNone/>
            </a:pPr>
            <a:r>
              <a:rPr lang="en-US" sz="800" dirty="0">
                <a:solidFill>
                  <a:srgbClr val="B9DEF8"/>
                </a:solidFill>
                <a:latin typeface="Arial" pitchFamily="34" charset="0"/>
                <a:ea typeface="Arial" pitchFamily="34" charset="-122"/>
                <a:cs typeface="Arial" pitchFamily="34" charset="-120"/>
              </a:rPr>
              <a:t>Wireless Ad-Hoc</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12700">
            <a:solidFill>
              <a:srgbClr val="2D3030"/>
            </a:solidFill>
            <a:prstDash val="solid"/>
          </a:ln>
        </p:spPr>
      </p:sp>
      <p:sp>
        <p:nvSpPr>
          <p:cNvPr id="3" name="Shape 1"/>
          <p:cNvSpPr/>
          <p:nvPr/>
        </p:nvSpPr>
        <p:spPr>
          <a:xfrm>
            <a:off x="0" y="0"/>
            <a:ext cx="109728" cy="1005840"/>
          </a:xfrm>
          <a:prstGeom prst="rect">
            <a:avLst/>
          </a:prstGeom>
          <a:solidFill>
            <a:srgbClr val="5AA8D8"/>
          </a:solidFill>
          <a:ln w="12700">
            <a:solidFill>
              <a:srgbClr val="5AA8D8"/>
            </a:solidFill>
            <a:prstDash val="solid"/>
          </a:ln>
        </p:spPr>
      </p:sp>
      <p:sp>
        <p:nvSpPr>
          <p:cNvPr id="4" name="Text 2"/>
          <p:cNvSpPr/>
          <p:nvPr/>
        </p:nvSpPr>
        <p:spPr>
          <a:xfrm>
            <a:off x="228600" y="73152"/>
            <a:ext cx="868680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Topologías Wireless – Infraestructura (BSS/ESS)</a:t>
            </a:r>
            <a:endParaRPr lang="en-US" sz="2200" dirty="0"/>
          </a:p>
        </p:txBody>
      </p:sp>
      <p:sp>
        <p:nvSpPr>
          <p:cNvPr id="5" name="Text 3"/>
          <p:cNvSpPr/>
          <p:nvPr/>
        </p:nvSpPr>
        <p:spPr>
          <a:xfrm>
            <a:off x="228600" y="566928"/>
            <a:ext cx="8686800" cy="347472"/>
          </a:xfrm>
          <a:prstGeom prst="rect">
            <a:avLst/>
          </a:prstGeom>
          <a:noFill/>
          <a:ln/>
        </p:spPr>
        <p:txBody>
          <a:bodyPr wrap="square" rtlCol="0" anchor="ctr"/>
          <a:lstStyle/>
          <a:p>
            <a:pPr indent="0" marL="0">
              <a:buNone/>
            </a:pPr>
            <a:r>
              <a:rPr lang="en-US" sz="1100" i="1" dirty="0">
                <a:solidFill>
                  <a:srgbClr val="B9DEF8"/>
                </a:solidFill>
                <a:latin typeface="Arial" pitchFamily="34" charset="0"/>
                <a:ea typeface="Arial" pitchFamily="34" charset="-122"/>
                <a:cs typeface="Arial" pitchFamily="34" charset="-120"/>
              </a:rPr>
              <a:t>Access Point como concentrador central</a:t>
            </a:r>
            <a:endParaRPr lang="en-US" sz="1100" dirty="0"/>
          </a:p>
        </p:txBody>
      </p:sp>
      <p:sp>
        <p:nvSpPr>
          <p:cNvPr id="6" name="Shape 4"/>
          <p:cNvSpPr/>
          <p:nvPr/>
        </p:nvSpPr>
        <p:spPr>
          <a:xfrm>
            <a:off x="3931920" y="1828800"/>
            <a:ext cx="548640" cy="365760"/>
          </a:xfrm>
          <a:prstGeom prst="rect">
            <a:avLst/>
          </a:prstGeom>
          <a:solidFill>
            <a:srgbClr val="3A7BAA"/>
          </a:solidFill>
          <a:ln w="12700">
            <a:solidFill>
              <a:srgbClr val="5AA8D8"/>
            </a:solidFill>
            <a:prstDash val="solid"/>
          </a:ln>
        </p:spPr>
      </p:sp>
      <p:sp>
        <p:nvSpPr>
          <p:cNvPr id="7" name="Text 5"/>
          <p:cNvSpPr/>
          <p:nvPr/>
        </p:nvSpPr>
        <p:spPr>
          <a:xfrm>
            <a:off x="3931920" y="1847088"/>
            <a:ext cx="548640" cy="329184"/>
          </a:xfrm>
          <a:prstGeom prst="rect">
            <a:avLst/>
          </a:prstGeom>
          <a:noFill/>
          <a:ln/>
        </p:spPr>
        <p:txBody>
          <a:bodyPr wrap="square" rtlCol="0" anchor="ctr"/>
          <a:lstStyle/>
          <a:p>
            <a:pPr algn="ctr" indent="0" marL="0">
              <a:buNone/>
            </a:pPr>
            <a:r>
              <a:rPr lang="en-US" sz="900" b="1" dirty="0">
                <a:solidFill>
                  <a:srgbClr val="FFFFFF"/>
                </a:solidFill>
              </a:rPr>
              <a:t>AP</a:t>
            </a:r>
            <a:endParaRPr lang="en-US" sz="900" dirty="0"/>
          </a:p>
        </p:txBody>
      </p:sp>
      <p:sp>
        <p:nvSpPr>
          <p:cNvPr id="8" name="Shape 6"/>
          <p:cNvSpPr/>
          <p:nvPr/>
        </p:nvSpPr>
        <p:spPr>
          <a:xfrm>
            <a:off x="2926080" y="1097280"/>
            <a:ext cx="2560320" cy="1828800"/>
          </a:xfrm>
          <a:prstGeom prst="ellipse">
            <a:avLst/>
          </a:prstGeom>
          <a:solidFill>
            <a:srgbClr val="B9DEF8">
              <a:alpha val="40000"/>
            </a:srgbClr>
          </a:solidFill>
          <a:ln w="12700">
            <a:solidFill>
              <a:srgbClr val="5AA8D8"/>
            </a:solidFill>
            <a:prstDash val="sysDash"/>
          </a:ln>
        </p:spPr>
      </p:sp>
      <p:sp>
        <p:nvSpPr>
          <p:cNvPr id="9" name="Text 7"/>
          <p:cNvSpPr/>
          <p:nvPr/>
        </p:nvSpPr>
        <p:spPr>
          <a:xfrm>
            <a:off x="2926080" y="2834640"/>
            <a:ext cx="2560320" cy="182880"/>
          </a:xfrm>
          <a:prstGeom prst="rect">
            <a:avLst/>
          </a:prstGeom>
          <a:noFill/>
          <a:ln/>
        </p:spPr>
        <p:txBody>
          <a:bodyPr wrap="square" rtlCol="0" anchor="ctr"/>
          <a:lstStyle/>
          <a:p>
            <a:pPr algn="ctr" indent="0" marL="0">
              <a:buNone/>
            </a:pPr>
            <a:r>
              <a:rPr lang="en-US" sz="700" i="1" dirty="0">
                <a:solidFill>
                  <a:srgbClr val="3A7BAA"/>
                </a:solidFill>
              </a:rPr>
              <a:t>Cobertura BSS</a:t>
            </a:r>
            <a:endParaRPr lang="en-US" sz="700" dirty="0"/>
          </a:p>
        </p:txBody>
      </p:sp>
      <p:sp>
        <p:nvSpPr>
          <p:cNvPr id="10" name="Shape 8"/>
          <p:cNvSpPr/>
          <p:nvPr/>
        </p:nvSpPr>
        <p:spPr>
          <a:xfrm>
            <a:off x="3054096" y="1408176"/>
            <a:ext cx="1152144" cy="603504"/>
          </a:xfrm>
          <a:prstGeom prst="line">
            <a:avLst/>
          </a:prstGeom>
          <a:noFill/>
          <a:ln w="12700">
            <a:solidFill>
              <a:srgbClr val="B9DEF8"/>
            </a:solidFill>
            <a:prstDash val="dash"/>
          </a:ln>
        </p:spPr>
      </p:sp>
      <p:sp>
        <p:nvSpPr>
          <p:cNvPr id="11" name="Shape 9"/>
          <p:cNvSpPr/>
          <p:nvPr/>
        </p:nvSpPr>
        <p:spPr>
          <a:xfrm>
            <a:off x="2926080" y="1280160"/>
            <a:ext cx="274320" cy="274320"/>
          </a:xfrm>
          <a:prstGeom prst="ellipse">
            <a:avLst/>
          </a:prstGeom>
          <a:solidFill>
            <a:srgbClr val="5AA8D8"/>
          </a:solidFill>
          <a:ln w="12700">
            <a:solidFill>
              <a:srgbClr val="3A7BAA"/>
            </a:solidFill>
            <a:prstDash val="solid"/>
          </a:ln>
        </p:spPr>
      </p:sp>
      <p:sp>
        <p:nvSpPr>
          <p:cNvPr id="12" name="Text 10"/>
          <p:cNvSpPr/>
          <p:nvPr/>
        </p:nvSpPr>
        <p:spPr>
          <a:xfrm>
            <a:off x="2926080" y="1280160"/>
            <a:ext cx="274320" cy="274320"/>
          </a:xfrm>
          <a:prstGeom prst="rect">
            <a:avLst/>
          </a:prstGeom>
          <a:noFill/>
          <a:ln/>
        </p:spPr>
        <p:txBody>
          <a:bodyPr wrap="square" rtlCol="0" anchor="ctr"/>
          <a:lstStyle/>
          <a:p>
            <a:pPr algn="ctr" indent="0" marL="0">
              <a:buNone/>
            </a:pPr>
            <a:r>
              <a:rPr lang="en-US" sz="700" dirty="0">
                <a:solidFill>
                  <a:srgbClr val="FFFFFF"/>
                </a:solidFill>
              </a:rPr>
              <a:t>NB</a:t>
            </a:r>
            <a:endParaRPr lang="en-US" sz="700" dirty="0"/>
          </a:p>
        </p:txBody>
      </p:sp>
      <p:sp>
        <p:nvSpPr>
          <p:cNvPr id="13" name="Shape 11"/>
          <p:cNvSpPr/>
          <p:nvPr/>
        </p:nvSpPr>
        <p:spPr>
          <a:xfrm>
            <a:off x="5248656" y="1499616"/>
            <a:ext cx="-1042416" cy="512064"/>
          </a:xfrm>
          <a:prstGeom prst="line">
            <a:avLst/>
          </a:prstGeom>
          <a:noFill/>
          <a:ln w="12700">
            <a:solidFill>
              <a:srgbClr val="B9DEF8"/>
            </a:solidFill>
            <a:prstDash val="dash"/>
          </a:ln>
        </p:spPr>
      </p:sp>
      <p:sp>
        <p:nvSpPr>
          <p:cNvPr id="14" name="Shape 12"/>
          <p:cNvSpPr/>
          <p:nvPr/>
        </p:nvSpPr>
        <p:spPr>
          <a:xfrm>
            <a:off x="5120640" y="1371600"/>
            <a:ext cx="274320" cy="274320"/>
          </a:xfrm>
          <a:prstGeom prst="ellipse">
            <a:avLst/>
          </a:prstGeom>
          <a:solidFill>
            <a:srgbClr val="5AA8D8"/>
          </a:solidFill>
          <a:ln w="12700">
            <a:solidFill>
              <a:srgbClr val="3A7BAA"/>
            </a:solidFill>
            <a:prstDash val="solid"/>
          </a:ln>
        </p:spPr>
      </p:sp>
      <p:sp>
        <p:nvSpPr>
          <p:cNvPr id="15" name="Text 13"/>
          <p:cNvSpPr/>
          <p:nvPr/>
        </p:nvSpPr>
        <p:spPr>
          <a:xfrm>
            <a:off x="5120640" y="1371600"/>
            <a:ext cx="274320" cy="274320"/>
          </a:xfrm>
          <a:prstGeom prst="rect">
            <a:avLst/>
          </a:prstGeom>
          <a:noFill/>
          <a:ln/>
        </p:spPr>
        <p:txBody>
          <a:bodyPr wrap="square" rtlCol="0" anchor="ctr"/>
          <a:lstStyle/>
          <a:p>
            <a:pPr algn="ctr" indent="0" marL="0">
              <a:buNone/>
            </a:pPr>
            <a:r>
              <a:rPr lang="en-US" sz="700" dirty="0">
                <a:solidFill>
                  <a:srgbClr val="FFFFFF"/>
                </a:solidFill>
              </a:rPr>
              <a:t>Cel</a:t>
            </a:r>
            <a:endParaRPr lang="en-US" sz="700" dirty="0"/>
          </a:p>
        </p:txBody>
      </p:sp>
      <p:sp>
        <p:nvSpPr>
          <p:cNvPr id="16" name="Shape 14"/>
          <p:cNvSpPr/>
          <p:nvPr/>
        </p:nvSpPr>
        <p:spPr>
          <a:xfrm>
            <a:off x="2871216" y="2688336"/>
            <a:ext cx="1335024" cy="-676656"/>
          </a:xfrm>
          <a:prstGeom prst="line">
            <a:avLst/>
          </a:prstGeom>
          <a:noFill/>
          <a:ln w="12700">
            <a:solidFill>
              <a:srgbClr val="B9DEF8"/>
            </a:solidFill>
            <a:prstDash val="dash"/>
          </a:ln>
        </p:spPr>
      </p:sp>
      <p:sp>
        <p:nvSpPr>
          <p:cNvPr id="17" name="Shape 15"/>
          <p:cNvSpPr/>
          <p:nvPr/>
        </p:nvSpPr>
        <p:spPr>
          <a:xfrm>
            <a:off x="2743200" y="2560320"/>
            <a:ext cx="274320" cy="274320"/>
          </a:xfrm>
          <a:prstGeom prst="ellipse">
            <a:avLst/>
          </a:prstGeom>
          <a:solidFill>
            <a:srgbClr val="5AA8D8"/>
          </a:solidFill>
          <a:ln w="12700">
            <a:solidFill>
              <a:srgbClr val="3A7BAA"/>
            </a:solidFill>
            <a:prstDash val="solid"/>
          </a:ln>
        </p:spPr>
      </p:sp>
      <p:sp>
        <p:nvSpPr>
          <p:cNvPr id="18" name="Text 16"/>
          <p:cNvSpPr/>
          <p:nvPr/>
        </p:nvSpPr>
        <p:spPr>
          <a:xfrm>
            <a:off x="2743200" y="2560320"/>
            <a:ext cx="274320" cy="274320"/>
          </a:xfrm>
          <a:prstGeom prst="rect">
            <a:avLst/>
          </a:prstGeom>
          <a:noFill/>
          <a:ln/>
        </p:spPr>
        <p:txBody>
          <a:bodyPr wrap="square" rtlCol="0" anchor="ctr"/>
          <a:lstStyle/>
          <a:p>
            <a:pPr algn="ctr" indent="0" marL="0">
              <a:buNone/>
            </a:pPr>
            <a:r>
              <a:rPr lang="en-US" sz="700" dirty="0">
                <a:solidFill>
                  <a:srgbClr val="FFFFFF"/>
                </a:solidFill>
              </a:rPr>
              <a:t>Tab</a:t>
            </a:r>
            <a:endParaRPr lang="en-US" sz="700" dirty="0"/>
          </a:p>
        </p:txBody>
      </p:sp>
      <p:sp>
        <p:nvSpPr>
          <p:cNvPr id="19" name="Shape 17"/>
          <p:cNvSpPr/>
          <p:nvPr/>
        </p:nvSpPr>
        <p:spPr>
          <a:xfrm>
            <a:off x="5431536" y="2596896"/>
            <a:ext cx="-1225296" cy="-585216"/>
          </a:xfrm>
          <a:prstGeom prst="line">
            <a:avLst/>
          </a:prstGeom>
          <a:noFill/>
          <a:ln w="12700">
            <a:solidFill>
              <a:srgbClr val="B9DEF8"/>
            </a:solidFill>
            <a:prstDash val="dash"/>
          </a:ln>
        </p:spPr>
      </p:sp>
      <p:sp>
        <p:nvSpPr>
          <p:cNvPr id="20" name="Shape 18"/>
          <p:cNvSpPr/>
          <p:nvPr/>
        </p:nvSpPr>
        <p:spPr>
          <a:xfrm>
            <a:off x="5303520" y="2468880"/>
            <a:ext cx="274320" cy="274320"/>
          </a:xfrm>
          <a:prstGeom prst="ellipse">
            <a:avLst/>
          </a:prstGeom>
          <a:solidFill>
            <a:srgbClr val="5AA8D8"/>
          </a:solidFill>
          <a:ln w="12700">
            <a:solidFill>
              <a:srgbClr val="3A7BAA"/>
            </a:solidFill>
            <a:prstDash val="solid"/>
          </a:ln>
        </p:spPr>
      </p:sp>
      <p:sp>
        <p:nvSpPr>
          <p:cNvPr id="21" name="Text 19"/>
          <p:cNvSpPr/>
          <p:nvPr/>
        </p:nvSpPr>
        <p:spPr>
          <a:xfrm>
            <a:off x="5303520" y="2468880"/>
            <a:ext cx="274320" cy="274320"/>
          </a:xfrm>
          <a:prstGeom prst="rect">
            <a:avLst/>
          </a:prstGeom>
          <a:noFill/>
          <a:ln/>
        </p:spPr>
        <p:txBody>
          <a:bodyPr wrap="square" rtlCol="0" anchor="ctr"/>
          <a:lstStyle/>
          <a:p>
            <a:pPr algn="ctr" indent="0" marL="0">
              <a:buNone/>
            </a:pPr>
            <a:r>
              <a:rPr lang="en-US" sz="700" dirty="0">
                <a:solidFill>
                  <a:srgbClr val="FFFFFF"/>
                </a:solidFill>
              </a:rPr>
              <a:t>IoT</a:t>
            </a:r>
            <a:endParaRPr lang="en-US" sz="700" dirty="0"/>
          </a:p>
        </p:txBody>
      </p:sp>
      <p:sp>
        <p:nvSpPr>
          <p:cNvPr id="22" name="Shape 20"/>
          <p:cNvSpPr/>
          <p:nvPr/>
        </p:nvSpPr>
        <p:spPr>
          <a:xfrm>
            <a:off x="4480560" y="2011680"/>
            <a:ext cx="1097280" cy="0"/>
          </a:xfrm>
          <a:prstGeom prst="line">
            <a:avLst/>
          </a:prstGeom>
          <a:noFill/>
          <a:ln w="25400">
            <a:solidFill>
              <a:srgbClr val="3A7BAA"/>
            </a:solidFill>
            <a:prstDash val="solid"/>
          </a:ln>
        </p:spPr>
      </p:sp>
      <p:sp>
        <p:nvSpPr>
          <p:cNvPr id="23" name="Shape 21"/>
          <p:cNvSpPr/>
          <p:nvPr/>
        </p:nvSpPr>
        <p:spPr>
          <a:xfrm>
            <a:off x="5623560" y="1755648"/>
            <a:ext cx="548640" cy="502920"/>
          </a:xfrm>
          <a:prstGeom prst="ellipse">
            <a:avLst/>
          </a:prstGeom>
          <a:solidFill>
            <a:srgbClr val="3A7BAA"/>
          </a:solidFill>
          <a:ln w="12700">
            <a:solidFill>
              <a:srgbClr val="5AA8D8"/>
            </a:solidFill>
            <a:prstDash val="solid"/>
          </a:ln>
        </p:spPr>
      </p:sp>
      <p:sp>
        <p:nvSpPr>
          <p:cNvPr id="24" name="Text 22"/>
          <p:cNvSpPr/>
          <p:nvPr/>
        </p:nvSpPr>
        <p:spPr>
          <a:xfrm>
            <a:off x="5623560" y="1792224"/>
            <a:ext cx="548640" cy="420624"/>
          </a:xfrm>
          <a:prstGeom prst="rect">
            <a:avLst/>
          </a:prstGeom>
          <a:noFill/>
          <a:ln/>
        </p:spPr>
        <p:txBody>
          <a:bodyPr wrap="square" rtlCol="0" anchor="ctr"/>
          <a:lstStyle/>
          <a:p>
            <a:pPr algn="ctr" indent="0" marL="0">
              <a:buNone/>
            </a:pPr>
            <a:r>
              <a:rPr lang="en-US" sz="1200" dirty="0">
                <a:solidFill>
                  <a:srgbClr val="000000"/>
                </a:solidFill>
              </a:rPr>
              <a:t>🌐</a:t>
            </a:r>
            <a:endParaRPr lang="en-US" sz="1200" dirty="0"/>
          </a:p>
        </p:txBody>
      </p:sp>
      <p:sp>
        <p:nvSpPr>
          <p:cNvPr id="25" name="Shape 23"/>
          <p:cNvSpPr/>
          <p:nvPr/>
        </p:nvSpPr>
        <p:spPr>
          <a:xfrm>
            <a:off x="6172200" y="2011680"/>
            <a:ext cx="1005840" cy="0"/>
          </a:xfrm>
          <a:prstGeom prst="line">
            <a:avLst/>
          </a:prstGeom>
          <a:noFill/>
          <a:ln w="25400">
            <a:solidFill>
              <a:srgbClr val="3A7BAA"/>
            </a:solidFill>
            <a:prstDash val="solid"/>
          </a:ln>
        </p:spPr>
      </p:sp>
      <p:sp>
        <p:nvSpPr>
          <p:cNvPr id="26" name="Shape 24"/>
          <p:cNvSpPr/>
          <p:nvPr/>
        </p:nvSpPr>
        <p:spPr>
          <a:xfrm>
            <a:off x="7178040" y="1737360"/>
            <a:ext cx="548640" cy="502920"/>
          </a:xfrm>
          <a:prstGeom prst="rect">
            <a:avLst/>
          </a:prstGeom>
          <a:solidFill>
            <a:srgbClr val="3A7BAA"/>
          </a:solidFill>
          <a:ln w="12700">
            <a:solidFill>
              <a:srgbClr val="5AA8D8"/>
            </a:solidFill>
            <a:prstDash val="solid"/>
          </a:ln>
        </p:spPr>
      </p:sp>
      <p:sp>
        <p:nvSpPr>
          <p:cNvPr id="27" name="Text 25"/>
          <p:cNvSpPr/>
          <p:nvPr/>
        </p:nvSpPr>
        <p:spPr>
          <a:xfrm>
            <a:off x="7178040" y="1755648"/>
            <a:ext cx="548640" cy="457200"/>
          </a:xfrm>
          <a:prstGeom prst="rect">
            <a:avLst/>
          </a:prstGeom>
          <a:noFill/>
          <a:ln/>
        </p:spPr>
        <p:txBody>
          <a:bodyPr wrap="square" rtlCol="0" anchor="ctr"/>
          <a:lstStyle/>
          <a:p>
            <a:pPr algn="ctr" indent="0" marL="0">
              <a:buNone/>
            </a:pPr>
            <a:r>
              <a:rPr lang="en-US" sz="700" b="1" dirty="0">
                <a:solidFill>
                  <a:srgbClr val="FFFFFF"/>
                </a:solidFill>
              </a:rPr>
              <a:t>Router</a:t>
            </a:r>
            <a:endParaRPr lang="en-US" sz="700" dirty="0"/>
          </a:p>
        </p:txBody>
      </p:sp>
      <p:sp>
        <p:nvSpPr>
          <p:cNvPr id="28" name="Shape 26"/>
          <p:cNvSpPr/>
          <p:nvPr/>
        </p:nvSpPr>
        <p:spPr>
          <a:xfrm>
            <a:off x="256032" y="3054096"/>
            <a:ext cx="146304" cy="146304"/>
          </a:xfrm>
          <a:prstGeom prst="ellipse">
            <a:avLst/>
          </a:prstGeom>
          <a:solidFill>
            <a:srgbClr val="5AA8D8"/>
          </a:solidFill>
          <a:ln w="12700">
            <a:solidFill>
              <a:srgbClr val="5AA8D8"/>
            </a:solidFill>
            <a:prstDash val="solid"/>
          </a:ln>
        </p:spPr>
      </p:sp>
      <p:sp>
        <p:nvSpPr>
          <p:cNvPr id="29" name="Text 27"/>
          <p:cNvSpPr/>
          <p:nvPr/>
        </p:nvSpPr>
        <p:spPr>
          <a:xfrm>
            <a:off x="493776" y="3017520"/>
            <a:ext cx="8412480" cy="256032"/>
          </a:xfrm>
          <a:prstGeom prst="rect">
            <a:avLst/>
          </a:prstGeom>
          <a:noFill/>
          <a:ln/>
        </p:spPr>
        <p:txBody>
          <a:bodyPr wrap="square" rtlCol="0" anchor="ctr"/>
          <a:lstStyle/>
          <a:p>
            <a:pPr indent="0" marL="0">
              <a:buNone/>
            </a:pPr>
            <a:r>
              <a:rPr lang="en-US" sz="1000" dirty="0">
                <a:solidFill>
                  <a:srgbClr val="404040"/>
                </a:solidFill>
              </a:rPr>
              <a:t>El AP actúa como switch (misma red) o como router (conectar a otra red/internet).</a:t>
            </a:r>
            <a:endParaRPr lang="en-US" sz="1000" dirty="0"/>
          </a:p>
        </p:txBody>
      </p:sp>
      <p:sp>
        <p:nvSpPr>
          <p:cNvPr id="30" name="Shape 28"/>
          <p:cNvSpPr/>
          <p:nvPr/>
        </p:nvSpPr>
        <p:spPr>
          <a:xfrm>
            <a:off x="256032" y="3328416"/>
            <a:ext cx="146304" cy="146304"/>
          </a:xfrm>
          <a:prstGeom prst="ellipse">
            <a:avLst/>
          </a:prstGeom>
          <a:solidFill>
            <a:srgbClr val="5AA8D8"/>
          </a:solidFill>
          <a:ln w="12700">
            <a:solidFill>
              <a:srgbClr val="5AA8D8"/>
            </a:solidFill>
            <a:prstDash val="solid"/>
          </a:ln>
        </p:spPr>
      </p:sp>
      <p:sp>
        <p:nvSpPr>
          <p:cNvPr id="31" name="Text 29"/>
          <p:cNvSpPr/>
          <p:nvPr/>
        </p:nvSpPr>
        <p:spPr>
          <a:xfrm>
            <a:off x="493776" y="3291840"/>
            <a:ext cx="8412480" cy="256032"/>
          </a:xfrm>
          <a:prstGeom prst="rect">
            <a:avLst/>
          </a:prstGeom>
          <a:noFill/>
          <a:ln/>
        </p:spPr>
        <p:txBody>
          <a:bodyPr wrap="square" rtlCol="0" anchor="ctr"/>
          <a:lstStyle/>
          <a:p>
            <a:pPr indent="0" marL="0">
              <a:buNone/>
            </a:pPr>
            <a:r>
              <a:rPr lang="en-US" sz="1000" dirty="0">
                <a:solidFill>
                  <a:srgbClr val="404040"/>
                </a:solidFill>
              </a:rPr>
              <a:t>Todos los dispositivos deben estar dentro del radio de cobertura del AP.</a:t>
            </a:r>
            <a:endParaRPr lang="en-US" sz="1000" dirty="0"/>
          </a:p>
        </p:txBody>
      </p:sp>
      <p:sp>
        <p:nvSpPr>
          <p:cNvPr id="32" name="Shape 30"/>
          <p:cNvSpPr/>
          <p:nvPr/>
        </p:nvSpPr>
        <p:spPr>
          <a:xfrm>
            <a:off x="256032" y="3602736"/>
            <a:ext cx="146304" cy="146304"/>
          </a:xfrm>
          <a:prstGeom prst="ellipse">
            <a:avLst/>
          </a:prstGeom>
          <a:solidFill>
            <a:srgbClr val="5AA8D8"/>
          </a:solidFill>
          <a:ln w="12700">
            <a:solidFill>
              <a:srgbClr val="5AA8D8"/>
            </a:solidFill>
            <a:prstDash val="solid"/>
          </a:ln>
        </p:spPr>
      </p:sp>
      <p:sp>
        <p:nvSpPr>
          <p:cNvPr id="33" name="Text 31"/>
          <p:cNvSpPr/>
          <p:nvPr/>
        </p:nvSpPr>
        <p:spPr>
          <a:xfrm>
            <a:off x="493776" y="3566160"/>
            <a:ext cx="8412480" cy="256032"/>
          </a:xfrm>
          <a:prstGeom prst="rect">
            <a:avLst/>
          </a:prstGeom>
          <a:noFill/>
          <a:ln/>
        </p:spPr>
        <p:txBody>
          <a:bodyPr wrap="square" rtlCol="0" anchor="ctr"/>
          <a:lstStyle/>
          <a:p>
            <a:pPr indent="0" marL="0">
              <a:buNone/>
            </a:pPr>
            <a:r>
              <a:rPr lang="en-US" sz="1000" dirty="0">
                <a:solidFill>
                  <a:srgbClr val="404040"/>
                </a:solidFill>
              </a:rPr>
              <a:t>BSS: un solo AP. ESS: múltiples AP con mismo SSID (roaming sin corte).</a:t>
            </a:r>
            <a:endParaRPr lang="en-US" sz="1000" dirty="0"/>
          </a:p>
        </p:txBody>
      </p:sp>
      <p:sp>
        <p:nvSpPr>
          <p:cNvPr id="34" name="Shape 32"/>
          <p:cNvSpPr/>
          <p:nvPr/>
        </p:nvSpPr>
        <p:spPr>
          <a:xfrm>
            <a:off x="256032" y="3877056"/>
            <a:ext cx="146304" cy="146304"/>
          </a:xfrm>
          <a:prstGeom prst="ellipse">
            <a:avLst/>
          </a:prstGeom>
          <a:solidFill>
            <a:srgbClr val="5AA8D8"/>
          </a:solidFill>
          <a:ln w="12700">
            <a:solidFill>
              <a:srgbClr val="5AA8D8"/>
            </a:solidFill>
            <a:prstDash val="solid"/>
          </a:ln>
        </p:spPr>
      </p:sp>
      <p:sp>
        <p:nvSpPr>
          <p:cNvPr id="35" name="Text 33"/>
          <p:cNvSpPr/>
          <p:nvPr/>
        </p:nvSpPr>
        <p:spPr>
          <a:xfrm>
            <a:off x="493776" y="3840480"/>
            <a:ext cx="8412480" cy="256032"/>
          </a:xfrm>
          <a:prstGeom prst="rect">
            <a:avLst/>
          </a:prstGeom>
          <a:noFill/>
          <a:ln/>
        </p:spPr>
        <p:txBody>
          <a:bodyPr wrap="square" rtlCol="0" anchor="ctr"/>
          <a:lstStyle/>
          <a:p>
            <a:pPr indent="0" marL="0">
              <a:buNone/>
            </a:pPr>
            <a:r>
              <a:rPr lang="en-US" sz="1000" dirty="0">
                <a:solidFill>
                  <a:srgbClr val="404040"/>
                </a:solidFill>
              </a:rPr>
              <a:t>WiFi actual: 802.11ax (WiFi 6/6E) → hasta 9.6 Gbps, menor latencia, mejor densidad.</a:t>
            </a:r>
            <a:endParaRPr lang="en-US" sz="1000" dirty="0"/>
          </a:p>
        </p:txBody>
      </p:sp>
      <p:sp>
        <p:nvSpPr>
          <p:cNvPr id="36" name="Shape 34"/>
          <p:cNvSpPr/>
          <p:nvPr/>
        </p:nvSpPr>
        <p:spPr>
          <a:xfrm>
            <a:off x="256032" y="4151376"/>
            <a:ext cx="146304" cy="146304"/>
          </a:xfrm>
          <a:prstGeom prst="ellipse">
            <a:avLst/>
          </a:prstGeom>
          <a:solidFill>
            <a:srgbClr val="5AA8D8"/>
          </a:solidFill>
          <a:ln w="12700">
            <a:solidFill>
              <a:srgbClr val="5AA8D8"/>
            </a:solidFill>
            <a:prstDash val="solid"/>
          </a:ln>
        </p:spPr>
      </p:sp>
      <p:sp>
        <p:nvSpPr>
          <p:cNvPr id="37" name="Text 35"/>
          <p:cNvSpPr/>
          <p:nvPr/>
        </p:nvSpPr>
        <p:spPr>
          <a:xfrm>
            <a:off x="493776" y="4114800"/>
            <a:ext cx="8412480" cy="256032"/>
          </a:xfrm>
          <a:prstGeom prst="rect">
            <a:avLst/>
          </a:prstGeom>
          <a:noFill/>
          <a:ln/>
        </p:spPr>
        <p:txBody>
          <a:bodyPr wrap="square" rtlCol="0" anchor="ctr"/>
          <a:lstStyle/>
          <a:p>
            <a:pPr indent="0" marL="0">
              <a:buNone/>
            </a:pPr>
            <a:r>
              <a:rPr lang="en-US" sz="1000" dirty="0">
                <a:solidFill>
                  <a:srgbClr val="404040"/>
                </a:solidFill>
              </a:rPr>
              <a:t>Seguridad: WPA3 (2018) es el estándar actual. WPA2 sigue siendo común. Evitar WEP.</a:t>
            </a:r>
            <a:endParaRPr lang="en-US" sz="1000" dirty="0"/>
          </a:p>
        </p:txBody>
      </p:sp>
      <p:sp>
        <p:nvSpPr>
          <p:cNvPr id="38" name="Shape 36"/>
          <p:cNvSpPr/>
          <p:nvPr/>
        </p:nvSpPr>
        <p:spPr>
          <a:xfrm>
            <a:off x="256032" y="4425696"/>
            <a:ext cx="146304" cy="146304"/>
          </a:xfrm>
          <a:prstGeom prst="ellipse">
            <a:avLst/>
          </a:prstGeom>
          <a:solidFill>
            <a:srgbClr val="5AA8D8"/>
          </a:solidFill>
          <a:ln w="12700">
            <a:solidFill>
              <a:srgbClr val="5AA8D8"/>
            </a:solidFill>
            <a:prstDash val="solid"/>
          </a:ln>
        </p:spPr>
      </p:sp>
      <p:sp>
        <p:nvSpPr>
          <p:cNvPr id="39" name="Text 37"/>
          <p:cNvSpPr/>
          <p:nvPr/>
        </p:nvSpPr>
        <p:spPr>
          <a:xfrm>
            <a:off x="493776" y="4389120"/>
            <a:ext cx="8412480" cy="256032"/>
          </a:xfrm>
          <a:prstGeom prst="rect">
            <a:avLst/>
          </a:prstGeom>
          <a:noFill/>
          <a:ln/>
        </p:spPr>
        <p:txBody>
          <a:bodyPr wrap="square" rtlCol="0" anchor="ctr"/>
          <a:lstStyle/>
          <a:p>
            <a:pPr indent="0" marL="0">
              <a:buNone/>
            </a:pPr>
            <a:r>
              <a:rPr lang="en-US" sz="1000" dirty="0">
                <a:solidFill>
                  <a:srgbClr val="404040"/>
                </a:solidFill>
              </a:rPr>
              <a:t>AP moderno = filtrado MAC + SSID oculto + WPA3 + 802.1X empresarial.</a:t>
            </a:r>
            <a:endParaRPr lang="en-US" sz="1000" dirty="0"/>
          </a:p>
        </p:txBody>
      </p:sp>
      <p:sp>
        <p:nvSpPr>
          <p:cNvPr id="40" name="Shape 38"/>
          <p:cNvSpPr/>
          <p:nvPr/>
        </p:nvSpPr>
        <p:spPr>
          <a:xfrm>
            <a:off x="0" y="4850892"/>
            <a:ext cx="9144000" cy="292608"/>
          </a:xfrm>
          <a:prstGeom prst="rect">
            <a:avLst/>
          </a:prstGeom>
          <a:solidFill>
            <a:srgbClr val="2D3030"/>
          </a:solidFill>
          <a:ln w="12700">
            <a:solidFill>
              <a:srgbClr val="2D3030"/>
            </a:solidFill>
            <a:prstDash val="solid"/>
          </a:ln>
        </p:spPr>
      </p:sp>
      <p:sp>
        <p:nvSpPr>
          <p:cNvPr id="41" name="Text 39"/>
          <p:cNvSpPr/>
          <p:nvPr/>
        </p:nvSpPr>
        <p:spPr>
          <a:xfrm>
            <a:off x="182880" y="4869180"/>
            <a:ext cx="5486400" cy="256032"/>
          </a:xfrm>
          <a:prstGeom prst="rect">
            <a:avLst/>
          </a:prstGeom>
          <a:noFill/>
          <a:ln/>
        </p:spPr>
        <p:txBody>
          <a:bodyPr wrap="square" rtlCol="0" anchor="ctr"/>
          <a:lstStyle/>
          <a:p>
            <a:pPr indent="0" marL="0">
              <a:buNone/>
            </a:pPr>
            <a:r>
              <a:rPr lang="en-US" sz="800" dirty="0">
                <a:solidFill>
                  <a:srgbClr val="808080"/>
                </a:solidFill>
                <a:latin typeface="Arial" pitchFamily="34" charset="0"/>
                <a:ea typeface="Arial" pitchFamily="34" charset="-122"/>
                <a:cs typeface="Arial" pitchFamily="34" charset="-120"/>
              </a:rPr>
              <a:t>SP5 · H1 · Topologías LAN</a:t>
            </a:r>
            <a:endParaRPr lang="en-US" sz="800" dirty="0"/>
          </a:p>
        </p:txBody>
      </p:sp>
      <p:sp>
        <p:nvSpPr>
          <p:cNvPr id="42" name="Text 40"/>
          <p:cNvSpPr/>
          <p:nvPr/>
        </p:nvSpPr>
        <p:spPr>
          <a:xfrm>
            <a:off x="6583680" y="4869180"/>
            <a:ext cx="2377440" cy="256032"/>
          </a:xfrm>
          <a:prstGeom prst="rect">
            <a:avLst/>
          </a:prstGeom>
          <a:noFill/>
          <a:ln/>
        </p:spPr>
        <p:txBody>
          <a:bodyPr wrap="square" rtlCol="0" anchor="ctr"/>
          <a:lstStyle/>
          <a:p>
            <a:pPr algn="r" indent="0" marL="0">
              <a:buNone/>
            </a:pPr>
            <a:r>
              <a:rPr lang="en-US" sz="800" dirty="0">
                <a:solidFill>
                  <a:srgbClr val="B9DEF8"/>
                </a:solidFill>
                <a:latin typeface="Arial" pitchFamily="34" charset="0"/>
                <a:ea typeface="Arial" pitchFamily="34" charset="-122"/>
                <a:cs typeface="Arial" pitchFamily="34" charset="-120"/>
              </a:rPr>
              <a:t>Wireless Infraestructura</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AA8D8"/>
          </a:solidFill>
          <a:ln w="12700">
            <a:solidFill>
              <a:srgbClr val="5AA8D8"/>
            </a:solidFill>
            <a:prstDash val="solid"/>
          </a:ln>
        </p:spPr>
      </p:sp>
      <p:sp>
        <p:nvSpPr>
          <p:cNvPr id="3" name="Shape 1"/>
          <p:cNvSpPr/>
          <p:nvPr/>
        </p:nvSpPr>
        <p:spPr>
          <a:xfrm>
            <a:off x="0" y="64008"/>
            <a:ext cx="109728" cy="4777740"/>
          </a:xfrm>
          <a:prstGeom prst="rect">
            <a:avLst/>
          </a:prstGeom>
          <a:solidFill>
            <a:srgbClr val="3A7BAA"/>
          </a:solidFill>
          <a:ln w="12700">
            <a:solidFill>
              <a:srgbClr val="3A7BAA"/>
            </a:solidFill>
            <a:prstDash val="solid"/>
          </a:ln>
        </p:spPr>
      </p:sp>
      <p:sp>
        <p:nvSpPr>
          <p:cNvPr id="4" name="Text 2"/>
          <p:cNvSpPr/>
          <p:nvPr/>
        </p:nvSpPr>
        <p:spPr>
          <a:xfrm>
            <a:off x="274320" y="182880"/>
            <a:ext cx="8686800" cy="47548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Topologías en Redes Actuales</a:t>
            </a:r>
            <a:endParaRPr lang="en-US" sz="2200" dirty="0"/>
          </a:p>
        </p:txBody>
      </p:sp>
      <p:sp>
        <p:nvSpPr>
          <p:cNvPr id="5" name="Text 3"/>
          <p:cNvSpPr/>
          <p:nvPr/>
        </p:nvSpPr>
        <p:spPr>
          <a:xfrm>
            <a:off x="274320" y="640080"/>
            <a:ext cx="8686800" cy="292608"/>
          </a:xfrm>
          <a:prstGeom prst="rect">
            <a:avLst/>
          </a:prstGeom>
          <a:noFill/>
          <a:ln/>
        </p:spPr>
        <p:txBody>
          <a:bodyPr wrap="square" rtlCol="0" anchor="ctr"/>
          <a:lstStyle/>
          <a:p>
            <a:pPr indent="0" marL="0">
              <a:buNone/>
            </a:pPr>
            <a:r>
              <a:rPr lang="en-US" sz="1200" i="1" dirty="0">
                <a:solidFill>
                  <a:srgbClr val="B9DEF8"/>
                </a:solidFill>
              </a:rPr>
              <a:t>Lo que está pasando en 2024-2025</a:t>
            </a:r>
            <a:endParaRPr lang="en-US" sz="1200" dirty="0"/>
          </a:p>
        </p:txBody>
      </p:sp>
      <p:sp>
        <p:nvSpPr>
          <p:cNvPr id="6" name="Text 4"/>
          <p:cNvSpPr/>
          <p:nvPr/>
        </p:nvSpPr>
        <p:spPr>
          <a:xfrm>
            <a:off x="228600" y="987552"/>
            <a:ext cx="411480" cy="47548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7" name="Text 5"/>
          <p:cNvSpPr/>
          <p:nvPr/>
        </p:nvSpPr>
        <p:spPr>
          <a:xfrm>
            <a:off x="685800" y="987552"/>
            <a:ext cx="8229600" cy="256032"/>
          </a:xfrm>
          <a:prstGeom prst="rect">
            <a:avLst/>
          </a:prstGeom>
          <a:noFill/>
          <a:ln/>
        </p:spPr>
        <p:txBody>
          <a:bodyPr wrap="square" rtlCol="0" anchor="ctr"/>
          <a:lstStyle/>
          <a:p>
            <a:pPr indent="0" marL="0">
              <a:buNone/>
            </a:pPr>
            <a:r>
              <a:rPr lang="en-US" sz="1100" b="1" dirty="0">
                <a:solidFill>
                  <a:srgbClr val="B9DEF8"/>
                </a:solidFill>
              </a:rPr>
              <a:t>WiFi 6E y WiFi 7 (802.11be)</a:t>
            </a:r>
            <a:endParaRPr lang="en-US" sz="1100" dirty="0"/>
          </a:p>
        </p:txBody>
      </p:sp>
      <p:sp>
        <p:nvSpPr>
          <p:cNvPr id="8" name="Text 6"/>
          <p:cNvSpPr/>
          <p:nvPr/>
        </p:nvSpPr>
        <p:spPr>
          <a:xfrm>
            <a:off x="685800" y="1234440"/>
            <a:ext cx="8229600" cy="228600"/>
          </a:xfrm>
          <a:prstGeom prst="rect">
            <a:avLst/>
          </a:prstGeom>
          <a:noFill/>
          <a:ln/>
        </p:spPr>
        <p:txBody>
          <a:bodyPr wrap="square" rtlCol="0" anchor="ctr"/>
          <a:lstStyle/>
          <a:p>
            <a:pPr indent="0" marL="0">
              <a:buNone/>
            </a:pPr>
            <a:r>
              <a:rPr lang="en-US" sz="950" dirty="0">
                <a:solidFill>
                  <a:srgbClr val="B0C4D8"/>
                </a:solidFill>
              </a:rPr>
              <a:t>Estrella inalámbrica a 46 Gbps multi-link. Topología estrella sigue siendo el modelo, pero el AP es ahora también gateway IoT.</a:t>
            </a:r>
            <a:endParaRPr lang="en-US" sz="950" dirty="0"/>
          </a:p>
        </p:txBody>
      </p:sp>
      <p:sp>
        <p:nvSpPr>
          <p:cNvPr id="9" name="Text 7"/>
          <p:cNvSpPr/>
          <p:nvPr/>
        </p:nvSpPr>
        <p:spPr>
          <a:xfrm>
            <a:off x="228600" y="1627632"/>
            <a:ext cx="411480" cy="47548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0" name="Text 8"/>
          <p:cNvSpPr/>
          <p:nvPr/>
        </p:nvSpPr>
        <p:spPr>
          <a:xfrm>
            <a:off x="685800" y="1627632"/>
            <a:ext cx="8229600" cy="256032"/>
          </a:xfrm>
          <a:prstGeom prst="rect">
            <a:avLst/>
          </a:prstGeom>
          <a:noFill/>
          <a:ln/>
        </p:spPr>
        <p:txBody>
          <a:bodyPr wrap="square" rtlCol="0" anchor="ctr"/>
          <a:lstStyle/>
          <a:p>
            <a:pPr indent="0" marL="0">
              <a:buNone/>
            </a:pPr>
            <a:r>
              <a:rPr lang="en-US" sz="1100" b="1" dirty="0">
                <a:solidFill>
                  <a:srgbClr val="B9DEF8"/>
                </a:solidFill>
              </a:rPr>
              <a:t>SD-WAN y redes definidas por software</a:t>
            </a:r>
            <a:endParaRPr lang="en-US" sz="1100" dirty="0"/>
          </a:p>
        </p:txBody>
      </p:sp>
      <p:sp>
        <p:nvSpPr>
          <p:cNvPr id="11" name="Text 9"/>
          <p:cNvSpPr/>
          <p:nvPr/>
        </p:nvSpPr>
        <p:spPr>
          <a:xfrm>
            <a:off x="685800" y="1874520"/>
            <a:ext cx="8229600" cy="228600"/>
          </a:xfrm>
          <a:prstGeom prst="rect">
            <a:avLst/>
          </a:prstGeom>
          <a:noFill/>
          <a:ln/>
        </p:spPr>
        <p:txBody>
          <a:bodyPr wrap="square" rtlCol="0" anchor="ctr"/>
          <a:lstStyle/>
          <a:p>
            <a:pPr indent="0" marL="0">
              <a:buNone/>
            </a:pPr>
            <a:r>
              <a:rPr lang="en-US" sz="950" dirty="0">
                <a:solidFill>
                  <a:srgbClr val="B0C4D8"/>
                </a:solidFill>
              </a:rPr>
              <a:t>La topología física es estrella, pero la lógica se redefine por software en tiempo real. La separación control/datos cambia el paradigma.</a:t>
            </a:r>
            <a:endParaRPr lang="en-US" sz="950" dirty="0"/>
          </a:p>
        </p:txBody>
      </p:sp>
      <p:sp>
        <p:nvSpPr>
          <p:cNvPr id="12" name="Text 10"/>
          <p:cNvSpPr/>
          <p:nvPr/>
        </p:nvSpPr>
        <p:spPr>
          <a:xfrm>
            <a:off x="228600" y="2267712"/>
            <a:ext cx="411480" cy="47548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3" name="Text 11"/>
          <p:cNvSpPr/>
          <p:nvPr/>
        </p:nvSpPr>
        <p:spPr>
          <a:xfrm>
            <a:off x="685800" y="2267712"/>
            <a:ext cx="8229600" cy="256032"/>
          </a:xfrm>
          <a:prstGeom prst="rect">
            <a:avLst/>
          </a:prstGeom>
          <a:noFill/>
          <a:ln/>
        </p:spPr>
        <p:txBody>
          <a:bodyPr wrap="square" rtlCol="0" anchor="ctr"/>
          <a:lstStyle/>
          <a:p>
            <a:pPr indent="0" marL="0">
              <a:buNone/>
            </a:pPr>
            <a:r>
              <a:rPr lang="en-US" sz="1100" b="1" dirty="0">
                <a:solidFill>
                  <a:srgbClr val="B9DEF8"/>
                </a:solidFill>
              </a:rPr>
              <a:t>5G NR en celulares</a:t>
            </a:r>
            <a:endParaRPr lang="en-US" sz="1100" dirty="0"/>
          </a:p>
        </p:txBody>
      </p:sp>
      <p:sp>
        <p:nvSpPr>
          <p:cNvPr id="14" name="Text 12"/>
          <p:cNvSpPr/>
          <p:nvPr/>
        </p:nvSpPr>
        <p:spPr>
          <a:xfrm>
            <a:off x="685800" y="2514600"/>
            <a:ext cx="8229600" cy="228600"/>
          </a:xfrm>
          <a:prstGeom prst="rect">
            <a:avLst/>
          </a:prstGeom>
          <a:noFill/>
          <a:ln/>
        </p:spPr>
        <p:txBody>
          <a:bodyPr wrap="square" rtlCol="0" anchor="ctr"/>
          <a:lstStyle/>
          <a:p>
            <a:pPr indent="0" marL="0">
              <a:buNone/>
            </a:pPr>
            <a:r>
              <a:rPr lang="en-US" sz="950" dirty="0">
                <a:solidFill>
                  <a:srgbClr val="B0C4D8"/>
                </a:solidFill>
              </a:rPr>
              <a:t>Arquitectura estrella (dispositivo → torre gNB). La 5G SA (Stand-Alone) elimina la dependencia de infraestructura 4G. Millones de nodos IoT.</a:t>
            </a:r>
            <a:endParaRPr lang="en-US" sz="950" dirty="0"/>
          </a:p>
        </p:txBody>
      </p:sp>
      <p:sp>
        <p:nvSpPr>
          <p:cNvPr id="15" name="Text 13"/>
          <p:cNvSpPr/>
          <p:nvPr/>
        </p:nvSpPr>
        <p:spPr>
          <a:xfrm>
            <a:off x="228600" y="2907792"/>
            <a:ext cx="411480" cy="47548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6" name="Text 14"/>
          <p:cNvSpPr/>
          <p:nvPr/>
        </p:nvSpPr>
        <p:spPr>
          <a:xfrm>
            <a:off x="685800" y="2907792"/>
            <a:ext cx="8229600" cy="256032"/>
          </a:xfrm>
          <a:prstGeom prst="rect">
            <a:avLst/>
          </a:prstGeom>
          <a:noFill/>
          <a:ln/>
        </p:spPr>
        <p:txBody>
          <a:bodyPr wrap="square" rtlCol="0" anchor="ctr"/>
          <a:lstStyle/>
          <a:p>
            <a:pPr indent="0" marL="0">
              <a:buNone/>
            </a:pPr>
            <a:r>
              <a:rPr lang="en-US" sz="1100" b="1" dirty="0">
                <a:solidFill>
                  <a:srgbClr val="B9DEF8"/>
                </a:solidFill>
              </a:rPr>
              <a:t>Edge Computing y topología híbrida</a:t>
            </a:r>
            <a:endParaRPr lang="en-US" sz="1100" dirty="0"/>
          </a:p>
        </p:txBody>
      </p:sp>
      <p:sp>
        <p:nvSpPr>
          <p:cNvPr id="17" name="Text 15"/>
          <p:cNvSpPr/>
          <p:nvPr/>
        </p:nvSpPr>
        <p:spPr>
          <a:xfrm>
            <a:off x="685800" y="3154680"/>
            <a:ext cx="8229600" cy="228600"/>
          </a:xfrm>
          <a:prstGeom prst="rect">
            <a:avLst/>
          </a:prstGeom>
          <a:noFill/>
          <a:ln/>
        </p:spPr>
        <p:txBody>
          <a:bodyPr wrap="square" rtlCol="0" anchor="ctr"/>
          <a:lstStyle/>
          <a:p>
            <a:pPr indent="0" marL="0">
              <a:buNone/>
            </a:pPr>
            <a:r>
              <a:rPr lang="en-US" sz="950" dirty="0">
                <a:solidFill>
                  <a:srgbClr val="B0C4D8"/>
                </a:solidFill>
              </a:rPr>
              <a:t>Los nodos del borde (edge) procesan datos localmente antes de enviar a la nube. La topología clásica se extiende hacia arriba.</a:t>
            </a:r>
            <a:endParaRPr lang="en-US" sz="950" dirty="0"/>
          </a:p>
        </p:txBody>
      </p:sp>
      <p:sp>
        <p:nvSpPr>
          <p:cNvPr id="18" name="Text 16"/>
          <p:cNvSpPr/>
          <p:nvPr/>
        </p:nvSpPr>
        <p:spPr>
          <a:xfrm>
            <a:off x="228600" y="3547872"/>
            <a:ext cx="411480" cy="475488"/>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9" name="Text 17"/>
          <p:cNvSpPr/>
          <p:nvPr/>
        </p:nvSpPr>
        <p:spPr>
          <a:xfrm>
            <a:off x="685800" y="3547872"/>
            <a:ext cx="8229600" cy="256032"/>
          </a:xfrm>
          <a:prstGeom prst="rect">
            <a:avLst/>
          </a:prstGeom>
          <a:noFill/>
          <a:ln/>
        </p:spPr>
        <p:txBody>
          <a:bodyPr wrap="square" rtlCol="0" anchor="ctr"/>
          <a:lstStyle/>
          <a:p>
            <a:pPr indent="0" marL="0">
              <a:buNone/>
            </a:pPr>
            <a:r>
              <a:rPr lang="en-US" sz="1100" b="1" dirty="0">
                <a:solidFill>
                  <a:srgbClr val="B9DEF8"/>
                </a:solidFill>
              </a:rPr>
              <a:t>Zero Trust Network Access (ZTNA)</a:t>
            </a:r>
            <a:endParaRPr lang="en-US" sz="1100" dirty="0"/>
          </a:p>
        </p:txBody>
      </p:sp>
      <p:sp>
        <p:nvSpPr>
          <p:cNvPr id="20" name="Text 18"/>
          <p:cNvSpPr/>
          <p:nvPr/>
        </p:nvSpPr>
        <p:spPr>
          <a:xfrm>
            <a:off x="685800" y="3794760"/>
            <a:ext cx="8229600" cy="228600"/>
          </a:xfrm>
          <a:prstGeom prst="rect">
            <a:avLst/>
          </a:prstGeom>
          <a:noFill/>
          <a:ln/>
        </p:spPr>
        <p:txBody>
          <a:bodyPr wrap="square" rtlCol="0" anchor="ctr"/>
          <a:lstStyle/>
          <a:p>
            <a:pPr indent="0" marL="0">
              <a:buNone/>
            </a:pPr>
            <a:r>
              <a:rPr lang="en-US" sz="950" dirty="0">
                <a:solidFill>
                  <a:srgbClr val="B0C4D8"/>
                </a:solidFill>
              </a:rPr>
              <a:t>Ya no se confía en ningún dispositivo por estar 'dentro' de la red. Autenticación continua, independiente de la topología física.</a:t>
            </a:r>
            <a:endParaRPr lang="en-US" sz="950" dirty="0"/>
          </a:p>
        </p:txBody>
      </p:sp>
      <p:sp>
        <p:nvSpPr>
          <p:cNvPr id="21" name="Shape 19"/>
          <p:cNvSpPr/>
          <p:nvPr/>
        </p:nvSpPr>
        <p:spPr>
          <a:xfrm>
            <a:off x="0" y="4850892"/>
            <a:ext cx="9144000" cy="292608"/>
          </a:xfrm>
          <a:prstGeom prst="rect">
            <a:avLst/>
          </a:prstGeom>
          <a:solidFill>
            <a:srgbClr val="070D14"/>
          </a:solidFill>
          <a:ln w="12700">
            <a:solidFill>
              <a:srgbClr val="070D14"/>
            </a:solidFill>
            <a:prstDash val="solid"/>
          </a:ln>
        </p:spPr>
      </p:sp>
      <p:sp>
        <p:nvSpPr>
          <p:cNvPr id="22" name="Text 20"/>
          <p:cNvSpPr/>
          <p:nvPr/>
        </p:nvSpPr>
        <p:spPr>
          <a:xfrm>
            <a:off x="182880" y="4869180"/>
            <a:ext cx="8778240" cy="256032"/>
          </a:xfrm>
          <a:prstGeom prst="rect">
            <a:avLst/>
          </a:prstGeom>
          <a:noFill/>
          <a:ln/>
        </p:spPr>
        <p:txBody>
          <a:bodyPr wrap="square" rtlCol="0" anchor="ctr"/>
          <a:lstStyle/>
          <a:p>
            <a:pPr indent="0" marL="0">
              <a:buNone/>
            </a:pPr>
            <a:r>
              <a:rPr lang="en-US" sz="800" dirty="0">
                <a:solidFill>
                  <a:srgbClr val="4A6B8A"/>
                </a:solidFill>
              </a:rPr>
              <a:t>Actualización tecnológica · 2024-2025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sp>
      <p:sp>
        <p:nvSpPr>
          <p:cNvPr id="3" name="Text 1"/>
          <p:cNvSpPr/>
          <p:nvPr/>
        </p:nvSpPr>
        <p:spPr>
          <a:xfrm>
            <a:off x="274320" y="164592"/>
            <a:ext cx="8595360" cy="292608"/>
          </a:xfrm>
          <a:prstGeom prst="rect">
            <a:avLst/>
          </a:prstGeom>
          <a:noFill/>
          <a:ln/>
        </p:spPr>
        <p:txBody>
          <a:bodyPr wrap="square" rtlCol="0" anchor="ctr"/>
          <a:lstStyle/>
          <a:p>
            <a:pPr indent="0" marL="0">
              <a:buNone/>
            </a:pPr>
            <a:r>
              <a:rPr lang="en-US" sz="1100" dirty="0">
                <a:solidFill>
                  <a:srgbClr val="808080"/>
                </a:solidFill>
                <a:latin typeface="Arial" pitchFamily="34" charset="0"/>
                <a:ea typeface="Arial" pitchFamily="34" charset="-122"/>
                <a:cs typeface="Arial" pitchFamily="34" charset="-120"/>
              </a:rPr>
              <a:t>Pregunta 1 / 3</a:t>
            </a:r>
            <a:endParaRPr lang="en-US" sz="1100" dirty="0"/>
          </a:p>
        </p:txBody>
      </p:sp>
      <p:sp>
        <p:nvSpPr>
          <p:cNvPr id="4" name="Shape 2"/>
          <p:cNvSpPr/>
          <p:nvPr/>
        </p:nvSpPr>
        <p:spPr>
          <a:xfrm>
            <a:off x="3200400" y="128016"/>
            <a:ext cx="2743200" cy="347472"/>
          </a:xfrm>
          <a:prstGeom prst="roundRect">
            <a:avLst>
              <a:gd name="adj" fmla="val 15789"/>
            </a:avLst>
          </a:prstGeom>
          <a:solidFill>
            <a:srgbClr val="5AA8D8"/>
          </a:solidFill>
          <a:ln w="12700">
            <a:solidFill>
              <a:srgbClr val="5AA8D8"/>
            </a:solidFill>
            <a:prstDash val="solid"/>
          </a:ln>
        </p:spPr>
      </p:sp>
      <p:sp>
        <p:nvSpPr>
          <p:cNvPr id="5" name="Text 3"/>
          <p:cNvSpPr/>
          <p:nvPr/>
        </p:nvSpPr>
        <p:spPr>
          <a:xfrm>
            <a:off x="3200400" y="128016"/>
            <a:ext cx="2743200" cy="347472"/>
          </a:xfrm>
          <a:prstGeom prst="rect">
            <a:avLst/>
          </a:prstGeom>
          <a:noFill/>
          <a:ln/>
        </p:spPr>
        <p:txBody>
          <a:bodyPr wrap="square" rtlCol="0" anchor="ctr"/>
          <a:lstStyle/>
          <a:p>
            <a:pPr algn="ctr" indent="0" marL="0">
              <a:buNone/>
            </a:pPr>
            <a:r>
              <a:rPr lang="en-US" sz="1000" b="1" dirty="0">
                <a:solidFill>
                  <a:srgbClr val="FFFFFF"/>
                </a:solidFill>
              </a:rPr>
              <a:t>VERDADERO / FALSO</a:t>
            </a:r>
            <a:endParaRPr lang="en-US" sz="1000" dirty="0"/>
          </a:p>
        </p:txBody>
      </p:sp>
      <p:sp>
        <p:nvSpPr>
          <p:cNvPr id="6" name="Shape 4"/>
          <p:cNvSpPr/>
          <p:nvPr/>
        </p:nvSpPr>
        <p:spPr>
          <a:xfrm>
            <a:off x="457200" y="960120"/>
            <a:ext cx="8229600" cy="22860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7" name="Shape 5"/>
          <p:cNvSpPr/>
          <p:nvPr/>
        </p:nvSpPr>
        <p:spPr>
          <a:xfrm>
            <a:off x="457200" y="960120"/>
            <a:ext cx="91440" cy="2286000"/>
          </a:xfrm>
          <a:prstGeom prst="rect">
            <a:avLst/>
          </a:prstGeom>
          <a:solidFill>
            <a:srgbClr val="5AA8D8"/>
          </a:solidFill>
          <a:ln w="12700">
            <a:solidFill>
              <a:srgbClr val="5AA8D8"/>
            </a:solidFill>
            <a:prstDash val="solid"/>
          </a:ln>
        </p:spPr>
      </p:sp>
      <p:sp>
        <p:nvSpPr>
          <p:cNvPr id="8" name="Text 6"/>
          <p:cNvSpPr/>
          <p:nvPr/>
        </p:nvSpPr>
        <p:spPr>
          <a:xfrm>
            <a:off x="685800" y="1097280"/>
            <a:ext cx="7772400" cy="292608"/>
          </a:xfrm>
          <a:prstGeom prst="rect">
            <a:avLst/>
          </a:prstGeom>
          <a:noFill/>
          <a:ln/>
        </p:spPr>
        <p:txBody>
          <a:bodyPr wrap="square" rtlCol="0" anchor="ctr"/>
          <a:lstStyle/>
          <a:p>
            <a:pPr indent="0" marL="0">
              <a:buNone/>
            </a:pPr>
            <a:r>
              <a:rPr lang="en-US" sz="1200" b="1" dirty="0">
                <a:solidFill>
                  <a:srgbClr val="3A7BAA"/>
                </a:solidFill>
              </a:rPr>
              <a:t>📋  Afirmación:</a:t>
            </a:r>
            <a:endParaRPr lang="en-US" sz="1200" dirty="0"/>
          </a:p>
        </p:txBody>
      </p:sp>
      <p:sp>
        <p:nvSpPr>
          <p:cNvPr id="9" name="Text 7"/>
          <p:cNvSpPr/>
          <p:nvPr/>
        </p:nvSpPr>
        <p:spPr>
          <a:xfrm>
            <a:off x="685800" y="1417320"/>
            <a:ext cx="7772400" cy="1600200"/>
          </a:xfrm>
          <a:prstGeom prst="rect">
            <a:avLst/>
          </a:prstGeom>
          <a:noFill/>
          <a:ln/>
        </p:spPr>
        <p:txBody>
          <a:bodyPr wrap="square" rtlCol="0" anchor="ctr"/>
          <a:lstStyle/>
          <a:p>
            <a:pPr indent="0" marL="0">
              <a:buNone/>
            </a:pPr>
            <a:r>
              <a:rPr lang="en-US" sz="1400" i="1" dirty="0">
                <a:solidFill>
                  <a:srgbClr val="2D3030"/>
                </a:solidFill>
                <a:latin typeface="Arial" pitchFamily="34" charset="0"/>
                <a:ea typeface="Arial" pitchFamily="34" charset="-122"/>
                <a:cs typeface="Arial" pitchFamily="34" charset="-120"/>
              </a:rPr>
              <a:t>"En la topología de BUS, si una computadora deja de funcionar, toda la red deja de transmitir datos."</a:t>
            </a:r>
            <a:endParaRPr lang="en-US" sz="1400" dirty="0"/>
          </a:p>
        </p:txBody>
      </p:sp>
      <p:sp>
        <p:nvSpPr>
          <p:cNvPr id="10" name="Shape 8"/>
          <p:cNvSpPr/>
          <p:nvPr/>
        </p:nvSpPr>
        <p:spPr>
          <a:xfrm>
            <a:off x="1645920" y="3429000"/>
            <a:ext cx="2286000" cy="594360"/>
          </a:xfrm>
          <a:prstGeom prst="roundRect">
            <a:avLst>
              <a:gd name="adj" fmla="val 15385"/>
            </a:avLst>
          </a:prstGeom>
          <a:solidFill>
            <a:srgbClr val="E8F8F0"/>
          </a:solidFill>
          <a:ln w="25400">
            <a:solidFill>
              <a:srgbClr val="27AE60"/>
            </a:solidFill>
            <a:prstDash val="solid"/>
          </a:ln>
        </p:spPr>
      </p:sp>
      <p:sp>
        <p:nvSpPr>
          <p:cNvPr id="11" name="Text 9"/>
          <p:cNvSpPr/>
          <p:nvPr/>
        </p:nvSpPr>
        <p:spPr>
          <a:xfrm>
            <a:off x="1645920" y="3429000"/>
            <a:ext cx="2286000" cy="594360"/>
          </a:xfrm>
          <a:prstGeom prst="rect">
            <a:avLst/>
          </a:prstGeom>
          <a:noFill/>
          <a:ln/>
        </p:spPr>
        <p:txBody>
          <a:bodyPr wrap="square" rtlCol="0" anchor="ctr"/>
          <a:lstStyle/>
          <a:p>
            <a:pPr algn="ctr" indent="0" marL="0">
              <a:buNone/>
            </a:pPr>
            <a:r>
              <a:rPr lang="en-US" sz="1300" b="1" dirty="0">
                <a:solidFill>
                  <a:srgbClr val="27AE60"/>
                </a:solidFill>
              </a:rPr>
              <a:t>✓  VERDADERO</a:t>
            </a:r>
            <a:endParaRPr lang="en-US" sz="1300" dirty="0"/>
          </a:p>
        </p:txBody>
      </p:sp>
      <p:sp>
        <p:nvSpPr>
          <p:cNvPr id="12" name="Shape 10"/>
          <p:cNvSpPr/>
          <p:nvPr/>
        </p:nvSpPr>
        <p:spPr>
          <a:xfrm>
            <a:off x="5212080" y="3429000"/>
            <a:ext cx="2286000" cy="594360"/>
          </a:xfrm>
          <a:prstGeom prst="roundRect">
            <a:avLst>
              <a:gd name="adj" fmla="val 15385"/>
            </a:avLst>
          </a:prstGeom>
          <a:solidFill>
            <a:srgbClr val="FEF0F0"/>
          </a:solidFill>
          <a:ln w="25400">
            <a:solidFill>
              <a:srgbClr val="E74C3C"/>
            </a:solidFill>
            <a:prstDash val="solid"/>
          </a:ln>
        </p:spPr>
      </p:sp>
      <p:sp>
        <p:nvSpPr>
          <p:cNvPr id="13" name="Text 11"/>
          <p:cNvSpPr/>
          <p:nvPr/>
        </p:nvSpPr>
        <p:spPr>
          <a:xfrm>
            <a:off x="5212080" y="3429000"/>
            <a:ext cx="2286000" cy="594360"/>
          </a:xfrm>
          <a:prstGeom prst="rect">
            <a:avLst/>
          </a:prstGeom>
          <a:noFill/>
          <a:ln/>
        </p:spPr>
        <p:txBody>
          <a:bodyPr wrap="square" rtlCol="0" anchor="ctr"/>
          <a:lstStyle/>
          <a:p>
            <a:pPr algn="ctr" indent="0" marL="0">
              <a:buNone/>
            </a:pPr>
            <a:r>
              <a:rPr lang="en-US" sz="1300" b="1" dirty="0">
                <a:solidFill>
                  <a:srgbClr val="E74C3C"/>
                </a:solidFill>
              </a:rPr>
              <a:t>✗  FALSO</a:t>
            </a:r>
            <a:endParaRPr lang="en-US" sz="1300" dirty="0"/>
          </a:p>
        </p:txBody>
      </p:sp>
      <p:sp>
        <p:nvSpPr>
          <p:cNvPr id="14" name="Text 12"/>
          <p:cNvSpPr/>
          <p:nvPr/>
        </p:nvSpPr>
        <p:spPr>
          <a:xfrm>
            <a:off x="274320" y="4160520"/>
            <a:ext cx="8595360" cy="256032"/>
          </a:xfrm>
          <a:prstGeom prst="rect">
            <a:avLst/>
          </a:prstGeom>
          <a:noFill/>
          <a:ln/>
        </p:spPr>
        <p:txBody>
          <a:bodyPr wrap="square" rtlCol="0" anchor="ctr"/>
          <a:lstStyle/>
          <a:p>
            <a:pPr algn="ctr" indent="0" marL="0">
              <a:buNone/>
            </a:pPr>
            <a:r>
              <a:rPr lang="en-US" sz="1000" i="1" dirty="0">
                <a:solidFill>
                  <a:srgbClr val="808080"/>
                </a:solidFill>
              </a:rPr>
              <a:t>¿Qué opción es correcta?</a:t>
            </a:r>
            <a:endParaRPr lang="en-US" sz="1000" dirty="0"/>
          </a:p>
        </p:txBody>
      </p:sp>
      <p:sp>
        <p:nvSpPr>
          <p:cNvPr id="15" name="Shape 13"/>
          <p:cNvSpPr/>
          <p:nvPr/>
        </p:nvSpPr>
        <p:spPr>
          <a:xfrm>
            <a:off x="0" y="4850892"/>
            <a:ext cx="9144000" cy="292608"/>
          </a:xfrm>
          <a:prstGeom prst="rect">
            <a:avLst/>
          </a:prstGeom>
          <a:solidFill>
            <a:srgbClr val="2D3030"/>
          </a:solidFill>
          <a:ln w="12700">
            <a:solidFill>
              <a:srgbClr val="2D3030"/>
            </a:solidFill>
            <a:prstDash val="solid"/>
          </a:ln>
        </p:spPr>
      </p:sp>
      <p:sp>
        <p:nvSpPr>
          <p:cNvPr id="16" name="Text 14"/>
          <p:cNvSpPr/>
          <p:nvPr/>
        </p:nvSpPr>
        <p:spPr>
          <a:xfrm>
            <a:off x="182880" y="4869180"/>
            <a:ext cx="5486400" cy="256032"/>
          </a:xfrm>
          <a:prstGeom prst="rect">
            <a:avLst/>
          </a:prstGeom>
          <a:noFill/>
          <a:ln/>
        </p:spPr>
        <p:txBody>
          <a:bodyPr wrap="square" rtlCol="0" anchor="ctr"/>
          <a:lstStyle/>
          <a:p>
            <a:pPr indent="0" marL="0">
              <a:buNone/>
            </a:pPr>
            <a:r>
              <a:rPr lang="en-US" sz="800" dirty="0">
                <a:solidFill>
                  <a:srgbClr val="808080"/>
                </a:solidFill>
                <a:latin typeface="Arial" pitchFamily="34" charset="0"/>
                <a:ea typeface="Arial" pitchFamily="34" charset="-122"/>
                <a:cs typeface="Arial" pitchFamily="34" charset="-120"/>
              </a:rPr>
              <a:t>SP5 · H1 · Topologías LAN</a:t>
            </a:r>
            <a:endParaRPr lang="en-US" sz="800" dirty="0"/>
          </a:p>
        </p:txBody>
      </p:sp>
      <p:sp>
        <p:nvSpPr>
          <p:cNvPr id="17" name="Text 15"/>
          <p:cNvSpPr/>
          <p:nvPr/>
        </p:nvSpPr>
        <p:spPr>
          <a:xfrm>
            <a:off x="6583680" y="4869180"/>
            <a:ext cx="2377440" cy="256032"/>
          </a:xfrm>
          <a:prstGeom prst="rect">
            <a:avLst/>
          </a:prstGeom>
          <a:noFill/>
          <a:ln/>
        </p:spPr>
        <p:txBody>
          <a:bodyPr wrap="square" rtlCol="0" anchor="ctr"/>
          <a:lstStyle/>
          <a:p>
            <a:pPr algn="r" indent="0" marL="0">
              <a:buNone/>
            </a:pPr>
            <a:r>
              <a:rPr lang="en-US" sz="800" dirty="0">
                <a:solidFill>
                  <a:srgbClr val="B9DEF8"/>
                </a:solidFill>
                <a:latin typeface="Arial" pitchFamily="34" charset="0"/>
                <a:ea typeface="Arial" pitchFamily="34" charset="-122"/>
                <a:cs typeface="Arial" pitchFamily="34" charset="-120"/>
              </a:rPr>
              <a:t>P1 — Autoevaluación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7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74C3C"/>
          </a:solidFill>
          <a:ln w="12700">
            <a:solidFill>
              <a:srgbClr val="E74C3C"/>
            </a:solidFill>
            <a:prstDash val="solid"/>
          </a:ln>
        </p:spPr>
      </p:sp>
      <p:sp>
        <p:nvSpPr>
          <p:cNvPr id="3" name="Text 1"/>
          <p:cNvSpPr/>
          <p:nvPr/>
        </p:nvSpPr>
        <p:spPr>
          <a:xfrm>
            <a:off x="274320" y="164592"/>
            <a:ext cx="8595360" cy="292608"/>
          </a:xfrm>
          <a:prstGeom prst="rect">
            <a:avLst/>
          </a:prstGeom>
          <a:noFill/>
          <a:ln/>
        </p:spPr>
        <p:txBody>
          <a:bodyPr wrap="square" rtlCol="0" anchor="ctr"/>
          <a:lstStyle/>
          <a:p>
            <a:pPr indent="0" marL="0">
              <a:buNone/>
            </a:pPr>
            <a:r>
              <a:rPr lang="en-US" sz="1100" dirty="0">
                <a:solidFill>
                  <a:srgbClr val="808080"/>
                </a:solidFill>
              </a:rPr>
              <a:t>Respuesta — Pregunta 1</a:t>
            </a:r>
            <a:endParaRPr lang="en-US" sz="1100" dirty="0"/>
          </a:p>
        </p:txBody>
      </p:sp>
      <p:sp>
        <p:nvSpPr>
          <p:cNvPr id="4" name="Shape 2"/>
          <p:cNvSpPr/>
          <p:nvPr/>
        </p:nvSpPr>
        <p:spPr>
          <a:xfrm>
            <a:off x="2743200" y="548640"/>
            <a:ext cx="3657600" cy="658368"/>
          </a:xfrm>
          <a:prstGeom prst="roundRect">
            <a:avLst>
              <a:gd name="adj" fmla="val 13889"/>
            </a:avLst>
          </a:prstGeom>
          <a:solidFill>
            <a:srgbClr val="FEF0F0"/>
          </a:solidFill>
          <a:ln w="38100">
            <a:solidFill>
              <a:srgbClr val="E74C3C"/>
            </a:solidFill>
            <a:prstDash val="solid"/>
          </a:ln>
        </p:spPr>
      </p:sp>
      <p:sp>
        <p:nvSpPr>
          <p:cNvPr id="5" name="Text 3"/>
          <p:cNvSpPr/>
          <p:nvPr/>
        </p:nvSpPr>
        <p:spPr>
          <a:xfrm>
            <a:off x="2743200" y="548640"/>
            <a:ext cx="3657600" cy="658368"/>
          </a:xfrm>
          <a:prstGeom prst="rect">
            <a:avLst/>
          </a:prstGeom>
          <a:noFill/>
          <a:ln/>
        </p:spPr>
        <p:txBody>
          <a:bodyPr wrap="square" rtlCol="0" anchor="ctr"/>
          <a:lstStyle/>
          <a:p>
            <a:pPr algn="ctr" indent="0" marL="0">
              <a:buNone/>
            </a:pPr>
            <a:r>
              <a:rPr lang="en-US" sz="2000" b="1" dirty="0">
                <a:solidFill>
                  <a:srgbClr val="E74C3C"/>
                </a:solidFill>
              </a:rPr>
              <a:t>✗  FALSO</a:t>
            </a:r>
            <a:endParaRPr lang="en-US" sz="2000" dirty="0"/>
          </a:p>
        </p:txBody>
      </p:sp>
      <p:sp>
        <p:nvSpPr>
          <p:cNvPr id="6" name="Shape 4"/>
          <p:cNvSpPr/>
          <p:nvPr/>
        </p:nvSpPr>
        <p:spPr>
          <a:xfrm>
            <a:off x="365760" y="1371600"/>
            <a:ext cx="8412480" cy="2331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5"/>
          <p:cNvSpPr/>
          <p:nvPr/>
        </p:nvSpPr>
        <p:spPr>
          <a:xfrm>
            <a:off x="365760" y="1371600"/>
            <a:ext cx="91440" cy="2331720"/>
          </a:xfrm>
          <a:prstGeom prst="rect">
            <a:avLst/>
          </a:prstGeom>
          <a:solidFill>
            <a:srgbClr val="E74C3C"/>
          </a:solidFill>
          <a:ln w="12700">
            <a:solidFill>
              <a:srgbClr val="E74C3C"/>
            </a:solidFill>
            <a:prstDash val="solid"/>
          </a:ln>
        </p:spPr>
      </p:sp>
      <p:sp>
        <p:nvSpPr>
          <p:cNvPr id="8" name="Text 6"/>
          <p:cNvSpPr/>
          <p:nvPr/>
        </p:nvSpPr>
        <p:spPr>
          <a:xfrm>
            <a:off x="594360" y="1481328"/>
            <a:ext cx="8229600" cy="292608"/>
          </a:xfrm>
          <a:prstGeom prst="rect">
            <a:avLst/>
          </a:prstGeom>
          <a:noFill/>
          <a:ln/>
        </p:spPr>
        <p:txBody>
          <a:bodyPr wrap="square" rtlCol="0" anchor="ctr"/>
          <a:lstStyle/>
          <a:p>
            <a:pPr indent="0" marL="0">
              <a:buNone/>
            </a:pPr>
            <a:r>
              <a:rPr lang="en-US" sz="1200" b="1" dirty="0">
                <a:solidFill>
                  <a:srgbClr val="3A7BAA"/>
                </a:solidFill>
              </a:rPr>
              <a:t>💡  Justificación:</a:t>
            </a:r>
            <a:endParaRPr lang="en-US" sz="1200" dirty="0"/>
          </a:p>
        </p:txBody>
      </p:sp>
      <p:sp>
        <p:nvSpPr>
          <p:cNvPr id="9" name="Text 7"/>
          <p:cNvSpPr/>
          <p:nvPr/>
        </p:nvSpPr>
        <p:spPr>
          <a:xfrm>
            <a:off x="594360" y="1810512"/>
            <a:ext cx="8046720" cy="1691640"/>
          </a:xfrm>
          <a:prstGeom prst="rect">
            <a:avLst/>
          </a:prstGeom>
          <a:noFill/>
          <a:ln/>
        </p:spPr>
        <p:txBody>
          <a:bodyPr wrap="square" rtlCol="0" anchor="t"/>
          <a:lstStyle/>
          <a:p>
            <a:pPr indent="0" marL="0">
              <a:buNone/>
            </a:pPr>
            <a:r>
              <a:rPr lang="en-US" sz="1150" dirty="0">
                <a:solidFill>
                  <a:srgbClr val="2D3030"/>
                </a:solidFill>
                <a:latin typeface="Arial" pitchFamily="34" charset="0"/>
                <a:ea typeface="Arial" pitchFamily="34" charset="-122"/>
                <a:cs typeface="Arial" pitchFamily="34" charset="-120"/>
              </a:rPr>
              <a:t>FALSO. La topología bus es PASIVA: los nodos no participan activamente en la retransmisión. Si un nodo cae, la señal sigue circulando por el backbone sin interrupciones. La red solo falla si se corta el cable o se pierde un terminador.</a:t>
            </a:r>
            <a:endParaRPr lang="en-US" sz="1150" dirty="0"/>
          </a:p>
        </p:txBody>
      </p:sp>
      <p:sp>
        <p:nvSpPr>
          <p:cNvPr id="10" name="Text 8"/>
          <p:cNvSpPr/>
          <p:nvPr/>
        </p:nvSpPr>
        <p:spPr>
          <a:xfrm>
            <a:off x="274320" y="3886200"/>
            <a:ext cx="8595360" cy="256032"/>
          </a:xfrm>
          <a:prstGeom prst="rect">
            <a:avLst/>
          </a:prstGeom>
          <a:noFill/>
          <a:ln/>
        </p:spPr>
        <p:txBody>
          <a:bodyPr wrap="square" rtlCol="0" anchor="ctr"/>
          <a:lstStyle/>
          <a:p>
            <a:pPr algn="ctr" indent="0" marL="0">
              <a:buNone/>
            </a:pPr>
            <a:r>
              <a:rPr lang="en-US" sz="900" i="1" dirty="0">
                <a:solidFill>
                  <a:srgbClr val="808080"/>
                </a:solidFill>
              </a:rPr>
              <a:t>La respuesta correcta es la indicada arriba · Registrá tu puntaje antes de pasar a la siguiente.</a:t>
            </a:r>
            <a:endParaRPr lang="en-US" sz="900" dirty="0"/>
          </a:p>
        </p:txBody>
      </p:sp>
      <p:sp>
        <p:nvSpPr>
          <p:cNvPr id="11" name="Shape 9"/>
          <p:cNvSpPr/>
          <p:nvPr/>
        </p:nvSpPr>
        <p:spPr>
          <a:xfrm>
            <a:off x="0" y="4850892"/>
            <a:ext cx="9144000" cy="292608"/>
          </a:xfrm>
          <a:prstGeom prst="rect">
            <a:avLst/>
          </a:prstGeom>
          <a:solidFill>
            <a:srgbClr val="2D3030"/>
          </a:solidFill>
          <a:ln w="12700">
            <a:solidFill>
              <a:srgbClr val="2D3030"/>
            </a:solidFill>
            <a:prstDash val="solid"/>
          </a:ln>
        </p:spPr>
      </p:sp>
      <p:sp>
        <p:nvSpPr>
          <p:cNvPr id="12" name="Text 10"/>
          <p:cNvSpPr/>
          <p:nvPr/>
        </p:nvSpPr>
        <p:spPr>
          <a:xfrm>
            <a:off x="182880" y="4869180"/>
            <a:ext cx="5486400" cy="256032"/>
          </a:xfrm>
          <a:prstGeom prst="rect">
            <a:avLst/>
          </a:prstGeom>
          <a:noFill/>
          <a:ln/>
        </p:spPr>
        <p:txBody>
          <a:bodyPr wrap="square" rtlCol="0" anchor="ctr"/>
          <a:lstStyle/>
          <a:p>
            <a:pPr indent="0" marL="0">
              <a:buNone/>
            </a:pPr>
            <a:r>
              <a:rPr lang="en-US" sz="800" dirty="0">
                <a:solidFill>
                  <a:srgbClr val="808080"/>
                </a:solidFill>
                <a:latin typeface="Arial" pitchFamily="34" charset="0"/>
                <a:ea typeface="Arial" pitchFamily="34" charset="-122"/>
                <a:cs typeface="Arial" pitchFamily="34" charset="-120"/>
              </a:rPr>
              <a:t>SP5 · H1 · Topologías LAN</a:t>
            </a:r>
            <a:endParaRPr lang="en-US" sz="800" dirty="0"/>
          </a:p>
        </p:txBody>
      </p:sp>
      <p:sp>
        <p:nvSpPr>
          <p:cNvPr id="13" name="Text 11"/>
          <p:cNvSpPr/>
          <p:nvPr/>
        </p:nvSpPr>
        <p:spPr>
          <a:xfrm>
            <a:off x="6583680" y="4869180"/>
            <a:ext cx="2377440" cy="256032"/>
          </a:xfrm>
          <a:prstGeom prst="rect">
            <a:avLst/>
          </a:prstGeom>
          <a:noFill/>
          <a:ln/>
        </p:spPr>
        <p:txBody>
          <a:bodyPr wrap="square" rtlCol="0" anchor="ctr"/>
          <a:lstStyle/>
          <a:p>
            <a:pPr algn="r" indent="0" marL="0">
              <a:buNone/>
            </a:pPr>
            <a:r>
              <a:rPr lang="en-US" sz="800" dirty="0">
                <a:solidFill>
                  <a:srgbClr val="B9DEF8"/>
                </a:solidFill>
                <a:latin typeface="Arial" pitchFamily="34" charset="0"/>
                <a:ea typeface="Arial" pitchFamily="34" charset="-122"/>
                <a:cs typeface="Arial" pitchFamily="34" charset="-120"/>
              </a:rPr>
              <a:t>R1 — Respuesta</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7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sp>
      <p:sp>
        <p:nvSpPr>
          <p:cNvPr id="3" name="Text 1"/>
          <p:cNvSpPr/>
          <p:nvPr/>
        </p:nvSpPr>
        <p:spPr>
          <a:xfrm>
            <a:off x="274320" y="164592"/>
            <a:ext cx="8595360" cy="292608"/>
          </a:xfrm>
          <a:prstGeom prst="rect">
            <a:avLst/>
          </a:prstGeom>
          <a:noFill/>
          <a:ln/>
        </p:spPr>
        <p:txBody>
          <a:bodyPr wrap="square" rtlCol="0" anchor="ctr"/>
          <a:lstStyle/>
          <a:p>
            <a:pPr indent="0" marL="0">
              <a:buNone/>
            </a:pPr>
            <a:r>
              <a:rPr lang="en-US" sz="1100" dirty="0">
                <a:solidFill>
                  <a:srgbClr val="808080"/>
                </a:solidFill>
                <a:latin typeface="Arial" pitchFamily="34" charset="0"/>
                <a:ea typeface="Arial" pitchFamily="34" charset="-122"/>
                <a:cs typeface="Arial" pitchFamily="34" charset="-120"/>
              </a:rPr>
              <a:t>Pregunta 2 / 3</a:t>
            </a:r>
            <a:endParaRPr lang="en-US" sz="1100" dirty="0"/>
          </a:p>
        </p:txBody>
      </p:sp>
      <p:sp>
        <p:nvSpPr>
          <p:cNvPr id="4" name="Shape 2"/>
          <p:cNvSpPr/>
          <p:nvPr/>
        </p:nvSpPr>
        <p:spPr>
          <a:xfrm>
            <a:off x="3200400" y="128016"/>
            <a:ext cx="2743200" cy="347472"/>
          </a:xfrm>
          <a:prstGeom prst="roundRect">
            <a:avLst>
              <a:gd name="adj" fmla="val 15789"/>
            </a:avLst>
          </a:prstGeom>
          <a:solidFill>
            <a:srgbClr val="5AA8D8"/>
          </a:solidFill>
          <a:ln w="12700">
            <a:solidFill>
              <a:srgbClr val="5AA8D8"/>
            </a:solidFill>
            <a:prstDash val="solid"/>
          </a:ln>
        </p:spPr>
      </p:sp>
      <p:sp>
        <p:nvSpPr>
          <p:cNvPr id="5" name="Text 3"/>
          <p:cNvSpPr/>
          <p:nvPr/>
        </p:nvSpPr>
        <p:spPr>
          <a:xfrm>
            <a:off x="3200400" y="128016"/>
            <a:ext cx="2743200" cy="347472"/>
          </a:xfrm>
          <a:prstGeom prst="rect">
            <a:avLst/>
          </a:prstGeom>
          <a:noFill/>
          <a:ln/>
        </p:spPr>
        <p:txBody>
          <a:bodyPr wrap="square" rtlCol="0" anchor="ctr"/>
          <a:lstStyle/>
          <a:p>
            <a:pPr algn="ctr" indent="0" marL="0">
              <a:buNone/>
            </a:pPr>
            <a:r>
              <a:rPr lang="en-US" sz="1000" b="1" dirty="0">
                <a:solidFill>
                  <a:srgbClr val="FFFFFF"/>
                </a:solidFill>
              </a:rPr>
              <a:t>VERDADERO / FALSO</a:t>
            </a:r>
            <a:endParaRPr lang="en-US" sz="1000" dirty="0"/>
          </a:p>
        </p:txBody>
      </p:sp>
      <p:sp>
        <p:nvSpPr>
          <p:cNvPr id="6" name="Shape 4"/>
          <p:cNvSpPr/>
          <p:nvPr/>
        </p:nvSpPr>
        <p:spPr>
          <a:xfrm>
            <a:off x="457200" y="960120"/>
            <a:ext cx="8229600" cy="22860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7" name="Shape 5"/>
          <p:cNvSpPr/>
          <p:nvPr/>
        </p:nvSpPr>
        <p:spPr>
          <a:xfrm>
            <a:off x="457200" y="960120"/>
            <a:ext cx="91440" cy="2286000"/>
          </a:xfrm>
          <a:prstGeom prst="rect">
            <a:avLst/>
          </a:prstGeom>
          <a:solidFill>
            <a:srgbClr val="5AA8D8"/>
          </a:solidFill>
          <a:ln w="12700">
            <a:solidFill>
              <a:srgbClr val="5AA8D8"/>
            </a:solidFill>
            <a:prstDash val="solid"/>
          </a:ln>
        </p:spPr>
      </p:sp>
      <p:sp>
        <p:nvSpPr>
          <p:cNvPr id="8" name="Text 6"/>
          <p:cNvSpPr/>
          <p:nvPr/>
        </p:nvSpPr>
        <p:spPr>
          <a:xfrm>
            <a:off x="685800" y="1097280"/>
            <a:ext cx="7772400" cy="292608"/>
          </a:xfrm>
          <a:prstGeom prst="rect">
            <a:avLst/>
          </a:prstGeom>
          <a:noFill/>
          <a:ln/>
        </p:spPr>
        <p:txBody>
          <a:bodyPr wrap="square" rtlCol="0" anchor="ctr"/>
          <a:lstStyle/>
          <a:p>
            <a:pPr indent="0" marL="0">
              <a:buNone/>
            </a:pPr>
            <a:r>
              <a:rPr lang="en-US" sz="1200" b="1" dirty="0">
                <a:solidFill>
                  <a:srgbClr val="3A7BAA"/>
                </a:solidFill>
              </a:rPr>
              <a:t>📋  Afirmación:</a:t>
            </a:r>
            <a:endParaRPr lang="en-US" sz="1200" dirty="0"/>
          </a:p>
        </p:txBody>
      </p:sp>
      <p:sp>
        <p:nvSpPr>
          <p:cNvPr id="9" name="Text 7"/>
          <p:cNvSpPr/>
          <p:nvPr/>
        </p:nvSpPr>
        <p:spPr>
          <a:xfrm>
            <a:off x="685800" y="1417320"/>
            <a:ext cx="7772400" cy="1600200"/>
          </a:xfrm>
          <a:prstGeom prst="rect">
            <a:avLst/>
          </a:prstGeom>
          <a:noFill/>
          <a:ln/>
        </p:spPr>
        <p:txBody>
          <a:bodyPr wrap="square" rtlCol="0" anchor="ctr"/>
          <a:lstStyle/>
          <a:p>
            <a:pPr indent="0" marL="0">
              <a:buNone/>
            </a:pPr>
            <a:r>
              <a:rPr lang="en-US" sz="1400" i="1" dirty="0">
                <a:solidFill>
                  <a:srgbClr val="2D3030"/>
                </a:solidFill>
                <a:latin typeface="Arial" pitchFamily="34" charset="0"/>
                <a:ea typeface="Arial" pitchFamily="34" charset="-122"/>
                <a:cs typeface="Arial" pitchFamily="34" charset="-120"/>
              </a:rPr>
              <a:t>"Los HUBs, a diferencia de los SWITCHES, envían el mensaje únicamente al puerto de destino correcto."</a:t>
            </a:r>
            <a:endParaRPr lang="en-US" sz="1400" dirty="0"/>
          </a:p>
        </p:txBody>
      </p:sp>
      <p:sp>
        <p:nvSpPr>
          <p:cNvPr id="10" name="Shape 8"/>
          <p:cNvSpPr/>
          <p:nvPr/>
        </p:nvSpPr>
        <p:spPr>
          <a:xfrm>
            <a:off x="1645920" y="3429000"/>
            <a:ext cx="2286000" cy="594360"/>
          </a:xfrm>
          <a:prstGeom prst="roundRect">
            <a:avLst>
              <a:gd name="adj" fmla="val 15385"/>
            </a:avLst>
          </a:prstGeom>
          <a:solidFill>
            <a:srgbClr val="E8F8F0"/>
          </a:solidFill>
          <a:ln w="25400">
            <a:solidFill>
              <a:srgbClr val="27AE60"/>
            </a:solidFill>
            <a:prstDash val="solid"/>
          </a:ln>
        </p:spPr>
      </p:sp>
      <p:sp>
        <p:nvSpPr>
          <p:cNvPr id="11" name="Text 9"/>
          <p:cNvSpPr/>
          <p:nvPr/>
        </p:nvSpPr>
        <p:spPr>
          <a:xfrm>
            <a:off x="1645920" y="3429000"/>
            <a:ext cx="2286000" cy="594360"/>
          </a:xfrm>
          <a:prstGeom prst="rect">
            <a:avLst/>
          </a:prstGeom>
          <a:noFill/>
          <a:ln/>
        </p:spPr>
        <p:txBody>
          <a:bodyPr wrap="square" rtlCol="0" anchor="ctr"/>
          <a:lstStyle/>
          <a:p>
            <a:pPr algn="ctr" indent="0" marL="0">
              <a:buNone/>
            </a:pPr>
            <a:r>
              <a:rPr lang="en-US" sz="1300" b="1" dirty="0">
                <a:solidFill>
                  <a:srgbClr val="27AE60"/>
                </a:solidFill>
              </a:rPr>
              <a:t>✓  VERDADERO</a:t>
            </a:r>
            <a:endParaRPr lang="en-US" sz="1300" dirty="0"/>
          </a:p>
        </p:txBody>
      </p:sp>
      <p:sp>
        <p:nvSpPr>
          <p:cNvPr id="12" name="Shape 10"/>
          <p:cNvSpPr/>
          <p:nvPr/>
        </p:nvSpPr>
        <p:spPr>
          <a:xfrm>
            <a:off x="5212080" y="3429000"/>
            <a:ext cx="2286000" cy="594360"/>
          </a:xfrm>
          <a:prstGeom prst="roundRect">
            <a:avLst>
              <a:gd name="adj" fmla="val 15385"/>
            </a:avLst>
          </a:prstGeom>
          <a:solidFill>
            <a:srgbClr val="FEF0F0"/>
          </a:solidFill>
          <a:ln w="25400">
            <a:solidFill>
              <a:srgbClr val="E74C3C"/>
            </a:solidFill>
            <a:prstDash val="solid"/>
          </a:ln>
        </p:spPr>
      </p:sp>
      <p:sp>
        <p:nvSpPr>
          <p:cNvPr id="13" name="Text 11"/>
          <p:cNvSpPr/>
          <p:nvPr/>
        </p:nvSpPr>
        <p:spPr>
          <a:xfrm>
            <a:off x="5212080" y="3429000"/>
            <a:ext cx="2286000" cy="594360"/>
          </a:xfrm>
          <a:prstGeom prst="rect">
            <a:avLst/>
          </a:prstGeom>
          <a:noFill/>
          <a:ln/>
        </p:spPr>
        <p:txBody>
          <a:bodyPr wrap="square" rtlCol="0" anchor="ctr"/>
          <a:lstStyle/>
          <a:p>
            <a:pPr algn="ctr" indent="0" marL="0">
              <a:buNone/>
            </a:pPr>
            <a:r>
              <a:rPr lang="en-US" sz="1300" b="1" dirty="0">
                <a:solidFill>
                  <a:srgbClr val="E74C3C"/>
                </a:solidFill>
              </a:rPr>
              <a:t>✗  FALSO</a:t>
            </a:r>
            <a:endParaRPr lang="en-US" sz="1300" dirty="0"/>
          </a:p>
        </p:txBody>
      </p:sp>
      <p:sp>
        <p:nvSpPr>
          <p:cNvPr id="14" name="Text 12"/>
          <p:cNvSpPr/>
          <p:nvPr/>
        </p:nvSpPr>
        <p:spPr>
          <a:xfrm>
            <a:off x="274320" y="4160520"/>
            <a:ext cx="8595360" cy="256032"/>
          </a:xfrm>
          <a:prstGeom prst="rect">
            <a:avLst/>
          </a:prstGeom>
          <a:noFill/>
          <a:ln/>
        </p:spPr>
        <p:txBody>
          <a:bodyPr wrap="square" rtlCol="0" anchor="ctr"/>
          <a:lstStyle/>
          <a:p>
            <a:pPr algn="ctr" indent="0" marL="0">
              <a:buNone/>
            </a:pPr>
            <a:r>
              <a:rPr lang="en-US" sz="1000" i="1" dirty="0">
                <a:solidFill>
                  <a:srgbClr val="808080"/>
                </a:solidFill>
              </a:rPr>
              <a:t>¿Qué opción es correcta?</a:t>
            </a:r>
            <a:endParaRPr lang="en-US" sz="1000" dirty="0"/>
          </a:p>
        </p:txBody>
      </p:sp>
      <p:sp>
        <p:nvSpPr>
          <p:cNvPr id="15" name="Shape 13"/>
          <p:cNvSpPr/>
          <p:nvPr/>
        </p:nvSpPr>
        <p:spPr>
          <a:xfrm>
            <a:off x="0" y="4850892"/>
            <a:ext cx="9144000" cy="292608"/>
          </a:xfrm>
          <a:prstGeom prst="rect">
            <a:avLst/>
          </a:prstGeom>
          <a:solidFill>
            <a:srgbClr val="2D3030"/>
          </a:solidFill>
          <a:ln w="12700">
            <a:solidFill>
              <a:srgbClr val="2D3030"/>
            </a:solidFill>
            <a:prstDash val="solid"/>
          </a:ln>
        </p:spPr>
      </p:sp>
      <p:sp>
        <p:nvSpPr>
          <p:cNvPr id="16" name="Text 14"/>
          <p:cNvSpPr/>
          <p:nvPr/>
        </p:nvSpPr>
        <p:spPr>
          <a:xfrm>
            <a:off x="182880" y="4869180"/>
            <a:ext cx="5486400" cy="256032"/>
          </a:xfrm>
          <a:prstGeom prst="rect">
            <a:avLst/>
          </a:prstGeom>
          <a:noFill/>
          <a:ln/>
        </p:spPr>
        <p:txBody>
          <a:bodyPr wrap="square" rtlCol="0" anchor="ctr"/>
          <a:lstStyle/>
          <a:p>
            <a:pPr indent="0" marL="0">
              <a:buNone/>
            </a:pPr>
            <a:r>
              <a:rPr lang="en-US" sz="800" dirty="0">
                <a:solidFill>
                  <a:srgbClr val="808080"/>
                </a:solidFill>
                <a:latin typeface="Arial" pitchFamily="34" charset="0"/>
                <a:ea typeface="Arial" pitchFamily="34" charset="-122"/>
                <a:cs typeface="Arial" pitchFamily="34" charset="-120"/>
              </a:rPr>
              <a:t>SP5 · H1 · Topologías LAN</a:t>
            </a:r>
            <a:endParaRPr lang="en-US" sz="800" dirty="0"/>
          </a:p>
        </p:txBody>
      </p:sp>
      <p:sp>
        <p:nvSpPr>
          <p:cNvPr id="17" name="Text 15"/>
          <p:cNvSpPr/>
          <p:nvPr/>
        </p:nvSpPr>
        <p:spPr>
          <a:xfrm>
            <a:off x="6583680" y="4869180"/>
            <a:ext cx="2377440" cy="256032"/>
          </a:xfrm>
          <a:prstGeom prst="rect">
            <a:avLst/>
          </a:prstGeom>
          <a:noFill/>
          <a:ln/>
        </p:spPr>
        <p:txBody>
          <a:bodyPr wrap="square" rtlCol="0" anchor="ctr"/>
          <a:lstStyle/>
          <a:p>
            <a:pPr algn="r" indent="0" marL="0">
              <a:buNone/>
            </a:pPr>
            <a:r>
              <a:rPr lang="en-US" sz="800" dirty="0">
                <a:solidFill>
                  <a:srgbClr val="B9DEF8"/>
                </a:solidFill>
                <a:latin typeface="Arial" pitchFamily="34" charset="0"/>
                <a:ea typeface="Arial" pitchFamily="34" charset="-122"/>
                <a:cs typeface="Arial" pitchFamily="34" charset="-120"/>
              </a:rPr>
              <a:t>P2 — Autoevaluación</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7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74C3C"/>
          </a:solidFill>
          <a:ln w="12700">
            <a:solidFill>
              <a:srgbClr val="E74C3C"/>
            </a:solidFill>
            <a:prstDash val="solid"/>
          </a:ln>
        </p:spPr>
      </p:sp>
      <p:sp>
        <p:nvSpPr>
          <p:cNvPr id="3" name="Text 1"/>
          <p:cNvSpPr/>
          <p:nvPr/>
        </p:nvSpPr>
        <p:spPr>
          <a:xfrm>
            <a:off x="274320" y="164592"/>
            <a:ext cx="8595360" cy="292608"/>
          </a:xfrm>
          <a:prstGeom prst="rect">
            <a:avLst/>
          </a:prstGeom>
          <a:noFill/>
          <a:ln/>
        </p:spPr>
        <p:txBody>
          <a:bodyPr wrap="square" rtlCol="0" anchor="ctr"/>
          <a:lstStyle/>
          <a:p>
            <a:pPr indent="0" marL="0">
              <a:buNone/>
            </a:pPr>
            <a:r>
              <a:rPr lang="en-US" sz="1100" dirty="0">
                <a:solidFill>
                  <a:srgbClr val="808080"/>
                </a:solidFill>
              </a:rPr>
              <a:t>Respuesta — Pregunta 2</a:t>
            </a:r>
            <a:endParaRPr lang="en-US" sz="1100" dirty="0"/>
          </a:p>
        </p:txBody>
      </p:sp>
      <p:sp>
        <p:nvSpPr>
          <p:cNvPr id="4" name="Shape 2"/>
          <p:cNvSpPr/>
          <p:nvPr/>
        </p:nvSpPr>
        <p:spPr>
          <a:xfrm>
            <a:off x="2743200" y="548640"/>
            <a:ext cx="3657600" cy="658368"/>
          </a:xfrm>
          <a:prstGeom prst="roundRect">
            <a:avLst>
              <a:gd name="adj" fmla="val 13889"/>
            </a:avLst>
          </a:prstGeom>
          <a:solidFill>
            <a:srgbClr val="FEF0F0"/>
          </a:solidFill>
          <a:ln w="38100">
            <a:solidFill>
              <a:srgbClr val="E74C3C"/>
            </a:solidFill>
            <a:prstDash val="solid"/>
          </a:ln>
        </p:spPr>
      </p:sp>
      <p:sp>
        <p:nvSpPr>
          <p:cNvPr id="5" name="Text 3"/>
          <p:cNvSpPr/>
          <p:nvPr/>
        </p:nvSpPr>
        <p:spPr>
          <a:xfrm>
            <a:off x="2743200" y="548640"/>
            <a:ext cx="3657600" cy="658368"/>
          </a:xfrm>
          <a:prstGeom prst="rect">
            <a:avLst/>
          </a:prstGeom>
          <a:noFill/>
          <a:ln/>
        </p:spPr>
        <p:txBody>
          <a:bodyPr wrap="square" rtlCol="0" anchor="ctr"/>
          <a:lstStyle/>
          <a:p>
            <a:pPr algn="ctr" indent="0" marL="0">
              <a:buNone/>
            </a:pPr>
            <a:r>
              <a:rPr lang="en-US" sz="2000" b="1" dirty="0">
                <a:solidFill>
                  <a:srgbClr val="E74C3C"/>
                </a:solidFill>
              </a:rPr>
              <a:t>✗  FALSO</a:t>
            </a:r>
            <a:endParaRPr lang="en-US" sz="2000" dirty="0"/>
          </a:p>
        </p:txBody>
      </p:sp>
      <p:sp>
        <p:nvSpPr>
          <p:cNvPr id="6" name="Shape 4"/>
          <p:cNvSpPr/>
          <p:nvPr/>
        </p:nvSpPr>
        <p:spPr>
          <a:xfrm>
            <a:off x="365760" y="1371600"/>
            <a:ext cx="8412480" cy="2331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5"/>
          <p:cNvSpPr/>
          <p:nvPr/>
        </p:nvSpPr>
        <p:spPr>
          <a:xfrm>
            <a:off x="365760" y="1371600"/>
            <a:ext cx="91440" cy="2331720"/>
          </a:xfrm>
          <a:prstGeom prst="rect">
            <a:avLst/>
          </a:prstGeom>
          <a:solidFill>
            <a:srgbClr val="E74C3C"/>
          </a:solidFill>
          <a:ln w="12700">
            <a:solidFill>
              <a:srgbClr val="E74C3C"/>
            </a:solidFill>
            <a:prstDash val="solid"/>
          </a:ln>
        </p:spPr>
      </p:sp>
      <p:sp>
        <p:nvSpPr>
          <p:cNvPr id="8" name="Text 6"/>
          <p:cNvSpPr/>
          <p:nvPr/>
        </p:nvSpPr>
        <p:spPr>
          <a:xfrm>
            <a:off x="594360" y="1481328"/>
            <a:ext cx="8229600" cy="292608"/>
          </a:xfrm>
          <a:prstGeom prst="rect">
            <a:avLst/>
          </a:prstGeom>
          <a:noFill/>
          <a:ln/>
        </p:spPr>
        <p:txBody>
          <a:bodyPr wrap="square" rtlCol="0" anchor="ctr"/>
          <a:lstStyle/>
          <a:p>
            <a:pPr indent="0" marL="0">
              <a:buNone/>
            </a:pPr>
            <a:r>
              <a:rPr lang="en-US" sz="1200" b="1" dirty="0">
                <a:solidFill>
                  <a:srgbClr val="3A7BAA"/>
                </a:solidFill>
              </a:rPr>
              <a:t>💡  Justificación:</a:t>
            </a:r>
            <a:endParaRPr lang="en-US" sz="1200" dirty="0"/>
          </a:p>
        </p:txBody>
      </p:sp>
      <p:sp>
        <p:nvSpPr>
          <p:cNvPr id="9" name="Text 7"/>
          <p:cNvSpPr/>
          <p:nvPr/>
        </p:nvSpPr>
        <p:spPr>
          <a:xfrm>
            <a:off x="594360" y="1810512"/>
            <a:ext cx="8046720" cy="1691640"/>
          </a:xfrm>
          <a:prstGeom prst="rect">
            <a:avLst/>
          </a:prstGeom>
          <a:noFill/>
          <a:ln/>
        </p:spPr>
        <p:txBody>
          <a:bodyPr wrap="square" rtlCol="0" anchor="t"/>
          <a:lstStyle/>
          <a:p>
            <a:pPr indent="0" marL="0">
              <a:buNone/>
            </a:pPr>
            <a:r>
              <a:rPr lang="en-US" sz="1150" dirty="0">
                <a:solidFill>
                  <a:srgbClr val="2D3030"/>
                </a:solidFill>
                <a:latin typeface="Arial" pitchFamily="34" charset="0"/>
                <a:ea typeface="Arial" pitchFamily="34" charset="-122"/>
                <a:cs typeface="Arial" pitchFamily="34" charset="-120"/>
              </a:rPr>
              <a:t>FALSO. Es exactamente al revés: el HUB difunde el mensaje a TODOS sus puertos (broadcast). El SWITCH sí envía el mensaje solo al puerto de destino, lo que lo hace más eficiente y seguro. Por eso los switches reemplazaron a los hubs en redes modernas.</a:t>
            </a:r>
            <a:endParaRPr lang="en-US" sz="1150" dirty="0"/>
          </a:p>
        </p:txBody>
      </p:sp>
      <p:sp>
        <p:nvSpPr>
          <p:cNvPr id="10" name="Text 8"/>
          <p:cNvSpPr/>
          <p:nvPr/>
        </p:nvSpPr>
        <p:spPr>
          <a:xfrm>
            <a:off x="274320" y="3886200"/>
            <a:ext cx="8595360" cy="256032"/>
          </a:xfrm>
          <a:prstGeom prst="rect">
            <a:avLst/>
          </a:prstGeom>
          <a:noFill/>
          <a:ln/>
        </p:spPr>
        <p:txBody>
          <a:bodyPr wrap="square" rtlCol="0" anchor="ctr"/>
          <a:lstStyle/>
          <a:p>
            <a:pPr algn="ctr" indent="0" marL="0">
              <a:buNone/>
            </a:pPr>
            <a:r>
              <a:rPr lang="en-US" sz="900" i="1" dirty="0">
                <a:solidFill>
                  <a:srgbClr val="808080"/>
                </a:solidFill>
              </a:rPr>
              <a:t>La respuesta correcta es la indicada arriba · Registrá tu puntaje antes de pasar a la siguiente.</a:t>
            </a:r>
            <a:endParaRPr lang="en-US" sz="900" dirty="0"/>
          </a:p>
        </p:txBody>
      </p:sp>
      <p:sp>
        <p:nvSpPr>
          <p:cNvPr id="11" name="Shape 9"/>
          <p:cNvSpPr/>
          <p:nvPr/>
        </p:nvSpPr>
        <p:spPr>
          <a:xfrm>
            <a:off x="0" y="4850892"/>
            <a:ext cx="9144000" cy="292608"/>
          </a:xfrm>
          <a:prstGeom prst="rect">
            <a:avLst/>
          </a:prstGeom>
          <a:solidFill>
            <a:srgbClr val="2D3030"/>
          </a:solidFill>
          <a:ln w="12700">
            <a:solidFill>
              <a:srgbClr val="2D3030"/>
            </a:solidFill>
            <a:prstDash val="solid"/>
          </a:ln>
        </p:spPr>
      </p:sp>
      <p:sp>
        <p:nvSpPr>
          <p:cNvPr id="12" name="Text 10"/>
          <p:cNvSpPr/>
          <p:nvPr/>
        </p:nvSpPr>
        <p:spPr>
          <a:xfrm>
            <a:off x="182880" y="4869180"/>
            <a:ext cx="5486400" cy="256032"/>
          </a:xfrm>
          <a:prstGeom prst="rect">
            <a:avLst/>
          </a:prstGeom>
          <a:noFill/>
          <a:ln/>
        </p:spPr>
        <p:txBody>
          <a:bodyPr wrap="square" rtlCol="0" anchor="ctr"/>
          <a:lstStyle/>
          <a:p>
            <a:pPr indent="0" marL="0">
              <a:buNone/>
            </a:pPr>
            <a:r>
              <a:rPr lang="en-US" sz="800" dirty="0">
                <a:solidFill>
                  <a:srgbClr val="808080"/>
                </a:solidFill>
                <a:latin typeface="Arial" pitchFamily="34" charset="0"/>
                <a:ea typeface="Arial" pitchFamily="34" charset="-122"/>
                <a:cs typeface="Arial" pitchFamily="34" charset="-120"/>
              </a:rPr>
              <a:t>SP5 · H1 · Topologías LAN</a:t>
            </a:r>
            <a:endParaRPr lang="en-US" sz="800" dirty="0"/>
          </a:p>
        </p:txBody>
      </p:sp>
      <p:sp>
        <p:nvSpPr>
          <p:cNvPr id="13" name="Text 11"/>
          <p:cNvSpPr/>
          <p:nvPr/>
        </p:nvSpPr>
        <p:spPr>
          <a:xfrm>
            <a:off x="6583680" y="4869180"/>
            <a:ext cx="2377440" cy="256032"/>
          </a:xfrm>
          <a:prstGeom prst="rect">
            <a:avLst/>
          </a:prstGeom>
          <a:noFill/>
          <a:ln/>
        </p:spPr>
        <p:txBody>
          <a:bodyPr wrap="square" rtlCol="0" anchor="ctr"/>
          <a:lstStyle/>
          <a:p>
            <a:pPr algn="r" indent="0" marL="0">
              <a:buNone/>
            </a:pPr>
            <a:r>
              <a:rPr lang="en-US" sz="800" dirty="0">
                <a:solidFill>
                  <a:srgbClr val="B9DEF8"/>
                </a:solidFill>
                <a:latin typeface="Arial" pitchFamily="34" charset="0"/>
                <a:ea typeface="Arial" pitchFamily="34" charset="-122"/>
                <a:cs typeface="Arial" pitchFamily="34" charset="-120"/>
              </a:rPr>
              <a:t>R2 — Respuesta</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7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AA8D8"/>
          </a:solidFill>
          <a:ln w="12700">
            <a:solidFill>
              <a:srgbClr val="5AA8D8"/>
            </a:solidFill>
            <a:prstDash val="solid"/>
          </a:ln>
        </p:spPr>
      </p:sp>
      <p:sp>
        <p:nvSpPr>
          <p:cNvPr id="3" name="Text 1"/>
          <p:cNvSpPr/>
          <p:nvPr/>
        </p:nvSpPr>
        <p:spPr>
          <a:xfrm>
            <a:off x="274320" y="164592"/>
            <a:ext cx="8595360" cy="292608"/>
          </a:xfrm>
          <a:prstGeom prst="rect">
            <a:avLst/>
          </a:prstGeom>
          <a:noFill/>
          <a:ln/>
        </p:spPr>
        <p:txBody>
          <a:bodyPr wrap="square" rtlCol="0" anchor="ctr"/>
          <a:lstStyle/>
          <a:p>
            <a:pPr indent="0" marL="0">
              <a:buNone/>
            </a:pPr>
            <a:r>
              <a:rPr lang="en-US" sz="1100" dirty="0">
                <a:solidFill>
                  <a:srgbClr val="808080"/>
                </a:solidFill>
                <a:latin typeface="Arial" pitchFamily="34" charset="0"/>
                <a:ea typeface="Arial" pitchFamily="34" charset="-122"/>
                <a:cs typeface="Arial" pitchFamily="34" charset="-120"/>
              </a:rPr>
              <a:t>Pregunta 3 / 3</a:t>
            </a:r>
            <a:endParaRPr lang="en-US" sz="1100" dirty="0"/>
          </a:p>
        </p:txBody>
      </p:sp>
      <p:sp>
        <p:nvSpPr>
          <p:cNvPr id="4" name="Shape 2"/>
          <p:cNvSpPr/>
          <p:nvPr/>
        </p:nvSpPr>
        <p:spPr>
          <a:xfrm>
            <a:off x="3200400" y="128016"/>
            <a:ext cx="2743200" cy="347472"/>
          </a:xfrm>
          <a:prstGeom prst="roundRect">
            <a:avLst>
              <a:gd name="adj" fmla="val 15789"/>
            </a:avLst>
          </a:prstGeom>
          <a:solidFill>
            <a:srgbClr val="5AA8D8"/>
          </a:solidFill>
          <a:ln w="12700">
            <a:solidFill>
              <a:srgbClr val="5AA8D8"/>
            </a:solidFill>
            <a:prstDash val="solid"/>
          </a:ln>
        </p:spPr>
      </p:sp>
      <p:sp>
        <p:nvSpPr>
          <p:cNvPr id="5" name="Text 3"/>
          <p:cNvSpPr/>
          <p:nvPr/>
        </p:nvSpPr>
        <p:spPr>
          <a:xfrm>
            <a:off x="3200400" y="128016"/>
            <a:ext cx="2743200" cy="347472"/>
          </a:xfrm>
          <a:prstGeom prst="rect">
            <a:avLst/>
          </a:prstGeom>
          <a:noFill/>
          <a:ln/>
        </p:spPr>
        <p:txBody>
          <a:bodyPr wrap="square" rtlCol="0" anchor="ctr"/>
          <a:lstStyle/>
          <a:p>
            <a:pPr algn="ctr" indent="0" marL="0">
              <a:buNone/>
            </a:pPr>
            <a:r>
              <a:rPr lang="en-US" sz="1000" b="1" dirty="0">
                <a:solidFill>
                  <a:srgbClr val="FFFFFF"/>
                </a:solidFill>
              </a:rPr>
              <a:t>VERDADERO / FALSO</a:t>
            </a:r>
            <a:endParaRPr lang="en-US" sz="1000" dirty="0"/>
          </a:p>
        </p:txBody>
      </p:sp>
      <p:sp>
        <p:nvSpPr>
          <p:cNvPr id="6" name="Shape 4"/>
          <p:cNvSpPr/>
          <p:nvPr/>
        </p:nvSpPr>
        <p:spPr>
          <a:xfrm>
            <a:off x="457200" y="960120"/>
            <a:ext cx="8229600" cy="228600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7" name="Shape 5"/>
          <p:cNvSpPr/>
          <p:nvPr/>
        </p:nvSpPr>
        <p:spPr>
          <a:xfrm>
            <a:off x="457200" y="960120"/>
            <a:ext cx="91440" cy="2286000"/>
          </a:xfrm>
          <a:prstGeom prst="rect">
            <a:avLst/>
          </a:prstGeom>
          <a:solidFill>
            <a:srgbClr val="5AA8D8"/>
          </a:solidFill>
          <a:ln w="12700">
            <a:solidFill>
              <a:srgbClr val="5AA8D8"/>
            </a:solidFill>
            <a:prstDash val="solid"/>
          </a:ln>
        </p:spPr>
      </p:sp>
      <p:sp>
        <p:nvSpPr>
          <p:cNvPr id="8" name="Text 6"/>
          <p:cNvSpPr/>
          <p:nvPr/>
        </p:nvSpPr>
        <p:spPr>
          <a:xfrm>
            <a:off x="685800" y="1097280"/>
            <a:ext cx="7772400" cy="292608"/>
          </a:xfrm>
          <a:prstGeom prst="rect">
            <a:avLst/>
          </a:prstGeom>
          <a:noFill/>
          <a:ln/>
        </p:spPr>
        <p:txBody>
          <a:bodyPr wrap="square" rtlCol="0" anchor="ctr"/>
          <a:lstStyle/>
          <a:p>
            <a:pPr indent="0" marL="0">
              <a:buNone/>
            </a:pPr>
            <a:r>
              <a:rPr lang="en-US" sz="1200" b="1" dirty="0">
                <a:solidFill>
                  <a:srgbClr val="3A7BAA"/>
                </a:solidFill>
              </a:rPr>
              <a:t>📋  Afirmación:</a:t>
            </a:r>
            <a:endParaRPr lang="en-US" sz="1200" dirty="0"/>
          </a:p>
        </p:txBody>
      </p:sp>
      <p:sp>
        <p:nvSpPr>
          <p:cNvPr id="9" name="Text 7"/>
          <p:cNvSpPr/>
          <p:nvPr/>
        </p:nvSpPr>
        <p:spPr>
          <a:xfrm>
            <a:off x="685800" y="1417320"/>
            <a:ext cx="7772400" cy="1600200"/>
          </a:xfrm>
          <a:prstGeom prst="rect">
            <a:avLst/>
          </a:prstGeom>
          <a:noFill/>
          <a:ln/>
        </p:spPr>
        <p:txBody>
          <a:bodyPr wrap="square" rtlCol="0" anchor="ctr"/>
          <a:lstStyle/>
          <a:p>
            <a:pPr indent="0" marL="0">
              <a:buNone/>
            </a:pPr>
            <a:r>
              <a:rPr lang="en-US" sz="1400" i="1" dirty="0">
                <a:solidFill>
                  <a:srgbClr val="2D3030"/>
                </a:solidFill>
                <a:latin typeface="Arial" pitchFamily="34" charset="0"/>
                <a:ea typeface="Arial" pitchFamily="34" charset="-122"/>
                <a:cs typeface="Arial" pitchFamily="34" charset="-120"/>
              </a:rPr>
              <a:t>"En una red WiFi con topología de INFRAESTRUCTURA, todos los dispositivos deben estar dentro del radio de cobertura del Access Point para poder comunicarse."</a:t>
            </a:r>
            <a:endParaRPr lang="en-US" sz="1400" dirty="0"/>
          </a:p>
        </p:txBody>
      </p:sp>
      <p:sp>
        <p:nvSpPr>
          <p:cNvPr id="10" name="Shape 8"/>
          <p:cNvSpPr/>
          <p:nvPr/>
        </p:nvSpPr>
        <p:spPr>
          <a:xfrm>
            <a:off x="1645920" y="3429000"/>
            <a:ext cx="2286000" cy="594360"/>
          </a:xfrm>
          <a:prstGeom prst="roundRect">
            <a:avLst>
              <a:gd name="adj" fmla="val 15385"/>
            </a:avLst>
          </a:prstGeom>
          <a:solidFill>
            <a:srgbClr val="E8F8F0"/>
          </a:solidFill>
          <a:ln w="25400">
            <a:solidFill>
              <a:srgbClr val="27AE60"/>
            </a:solidFill>
            <a:prstDash val="solid"/>
          </a:ln>
        </p:spPr>
      </p:sp>
      <p:sp>
        <p:nvSpPr>
          <p:cNvPr id="11" name="Text 9"/>
          <p:cNvSpPr/>
          <p:nvPr/>
        </p:nvSpPr>
        <p:spPr>
          <a:xfrm>
            <a:off x="1645920" y="3429000"/>
            <a:ext cx="2286000" cy="594360"/>
          </a:xfrm>
          <a:prstGeom prst="rect">
            <a:avLst/>
          </a:prstGeom>
          <a:noFill/>
          <a:ln/>
        </p:spPr>
        <p:txBody>
          <a:bodyPr wrap="square" rtlCol="0" anchor="ctr"/>
          <a:lstStyle/>
          <a:p>
            <a:pPr algn="ctr" indent="0" marL="0">
              <a:buNone/>
            </a:pPr>
            <a:r>
              <a:rPr lang="en-US" sz="1300" b="1" dirty="0">
                <a:solidFill>
                  <a:srgbClr val="27AE60"/>
                </a:solidFill>
              </a:rPr>
              <a:t>✓  VERDADERO</a:t>
            </a:r>
            <a:endParaRPr lang="en-US" sz="1300" dirty="0"/>
          </a:p>
        </p:txBody>
      </p:sp>
      <p:sp>
        <p:nvSpPr>
          <p:cNvPr id="12" name="Shape 10"/>
          <p:cNvSpPr/>
          <p:nvPr/>
        </p:nvSpPr>
        <p:spPr>
          <a:xfrm>
            <a:off x="5212080" y="3429000"/>
            <a:ext cx="2286000" cy="594360"/>
          </a:xfrm>
          <a:prstGeom prst="roundRect">
            <a:avLst>
              <a:gd name="adj" fmla="val 15385"/>
            </a:avLst>
          </a:prstGeom>
          <a:solidFill>
            <a:srgbClr val="FEF0F0"/>
          </a:solidFill>
          <a:ln w="25400">
            <a:solidFill>
              <a:srgbClr val="E74C3C"/>
            </a:solidFill>
            <a:prstDash val="solid"/>
          </a:ln>
        </p:spPr>
      </p:sp>
      <p:sp>
        <p:nvSpPr>
          <p:cNvPr id="13" name="Text 11"/>
          <p:cNvSpPr/>
          <p:nvPr/>
        </p:nvSpPr>
        <p:spPr>
          <a:xfrm>
            <a:off x="5212080" y="3429000"/>
            <a:ext cx="2286000" cy="594360"/>
          </a:xfrm>
          <a:prstGeom prst="rect">
            <a:avLst/>
          </a:prstGeom>
          <a:noFill/>
          <a:ln/>
        </p:spPr>
        <p:txBody>
          <a:bodyPr wrap="square" rtlCol="0" anchor="ctr"/>
          <a:lstStyle/>
          <a:p>
            <a:pPr algn="ctr" indent="0" marL="0">
              <a:buNone/>
            </a:pPr>
            <a:r>
              <a:rPr lang="en-US" sz="1300" b="1" dirty="0">
                <a:solidFill>
                  <a:srgbClr val="E74C3C"/>
                </a:solidFill>
              </a:rPr>
              <a:t>✗  FALSO</a:t>
            </a:r>
            <a:endParaRPr lang="en-US" sz="1300" dirty="0"/>
          </a:p>
        </p:txBody>
      </p:sp>
      <p:sp>
        <p:nvSpPr>
          <p:cNvPr id="14" name="Text 12"/>
          <p:cNvSpPr/>
          <p:nvPr/>
        </p:nvSpPr>
        <p:spPr>
          <a:xfrm>
            <a:off x="274320" y="4160520"/>
            <a:ext cx="8595360" cy="256032"/>
          </a:xfrm>
          <a:prstGeom prst="rect">
            <a:avLst/>
          </a:prstGeom>
          <a:noFill/>
          <a:ln/>
        </p:spPr>
        <p:txBody>
          <a:bodyPr wrap="square" rtlCol="0" anchor="ctr"/>
          <a:lstStyle/>
          <a:p>
            <a:pPr algn="ctr" indent="0" marL="0">
              <a:buNone/>
            </a:pPr>
            <a:r>
              <a:rPr lang="en-US" sz="1000" i="1" dirty="0">
                <a:solidFill>
                  <a:srgbClr val="808080"/>
                </a:solidFill>
              </a:rPr>
              <a:t>¿Qué opción es correcta?</a:t>
            </a:r>
            <a:endParaRPr lang="en-US" sz="1000" dirty="0"/>
          </a:p>
        </p:txBody>
      </p:sp>
      <p:sp>
        <p:nvSpPr>
          <p:cNvPr id="15" name="Shape 13"/>
          <p:cNvSpPr/>
          <p:nvPr/>
        </p:nvSpPr>
        <p:spPr>
          <a:xfrm>
            <a:off x="0" y="4850892"/>
            <a:ext cx="9144000" cy="292608"/>
          </a:xfrm>
          <a:prstGeom prst="rect">
            <a:avLst/>
          </a:prstGeom>
          <a:solidFill>
            <a:srgbClr val="2D3030"/>
          </a:solidFill>
          <a:ln w="12700">
            <a:solidFill>
              <a:srgbClr val="2D3030"/>
            </a:solidFill>
            <a:prstDash val="solid"/>
          </a:ln>
        </p:spPr>
      </p:sp>
      <p:sp>
        <p:nvSpPr>
          <p:cNvPr id="16" name="Text 14"/>
          <p:cNvSpPr/>
          <p:nvPr/>
        </p:nvSpPr>
        <p:spPr>
          <a:xfrm>
            <a:off x="182880" y="4869180"/>
            <a:ext cx="5486400" cy="256032"/>
          </a:xfrm>
          <a:prstGeom prst="rect">
            <a:avLst/>
          </a:prstGeom>
          <a:noFill/>
          <a:ln/>
        </p:spPr>
        <p:txBody>
          <a:bodyPr wrap="square" rtlCol="0" anchor="ctr"/>
          <a:lstStyle/>
          <a:p>
            <a:pPr indent="0" marL="0">
              <a:buNone/>
            </a:pPr>
            <a:r>
              <a:rPr lang="en-US" sz="800" dirty="0">
                <a:solidFill>
                  <a:srgbClr val="808080"/>
                </a:solidFill>
                <a:latin typeface="Arial" pitchFamily="34" charset="0"/>
                <a:ea typeface="Arial" pitchFamily="34" charset="-122"/>
                <a:cs typeface="Arial" pitchFamily="34" charset="-120"/>
              </a:rPr>
              <a:t>SP5 · H1 · Topologías LAN</a:t>
            </a:r>
            <a:endParaRPr lang="en-US" sz="800" dirty="0"/>
          </a:p>
        </p:txBody>
      </p:sp>
      <p:sp>
        <p:nvSpPr>
          <p:cNvPr id="17" name="Text 15"/>
          <p:cNvSpPr/>
          <p:nvPr/>
        </p:nvSpPr>
        <p:spPr>
          <a:xfrm>
            <a:off x="6583680" y="4869180"/>
            <a:ext cx="2377440" cy="256032"/>
          </a:xfrm>
          <a:prstGeom prst="rect">
            <a:avLst/>
          </a:prstGeom>
          <a:noFill/>
          <a:ln/>
        </p:spPr>
        <p:txBody>
          <a:bodyPr wrap="square" rtlCol="0" anchor="ctr"/>
          <a:lstStyle/>
          <a:p>
            <a:pPr algn="r" indent="0" marL="0">
              <a:buNone/>
            </a:pPr>
            <a:r>
              <a:rPr lang="en-US" sz="800" dirty="0">
                <a:solidFill>
                  <a:srgbClr val="B9DEF8"/>
                </a:solidFill>
                <a:latin typeface="Arial" pitchFamily="34" charset="0"/>
                <a:ea typeface="Arial" pitchFamily="34" charset="-122"/>
                <a:cs typeface="Arial" pitchFamily="34" charset="-120"/>
              </a:rPr>
              <a:t>P3 — Autoevaluación</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7FC"/>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7AE60"/>
          </a:solidFill>
          <a:ln w="12700">
            <a:solidFill>
              <a:srgbClr val="27AE60"/>
            </a:solidFill>
            <a:prstDash val="solid"/>
          </a:ln>
        </p:spPr>
      </p:sp>
      <p:sp>
        <p:nvSpPr>
          <p:cNvPr id="3" name="Text 1"/>
          <p:cNvSpPr/>
          <p:nvPr/>
        </p:nvSpPr>
        <p:spPr>
          <a:xfrm>
            <a:off x="274320" y="164592"/>
            <a:ext cx="8595360" cy="292608"/>
          </a:xfrm>
          <a:prstGeom prst="rect">
            <a:avLst/>
          </a:prstGeom>
          <a:noFill/>
          <a:ln/>
        </p:spPr>
        <p:txBody>
          <a:bodyPr wrap="square" rtlCol="0" anchor="ctr"/>
          <a:lstStyle/>
          <a:p>
            <a:pPr indent="0" marL="0">
              <a:buNone/>
            </a:pPr>
            <a:r>
              <a:rPr lang="en-US" sz="1100" dirty="0">
                <a:solidFill>
                  <a:srgbClr val="808080"/>
                </a:solidFill>
              </a:rPr>
              <a:t>Respuesta — Pregunta 3</a:t>
            </a:r>
            <a:endParaRPr lang="en-US" sz="1100" dirty="0"/>
          </a:p>
        </p:txBody>
      </p:sp>
      <p:sp>
        <p:nvSpPr>
          <p:cNvPr id="4" name="Shape 2"/>
          <p:cNvSpPr/>
          <p:nvPr/>
        </p:nvSpPr>
        <p:spPr>
          <a:xfrm>
            <a:off x="2743200" y="548640"/>
            <a:ext cx="3657600" cy="658368"/>
          </a:xfrm>
          <a:prstGeom prst="roundRect">
            <a:avLst>
              <a:gd name="adj" fmla="val 13889"/>
            </a:avLst>
          </a:prstGeom>
          <a:solidFill>
            <a:srgbClr val="E8F8F0"/>
          </a:solidFill>
          <a:ln w="38100">
            <a:solidFill>
              <a:srgbClr val="27AE60"/>
            </a:solidFill>
            <a:prstDash val="solid"/>
          </a:ln>
        </p:spPr>
      </p:sp>
      <p:sp>
        <p:nvSpPr>
          <p:cNvPr id="5" name="Text 3"/>
          <p:cNvSpPr/>
          <p:nvPr/>
        </p:nvSpPr>
        <p:spPr>
          <a:xfrm>
            <a:off x="2743200" y="548640"/>
            <a:ext cx="3657600" cy="658368"/>
          </a:xfrm>
          <a:prstGeom prst="rect">
            <a:avLst/>
          </a:prstGeom>
          <a:noFill/>
          <a:ln/>
        </p:spPr>
        <p:txBody>
          <a:bodyPr wrap="square" rtlCol="0" anchor="ctr"/>
          <a:lstStyle/>
          <a:p>
            <a:pPr algn="ctr" indent="0" marL="0">
              <a:buNone/>
            </a:pPr>
            <a:r>
              <a:rPr lang="en-US" sz="2000" b="1" dirty="0">
                <a:solidFill>
                  <a:srgbClr val="27AE60"/>
                </a:solidFill>
              </a:rPr>
              <a:t>✓  VERDADERO</a:t>
            </a:r>
            <a:endParaRPr lang="en-US" sz="2000" dirty="0"/>
          </a:p>
        </p:txBody>
      </p:sp>
      <p:sp>
        <p:nvSpPr>
          <p:cNvPr id="6" name="Shape 4"/>
          <p:cNvSpPr/>
          <p:nvPr/>
        </p:nvSpPr>
        <p:spPr>
          <a:xfrm>
            <a:off x="365760" y="1371600"/>
            <a:ext cx="8412480" cy="23317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5"/>
          <p:cNvSpPr/>
          <p:nvPr/>
        </p:nvSpPr>
        <p:spPr>
          <a:xfrm>
            <a:off x="365760" y="1371600"/>
            <a:ext cx="91440" cy="2331720"/>
          </a:xfrm>
          <a:prstGeom prst="rect">
            <a:avLst/>
          </a:prstGeom>
          <a:solidFill>
            <a:srgbClr val="27AE60"/>
          </a:solidFill>
          <a:ln w="12700">
            <a:solidFill>
              <a:srgbClr val="27AE60"/>
            </a:solidFill>
            <a:prstDash val="solid"/>
          </a:ln>
        </p:spPr>
      </p:sp>
      <p:sp>
        <p:nvSpPr>
          <p:cNvPr id="8" name="Text 6"/>
          <p:cNvSpPr/>
          <p:nvPr/>
        </p:nvSpPr>
        <p:spPr>
          <a:xfrm>
            <a:off x="594360" y="1481328"/>
            <a:ext cx="8229600" cy="292608"/>
          </a:xfrm>
          <a:prstGeom prst="rect">
            <a:avLst/>
          </a:prstGeom>
          <a:noFill/>
          <a:ln/>
        </p:spPr>
        <p:txBody>
          <a:bodyPr wrap="square" rtlCol="0" anchor="ctr"/>
          <a:lstStyle/>
          <a:p>
            <a:pPr indent="0" marL="0">
              <a:buNone/>
            </a:pPr>
            <a:r>
              <a:rPr lang="en-US" sz="1200" b="1" dirty="0">
                <a:solidFill>
                  <a:srgbClr val="3A7BAA"/>
                </a:solidFill>
              </a:rPr>
              <a:t>💡  Justificación:</a:t>
            </a:r>
            <a:endParaRPr lang="en-US" sz="1200" dirty="0"/>
          </a:p>
        </p:txBody>
      </p:sp>
      <p:sp>
        <p:nvSpPr>
          <p:cNvPr id="9" name="Text 7"/>
          <p:cNvSpPr/>
          <p:nvPr/>
        </p:nvSpPr>
        <p:spPr>
          <a:xfrm>
            <a:off x="594360" y="1810512"/>
            <a:ext cx="8046720" cy="1691640"/>
          </a:xfrm>
          <a:prstGeom prst="rect">
            <a:avLst/>
          </a:prstGeom>
          <a:noFill/>
          <a:ln/>
        </p:spPr>
        <p:txBody>
          <a:bodyPr wrap="square" rtlCol="0" anchor="t"/>
          <a:lstStyle/>
          <a:p>
            <a:pPr indent="0" marL="0">
              <a:buNone/>
            </a:pPr>
            <a:r>
              <a:rPr lang="en-US" sz="1150" dirty="0">
                <a:solidFill>
                  <a:srgbClr val="2D3030"/>
                </a:solidFill>
                <a:latin typeface="Arial" pitchFamily="34" charset="0"/>
                <a:ea typeface="Arial" pitchFamily="34" charset="-122"/>
                <a:cs typeface="Arial" pitchFamily="34" charset="-120"/>
              </a:rPr>
              <a:t>VERDADERO. En la topología de infraestructura el Access Point es el concentrador central. Todo dispositivo debe poder alcanzar el AP directamente. Si está fuera del radio de cobertura, no puede participar en la red (a diferencia de la topología mesh, que extiende el rango con nodos intermedios).</a:t>
            </a:r>
            <a:endParaRPr lang="en-US" sz="1150" dirty="0"/>
          </a:p>
        </p:txBody>
      </p:sp>
      <p:sp>
        <p:nvSpPr>
          <p:cNvPr id="10" name="Text 8"/>
          <p:cNvSpPr/>
          <p:nvPr/>
        </p:nvSpPr>
        <p:spPr>
          <a:xfrm>
            <a:off x="274320" y="3886200"/>
            <a:ext cx="8595360" cy="256032"/>
          </a:xfrm>
          <a:prstGeom prst="rect">
            <a:avLst/>
          </a:prstGeom>
          <a:noFill/>
          <a:ln/>
        </p:spPr>
        <p:txBody>
          <a:bodyPr wrap="square" rtlCol="0" anchor="ctr"/>
          <a:lstStyle/>
          <a:p>
            <a:pPr algn="ctr" indent="0" marL="0">
              <a:buNone/>
            </a:pPr>
            <a:r>
              <a:rPr lang="en-US" sz="900" i="1" dirty="0">
                <a:solidFill>
                  <a:srgbClr val="808080"/>
                </a:solidFill>
              </a:rPr>
              <a:t>La respuesta correcta es la indicada arriba · Registrá tu puntaje antes de pasar a la siguiente.</a:t>
            </a:r>
            <a:endParaRPr lang="en-US" sz="900" dirty="0"/>
          </a:p>
        </p:txBody>
      </p:sp>
      <p:sp>
        <p:nvSpPr>
          <p:cNvPr id="11" name="Shape 9"/>
          <p:cNvSpPr/>
          <p:nvPr/>
        </p:nvSpPr>
        <p:spPr>
          <a:xfrm>
            <a:off x="0" y="4850892"/>
            <a:ext cx="9144000" cy="292608"/>
          </a:xfrm>
          <a:prstGeom prst="rect">
            <a:avLst/>
          </a:prstGeom>
          <a:solidFill>
            <a:srgbClr val="2D3030"/>
          </a:solidFill>
          <a:ln w="12700">
            <a:solidFill>
              <a:srgbClr val="2D3030"/>
            </a:solidFill>
            <a:prstDash val="solid"/>
          </a:ln>
        </p:spPr>
      </p:sp>
      <p:sp>
        <p:nvSpPr>
          <p:cNvPr id="12" name="Text 10"/>
          <p:cNvSpPr/>
          <p:nvPr/>
        </p:nvSpPr>
        <p:spPr>
          <a:xfrm>
            <a:off x="182880" y="4869180"/>
            <a:ext cx="5486400" cy="256032"/>
          </a:xfrm>
          <a:prstGeom prst="rect">
            <a:avLst/>
          </a:prstGeom>
          <a:noFill/>
          <a:ln/>
        </p:spPr>
        <p:txBody>
          <a:bodyPr wrap="square" rtlCol="0" anchor="ctr"/>
          <a:lstStyle/>
          <a:p>
            <a:pPr indent="0" marL="0">
              <a:buNone/>
            </a:pPr>
            <a:r>
              <a:rPr lang="en-US" sz="800" dirty="0">
                <a:solidFill>
                  <a:srgbClr val="808080"/>
                </a:solidFill>
                <a:latin typeface="Arial" pitchFamily="34" charset="0"/>
                <a:ea typeface="Arial" pitchFamily="34" charset="-122"/>
                <a:cs typeface="Arial" pitchFamily="34" charset="-120"/>
              </a:rPr>
              <a:t>SP5 · H1 · Topologías LAN</a:t>
            </a:r>
            <a:endParaRPr lang="en-US" sz="800" dirty="0"/>
          </a:p>
        </p:txBody>
      </p:sp>
      <p:sp>
        <p:nvSpPr>
          <p:cNvPr id="13" name="Text 11"/>
          <p:cNvSpPr/>
          <p:nvPr/>
        </p:nvSpPr>
        <p:spPr>
          <a:xfrm>
            <a:off x="6583680" y="4869180"/>
            <a:ext cx="2377440" cy="256032"/>
          </a:xfrm>
          <a:prstGeom prst="rect">
            <a:avLst/>
          </a:prstGeom>
          <a:noFill/>
          <a:ln/>
        </p:spPr>
        <p:txBody>
          <a:bodyPr wrap="square" rtlCol="0" anchor="ctr"/>
          <a:lstStyle/>
          <a:p>
            <a:pPr algn="r" indent="0" marL="0">
              <a:buNone/>
            </a:pPr>
            <a:r>
              <a:rPr lang="en-US" sz="800" dirty="0">
                <a:solidFill>
                  <a:srgbClr val="B9DEF8"/>
                </a:solidFill>
                <a:latin typeface="Arial" pitchFamily="34" charset="0"/>
                <a:ea typeface="Arial" pitchFamily="34" charset="-122"/>
                <a:cs typeface="Arial" pitchFamily="34" charset="-120"/>
              </a:rPr>
              <a:t>R3 — Respuesta</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D303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AA8D8"/>
          </a:solidFill>
          <a:ln w="12700">
            <a:solidFill>
              <a:srgbClr val="5AA8D8"/>
            </a:solidFill>
            <a:prstDash val="solid"/>
          </a:ln>
        </p:spPr>
      </p:sp>
      <p:sp>
        <p:nvSpPr>
          <p:cNvPr id="3" name="Shape 1"/>
          <p:cNvSpPr/>
          <p:nvPr/>
        </p:nvSpPr>
        <p:spPr>
          <a:xfrm>
            <a:off x="0" y="64008"/>
            <a:ext cx="109728" cy="4796028"/>
          </a:xfrm>
          <a:prstGeom prst="rect">
            <a:avLst/>
          </a:prstGeom>
          <a:solidFill>
            <a:srgbClr val="3A7BAA"/>
          </a:solidFill>
          <a:ln w="12700">
            <a:solidFill>
              <a:srgbClr val="3A7BAA"/>
            </a:solidFill>
            <a:prstDash val="solid"/>
          </a:ln>
        </p:spPr>
      </p:sp>
      <p:sp>
        <p:nvSpPr>
          <p:cNvPr id="4" name="Text 2"/>
          <p:cNvSpPr/>
          <p:nvPr/>
        </p:nvSpPr>
        <p:spPr>
          <a:xfrm>
            <a:off x="274320" y="182880"/>
            <a:ext cx="8686800" cy="402336"/>
          </a:xfrm>
          <a:prstGeom prst="rect">
            <a:avLst/>
          </a:prstGeom>
          <a:noFill/>
          <a:ln/>
        </p:spPr>
        <p:txBody>
          <a:bodyPr wrap="square" rtlCol="0" anchor="ctr"/>
          <a:lstStyle/>
          <a:p>
            <a:pPr indent="0" marL="0">
              <a:buNone/>
            </a:pPr>
            <a:r>
              <a:rPr lang="en-US" sz="2000" b="1" dirty="0">
                <a:solidFill>
                  <a:srgbClr val="FFFFFF"/>
                </a:solidFill>
              </a:rPr>
              <a:t>Resumen · SP5 H1</a:t>
            </a:r>
            <a:endParaRPr lang="en-US" sz="2000" dirty="0"/>
          </a:p>
        </p:txBody>
      </p:sp>
      <p:sp>
        <p:nvSpPr>
          <p:cNvPr id="5" name="Text 3"/>
          <p:cNvSpPr/>
          <p:nvPr/>
        </p:nvSpPr>
        <p:spPr>
          <a:xfrm>
            <a:off x="274320" y="566928"/>
            <a:ext cx="8686800" cy="274320"/>
          </a:xfrm>
          <a:prstGeom prst="rect">
            <a:avLst/>
          </a:prstGeom>
          <a:noFill/>
          <a:ln/>
        </p:spPr>
        <p:txBody>
          <a:bodyPr wrap="square" rtlCol="0" anchor="ctr"/>
          <a:lstStyle/>
          <a:p>
            <a:pPr indent="0" marL="0">
              <a:buNone/>
            </a:pPr>
            <a:r>
              <a:rPr lang="en-US" sz="1200" i="1" dirty="0">
                <a:solidFill>
                  <a:srgbClr val="B9DEF8"/>
                </a:solidFill>
              </a:rPr>
              <a:t>Topologías Básicas de Redes LAN</a:t>
            </a:r>
            <a:endParaRPr lang="en-US" sz="1200" dirty="0"/>
          </a:p>
        </p:txBody>
      </p:sp>
      <p:sp>
        <p:nvSpPr>
          <p:cNvPr id="6" name="Shape 4"/>
          <p:cNvSpPr/>
          <p:nvPr/>
        </p:nvSpPr>
        <p:spPr>
          <a:xfrm>
            <a:off x="274320" y="914400"/>
            <a:ext cx="457200" cy="320040"/>
          </a:xfrm>
          <a:prstGeom prst="rect">
            <a:avLst/>
          </a:prstGeom>
          <a:solidFill>
            <a:srgbClr val="3A7BAA"/>
          </a:solidFill>
          <a:ln w="12700">
            <a:solidFill>
              <a:srgbClr val="5AA8D8"/>
            </a:solidFill>
            <a:prstDash val="solid"/>
          </a:ln>
        </p:spPr>
      </p:sp>
      <p:sp>
        <p:nvSpPr>
          <p:cNvPr id="7" name="Text 5"/>
          <p:cNvSpPr/>
          <p:nvPr/>
        </p:nvSpPr>
        <p:spPr>
          <a:xfrm>
            <a:off x="274320" y="914400"/>
            <a:ext cx="457200" cy="320040"/>
          </a:xfrm>
          <a:prstGeom prst="rect">
            <a:avLst/>
          </a:prstGeom>
          <a:noFill/>
          <a:ln/>
        </p:spPr>
        <p:txBody>
          <a:bodyPr wrap="square" rtlCol="0" anchor="ctr"/>
          <a:lstStyle/>
          <a:p>
            <a:pPr algn="ctr" indent="0" marL="0">
              <a:buNone/>
            </a:pPr>
            <a:r>
              <a:rPr lang="en-US" sz="700" b="1" dirty="0">
                <a:solidFill>
                  <a:srgbClr val="B9DEF8"/>
                </a:solidFill>
              </a:rPr>
              <a:t>Bus</a:t>
            </a:r>
            <a:endParaRPr lang="en-US" sz="700" dirty="0"/>
          </a:p>
        </p:txBody>
      </p:sp>
      <p:sp>
        <p:nvSpPr>
          <p:cNvPr id="8" name="Text 6"/>
          <p:cNvSpPr/>
          <p:nvPr/>
        </p:nvSpPr>
        <p:spPr>
          <a:xfrm>
            <a:off x="822960" y="932688"/>
            <a:ext cx="8046720" cy="292608"/>
          </a:xfrm>
          <a:prstGeom prst="rect">
            <a:avLst/>
          </a:prstGeom>
          <a:noFill/>
          <a:ln/>
        </p:spPr>
        <p:txBody>
          <a:bodyPr wrap="square" rtlCol="0" anchor="ctr"/>
          <a:lstStyle/>
          <a:p>
            <a:pPr indent="0" marL="0">
              <a:buNone/>
            </a:pPr>
            <a:r>
              <a:rPr lang="en-US" sz="1000" dirty="0">
                <a:solidFill>
                  <a:srgbClr val="C0D8EE"/>
                </a:solidFill>
              </a:rPr>
              <a:t>Medio compartido, pasiva, terminadores, difícil diagnóstico. Histórica.</a:t>
            </a:r>
            <a:endParaRPr lang="en-US" sz="1000" dirty="0"/>
          </a:p>
        </p:txBody>
      </p:sp>
      <p:sp>
        <p:nvSpPr>
          <p:cNvPr id="9" name="Shape 7"/>
          <p:cNvSpPr/>
          <p:nvPr/>
        </p:nvSpPr>
        <p:spPr>
          <a:xfrm>
            <a:off x="274320" y="1298448"/>
            <a:ext cx="457200" cy="320040"/>
          </a:xfrm>
          <a:prstGeom prst="rect">
            <a:avLst/>
          </a:prstGeom>
          <a:solidFill>
            <a:srgbClr val="3A7BAA"/>
          </a:solidFill>
          <a:ln w="12700">
            <a:solidFill>
              <a:srgbClr val="5AA8D8"/>
            </a:solidFill>
            <a:prstDash val="solid"/>
          </a:ln>
        </p:spPr>
      </p:sp>
      <p:sp>
        <p:nvSpPr>
          <p:cNvPr id="10" name="Text 8"/>
          <p:cNvSpPr/>
          <p:nvPr/>
        </p:nvSpPr>
        <p:spPr>
          <a:xfrm>
            <a:off x="274320" y="1298448"/>
            <a:ext cx="457200" cy="320040"/>
          </a:xfrm>
          <a:prstGeom prst="rect">
            <a:avLst/>
          </a:prstGeom>
          <a:noFill/>
          <a:ln/>
        </p:spPr>
        <p:txBody>
          <a:bodyPr wrap="square" rtlCol="0" anchor="ctr"/>
          <a:lstStyle/>
          <a:p>
            <a:pPr algn="ctr" indent="0" marL="0">
              <a:buNone/>
            </a:pPr>
            <a:r>
              <a:rPr lang="en-US" sz="700" b="1" dirty="0">
                <a:solidFill>
                  <a:srgbClr val="B9DEF8"/>
                </a:solidFill>
              </a:rPr>
              <a:t>Estrella</a:t>
            </a:r>
            <a:endParaRPr lang="en-US" sz="700" dirty="0"/>
          </a:p>
        </p:txBody>
      </p:sp>
      <p:sp>
        <p:nvSpPr>
          <p:cNvPr id="11" name="Text 9"/>
          <p:cNvSpPr/>
          <p:nvPr/>
        </p:nvSpPr>
        <p:spPr>
          <a:xfrm>
            <a:off x="822960" y="1316736"/>
            <a:ext cx="8046720" cy="292608"/>
          </a:xfrm>
          <a:prstGeom prst="rect">
            <a:avLst/>
          </a:prstGeom>
          <a:noFill/>
          <a:ln/>
        </p:spPr>
        <p:txBody>
          <a:bodyPr wrap="square" rtlCol="0" anchor="ctr"/>
          <a:lstStyle/>
          <a:p>
            <a:pPr indent="0" marL="0">
              <a:buNone/>
            </a:pPr>
            <a:r>
              <a:rPr lang="en-US" sz="1000" dirty="0">
                <a:solidFill>
                  <a:srgbClr val="C0D8EE"/>
                </a:solidFill>
              </a:rPr>
              <a:t>Hub/Switch central, fácil diagnóstico y escalabilidad. ESTÁNDAR HOY.</a:t>
            </a:r>
            <a:endParaRPr lang="en-US" sz="1000" dirty="0"/>
          </a:p>
        </p:txBody>
      </p:sp>
      <p:sp>
        <p:nvSpPr>
          <p:cNvPr id="12" name="Shape 10"/>
          <p:cNvSpPr/>
          <p:nvPr/>
        </p:nvSpPr>
        <p:spPr>
          <a:xfrm>
            <a:off x="274320" y="1682496"/>
            <a:ext cx="457200" cy="320040"/>
          </a:xfrm>
          <a:prstGeom prst="rect">
            <a:avLst/>
          </a:prstGeom>
          <a:solidFill>
            <a:srgbClr val="3A7BAA"/>
          </a:solidFill>
          <a:ln w="12700">
            <a:solidFill>
              <a:srgbClr val="5AA8D8"/>
            </a:solidFill>
            <a:prstDash val="solid"/>
          </a:ln>
        </p:spPr>
      </p:sp>
      <p:sp>
        <p:nvSpPr>
          <p:cNvPr id="13" name="Text 11"/>
          <p:cNvSpPr/>
          <p:nvPr/>
        </p:nvSpPr>
        <p:spPr>
          <a:xfrm>
            <a:off x="274320" y="1682496"/>
            <a:ext cx="457200" cy="320040"/>
          </a:xfrm>
          <a:prstGeom prst="rect">
            <a:avLst/>
          </a:prstGeom>
          <a:noFill/>
          <a:ln/>
        </p:spPr>
        <p:txBody>
          <a:bodyPr wrap="square" rtlCol="0" anchor="ctr"/>
          <a:lstStyle/>
          <a:p>
            <a:pPr algn="ctr" indent="0" marL="0">
              <a:buNone/>
            </a:pPr>
            <a:r>
              <a:rPr lang="en-US" sz="700" b="1" dirty="0">
                <a:solidFill>
                  <a:srgbClr val="B9DEF8"/>
                </a:solidFill>
              </a:rPr>
              <a:t>Anillo</a:t>
            </a:r>
            <a:endParaRPr lang="en-US" sz="700" dirty="0"/>
          </a:p>
        </p:txBody>
      </p:sp>
      <p:sp>
        <p:nvSpPr>
          <p:cNvPr id="14" name="Text 12"/>
          <p:cNvSpPr/>
          <p:nvPr/>
        </p:nvSpPr>
        <p:spPr>
          <a:xfrm>
            <a:off x="822960" y="1700784"/>
            <a:ext cx="8046720" cy="292608"/>
          </a:xfrm>
          <a:prstGeom prst="rect">
            <a:avLst/>
          </a:prstGeom>
          <a:noFill/>
          <a:ln/>
        </p:spPr>
        <p:txBody>
          <a:bodyPr wrap="square" rtlCol="0" anchor="ctr"/>
          <a:lstStyle/>
          <a:p>
            <a:pPr indent="0" marL="0">
              <a:buNone/>
            </a:pPr>
            <a:r>
              <a:rPr lang="en-US" sz="1000" dirty="0">
                <a:solidFill>
                  <a:srgbClr val="C0D8EE"/>
                </a:solidFill>
              </a:rPr>
              <a:t>Activa, nodo a nodo, MAU. Casi obsoleta en LAN. Vive en fibra WAN.</a:t>
            </a:r>
            <a:endParaRPr lang="en-US" sz="1000" dirty="0"/>
          </a:p>
        </p:txBody>
      </p:sp>
      <p:sp>
        <p:nvSpPr>
          <p:cNvPr id="15" name="Shape 13"/>
          <p:cNvSpPr/>
          <p:nvPr/>
        </p:nvSpPr>
        <p:spPr>
          <a:xfrm>
            <a:off x="274320" y="2066544"/>
            <a:ext cx="457200" cy="320040"/>
          </a:xfrm>
          <a:prstGeom prst="rect">
            <a:avLst/>
          </a:prstGeom>
          <a:solidFill>
            <a:srgbClr val="3A7BAA"/>
          </a:solidFill>
          <a:ln w="12700">
            <a:solidFill>
              <a:srgbClr val="5AA8D8"/>
            </a:solidFill>
            <a:prstDash val="solid"/>
          </a:ln>
        </p:spPr>
      </p:sp>
      <p:sp>
        <p:nvSpPr>
          <p:cNvPr id="16" name="Text 14"/>
          <p:cNvSpPr/>
          <p:nvPr/>
        </p:nvSpPr>
        <p:spPr>
          <a:xfrm>
            <a:off x="274320" y="2066544"/>
            <a:ext cx="457200" cy="320040"/>
          </a:xfrm>
          <a:prstGeom prst="rect">
            <a:avLst/>
          </a:prstGeom>
          <a:noFill/>
          <a:ln/>
        </p:spPr>
        <p:txBody>
          <a:bodyPr wrap="square" rtlCol="0" anchor="ctr"/>
          <a:lstStyle/>
          <a:p>
            <a:pPr algn="ctr" indent="0" marL="0">
              <a:buNone/>
            </a:pPr>
            <a:r>
              <a:rPr lang="en-US" sz="700" b="1" dirty="0">
                <a:solidFill>
                  <a:srgbClr val="B9DEF8"/>
                </a:solidFill>
              </a:rPr>
              <a:t>Ad-Hoc WiFi</a:t>
            </a:r>
            <a:endParaRPr lang="en-US" sz="700" dirty="0"/>
          </a:p>
        </p:txBody>
      </p:sp>
      <p:sp>
        <p:nvSpPr>
          <p:cNvPr id="17" name="Text 15"/>
          <p:cNvSpPr/>
          <p:nvPr/>
        </p:nvSpPr>
        <p:spPr>
          <a:xfrm>
            <a:off x="822960" y="2084832"/>
            <a:ext cx="8046720" cy="292608"/>
          </a:xfrm>
          <a:prstGeom prst="rect">
            <a:avLst/>
          </a:prstGeom>
          <a:noFill/>
          <a:ln/>
        </p:spPr>
        <p:txBody>
          <a:bodyPr wrap="square" rtlCol="0" anchor="ctr"/>
          <a:lstStyle/>
          <a:p>
            <a:pPr indent="0" marL="0">
              <a:buNone/>
            </a:pPr>
            <a:r>
              <a:rPr lang="en-US" sz="1000" dirty="0">
                <a:solidFill>
                  <a:srgbClr val="C0D8EE"/>
                </a:solidFill>
              </a:rPr>
              <a:t>Peer-to-peer sin AP. WiFi Direct, Bluetooth PAN. Emergencias.</a:t>
            </a:r>
            <a:endParaRPr lang="en-US" sz="1000" dirty="0"/>
          </a:p>
        </p:txBody>
      </p:sp>
      <p:sp>
        <p:nvSpPr>
          <p:cNvPr id="18" name="Shape 16"/>
          <p:cNvSpPr/>
          <p:nvPr/>
        </p:nvSpPr>
        <p:spPr>
          <a:xfrm>
            <a:off x="274320" y="2450592"/>
            <a:ext cx="457200" cy="320040"/>
          </a:xfrm>
          <a:prstGeom prst="rect">
            <a:avLst/>
          </a:prstGeom>
          <a:solidFill>
            <a:srgbClr val="3A7BAA"/>
          </a:solidFill>
          <a:ln w="12700">
            <a:solidFill>
              <a:srgbClr val="5AA8D8"/>
            </a:solidFill>
            <a:prstDash val="solid"/>
          </a:ln>
        </p:spPr>
      </p:sp>
      <p:sp>
        <p:nvSpPr>
          <p:cNvPr id="19" name="Text 17"/>
          <p:cNvSpPr/>
          <p:nvPr/>
        </p:nvSpPr>
        <p:spPr>
          <a:xfrm>
            <a:off x="274320" y="2450592"/>
            <a:ext cx="457200" cy="320040"/>
          </a:xfrm>
          <a:prstGeom prst="rect">
            <a:avLst/>
          </a:prstGeom>
          <a:noFill/>
          <a:ln/>
        </p:spPr>
        <p:txBody>
          <a:bodyPr wrap="square" rtlCol="0" anchor="ctr"/>
          <a:lstStyle/>
          <a:p>
            <a:pPr algn="ctr" indent="0" marL="0">
              <a:buNone/>
            </a:pPr>
            <a:r>
              <a:rPr lang="en-US" sz="700" b="1" dirty="0">
                <a:solidFill>
                  <a:srgbClr val="B9DEF8"/>
                </a:solidFill>
              </a:rPr>
              <a:t>Infraestructura WiFi</a:t>
            </a:r>
            <a:endParaRPr lang="en-US" sz="700" dirty="0"/>
          </a:p>
        </p:txBody>
      </p:sp>
      <p:sp>
        <p:nvSpPr>
          <p:cNvPr id="20" name="Text 18"/>
          <p:cNvSpPr/>
          <p:nvPr/>
        </p:nvSpPr>
        <p:spPr>
          <a:xfrm>
            <a:off x="822960" y="2468880"/>
            <a:ext cx="8046720" cy="292608"/>
          </a:xfrm>
          <a:prstGeom prst="rect">
            <a:avLst/>
          </a:prstGeom>
          <a:noFill/>
          <a:ln/>
        </p:spPr>
        <p:txBody>
          <a:bodyPr wrap="square" rtlCol="0" anchor="ctr"/>
          <a:lstStyle/>
          <a:p>
            <a:pPr indent="0" marL="0">
              <a:buNone/>
            </a:pPr>
            <a:r>
              <a:rPr lang="en-US" sz="1000" dirty="0">
                <a:solidFill>
                  <a:srgbClr val="C0D8EE"/>
                </a:solidFill>
              </a:rPr>
              <a:t>AP central, BSS/ESS, WPA3, 802.1X. Estándar inalámbrico actual.</a:t>
            </a:r>
            <a:endParaRPr lang="en-US" sz="1000" dirty="0"/>
          </a:p>
        </p:txBody>
      </p:sp>
      <p:sp>
        <p:nvSpPr>
          <p:cNvPr id="21" name="Shape 19"/>
          <p:cNvSpPr/>
          <p:nvPr/>
        </p:nvSpPr>
        <p:spPr>
          <a:xfrm>
            <a:off x="274320" y="2834640"/>
            <a:ext cx="457200" cy="320040"/>
          </a:xfrm>
          <a:prstGeom prst="rect">
            <a:avLst/>
          </a:prstGeom>
          <a:solidFill>
            <a:srgbClr val="3A7BAA"/>
          </a:solidFill>
          <a:ln w="12700">
            <a:solidFill>
              <a:srgbClr val="5AA8D8"/>
            </a:solidFill>
            <a:prstDash val="solid"/>
          </a:ln>
        </p:spPr>
      </p:sp>
      <p:sp>
        <p:nvSpPr>
          <p:cNvPr id="22" name="Text 20"/>
          <p:cNvSpPr/>
          <p:nvPr/>
        </p:nvSpPr>
        <p:spPr>
          <a:xfrm>
            <a:off x="274320" y="2834640"/>
            <a:ext cx="457200" cy="320040"/>
          </a:xfrm>
          <a:prstGeom prst="rect">
            <a:avLst/>
          </a:prstGeom>
          <a:noFill/>
          <a:ln/>
        </p:spPr>
        <p:txBody>
          <a:bodyPr wrap="square" rtlCol="0" anchor="ctr"/>
          <a:lstStyle/>
          <a:p>
            <a:pPr algn="ctr" indent="0" marL="0">
              <a:buNone/>
            </a:pPr>
            <a:r>
              <a:rPr lang="en-US" sz="700" b="1" dirty="0">
                <a:solidFill>
                  <a:srgbClr val="B9DEF8"/>
                </a:solidFill>
              </a:rPr>
              <a:t>Seguridad</a:t>
            </a:r>
            <a:endParaRPr lang="en-US" sz="700" dirty="0"/>
          </a:p>
        </p:txBody>
      </p:sp>
      <p:sp>
        <p:nvSpPr>
          <p:cNvPr id="23" name="Text 21"/>
          <p:cNvSpPr/>
          <p:nvPr/>
        </p:nvSpPr>
        <p:spPr>
          <a:xfrm>
            <a:off x="822960" y="2852928"/>
            <a:ext cx="8046720" cy="292608"/>
          </a:xfrm>
          <a:prstGeom prst="rect">
            <a:avLst/>
          </a:prstGeom>
          <a:noFill/>
          <a:ln/>
        </p:spPr>
        <p:txBody>
          <a:bodyPr wrap="square" rtlCol="0" anchor="ctr"/>
          <a:lstStyle/>
          <a:p>
            <a:pPr indent="0" marL="0">
              <a:buNone/>
            </a:pPr>
            <a:r>
              <a:rPr lang="en-US" sz="1000" dirty="0">
                <a:solidFill>
                  <a:srgbClr val="C0D8EE"/>
                </a:solidFill>
              </a:rPr>
              <a:t>Diffusión → sniffing. Solución: switch + encriptación + VLANs + ZTNA.</a:t>
            </a:r>
            <a:endParaRPr lang="en-US" sz="1000" dirty="0"/>
          </a:p>
        </p:txBody>
      </p:sp>
      <p:sp>
        <p:nvSpPr>
          <p:cNvPr id="24" name="Shape 22"/>
          <p:cNvSpPr/>
          <p:nvPr/>
        </p:nvSpPr>
        <p:spPr>
          <a:xfrm>
            <a:off x="274320" y="3246120"/>
            <a:ext cx="8595360" cy="0"/>
          </a:xfrm>
          <a:prstGeom prst="line">
            <a:avLst/>
          </a:prstGeom>
          <a:noFill/>
          <a:ln w="12700">
            <a:solidFill>
              <a:srgbClr val="3A7BAA"/>
            </a:solidFill>
            <a:prstDash val="solid"/>
          </a:ln>
        </p:spPr>
      </p:sp>
      <p:sp>
        <p:nvSpPr>
          <p:cNvPr id="25" name="Text 23"/>
          <p:cNvSpPr/>
          <p:nvPr/>
        </p:nvSpPr>
        <p:spPr>
          <a:xfrm>
            <a:off x="274320" y="3337560"/>
            <a:ext cx="8686800" cy="274320"/>
          </a:xfrm>
          <a:prstGeom prst="rect">
            <a:avLst/>
          </a:prstGeom>
          <a:noFill/>
          <a:ln/>
        </p:spPr>
        <p:txBody>
          <a:bodyPr wrap="square" rtlCol="0" anchor="ctr"/>
          <a:lstStyle/>
          <a:p>
            <a:pPr indent="0" marL="0">
              <a:buNone/>
            </a:pPr>
            <a:r>
              <a:rPr lang="en-US" sz="1100" dirty="0">
                <a:solidFill>
                  <a:srgbClr val="808080"/>
                </a:solidFill>
              </a:rPr>
              <a:t>Prof. Víctor  ·  Redes y Comunicaciones</a:t>
            </a:r>
            <a:endParaRPr lang="en-US" sz="1100" dirty="0"/>
          </a:p>
        </p:txBody>
      </p:sp>
      <p:sp>
        <p:nvSpPr>
          <p:cNvPr id="26" name="Text 24"/>
          <p:cNvSpPr/>
          <p:nvPr/>
        </p:nvSpPr>
        <p:spPr>
          <a:xfrm>
            <a:off x="274320" y="3703320"/>
            <a:ext cx="8686800" cy="274320"/>
          </a:xfrm>
          <a:prstGeom prst="rect">
            <a:avLst/>
          </a:prstGeom>
          <a:noFill/>
          <a:ln/>
        </p:spPr>
        <p:txBody>
          <a:bodyPr wrap="square" rtlCol="0" anchor="ctr"/>
          <a:lstStyle/>
          <a:p>
            <a:pPr algn="ctr" indent="0" marL="0">
              <a:buNone/>
            </a:pPr>
            <a:r>
              <a:rPr lang="en-US" sz="1000" i="1" dirty="0">
                <a:solidFill>
                  <a:srgbClr val="B9DEF8"/>
                </a:solidFill>
              </a:rPr>
              <a:t>"El conocimiento de la topología es el fundamento de cualquier diseño de red."</a:t>
            </a:r>
            <a:endParaRPr lang="en-US" sz="1000" dirty="0"/>
          </a:p>
        </p:txBody>
      </p:sp>
      <p:sp>
        <p:nvSpPr>
          <p:cNvPr id="27" name="Shape 25"/>
          <p:cNvSpPr/>
          <p:nvPr/>
        </p:nvSpPr>
        <p:spPr>
          <a:xfrm>
            <a:off x="0" y="4850892"/>
            <a:ext cx="9144000" cy="292608"/>
          </a:xfrm>
          <a:prstGeom prst="rect">
            <a:avLst/>
          </a:prstGeom>
          <a:solidFill>
            <a:srgbClr val="1A1E1E"/>
          </a:solidFill>
          <a:ln w="12700">
            <a:solidFill>
              <a:srgbClr val="1A1E1E"/>
            </a:solidFill>
            <a:prstDash val="solid"/>
          </a:ln>
        </p:spPr>
      </p:sp>
      <p:sp>
        <p:nvSpPr>
          <p:cNvPr id="28" name="Text 26"/>
          <p:cNvSpPr/>
          <p:nvPr/>
        </p:nvSpPr>
        <p:spPr>
          <a:xfrm>
            <a:off x="182880" y="4869180"/>
            <a:ext cx="8778240" cy="256032"/>
          </a:xfrm>
          <a:prstGeom prst="rect">
            <a:avLst/>
          </a:prstGeom>
          <a:noFill/>
          <a:ln/>
        </p:spPr>
        <p:txBody>
          <a:bodyPr wrap="square" rtlCol="0" anchor="ctr"/>
          <a:lstStyle/>
          <a:p>
            <a:pPr indent="0" marL="0">
              <a:buNone/>
            </a:pPr>
            <a:r>
              <a:rPr lang="en-US" sz="800" dirty="0">
                <a:solidFill>
                  <a:srgbClr val="4A6070"/>
                </a:solidFill>
              </a:rPr>
              <a:t>SP5 · H1 · Topologías LAN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SP5 H1 – Topologías Básicas de Redes LAN</dc:title>
  <dc:subject>PptxGenJS Presentation</dc:subject>
  <dc:creator>Prof. Víctor</dc:creator>
  <cp:lastModifiedBy>Prof. Víctor</cp:lastModifiedBy>
  <cp:revision>1</cp:revision>
  <dcterms:created xsi:type="dcterms:W3CDTF">2026-04-20T22:52:16Z</dcterms:created>
  <dcterms:modified xsi:type="dcterms:W3CDTF">2026-04-20T22:52:16Z</dcterms:modified>
</cp:coreProperties>
</file>