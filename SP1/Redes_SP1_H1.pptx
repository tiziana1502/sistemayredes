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4838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5006340"/>
            <a:ext cx="9144000" cy="137160"/>
          </a:xfrm>
          <a:prstGeom prst="rect">
            <a:avLst/>
          </a:prstGeom>
          <a:solidFill>
            <a:srgbClr val="5AA8D8"/>
          </a:solidFill>
          <a:ln w="12700">
            <a:solidFill>
              <a:srgbClr val="5AA8D8"/>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7498080" y="228600"/>
            <a:ext cx="1417320" cy="1216152"/>
          </a:xfrm>
          <a:prstGeom prst="rect">
            <a:avLst/>
          </a:prstGeom>
        </p:spPr>
      </p:pic>
      <p:sp>
        <p:nvSpPr>
          <p:cNvPr id="5" name="Shape 2"/>
          <p:cNvSpPr/>
          <p:nvPr/>
        </p:nvSpPr>
        <p:spPr>
          <a:xfrm>
            <a:off x="457200" y="914400"/>
            <a:ext cx="2194560" cy="347472"/>
          </a:xfrm>
          <a:prstGeom prst="rect">
            <a:avLst/>
          </a:prstGeom>
          <a:solidFill>
            <a:srgbClr val="5AA8D8"/>
          </a:solidFill>
          <a:ln w="12700">
            <a:solidFill>
              <a:srgbClr val="5AA8D8"/>
            </a:solidFill>
            <a:prstDash val="solid"/>
          </a:ln>
        </p:spPr>
        <p:txBody>
          <a:bodyPr/>
          <a:lstStyle/>
          <a:p>
            <a:endParaRPr lang="en-US"/>
          </a:p>
        </p:txBody>
      </p:sp>
      <p:sp>
        <p:nvSpPr>
          <p:cNvPr id="6" name="Text 3"/>
          <p:cNvSpPr/>
          <p:nvPr/>
        </p:nvSpPr>
        <p:spPr>
          <a:xfrm>
            <a:off x="457200" y="914400"/>
            <a:ext cx="2194560"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REDES Y COMUNICACIONES</a:t>
            </a:r>
            <a:endParaRPr lang="en-US" sz="900" dirty="0"/>
          </a:p>
        </p:txBody>
      </p:sp>
      <p:sp>
        <p:nvSpPr>
          <p:cNvPr id="7" name="Text 4"/>
          <p:cNvSpPr/>
          <p:nvPr/>
        </p:nvSpPr>
        <p:spPr>
          <a:xfrm>
            <a:off x="457200" y="1417320"/>
            <a:ext cx="6858000" cy="68580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Usos de las</a:t>
            </a:r>
            <a:endParaRPr lang="en-US" sz="4600" dirty="0"/>
          </a:p>
        </p:txBody>
      </p:sp>
      <p:sp>
        <p:nvSpPr>
          <p:cNvPr id="8" name="Text 5"/>
          <p:cNvSpPr/>
          <p:nvPr/>
        </p:nvSpPr>
        <p:spPr>
          <a:xfrm>
            <a:off x="457200" y="2029968"/>
            <a:ext cx="6858000" cy="777240"/>
          </a:xfrm>
          <a:prstGeom prst="rect">
            <a:avLst/>
          </a:prstGeom>
          <a:noFill/>
          <a:ln/>
        </p:spPr>
        <p:txBody>
          <a:bodyPr wrap="square" lIns="0" tIns="0" rIns="0" bIns="0" rtlCol="0" anchor="ctr"/>
          <a:lstStyle/>
          <a:p>
            <a:pPr marL="0" indent="0">
              <a:buNone/>
            </a:pPr>
            <a:r>
              <a:rPr lang="en-US" sz="4600" b="1" dirty="0">
                <a:solidFill>
                  <a:srgbClr val="5AA8D8"/>
                </a:solidFill>
                <a:latin typeface="Arial" pitchFamily="34" charset="0"/>
                <a:ea typeface="Arial" pitchFamily="34" charset="-122"/>
                <a:cs typeface="Arial" pitchFamily="34" charset="-120"/>
              </a:rPr>
              <a:t>Redes de Datos</a:t>
            </a:r>
            <a:endParaRPr lang="en-US" sz="4600" dirty="0"/>
          </a:p>
        </p:txBody>
      </p:sp>
      <p:sp>
        <p:nvSpPr>
          <p:cNvPr id="9" name="Text 6"/>
          <p:cNvSpPr/>
          <p:nvPr/>
        </p:nvSpPr>
        <p:spPr>
          <a:xfrm>
            <a:off x="457200" y="2926080"/>
            <a:ext cx="7315200" cy="365760"/>
          </a:xfrm>
          <a:prstGeom prst="rect">
            <a:avLst/>
          </a:prstGeom>
          <a:noFill/>
          <a:ln/>
        </p:spPr>
        <p:txBody>
          <a:bodyPr wrap="square" lIns="0" tIns="0" rIns="0" bIns="0" rtlCol="0" anchor="ctr"/>
          <a:lstStyle/>
          <a:p>
            <a:pPr marL="0" indent="0">
              <a:buNone/>
            </a:pPr>
            <a:r>
              <a:rPr lang="en-US" sz="1400" dirty="0">
                <a:solidFill>
                  <a:srgbClr val="B9DEF8"/>
                </a:solidFill>
                <a:latin typeface="Arial" pitchFamily="34" charset="0"/>
                <a:ea typeface="Arial" pitchFamily="34" charset="-122"/>
                <a:cs typeface="Arial" pitchFamily="34" charset="-120"/>
              </a:rPr>
              <a:t>SP1 / H1 — Stand Alone, Definición de Red, Recursos y Servicios</a:t>
            </a:r>
            <a:endParaRPr lang="en-US" sz="1400" dirty="0"/>
          </a:p>
        </p:txBody>
      </p:sp>
      <p:sp>
        <p:nvSpPr>
          <p:cNvPr id="10" name="Shape 7"/>
          <p:cNvSpPr/>
          <p:nvPr/>
        </p:nvSpPr>
        <p:spPr>
          <a:xfrm>
            <a:off x="457200" y="3364992"/>
            <a:ext cx="5029200" cy="45720"/>
          </a:xfrm>
          <a:prstGeom prst="rect">
            <a:avLst/>
          </a:prstGeom>
          <a:solidFill>
            <a:srgbClr val="5AA8D8"/>
          </a:solidFill>
          <a:ln w="12700">
            <a:solidFill>
              <a:srgbClr val="5AA8D8"/>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109728"/>
            <a:ext cx="9144000" cy="713232"/>
          </a:xfrm>
          <a:prstGeom prst="rect">
            <a:avLst/>
          </a:prstGeom>
          <a:solidFill>
            <a:srgbClr val="FFFFFF"/>
          </a:solidFill>
          <a:ln w="12700">
            <a:solidFill>
              <a:srgbClr val="FFFFFF"/>
            </a:solidFill>
            <a:prstDash val="solid"/>
          </a:ln>
        </p:spPr>
        <p:txBody>
          <a:bodyPr/>
          <a:lstStyle/>
          <a:p>
            <a:endParaRPr lang="en-US"/>
          </a:p>
        </p:txBody>
      </p:sp>
      <p:sp>
        <p:nvSpPr>
          <p:cNvPr id="4" name="Text 2"/>
          <p:cNvSpPr/>
          <p:nvPr/>
        </p:nvSpPr>
        <p:spPr>
          <a:xfrm>
            <a:off x="320040" y="109728"/>
            <a:ext cx="8503920" cy="713232"/>
          </a:xfrm>
          <a:prstGeom prst="rect">
            <a:avLst/>
          </a:prstGeom>
          <a:noFill/>
          <a:ln/>
        </p:spPr>
        <p:txBody>
          <a:bodyPr wrap="square" lIns="0" tIns="0" rIns="0" bIns="0" rtlCol="0" anchor="ctr"/>
          <a:lstStyle/>
          <a:p>
            <a:pPr marL="0" indent="0">
              <a:buNone/>
            </a:pPr>
            <a:r>
              <a:rPr lang="en-US" sz="2200" b="1" dirty="0">
                <a:solidFill>
                  <a:srgbClr val="2D3030"/>
                </a:solidFill>
                <a:latin typeface="Arial" pitchFamily="34" charset="0"/>
                <a:ea typeface="Arial" pitchFamily="34" charset="-122"/>
                <a:cs typeface="Arial" pitchFamily="34" charset="-120"/>
              </a:rPr>
              <a:t>El Ser Humano y las Redes</a:t>
            </a:r>
            <a:endParaRPr lang="en-US" sz="2200" dirty="0"/>
          </a:p>
        </p:txBody>
      </p:sp>
      <p:sp>
        <p:nvSpPr>
          <p:cNvPr id="5" name="Shape 3"/>
          <p:cNvSpPr/>
          <p:nvPr/>
        </p:nvSpPr>
        <p:spPr>
          <a:xfrm>
            <a:off x="0" y="4892040"/>
            <a:ext cx="9144000" cy="251460"/>
          </a:xfrm>
          <a:prstGeom prst="rect">
            <a:avLst/>
          </a:prstGeom>
          <a:solidFill>
            <a:srgbClr val="2D3030"/>
          </a:solidFill>
          <a:ln w="12700">
            <a:solidFill>
              <a:srgbClr val="2D3030"/>
            </a:solidFill>
            <a:prstDash val="solid"/>
          </a:ln>
        </p:spPr>
        <p:txBody>
          <a:bodyPr/>
          <a:lstStyle/>
          <a:p>
            <a:endParaRPr lang="en-US"/>
          </a:p>
        </p:txBody>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808080"/>
                </a:solidFill>
                <a:latin typeface="Arial" pitchFamily="34" charset="0"/>
                <a:ea typeface="Arial" pitchFamily="34" charset="-122"/>
                <a:cs typeface="Arial" pitchFamily="34" charset="-120"/>
              </a:rPr>
              <a:t>IES – Redes y Comunicaciones | SP1/H1 | 2026</a:t>
            </a:r>
            <a:endParaRPr lang="en-US" sz="900" dirty="0"/>
          </a:p>
        </p:txBody>
      </p:sp>
      <p:sp>
        <p:nvSpPr>
          <p:cNvPr id="7" name="Shape 5"/>
          <p:cNvSpPr/>
          <p:nvPr/>
        </p:nvSpPr>
        <p:spPr>
          <a:xfrm>
            <a:off x="662940" y="1371600"/>
            <a:ext cx="1417320" cy="2011680"/>
          </a:xfrm>
          <a:prstGeom prst="rect">
            <a:avLst/>
          </a:prstGeom>
          <a:solidFill>
            <a:srgbClr val="B9DEF8"/>
          </a:solidFill>
          <a:ln w="12700">
            <a:solidFill>
              <a:srgbClr val="3A7BAA"/>
            </a:solidFill>
            <a:prstDash val="solid"/>
          </a:ln>
        </p:spPr>
        <p:txBody>
          <a:bodyPr/>
          <a:lstStyle/>
          <a:p>
            <a:endParaRPr lang="en-US"/>
          </a:p>
        </p:txBody>
      </p:sp>
      <p:sp>
        <p:nvSpPr>
          <p:cNvPr id="8" name="Text 6"/>
          <p:cNvSpPr/>
          <p:nvPr/>
        </p:nvSpPr>
        <p:spPr>
          <a:xfrm>
            <a:off x="662940" y="1600200"/>
            <a:ext cx="1417320" cy="59436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9" name="Text 7"/>
          <p:cNvSpPr/>
          <p:nvPr/>
        </p:nvSpPr>
        <p:spPr>
          <a:xfrm>
            <a:off x="662940" y="2286000"/>
            <a:ext cx="1417320" cy="868680"/>
          </a:xfrm>
          <a:prstGeom prst="rect">
            <a:avLst/>
          </a:prstGeom>
          <a:noFill/>
          <a:ln/>
        </p:spPr>
        <p:txBody>
          <a:bodyPr wrap="square" lIns="50800" tIns="50800" rIns="50800" bIns="50800" rtlCol="0" anchor="ctr"/>
          <a:lstStyle/>
          <a:p>
            <a:pPr marL="0" indent="0" algn="ctr">
              <a:buNone/>
            </a:pPr>
            <a:r>
              <a:rPr lang="en-US" sz="1200" b="1" dirty="0">
                <a:solidFill>
                  <a:srgbClr val="2D3030"/>
                </a:solidFill>
                <a:latin typeface="Arial" pitchFamily="34" charset="0"/>
                <a:ea typeface="Arial" pitchFamily="34" charset="-122"/>
                <a:cs typeface="Arial" pitchFamily="34" charset="-120"/>
              </a:rPr>
              <a:t>Caminos</a:t>
            </a:r>
            <a:endParaRPr lang="en-US" sz="1200" dirty="0"/>
          </a:p>
          <a:p>
            <a:pPr marL="0" indent="0" algn="ctr">
              <a:buNone/>
            </a:pPr>
            <a:r>
              <a:rPr lang="en-US" sz="1200" b="1" dirty="0">
                <a:solidFill>
                  <a:srgbClr val="2D3030"/>
                </a:solidFill>
                <a:latin typeface="Arial" pitchFamily="34" charset="0"/>
                <a:ea typeface="Arial" pitchFamily="34" charset="-122"/>
                <a:cs typeface="Arial" pitchFamily="34" charset="-120"/>
              </a:rPr>
              <a:t>y ferrocarril</a:t>
            </a:r>
            <a:endParaRPr lang="en-US" sz="1200" dirty="0"/>
          </a:p>
        </p:txBody>
      </p:sp>
      <p:sp>
        <p:nvSpPr>
          <p:cNvPr id="10" name="Shape 8"/>
          <p:cNvSpPr/>
          <p:nvPr/>
        </p:nvSpPr>
        <p:spPr>
          <a:xfrm>
            <a:off x="2080260" y="2340864"/>
            <a:ext cx="182880" cy="73152"/>
          </a:xfrm>
          <a:prstGeom prst="rect">
            <a:avLst/>
          </a:prstGeom>
          <a:solidFill>
            <a:srgbClr val="3A7BAA"/>
          </a:solidFill>
          <a:ln w="12700">
            <a:solidFill>
              <a:srgbClr val="3A7BAA"/>
            </a:solidFill>
            <a:prstDash val="solid"/>
          </a:ln>
        </p:spPr>
        <p:txBody>
          <a:bodyPr/>
          <a:lstStyle/>
          <a:p>
            <a:endParaRPr lang="en-US"/>
          </a:p>
        </p:txBody>
      </p:sp>
      <p:sp>
        <p:nvSpPr>
          <p:cNvPr id="11" name="Shape 9"/>
          <p:cNvSpPr/>
          <p:nvPr/>
        </p:nvSpPr>
        <p:spPr>
          <a:xfrm>
            <a:off x="2263140" y="1371600"/>
            <a:ext cx="1417320" cy="2011680"/>
          </a:xfrm>
          <a:prstGeom prst="rect">
            <a:avLst/>
          </a:prstGeom>
          <a:solidFill>
            <a:srgbClr val="5AA8D8"/>
          </a:solidFill>
          <a:ln w="12700">
            <a:solidFill>
              <a:srgbClr val="3A7BAA"/>
            </a:solidFill>
            <a:prstDash val="solid"/>
          </a:ln>
        </p:spPr>
        <p:txBody>
          <a:bodyPr/>
          <a:lstStyle/>
          <a:p>
            <a:endParaRPr lang="en-US"/>
          </a:p>
        </p:txBody>
      </p:sp>
      <p:sp>
        <p:nvSpPr>
          <p:cNvPr id="12" name="Text 10"/>
          <p:cNvSpPr/>
          <p:nvPr/>
        </p:nvSpPr>
        <p:spPr>
          <a:xfrm>
            <a:off x="2263140" y="1600200"/>
            <a:ext cx="1417320" cy="59436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3" name="Text 11"/>
          <p:cNvSpPr/>
          <p:nvPr/>
        </p:nvSpPr>
        <p:spPr>
          <a:xfrm>
            <a:off x="2263140" y="2286000"/>
            <a:ext cx="1417320" cy="868680"/>
          </a:xfrm>
          <a:prstGeom prst="rect">
            <a:avLst/>
          </a:prstGeom>
          <a:noFill/>
          <a:ln/>
        </p:spPr>
        <p:txBody>
          <a:bodyPr wrap="square" lIns="50800" tIns="50800" rIns="50800" bIns="50800" rtlCol="0" anchor="ctr"/>
          <a:lstStyle/>
          <a:p>
            <a:pPr marL="0" indent="0" algn="ctr">
              <a:buNone/>
            </a:pPr>
            <a:r>
              <a:rPr lang="en-US" sz="1200" b="1" dirty="0">
                <a:solidFill>
                  <a:srgbClr val="2D3030"/>
                </a:solidFill>
                <a:latin typeface="Arial" pitchFamily="34" charset="0"/>
                <a:ea typeface="Arial" pitchFamily="34" charset="-122"/>
                <a:cs typeface="Arial" pitchFamily="34" charset="-120"/>
              </a:rPr>
              <a:t>Telégrafo</a:t>
            </a:r>
            <a:endParaRPr lang="en-US" sz="1200" dirty="0"/>
          </a:p>
          <a:p>
            <a:pPr marL="0" indent="0" algn="ctr">
              <a:buNone/>
            </a:pPr>
            <a:r>
              <a:rPr lang="en-US" sz="1200" b="1" dirty="0">
                <a:solidFill>
                  <a:srgbClr val="2D3030"/>
                </a:solidFill>
                <a:latin typeface="Arial" pitchFamily="34" charset="0"/>
                <a:ea typeface="Arial" pitchFamily="34" charset="-122"/>
                <a:cs typeface="Arial" pitchFamily="34" charset="-120"/>
              </a:rPr>
              <a:t>y teléfono</a:t>
            </a:r>
            <a:endParaRPr lang="en-US" sz="1200" dirty="0"/>
          </a:p>
        </p:txBody>
      </p:sp>
      <p:sp>
        <p:nvSpPr>
          <p:cNvPr id="14" name="Shape 12"/>
          <p:cNvSpPr/>
          <p:nvPr/>
        </p:nvSpPr>
        <p:spPr>
          <a:xfrm>
            <a:off x="3680460" y="2340864"/>
            <a:ext cx="182880" cy="73152"/>
          </a:xfrm>
          <a:prstGeom prst="rect">
            <a:avLst/>
          </a:prstGeom>
          <a:solidFill>
            <a:srgbClr val="3A7BAA"/>
          </a:solidFill>
          <a:ln w="12700">
            <a:solidFill>
              <a:srgbClr val="3A7BAA"/>
            </a:solidFill>
            <a:prstDash val="solid"/>
          </a:ln>
        </p:spPr>
        <p:txBody>
          <a:bodyPr/>
          <a:lstStyle/>
          <a:p>
            <a:endParaRPr lang="en-US"/>
          </a:p>
        </p:txBody>
      </p:sp>
      <p:sp>
        <p:nvSpPr>
          <p:cNvPr id="15" name="Shape 13"/>
          <p:cNvSpPr/>
          <p:nvPr/>
        </p:nvSpPr>
        <p:spPr>
          <a:xfrm>
            <a:off x="3863340" y="1371600"/>
            <a:ext cx="1417320" cy="2011680"/>
          </a:xfrm>
          <a:prstGeom prst="rect">
            <a:avLst/>
          </a:prstGeom>
          <a:solidFill>
            <a:srgbClr val="3A7BAA"/>
          </a:solidFill>
          <a:ln w="12700">
            <a:solidFill>
              <a:srgbClr val="3A7BAA"/>
            </a:solidFill>
            <a:prstDash val="solid"/>
          </a:ln>
        </p:spPr>
        <p:txBody>
          <a:bodyPr/>
          <a:lstStyle/>
          <a:p>
            <a:endParaRPr lang="en-US"/>
          </a:p>
        </p:txBody>
      </p:sp>
      <p:sp>
        <p:nvSpPr>
          <p:cNvPr id="16" name="Text 14"/>
          <p:cNvSpPr/>
          <p:nvPr/>
        </p:nvSpPr>
        <p:spPr>
          <a:xfrm>
            <a:off x="3863340" y="1600200"/>
            <a:ext cx="1417320" cy="59436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7" name="Text 15"/>
          <p:cNvSpPr/>
          <p:nvPr/>
        </p:nvSpPr>
        <p:spPr>
          <a:xfrm>
            <a:off x="3863340" y="2286000"/>
            <a:ext cx="1417320" cy="868680"/>
          </a:xfrm>
          <a:prstGeom prst="rect">
            <a:avLst/>
          </a:prstGeom>
          <a:noFill/>
          <a:ln/>
        </p:spPr>
        <p:txBody>
          <a:bodyPr wrap="square" lIns="50800" tIns="50800" rIns="50800" bIns="5080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Redes de</a:t>
            </a:r>
            <a:endParaRPr lang="en-US" sz="1200" dirty="0"/>
          </a:p>
          <a:p>
            <a:pPr marL="0" indent="0" algn="ctr">
              <a:buNone/>
            </a:pPr>
            <a:r>
              <a:rPr lang="en-US" sz="1200" b="1" dirty="0">
                <a:solidFill>
                  <a:srgbClr val="FFFFFF"/>
                </a:solidFill>
                <a:latin typeface="Arial" pitchFamily="34" charset="0"/>
                <a:ea typeface="Arial" pitchFamily="34" charset="-122"/>
                <a:cs typeface="Arial" pitchFamily="34" charset="-120"/>
              </a:rPr>
              <a:t>computadoras</a:t>
            </a:r>
            <a:endParaRPr lang="en-US" sz="1200" dirty="0"/>
          </a:p>
        </p:txBody>
      </p:sp>
      <p:sp>
        <p:nvSpPr>
          <p:cNvPr id="18" name="Shape 16"/>
          <p:cNvSpPr/>
          <p:nvPr/>
        </p:nvSpPr>
        <p:spPr>
          <a:xfrm>
            <a:off x="5280660" y="2340864"/>
            <a:ext cx="182880" cy="73152"/>
          </a:xfrm>
          <a:prstGeom prst="rect">
            <a:avLst/>
          </a:prstGeom>
          <a:solidFill>
            <a:srgbClr val="3A7BAA"/>
          </a:solidFill>
          <a:ln w="12700">
            <a:solidFill>
              <a:srgbClr val="3A7BAA"/>
            </a:solidFill>
            <a:prstDash val="solid"/>
          </a:ln>
        </p:spPr>
        <p:txBody>
          <a:bodyPr/>
          <a:lstStyle/>
          <a:p>
            <a:endParaRPr lang="en-US"/>
          </a:p>
        </p:txBody>
      </p:sp>
      <p:sp>
        <p:nvSpPr>
          <p:cNvPr id="19" name="Shape 17"/>
          <p:cNvSpPr/>
          <p:nvPr/>
        </p:nvSpPr>
        <p:spPr>
          <a:xfrm>
            <a:off x="5463540" y="1371600"/>
            <a:ext cx="1417320" cy="2011680"/>
          </a:xfrm>
          <a:prstGeom prst="rect">
            <a:avLst/>
          </a:prstGeom>
          <a:solidFill>
            <a:srgbClr val="2D6E9A"/>
          </a:solidFill>
          <a:ln w="12700">
            <a:solidFill>
              <a:srgbClr val="3A7BAA"/>
            </a:solidFill>
            <a:prstDash val="solid"/>
          </a:ln>
        </p:spPr>
        <p:txBody>
          <a:bodyPr/>
          <a:lstStyle/>
          <a:p>
            <a:endParaRPr lang="en-US"/>
          </a:p>
        </p:txBody>
      </p:sp>
      <p:sp>
        <p:nvSpPr>
          <p:cNvPr id="20" name="Text 18"/>
          <p:cNvSpPr/>
          <p:nvPr/>
        </p:nvSpPr>
        <p:spPr>
          <a:xfrm>
            <a:off x="5463540" y="1600200"/>
            <a:ext cx="1417320" cy="59436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1" name="Text 19"/>
          <p:cNvSpPr/>
          <p:nvPr/>
        </p:nvSpPr>
        <p:spPr>
          <a:xfrm>
            <a:off x="5463540" y="2286000"/>
            <a:ext cx="1417320" cy="868680"/>
          </a:xfrm>
          <a:prstGeom prst="rect">
            <a:avLst/>
          </a:prstGeom>
          <a:noFill/>
          <a:ln/>
        </p:spPr>
        <p:txBody>
          <a:bodyPr wrap="square" lIns="50800" tIns="50800" rIns="50800" bIns="5080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Internet</a:t>
            </a:r>
            <a:endParaRPr lang="en-US" sz="1200" dirty="0"/>
          </a:p>
          <a:p>
            <a:pPr marL="0" indent="0" algn="ctr">
              <a:buNone/>
            </a:pPr>
            <a:r>
              <a:rPr lang="en-US" sz="1200" b="1" dirty="0">
                <a:solidFill>
                  <a:srgbClr val="FFFFFF"/>
                </a:solidFill>
                <a:latin typeface="Arial" pitchFamily="34" charset="0"/>
                <a:ea typeface="Arial" pitchFamily="34" charset="-122"/>
                <a:cs typeface="Arial" pitchFamily="34" charset="-120"/>
              </a:rPr>
              <a:t>World Wide Web</a:t>
            </a:r>
            <a:endParaRPr lang="en-US" sz="1200" dirty="0"/>
          </a:p>
        </p:txBody>
      </p:sp>
      <p:sp>
        <p:nvSpPr>
          <p:cNvPr id="22" name="Shape 20"/>
          <p:cNvSpPr/>
          <p:nvPr/>
        </p:nvSpPr>
        <p:spPr>
          <a:xfrm>
            <a:off x="6880860" y="2340864"/>
            <a:ext cx="182880" cy="73152"/>
          </a:xfrm>
          <a:prstGeom prst="rect">
            <a:avLst/>
          </a:prstGeom>
          <a:solidFill>
            <a:srgbClr val="3A7BAA"/>
          </a:solidFill>
          <a:ln w="12700">
            <a:solidFill>
              <a:srgbClr val="3A7BAA"/>
            </a:solidFill>
            <a:prstDash val="solid"/>
          </a:ln>
        </p:spPr>
        <p:txBody>
          <a:bodyPr/>
          <a:lstStyle/>
          <a:p>
            <a:endParaRPr lang="en-US"/>
          </a:p>
        </p:txBody>
      </p:sp>
      <p:sp>
        <p:nvSpPr>
          <p:cNvPr id="23" name="Shape 21"/>
          <p:cNvSpPr/>
          <p:nvPr/>
        </p:nvSpPr>
        <p:spPr>
          <a:xfrm>
            <a:off x="7063740" y="1371600"/>
            <a:ext cx="1417320" cy="2011680"/>
          </a:xfrm>
          <a:prstGeom prst="rect">
            <a:avLst/>
          </a:prstGeom>
          <a:solidFill>
            <a:srgbClr val="1D4E7A"/>
          </a:solidFill>
          <a:ln w="12700">
            <a:solidFill>
              <a:srgbClr val="3A7BAA"/>
            </a:solidFill>
            <a:prstDash val="solid"/>
          </a:ln>
        </p:spPr>
        <p:txBody>
          <a:bodyPr/>
          <a:lstStyle/>
          <a:p>
            <a:endParaRPr lang="en-US"/>
          </a:p>
        </p:txBody>
      </p:sp>
      <p:sp>
        <p:nvSpPr>
          <p:cNvPr id="24" name="Text 22"/>
          <p:cNvSpPr/>
          <p:nvPr/>
        </p:nvSpPr>
        <p:spPr>
          <a:xfrm>
            <a:off x="7063740" y="1600200"/>
            <a:ext cx="1417320" cy="59436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5" name="Text 23"/>
          <p:cNvSpPr/>
          <p:nvPr/>
        </p:nvSpPr>
        <p:spPr>
          <a:xfrm>
            <a:off x="7063740" y="2286000"/>
            <a:ext cx="1417320" cy="868680"/>
          </a:xfrm>
          <a:prstGeom prst="rect">
            <a:avLst/>
          </a:prstGeom>
          <a:noFill/>
          <a:ln/>
        </p:spPr>
        <p:txBody>
          <a:bodyPr wrap="square" lIns="50800" tIns="50800" rIns="50800" bIns="5080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Redes móviles</a:t>
            </a:r>
            <a:endParaRPr lang="en-US" sz="1200" dirty="0"/>
          </a:p>
          <a:p>
            <a:pPr marL="0" indent="0" algn="ctr">
              <a:buNone/>
            </a:pPr>
            <a:r>
              <a:rPr lang="en-US" sz="1200" b="1" dirty="0">
                <a:solidFill>
                  <a:srgbClr val="FFFFFF"/>
                </a:solidFill>
                <a:latin typeface="Arial" pitchFamily="34" charset="0"/>
                <a:ea typeface="Arial" pitchFamily="34" charset="-122"/>
                <a:cs typeface="Arial" pitchFamily="34" charset="-120"/>
              </a:rPr>
              <a:t>4G / 5G</a:t>
            </a:r>
            <a:endParaRPr lang="en-US" sz="1200" dirty="0"/>
          </a:p>
        </p:txBody>
      </p:sp>
      <p:sp>
        <p:nvSpPr>
          <p:cNvPr id="26" name="Text 24"/>
          <p:cNvSpPr/>
          <p:nvPr/>
        </p:nvSpPr>
        <p:spPr>
          <a:xfrm>
            <a:off x="457200" y="3566160"/>
            <a:ext cx="8229600" cy="365760"/>
          </a:xfrm>
          <a:prstGeom prst="rect">
            <a:avLst/>
          </a:prstGeom>
          <a:noFill/>
          <a:ln/>
        </p:spPr>
        <p:txBody>
          <a:bodyPr wrap="square" lIns="0" tIns="0" rIns="0" bIns="0" rtlCol="0" anchor="ctr"/>
          <a:lstStyle/>
          <a:p>
            <a:pPr marL="0" indent="0" algn="ctr">
              <a:buNone/>
            </a:pPr>
            <a:r>
              <a:rPr lang="en-US" sz="1300" dirty="0">
                <a:solidFill>
                  <a:srgbClr val="3A7BAA"/>
                </a:solidFill>
                <a:latin typeface="Arial" pitchFamily="34" charset="0"/>
                <a:ea typeface="Arial" pitchFamily="34" charset="-122"/>
                <a:cs typeface="Arial" pitchFamily="34" charset="-120"/>
              </a:rPr>
              <a:t>La necesidad humana de comunicarse ha impulsado las redes a lo largo de toda la historia.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109728"/>
            <a:ext cx="9144000" cy="713232"/>
          </a:xfrm>
          <a:prstGeom prst="rect">
            <a:avLst/>
          </a:prstGeom>
          <a:solidFill>
            <a:srgbClr val="FFFFFF"/>
          </a:solidFill>
          <a:ln w="12700">
            <a:solidFill>
              <a:srgbClr val="FFFFFF"/>
            </a:solidFill>
            <a:prstDash val="solid"/>
          </a:ln>
        </p:spPr>
        <p:txBody>
          <a:bodyPr/>
          <a:lstStyle/>
          <a:p>
            <a:endParaRPr lang="en-US"/>
          </a:p>
        </p:txBody>
      </p:sp>
      <p:sp>
        <p:nvSpPr>
          <p:cNvPr id="4" name="Text 2"/>
          <p:cNvSpPr/>
          <p:nvPr/>
        </p:nvSpPr>
        <p:spPr>
          <a:xfrm>
            <a:off x="320040" y="109728"/>
            <a:ext cx="8503920" cy="713232"/>
          </a:xfrm>
          <a:prstGeom prst="rect">
            <a:avLst/>
          </a:prstGeom>
          <a:noFill/>
          <a:ln/>
        </p:spPr>
        <p:txBody>
          <a:bodyPr wrap="square" lIns="0" tIns="0" rIns="0" bIns="0" rtlCol="0" anchor="ctr"/>
          <a:lstStyle/>
          <a:p>
            <a:pPr marL="0" indent="0">
              <a:buNone/>
            </a:pPr>
            <a:r>
              <a:rPr lang="en-US" sz="2200" b="1" dirty="0">
                <a:solidFill>
                  <a:srgbClr val="2D3030"/>
                </a:solidFill>
                <a:latin typeface="Arial" pitchFamily="34" charset="0"/>
                <a:ea typeface="Arial" pitchFamily="34" charset="-122"/>
                <a:cs typeface="Arial" pitchFamily="34" charset="-120"/>
              </a:rPr>
              <a:t>Entorno Stand Alone</a:t>
            </a:r>
            <a:endParaRPr lang="en-US" sz="2200" dirty="0"/>
          </a:p>
        </p:txBody>
      </p:sp>
      <p:sp>
        <p:nvSpPr>
          <p:cNvPr id="5" name="Shape 3"/>
          <p:cNvSpPr/>
          <p:nvPr/>
        </p:nvSpPr>
        <p:spPr>
          <a:xfrm>
            <a:off x="0" y="4892040"/>
            <a:ext cx="9144000" cy="251460"/>
          </a:xfrm>
          <a:prstGeom prst="rect">
            <a:avLst/>
          </a:prstGeom>
          <a:solidFill>
            <a:srgbClr val="2D3030"/>
          </a:solidFill>
          <a:ln w="12700">
            <a:solidFill>
              <a:srgbClr val="2D3030"/>
            </a:solidFill>
            <a:prstDash val="solid"/>
          </a:ln>
        </p:spPr>
        <p:txBody>
          <a:bodyPr/>
          <a:lstStyle/>
          <a:p>
            <a:endParaRPr lang="en-US"/>
          </a:p>
        </p:txBody>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808080"/>
                </a:solidFill>
                <a:latin typeface="Arial" pitchFamily="34" charset="0"/>
                <a:ea typeface="Arial" pitchFamily="34" charset="-122"/>
                <a:cs typeface="Arial" pitchFamily="34" charset="-120"/>
              </a:rPr>
              <a:t>IES – Redes y Comunicaciones | SP1/H1 | 2026</a:t>
            </a:r>
            <a:endParaRPr lang="en-US" sz="900" dirty="0"/>
          </a:p>
        </p:txBody>
      </p:sp>
      <p:sp>
        <p:nvSpPr>
          <p:cNvPr id="7" name="Shape 5"/>
          <p:cNvSpPr/>
          <p:nvPr/>
        </p:nvSpPr>
        <p:spPr>
          <a:xfrm>
            <a:off x="365760" y="960120"/>
            <a:ext cx="3931920" cy="3611880"/>
          </a:xfrm>
          <a:prstGeom prst="rect">
            <a:avLst/>
          </a:prstGeom>
          <a:solidFill>
            <a:srgbClr val="FFFFFF"/>
          </a:solidFill>
          <a:ln w="25400">
            <a:solidFill>
              <a:srgbClr val="5AA8D8"/>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365760" y="960120"/>
            <a:ext cx="3931920" cy="402336"/>
          </a:xfrm>
          <a:prstGeom prst="rect">
            <a:avLst/>
          </a:prstGeom>
          <a:solidFill>
            <a:srgbClr val="2D3030"/>
          </a:solidFill>
          <a:ln w="12700">
            <a:solidFill>
              <a:srgbClr val="2D3030"/>
            </a:solidFill>
            <a:prstDash val="solid"/>
          </a:ln>
        </p:spPr>
        <p:txBody>
          <a:bodyPr/>
          <a:lstStyle/>
          <a:p>
            <a:endParaRPr lang="en-US"/>
          </a:p>
        </p:txBody>
      </p:sp>
      <p:sp>
        <p:nvSpPr>
          <p:cNvPr id="9" name="Text 7"/>
          <p:cNvSpPr/>
          <p:nvPr/>
        </p:nvSpPr>
        <p:spPr>
          <a:xfrm>
            <a:off x="365760" y="960120"/>
            <a:ext cx="3931920" cy="402336"/>
          </a:xfrm>
          <a:prstGeom prst="rect">
            <a:avLst/>
          </a:prstGeom>
          <a:noFill/>
          <a:ln/>
        </p:spPr>
        <p:txBody>
          <a:bodyPr wrap="square" lIns="0" tIns="0" rIns="0" bIns="0" rtlCol="0" anchor="ctr"/>
          <a:lstStyle/>
          <a:p>
            <a:pPr marL="0" indent="0" algn="ctr">
              <a:buNone/>
            </a:pPr>
            <a:r>
              <a:rPr lang="en-US" sz="1700" b="1" dirty="0">
                <a:solidFill>
                  <a:srgbClr val="5AA8D8"/>
                </a:solidFill>
                <a:latin typeface="Arial" pitchFamily="34" charset="0"/>
                <a:ea typeface="Arial" pitchFamily="34" charset="-122"/>
                <a:cs typeface="Arial" pitchFamily="34" charset="-120"/>
              </a:rPr>
              <a:t>STAND ALONE</a:t>
            </a:r>
            <a:endParaRPr lang="en-US" sz="1700" dirty="0"/>
          </a:p>
        </p:txBody>
      </p:sp>
      <p:sp>
        <p:nvSpPr>
          <p:cNvPr id="10" name="Text 8"/>
          <p:cNvSpPr/>
          <p:nvPr/>
        </p:nvSpPr>
        <p:spPr>
          <a:xfrm>
            <a:off x="502920" y="1463040"/>
            <a:ext cx="3611880" cy="2926080"/>
          </a:xfrm>
          <a:prstGeom prst="rect">
            <a:avLst/>
          </a:prstGeom>
          <a:noFill/>
          <a:ln/>
        </p:spPr>
        <p:txBody>
          <a:bodyPr wrap="square" lIns="76200" tIns="76200" rIns="76200" bIns="76200" rtlCol="0" anchor="t"/>
          <a:lstStyle/>
          <a:p>
            <a:pPr marL="0" indent="0">
              <a:buNone/>
            </a:pPr>
            <a:r>
              <a:rPr lang="en-US" sz="1300" dirty="0">
                <a:solidFill>
                  <a:srgbClr val="404040"/>
                </a:solidFill>
                <a:latin typeface="Arial" pitchFamily="34" charset="0"/>
                <a:ea typeface="Arial" pitchFamily="34" charset="-122"/>
                <a:cs typeface="Arial" pitchFamily="34" charset="-120"/>
              </a:rPr>
              <a:t>💾  Solo accede a su propio disco
🖨️  Necesita impresora propia
📁  Comparte archivos por pendrive
🚫  Sin trabajo colaborativo
🔄  Actualizaciones manuales
💰  Mayor costo de hardware
</a:t>
            </a:r>
            <a:endParaRPr lang="en-US" sz="1300" dirty="0"/>
          </a:p>
        </p:txBody>
      </p:sp>
      <p:sp>
        <p:nvSpPr>
          <p:cNvPr id="11" name="Shape 9"/>
          <p:cNvSpPr/>
          <p:nvPr/>
        </p:nvSpPr>
        <p:spPr>
          <a:xfrm>
            <a:off x="4572000" y="960120"/>
            <a:ext cx="4206240" cy="1645920"/>
          </a:xfrm>
          <a:prstGeom prst="rect">
            <a:avLst/>
          </a:prstGeom>
          <a:solidFill>
            <a:srgbClr val="E8F4FC"/>
          </a:solidFill>
          <a:ln w="19050">
            <a:solidFill>
              <a:srgbClr val="B9DEF8"/>
            </a:solidFill>
            <a:prstDash val="solid"/>
          </a:ln>
        </p:spPr>
        <p:txBody>
          <a:bodyPr/>
          <a:lstStyle/>
          <a:p>
            <a:endParaRPr lang="en-US"/>
          </a:p>
        </p:txBody>
      </p:sp>
      <p:sp>
        <p:nvSpPr>
          <p:cNvPr id="12" name="Shape 10"/>
          <p:cNvSpPr/>
          <p:nvPr/>
        </p:nvSpPr>
        <p:spPr>
          <a:xfrm>
            <a:off x="4572000" y="960120"/>
            <a:ext cx="64008" cy="1645920"/>
          </a:xfrm>
          <a:prstGeom prst="rect">
            <a:avLst/>
          </a:prstGeom>
          <a:solidFill>
            <a:srgbClr val="5AA8D8"/>
          </a:solidFill>
          <a:ln w="12700">
            <a:solidFill>
              <a:srgbClr val="5AA8D8"/>
            </a:solidFill>
            <a:prstDash val="solid"/>
          </a:ln>
        </p:spPr>
        <p:txBody>
          <a:bodyPr/>
          <a:lstStyle/>
          <a:p>
            <a:endParaRPr lang="en-US"/>
          </a:p>
        </p:txBody>
      </p:sp>
      <p:sp>
        <p:nvSpPr>
          <p:cNvPr id="13" name="Text 11"/>
          <p:cNvSpPr/>
          <p:nvPr/>
        </p:nvSpPr>
        <p:spPr>
          <a:xfrm>
            <a:off x="4709160" y="1005840"/>
            <a:ext cx="3977640" cy="292608"/>
          </a:xfrm>
          <a:prstGeom prst="rect">
            <a:avLst/>
          </a:prstGeom>
          <a:noFill/>
          <a:ln/>
        </p:spPr>
        <p:txBody>
          <a:bodyPr wrap="square" lIns="0" tIns="0" rIns="0" bIns="0" rtlCol="0" anchor="ctr"/>
          <a:lstStyle/>
          <a:p>
            <a:pPr marL="0" indent="0">
              <a:buNone/>
            </a:pPr>
            <a:r>
              <a:rPr lang="en-US" sz="1200" b="1" dirty="0">
                <a:solidFill>
                  <a:srgbClr val="5AA8D8"/>
                </a:solidFill>
                <a:latin typeface="Arial" pitchFamily="34" charset="0"/>
                <a:ea typeface="Arial" pitchFamily="34" charset="-122"/>
                <a:cs typeface="Arial" pitchFamily="34" charset="-120"/>
              </a:rPr>
              <a:t>Definición</a:t>
            </a:r>
            <a:endParaRPr lang="en-US" sz="1200" dirty="0"/>
          </a:p>
        </p:txBody>
      </p:sp>
      <p:sp>
        <p:nvSpPr>
          <p:cNvPr id="14" name="Text 12"/>
          <p:cNvSpPr/>
          <p:nvPr/>
        </p:nvSpPr>
        <p:spPr>
          <a:xfrm>
            <a:off x="4709160" y="1316736"/>
            <a:ext cx="3977640" cy="1188720"/>
          </a:xfrm>
          <a:prstGeom prst="rect">
            <a:avLst/>
          </a:prstGeom>
          <a:noFill/>
          <a:ln/>
        </p:spPr>
        <p:txBody>
          <a:bodyPr wrap="square" lIns="0" tIns="0" rIns="0" bIns="0" rtlCol="0" anchor="t"/>
          <a:lstStyle/>
          <a:p>
            <a:pPr marL="0" indent="0">
              <a:buNone/>
            </a:pPr>
            <a:r>
              <a:rPr lang="en-US" sz="1200" dirty="0">
                <a:solidFill>
                  <a:srgbClr val="404040"/>
                </a:solidFill>
                <a:latin typeface="Arial" pitchFamily="34" charset="0"/>
                <a:ea typeface="Arial" pitchFamily="34" charset="-122"/>
                <a:cs typeface="Arial" pitchFamily="34" charset="-120"/>
              </a:rPr>
              <a:t>Una computadora Stand Alone (puesto aislado) trabaja de forma completamente independiente. Solo puede usar los recursos físicamente conectados a ella.</a:t>
            </a:r>
            <a:endParaRPr lang="en-US" sz="1200" dirty="0"/>
          </a:p>
        </p:txBody>
      </p:sp>
      <p:sp>
        <p:nvSpPr>
          <p:cNvPr id="15" name="Shape 13"/>
          <p:cNvSpPr/>
          <p:nvPr/>
        </p:nvSpPr>
        <p:spPr>
          <a:xfrm>
            <a:off x="4572000" y="2788920"/>
            <a:ext cx="4206240" cy="1783080"/>
          </a:xfrm>
          <a:prstGeom prst="rect">
            <a:avLst/>
          </a:prstGeom>
          <a:solidFill>
            <a:srgbClr val="FFF9E6"/>
          </a:solidFill>
          <a:ln w="19050">
            <a:solidFill>
              <a:srgbClr val="F0C040"/>
            </a:solidFill>
            <a:prstDash val="solid"/>
          </a:ln>
        </p:spPr>
        <p:txBody>
          <a:bodyPr/>
          <a:lstStyle/>
          <a:p>
            <a:endParaRPr lang="en-US"/>
          </a:p>
        </p:txBody>
      </p:sp>
      <p:sp>
        <p:nvSpPr>
          <p:cNvPr id="16" name="Shape 14"/>
          <p:cNvSpPr/>
          <p:nvPr/>
        </p:nvSpPr>
        <p:spPr>
          <a:xfrm>
            <a:off x="4572000" y="2788920"/>
            <a:ext cx="64008" cy="1783080"/>
          </a:xfrm>
          <a:prstGeom prst="rect">
            <a:avLst/>
          </a:prstGeom>
          <a:solidFill>
            <a:srgbClr val="F0A000"/>
          </a:solidFill>
          <a:ln w="12700">
            <a:solidFill>
              <a:srgbClr val="F0A000"/>
            </a:solidFill>
            <a:prstDash val="solid"/>
          </a:ln>
        </p:spPr>
        <p:txBody>
          <a:bodyPr/>
          <a:lstStyle/>
          <a:p>
            <a:endParaRPr lang="en-US"/>
          </a:p>
        </p:txBody>
      </p:sp>
      <p:sp>
        <p:nvSpPr>
          <p:cNvPr id="17" name="Text 15"/>
          <p:cNvSpPr/>
          <p:nvPr/>
        </p:nvSpPr>
        <p:spPr>
          <a:xfrm>
            <a:off x="4709160" y="2834640"/>
            <a:ext cx="3977640" cy="292608"/>
          </a:xfrm>
          <a:prstGeom prst="rect">
            <a:avLst/>
          </a:prstGeom>
          <a:noFill/>
          <a:ln/>
        </p:spPr>
        <p:txBody>
          <a:bodyPr wrap="square" lIns="0" tIns="0" rIns="0" bIns="0" rtlCol="0" anchor="ctr"/>
          <a:lstStyle/>
          <a:p>
            <a:pPr marL="0" indent="0">
              <a:buNone/>
            </a:pPr>
            <a:r>
              <a:rPr lang="en-US" sz="1200" b="1" dirty="0">
                <a:solidFill>
                  <a:srgbClr val="B07000"/>
                </a:solidFill>
                <a:latin typeface="Arial" pitchFamily="34" charset="0"/>
                <a:ea typeface="Arial" pitchFamily="34" charset="-122"/>
                <a:cs typeface="Arial" pitchFamily="34" charset="-120"/>
              </a:rPr>
              <a:t>🏝️ Analogía</a:t>
            </a:r>
            <a:endParaRPr lang="en-US" sz="1200" dirty="0"/>
          </a:p>
        </p:txBody>
      </p:sp>
      <p:sp>
        <p:nvSpPr>
          <p:cNvPr id="18" name="Text 16"/>
          <p:cNvSpPr/>
          <p:nvPr/>
        </p:nvSpPr>
        <p:spPr>
          <a:xfrm>
            <a:off x="4709160" y="3145536"/>
            <a:ext cx="3977640" cy="1325880"/>
          </a:xfrm>
          <a:prstGeom prst="rect">
            <a:avLst/>
          </a:prstGeom>
          <a:noFill/>
          <a:ln/>
        </p:spPr>
        <p:txBody>
          <a:bodyPr wrap="square" lIns="0" tIns="0" rIns="0" bIns="0" rtlCol="0" anchor="t"/>
          <a:lstStyle/>
          <a:p>
            <a:pPr marL="0" indent="0">
              <a:buNone/>
            </a:pPr>
            <a:r>
              <a:rPr lang="en-US" sz="1200" dirty="0">
                <a:solidFill>
                  <a:srgbClr val="404040"/>
                </a:solidFill>
                <a:latin typeface="Arial" pitchFamily="34" charset="0"/>
                <a:ea typeface="Arial" pitchFamily="34" charset="-122"/>
                <a:cs typeface="Arial" pitchFamily="34" charset="-120"/>
              </a:rPr>
              <a:t>Como una isla sin puentes: podés tener todo lo necesario, pero intercambiar algo requiere usar un 'bote' (el pendrive). Lento, incómodo y poco confiable.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Definición de RED</a:t>
            </a:r>
            <a:endParaRPr lang="en-US" sz="2600" dirty="0"/>
          </a:p>
        </p:txBody>
      </p:sp>
      <p:sp>
        <p:nvSpPr>
          <p:cNvPr id="4" name="Shape 2"/>
          <p:cNvSpPr/>
          <p:nvPr/>
        </p:nvSpPr>
        <p:spPr>
          <a:xfrm>
            <a:off x="457200" y="868680"/>
            <a:ext cx="8229600" cy="1417320"/>
          </a:xfrm>
          <a:prstGeom prst="rect">
            <a:avLst/>
          </a:prstGeom>
          <a:solidFill>
            <a:srgbClr val="5AA8D8"/>
          </a:solidFill>
          <a:ln w="12700">
            <a:solidFill>
              <a:srgbClr val="B9DEF8"/>
            </a:solidFill>
            <a:prstDash val="solid"/>
          </a:ln>
        </p:spPr>
        <p:txBody>
          <a:bodyPr/>
          <a:lstStyle/>
          <a:p>
            <a:endParaRPr lang="en-US"/>
          </a:p>
        </p:txBody>
      </p:sp>
      <p:sp>
        <p:nvSpPr>
          <p:cNvPr id="5" name="Text 3"/>
          <p:cNvSpPr/>
          <p:nvPr/>
        </p:nvSpPr>
        <p:spPr>
          <a:xfrm>
            <a:off x="548640" y="868680"/>
            <a:ext cx="8046720" cy="1417320"/>
          </a:xfrm>
          <a:prstGeom prst="rect">
            <a:avLst/>
          </a:prstGeom>
          <a:noFill/>
          <a:ln/>
        </p:spPr>
        <p:txBody>
          <a:bodyPr wrap="square" lIns="101600" tIns="101600" rIns="101600" bIns="10160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Una RED es un grupo de dispositivos interconectados entre sí,</a:t>
            </a:r>
            <a:endParaRPr lang="en-US" sz="2000" dirty="0"/>
          </a:p>
          <a:p>
            <a:pPr marL="0" indent="0" algn="ctr">
              <a:buNone/>
            </a:pPr>
            <a:r>
              <a:rPr lang="en-US" sz="2000" b="1" dirty="0">
                <a:solidFill>
                  <a:srgbClr val="FFFFFF"/>
                </a:solidFill>
                <a:latin typeface="Arial" pitchFamily="34" charset="0"/>
                <a:ea typeface="Arial" pitchFamily="34" charset="-122"/>
                <a:cs typeface="Arial" pitchFamily="34" charset="-120"/>
              </a:rPr>
              <a:t>capaces de compartir recursos de hardware e información.</a:t>
            </a:r>
            <a:endParaRPr lang="en-US" sz="2000" dirty="0"/>
          </a:p>
        </p:txBody>
      </p:sp>
      <p:sp>
        <p:nvSpPr>
          <p:cNvPr id="6" name="Shape 4"/>
          <p:cNvSpPr/>
          <p:nvPr/>
        </p:nvSpPr>
        <p:spPr>
          <a:xfrm>
            <a:off x="457200" y="2468880"/>
            <a:ext cx="2468880" cy="1828800"/>
          </a:xfrm>
          <a:prstGeom prst="rect">
            <a:avLst/>
          </a:prstGeom>
          <a:solidFill>
            <a:srgbClr val="3D4545"/>
          </a:solidFill>
          <a:ln w="12700">
            <a:solidFill>
              <a:srgbClr val="B9DEF8"/>
            </a:solidFill>
            <a:prstDash val="solid"/>
          </a:ln>
        </p:spPr>
        <p:txBody>
          <a:bodyPr/>
          <a:lstStyle/>
          <a:p>
            <a:endParaRPr lang="en-US"/>
          </a:p>
        </p:txBody>
      </p:sp>
      <p:sp>
        <p:nvSpPr>
          <p:cNvPr id="7" name="Text 5"/>
          <p:cNvSpPr/>
          <p:nvPr/>
        </p:nvSpPr>
        <p:spPr>
          <a:xfrm>
            <a:off x="457200" y="2633472"/>
            <a:ext cx="2468880"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8" name="Text 6"/>
          <p:cNvSpPr/>
          <p:nvPr/>
        </p:nvSpPr>
        <p:spPr>
          <a:xfrm>
            <a:off x="548640" y="3163824"/>
            <a:ext cx="2286000" cy="347472"/>
          </a:xfrm>
          <a:prstGeom prst="rect">
            <a:avLst/>
          </a:prstGeom>
          <a:noFill/>
          <a:ln/>
        </p:spPr>
        <p:txBody>
          <a:bodyPr wrap="square" lIns="0" tIns="0" rIns="0" bIns="0" rtlCol="0" anchor="ctr"/>
          <a:lstStyle/>
          <a:p>
            <a:pPr marL="0" indent="0" algn="ctr">
              <a:buNone/>
            </a:pPr>
            <a:r>
              <a:rPr lang="en-US" sz="1400" b="1" dirty="0">
                <a:solidFill>
                  <a:srgbClr val="5AA8D8"/>
                </a:solidFill>
                <a:latin typeface="Arial" pitchFamily="34" charset="0"/>
                <a:ea typeface="Arial" pitchFamily="34" charset="-122"/>
                <a:cs typeface="Arial" pitchFamily="34" charset="-120"/>
              </a:rPr>
              <a:t>Reducir Costos</a:t>
            </a:r>
            <a:endParaRPr lang="en-US" sz="1400" dirty="0"/>
          </a:p>
        </p:txBody>
      </p:sp>
      <p:sp>
        <p:nvSpPr>
          <p:cNvPr id="9" name="Text 7"/>
          <p:cNvSpPr/>
          <p:nvPr/>
        </p:nvSpPr>
        <p:spPr>
          <a:xfrm>
            <a:off x="548640" y="3511296"/>
            <a:ext cx="2286000" cy="685800"/>
          </a:xfrm>
          <a:prstGeom prst="rect">
            <a:avLst/>
          </a:prstGeom>
          <a:noFill/>
          <a:ln/>
        </p:spPr>
        <p:txBody>
          <a:bodyPr wrap="square" lIns="0" tIns="0" rIns="0" bIns="0" rtlCol="0" anchor="ctr"/>
          <a:lstStyle/>
          <a:p>
            <a:pPr marL="0" indent="0" algn="ctr">
              <a:buNone/>
            </a:pPr>
            <a:r>
              <a:rPr lang="en-US" sz="1100" dirty="0">
                <a:solidFill>
                  <a:srgbClr val="B9DEF8"/>
                </a:solidFill>
                <a:latin typeface="Arial" pitchFamily="34" charset="0"/>
                <a:ea typeface="Arial" pitchFamily="34" charset="-122"/>
                <a:cs typeface="Arial" pitchFamily="34" charset="-120"/>
              </a:rPr>
              <a:t>Hardware compartido entre múltiples usuarios. Una impresora para toda la oficina.</a:t>
            </a:r>
            <a:endParaRPr lang="en-US" sz="1100" dirty="0"/>
          </a:p>
        </p:txBody>
      </p:sp>
      <p:sp>
        <p:nvSpPr>
          <p:cNvPr id="10" name="Shape 8"/>
          <p:cNvSpPr/>
          <p:nvPr/>
        </p:nvSpPr>
        <p:spPr>
          <a:xfrm>
            <a:off x="3337560" y="2468880"/>
            <a:ext cx="2468880" cy="1828800"/>
          </a:xfrm>
          <a:prstGeom prst="rect">
            <a:avLst/>
          </a:prstGeom>
          <a:solidFill>
            <a:srgbClr val="3D4545"/>
          </a:solidFill>
          <a:ln w="12700">
            <a:solidFill>
              <a:srgbClr val="B9DEF8"/>
            </a:solidFill>
            <a:prstDash val="solid"/>
          </a:ln>
        </p:spPr>
        <p:txBody>
          <a:bodyPr/>
          <a:lstStyle/>
          <a:p>
            <a:endParaRPr lang="en-US"/>
          </a:p>
        </p:txBody>
      </p:sp>
      <p:sp>
        <p:nvSpPr>
          <p:cNvPr id="11" name="Text 9"/>
          <p:cNvSpPr/>
          <p:nvPr/>
        </p:nvSpPr>
        <p:spPr>
          <a:xfrm>
            <a:off x="3337560" y="2633472"/>
            <a:ext cx="2468880"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2" name="Text 10"/>
          <p:cNvSpPr/>
          <p:nvPr/>
        </p:nvSpPr>
        <p:spPr>
          <a:xfrm>
            <a:off x="3429000" y="3163824"/>
            <a:ext cx="2286000" cy="347472"/>
          </a:xfrm>
          <a:prstGeom prst="rect">
            <a:avLst/>
          </a:prstGeom>
          <a:noFill/>
          <a:ln/>
        </p:spPr>
        <p:txBody>
          <a:bodyPr wrap="square" lIns="0" tIns="0" rIns="0" bIns="0" rtlCol="0" anchor="ctr"/>
          <a:lstStyle/>
          <a:p>
            <a:pPr marL="0" indent="0" algn="ctr">
              <a:buNone/>
            </a:pPr>
            <a:r>
              <a:rPr lang="en-US" sz="1400" b="1" dirty="0">
                <a:solidFill>
                  <a:srgbClr val="5AA8D8"/>
                </a:solidFill>
                <a:latin typeface="Arial" pitchFamily="34" charset="0"/>
                <a:ea typeface="Arial" pitchFamily="34" charset="-122"/>
                <a:cs typeface="Arial" pitchFamily="34" charset="-120"/>
              </a:rPr>
              <a:t>Compartir Información</a:t>
            </a:r>
            <a:endParaRPr lang="en-US" sz="1400" dirty="0"/>
          </a:p>
        </p:txBody>
      </p:sp>
      <p:sp>
        <p:nvSpPr>
          <p:cNvPr id="13" name="Text 11"/>
          <p:cNvSpPr/>
          <p:nvPr/>
        </p:nvSpPr>
        <p:spPr>
          <a:xfrm>
            <a:off x="3429000" y="3511296"/>
            <a:ext cx="2286000" cy="685800"/>
          </a:xfrm>
          <a:prstGeom prst="rect">
            <a:avLst/>
          </a:prstGeom>
          <a:noFill/>
          <a:ln/>
        </p:spPr>
        <p:txBody>
          <a:bodyPr wrap="square" lIns="0" tIns="0" rIns="0" bIns="0" rtlCol="0" anchor="ctr"/>
          <a:lstStyle/>
          <a:p>
            <a:pPr marL="0" indent="0" algn="ctr">
              <a:buNone/>
            </a:pPr>
            <a:r>
              <a:rPr lang="en-US" sz="1100" dirty="0">
                <a:solidFill>
                  <a:srgbClr val="B9DEF8"/>
                </a:solidFill>
                <a:latin typeface="Arial" pitchFamily="34" charset="0"/>
                <a:ea typeface="Arial" pitchFamily="34" charset="-122"/>
                <a:cs typeface="Arial" pitchFamily="34" charset="-120"/>
              </a:rPr>
              <a:t>Archivos, bases de datos, documentos en tiempo real. Trabajo colaborativo.</a:t>
            </a:r>
            <a:endParaRPr lang="en-US" sz="1100" dirty="0"/>
          </a:p>
        </p:txBody>
      </p:sp>
      <p:sp>
        <p:nvSpPr>
          <p:cNvPr id="14" name="Shape 12"/>
          <p:cNvSpPr/>
          <p:nvPr/>
        </p:nvSpPr>
        <p:spPr>
          <a:xfrm>
            <a:off x="6217920" y="2468880"/>
            <a:ext cx="2468880" cy="1828800"/>
          </a:xfrm>
          <a:prstGeom prst="rect">
            <a:avLst/>
          </a:prstGeom>
          <a:solidFill>
            <a:srgbClr val="3D4545"/>
          </a:solidFill>
          <a:ln w="12700">
            <a:solidFill>
              <a:srgbClr val="B9DEF8"/>
            </a:solidFill>
            <a:prstDash val="solid"/>
          </a:ln>
        </p:spPr>
        <p:txBody>
          <a:bodyPr/>
          <a:lstStyle/>
          <a:p>
            <a:endParaRPr lang="en-US"/>
          </a:p>
        </p:txBody>
      </p:sp>
      <p:sp>
        <p:nvSpPr>
          <p:cNvPr id="15" name="Text 13"/>
          <p:cNvSpPr/>
          <p:nvPr/>
        </p:nvSpPr>
        <p:spPr>
          <a:xfrm>
            <a:off x="6217920" y="2633472"/>
            <a:ext cx="2468880"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6" name="Text 14"/>
          <p:cNvSpPr/>
          <p:nvPr/>
        </p:nvSpPr>
        <p:spPr>
          <a:xfrm>
            <a:off x="6309360" y="3163824"/>
            <a:ext cx="2286000" cy="347472"/>
          </a:xfrm>
          <a:prstGeom prst="rect">
            <a:avLst/>
          </a:prstGeom>
          <a:noFill/>
          <a:ln/>
        </p:spPr>
        <p:txBody>
          <a:bodyPr wrap="square" lIns="0" tIns="0" rIns="0" bIns="0" rtlCol="0" anchor="ctr"/>
          <a:lstStyle/>
          <a:p>
            <a:pPr marL="0" indent="0" algn="ctr">
              <a:buNone/>
            </a:pPr>
            <a:r>
              <a:rPr lang="en-US" sz="1400" b="1" dirty="0">
                <a:solidFill>
                  <a:srgbClr val="5AA8D8"/>
                </a:solidFill>
                <a:latin typeface="Arial" pitchFamily="34" charset="0"/>
                <a:ea typeface="Arial" pitchFamily="34" charset="-122"/>
                <a:cs typeface="Arial" pitchFamily="34" charset="-120"/>
              </a:rPr>
              <a:t>Conectividad Total</a:t>
            </a:r>
            <a:endParaRPr lang="en-US" sz="1400" dirty="0"/>
          </a:p>
        </p:txBody>
      </p:sp>
      <p:sp>
        <p:nvSpPr>
          <p:cNvPr id="17" name="Text 15"/>
          <p:cNvSpPr/>
          <p:nvPr/>
        </p:nvSpPr>
        <p:spPr>
          <a:xfrm>
            <a:off x="6309360" y="3511296"/>
            <a:ext cx="2286000" cy="685800"/>
          </a:xfrm>
          <a:prstGeom prst="rect">
            <a:avLst/>
          </a:prstGeom>
          <a:noFill/>
          <a:ln/>
        </p:spPr>
        <p:txBody>
          <a:bodyPr wrap="square" lIns="0" tIns="0" rIns="0" bIns="0" rtlCol="0" anchor="ctr"/>
          <a:lstStyle/>
          <a:p>
            <a:pPr marL="0" indent="0" algn="ctr">
              <a:buNone/>
            </a:pPr>
            <a:r>
              <a:rPr lang="en-US" sz="1100" dirty="0">
                <a:solidFill>
                  <a:srgbClr val="B9DEF8"/>
                </a:solidFill>
                <a:latin typeface="Arial" pitchFamily="34" charset="0"/>
                <a:ea typeface="Arial" pitchFamily="34" charset="-122"/>
                <a:cs typeface="Arial" pitchFamily="34" charset="-120"/>
              </a:rPr>
              <a:t>Internet, videoconferencias, correo, cloud. El mundo interconectado.</a:t>
            </a:r>
            <a:endParaRPr lang="en-US" sz="1100" dirty="0"/>
          </a:p>
        </p:txBody>
      </p:sp>
      <p:sp>
        <p:nvSpPr>
          <p:cNvPr id="18" name="Shape 16"/>
          <p:cNvSpPr/>
          <p:nvPr/>
        </p:nvSpPr>
        <p:spPr>
          <a:xfrm>
            <a:off x="0" y="4892040"/>
            <a:ext cx="9144000" cy="251460"/>
          </a:xfrm>
          <a:prstGeom prst="rect">
            <a:avLst/>
          </a:prstGeom>
          <a:solidFill>
            <a:srgbClr val="1A1E1E"/>
          </a:solidFill>
          <a:ln w="12700">
            <a:solidFill>
              <a:srgbClr val="1A1E1E"/>
            </a:solidFill>
            <a:prstDash val="solid"/>
          </a:ln>
        </p:spPr>
        <p:txBody>
          <a:bodyPr/>
          <a:lstStyle/>
          <a:p>
            <a:endParaRPr lang="en-US"/>
          </a:p>
        </p:txBody>
      </p:sp>
      <p:sp>
        <p:nvSpPr>
          <p:cNvPr id="19" name="Text 17"/>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808080"/>
                </a:solidFill>
                <a:latin typeface="Arial" pitchFamily="34" charset="0"/>
                <a:ea typeface="Arial" pitchFamily="34" charset="-122"/>
                <a:cs typeface="Arial" pitchFamily="34" charset="-120"/>
              </a:rPr>
              <a:t>IES – Redes y Comunicaciones | SP1/H1 |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109728"/>
            <a:ext cx="9144000" cy="713232"/>
          </a:xfrm>
          <a:prstGeom prst="rect">
            <a:avLst/>
          </a:prstGeom>
          <a:solidFill>
            <a:srgbClr val="FFFFFF"/>
          </a:solidFill>
          <a:ln w="12700">
            <a:solidFill>
              <a:srgbClr val="FFFFFF"/>
            </a:solidFill>
            <a:prstDash val="solid"/>
          </a:ln>
        </p:spPr>
        <p:txBody>
          <a:bodyPr/>
          <a:lstStyle/>
          <a:p>
            <a:endParaRPr lang="en-US"/>
          </a:p>
        </p:txBody>
      </p:sp>
      <p:sp>
        <p:nvSpPr>
          <p:cNvPr id="4" name="Text 2"/>
          <p:cNvSpPr/>
          <p:nvPr/>
        </p:nvSpPr>
        <p:spPr>
          <a:xfrm>
            <a:off x="320040" y="109728"/>
            <a:ext cx="8503920" cy="713232"/>
          </a:xfrm>
          <a:prstGeom prst="rect">
            <a:avLst/>
          </a:prstGeom>
          <a:noFill/>
          <a:ln/>
        </p:spPr>
        <p:txBody>
          <a:bodyPr wrap="square" lIns="0" tIns="0" rIns="0" bIns="0" rtlCol="0" anchor="ctr"/>
          <a:lstStyle/>
          <a:p>
            <a:pPr marL="0" indent="0">
              <a:buNone/>
            </a:pPr>
            <a:r>
              <a:rPr lang="en-US" sz="2200" b="1" dirty="0">
                <a:solidFill>
                  <a:srgbClr val="2D3030"/>
                </a:solidFill>
                <a:latin typeface="Arial" pitchFamily="34" charset="0"/>
                <a:ea typeface="Arial" pitchFamily="34" charset="-122"/>
                <a:cs typeface="Arial" pitchFamily="34" charset="-120"/>
              </a:rPr>
              <a:t>¿Qué es un HOST? — Tipos de Conexión</a:t>
            </a:r>
            <a:endParaRPr lang="en-US" sz="2200" dirty="0"/>
          </a:p>
        </p:txBody>
      </p:sp>
      <p:sp>
        <p:nvSpPr>
          <p:cNvPr id="5" name="Shape 3"/>
          <p:cNvSpPr/>
          <p:nvPr/>
        </p:nvSpPr>
        <p:spPr>
          <a:xfrm>
            <a:off x="0" y="4892040"/>
            <a:ext cx="9144000" cy="251460"/>
          </a:xfrm>
          <a:prstGeom prst="rect">
            <a:avLst/>
          </a:prstGeom>
          <a:solidFill>
            <a:srgbClr val="2D3030"/>
          </a:solidFill>
          <a:ln w="12700">
            <a:solidFill>
              <a:srgbClr val="2D3030"/>
            </a:solidFill>
            <a:prstDash val="solid"/>
          </a:ln>
        </p:spPr>
        <p:txBody>
          <a:bodyPr/>
          <a:lstStyle/>
          <a:p>
            <a:endParaRPr lang="en-US"/>
          </a:p>
        </p:txBody>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808080"/>
                </a:solidFill>
                <a:latin typeface="Arial" pitchFamily="34" charset="0"/>
                <a:ea typeface="Arial" pitchFamily="34" charset="-122"/>
                <a:cs typeface="Arial" pitchFamily="34" charset="-120"/>
              </a:rPr>
              <a:t>IES – Redes y Comunicaciones | SP1/H1 | 2026</a:t>
            </a:r>
            <a:endParaRPr lang="en-US" sz="900" dirty="0"/>
          </a:p>
        </p:txBody>
      </p:sp>
      <p:sp>
        <p:nvSpPr>
          <p:cNvPr id="7" name="Shape 5"/>
          <p:cNvSpPr/>
          <p:nvPr/>
        </p:nvSpPr>
        <p:spPr>
          <a:xfrm>
            <a:off x="365760" y="960120"/>
            <a:ext cx="4114800" cy="3611880"/>
          </a:xfrm>
          <a:prstGeom prst="rect">
            <a:avLst/>
          </a:prstGeom>
          <a:solidFill>
            <a:srgbClr val="FFFFFF"/>
          </a:solidFill>
          <a:ln w="19050">
            <a:solidFill>
              <a:srgbClr val="5AA8D8"/>
            </a:solidFill>
            <a:prstDash val="solid"/>
          </a:ln>
        </p:spPr>
        <p:txBody>
          <a:bodyPr/>
          <a:lstStyle/>
          <a:p>
            <a:endParaRPr lang="en-US"/>
          </a:p>
        </p:txBody>
      </p:sp>
      <p:sp>
        <p:nvSpPr>
          <p:cNvPr id="8" name="Shape 6"/>
          <p:cNvSpPr/>
          <p:nvPr/>
        </p:nvSpPr>
        <p:spPr>
          <a:xfrm>
            <a:off x="365760" y="960120"/>
            <a:ext cx="4114800" cy="402336"/>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365760" y="960120"/>
            <a:ext cx="4114800"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¿QUÉ ES UN HOST?</a:t>
            </a:r>
            <a:endParaRPr lang="en-US" sz="1500" dirty="0"/>
          </a:p>
        </p:txBody>
      </p:sp>
      <p:sp>
        <p:nvSpPr>
          <p:cNvPr id="10" name="Text 8"/>
          <p:cNvSpPr/>
          <p:nvPr/>
        </p:nvSpPr>
        <p:spPr>
          <a:xfrm>
            <a:off x="502920" y="1444752"/>
            <a:ext cx="3840480" cy="411480"/>
          </a:xfrm>
          <a:prstGeom prst="rect">
            <a:avLst/>
          </a:prstGeom>
          <a:noFill/>
          <a:ln/>
        </p:spPr>
        <p:txBody>
          <a:bodyPr wrap="square" lIns="0" tIns="0" rIns="0" bIns="0" rtlCol="0" anchor="ctr"/>
          <a:lstStyle/>
          <a:p>
            <a:pPr marL="0" indent="0">
              <a:buNone/>
            </a:pPr>
            <a:r>
              <a:rPr lang="en-US" sz="1200" b="1" dirty="0">
                <a:solidFill>
                  <a:srgbClr val="3A7BAA"/>
                </a:solidFill>
                <a:latin typeface="Arial" pitchFamily="34" charset="0"/>
                <a:ea typeface="Arial" pitchFamily="34" charset="-122"/>
                <a:cs typeface="Arial" pitchFamily="34" charset="-120"/>
              </a:rPr>
              <a:t>Cualquier dispositivo con dirección IP conectado a la red:</a:t>
            </a:r>
            <a:endParaRPr lang="en-US" sz="1200" dirty="0"/>
          </a:p>
        </p:txBody>
      </p:sp>
      <p:sp>
        <p:nvSpPr>
          <p:cNvPr id="11" name="Text 9"/>
          <p:cNvSpPr/>
          <p:nvPr/>
        </p:nvSpPr>
        <p:spPr>
          <a:xfrm>
            <a:off x="502920" y="1920240"/>
            <a:ext cx="3840480" cy="2468880"/>
          </a:xfrm>
          <a:prstGeom prst="rect">
            <a:avLst/>
          </a:prstGeom>
          <a:noFill/>
          <a:ln/>
        </p:spPr>
        <p:txBody>
          <a:bodyPr wrap="square" lIns="50800" tIns="50800" rIns="50800" bIns="50800" rtlCol="0" anchor="t"/>
          <a:lstStyle/>
          <a:p>
            <a:pPr marL="0" indent="0">
              <a:buNone/>
            </a:pPr>
            <a:r>
              <a:rPr lang="en-US" sz="1300" dirty="0">
                <a:solidFill>
                  <a:srgbClr val="404040"/>
                </a:solidFill>
                <a:latin typeface="Arial" pitchFamily="34" charset="0"/>
                <a:ea typeface="Arial" pitchFamily="34" charset="-122"/>
                <a:cs typeface="Arial" pitchFamily="34" charset="-120"/>
              </a:rPr>
              <a:t>💻  Computadoras y laptops</a:t>
            </a:r>
            <a:endParaRPr lang="en-US" sz="1300" dirty="0"/>
          </a:p>
          <a:p>
            <a:pPr marL="0" indent="0">
              <a:buNone/>
            </a:pPr>
            <a:r>
              <a:rPr lang="en-US" sz="1300" dirty="0">
                <a:solidFill>
                  <a:srgbClr val="404040"/>
                </a:solidFill>
                <a:latin typeface="Arial" pitchFamily="34" charset="0"/>
                <a:ea typeface="Arial" pitchFamily="34" charset="-122"/>
                <a:cs typeface="Arial" pitchFamily="34" charset="-120"/>
              </a:rPr>
              <a:t>📱  Smartphones y tablets</a:t>
            </a:r>
            <a:endParaRPr lang="en-US" sz="1300" dirty="0"/>
          </a:p>
          <a:p>
            <a:pPr marL="0" indent="0">
              <a:buNone/>
            </a:pPr>
            <a:r>
              <a:rPr lang="en-US" sz="1300" dirty="0">
                <a:solidFill>
                  <a:srgbClr val="404040"/>
                </a:solidFill>
                <a:latin typeface="Arial" pitchFamily="34" charset="0"/>
                <a:ea typeface="Arial" pitchFamily="34" charset="-122"/>
                <a:cs typeface="Arial" pitchFamily="34" charset="-120"/>
              </a:rPr>
              <a:t>🖥️  Servidores (físicos y en la nube)</a:t>
            </a:r>
            <a:endParaRPr lang="en-US" sz="1300" dirty="0"/>
          </a:p>
          <a:p>
            <a:pPr marL="0" indent="0">
              <a:buNone/>
            </a:pPr>
            <a:r>
              <a:rPr lang="en-US" sz="1300" dirty="0">
                <a:solidFill>
                  <a:srgbClr val="404040"/>
                </a:solidFill>
                <a:latin typeface="Arial" pitchFamily="34" charset="0"/>
                <a:ea typeface="Arial" pitchFamily="34" charset="-122"/>
                <a:cs typeface="Arial" pitchFamily="34" charset="-120"/>
              </a:rPr>
              <a:t>📺  Smart TVs y consolas</a:t>
            </a:r>
            <a:endParaRPr lang="en-US" sz="1300" dirty="0"/>
          </a:p>
          <a:p>
            <a:pPr marL="0" indent="0">
              <a:buNone/>
            </a:pPr>
            <a:r>
              <a:rPr lang="en-US" sz="1300" dirty="0">
                <a:solidFill>
                  <a:srgbClr val="404040"/>
                </a:solidFill>
                <a:latin typeface="Arial" pitchFamily="34" charset="0"/>
                <a:ea typeface="Arial" pitchFamily="34" charset="-122"/>
                <a:cs typeface="Arial" pitchFamily="34" charset="-120"/>
              </a:rPr>
              <a:t>🔌  Dispositivos IoT (sensores, cámaras)</a:t>
            </a:r>
            <a:endParaRPr lang="en-US" sz="1300" dirty="0"/>
          </a:p>
          <a:p>
            <a:pPr marL="0" indent="0">
              <a:buNone/>
            </a:pPr>
            <a:r>
              <a:rPr lang="en-US" sz="1300" dirty="0">
                <a:solidFill>
                  <a:srgbClr val="404040"/>
                </a:solidFill>
                <a:latin typeface="Arial" pitchFamily="34" charset="0"/>
                <a:ea typeface="Arial" pitchFamily="34" charset="-122"/>
                <a:cs typeface="Arial" pitchFamily="34" charset="-120"/>
              </a:rPr>
              <a:t>🤖  Electrodomésticos inteligentes</a:t>
            </a:r>
            <a:endParaRPr lang="en-US" sz="1300" dirty="0"/>
          </a:p>
        </p:txBody>
      </p:sp>
      <p:sp>
        <p:nvSpPr>
          <p:cNvPr id="12" name="Shape 10"/>
          <p:cNvSpPr/>
          <p:nvPr/>
        </p:nvSpPr>
        <p:spPr>
          <a:xfrm>
            <a:off x="4754880" y="960120"/>
            <a:ext cx="4023360" cy="1115568"/>
          </a:xfrm>
          <a:prstGeom prst="rect">
            <a:avLst/>
          </a:prstGeom>
          <a:solidFill>
            <a:srgbClr val="E8F4FC"/>
          </a:solidFill>
          <a:ln w="12700">
            <a:solidFill>
              <a:srgbClr val="B9DEF8"/>
            </a:solidFill>
            <a:prstDash val="solid"/>
          </a:ln>
        </p:spPr>
        <p:txBody>
          <a:bodyPr/>
          <a:lstStyle/>
          <a:p>
            <a:endParaRPr lang="en-US"/>
          </a:p>
        </p:txBody>
      </p:sp>
      <p:sp>
        <p:nvSpPr>
          <p:cNvPr id="13" name="Shape 11"/>
          <p:cNvSpPr/>
          <p:nvPr/>
        </p:nvSpPr>
        <p:spPr>
          <a:xfrm>
            <a:off x="4754880" y="960120"/>
            <a:ext cx="54864" cy="1115568"/>
          </a:xfrm>
          <a:prstGeom prst="rect">
            <a:avLst/>
          </a:prstGeom>
          <a:solidFill>
            <a:srgbClr val="5AA8D8"/>
          </a:solidFill>
          <a:ln w="12700">
            <a:solidFill>
              <a:srgbClr val="5AA8D8"/>
            </a:solidFill>
            <a:prstDash val="solid"/>
          </a:ln>
        </p:spPr>
        <p:txBody>
          <a:bodyPr/>
          <a:lstStyle/>
          <a:p>
            <a:endParaRPr lang="en-US"/>
          </a:p>
        </p:txBody>
      </p:sp>
      <p:sp>
        <p:nvSpPr>
          <p:cNvPr id="14" name="Text 12"/>
          <p:cNvSpPr/>
          <p:nvPr/>
        </p:nvSpPr>
        <p:spPr>
          <a:xfrm>
            <a:off x="4864608" y="1033272"/>
            <a:ext cx="3840480" cy="320040"/>
          </a:xfrm>
          <a:prstGeom prst="rect">
            <a:avLst/>
          </a:prstGeom>
          <a:noFill/>
          <a:ln/>
        </p:spPr>
        <p:txBody>
          <a:bodyPr wrap="square" lIns="0" tIns="0" rIns="0" bIns="0" rtlCol="0" anchor="ctr"/>
          <a:lstStyle/>
          <a:p>
            <a:pPr marL="0" indent="0">
              <a:buNone/>
            </a:pPr>
            <a:r>
              <a:rPr lang="en-US" sz="1300" b="1" dirty="0">
                <a:solidFill>
                  <a:srgbClr val="3A7BAA"/>
                </a:solidFill>
                <a:latin typeface="Arial" pitchFamily="34" charset="0"/>
                <a:ea typeface="Arial" pitchFamily="34" charset="-122"/>
                <a:cs typeface="Arial" pitchFamily="34" charset="-120"/>
              </a:rPr>
              <a:t>🔌  Cableado (Ethernet)</a:t>
            </a:r>
            <a:endParaRPr lang="en-US" sz="1300" dirty="0"/>
          </a:p>
        </p:txBody>
      </p:sp>
      <p:sp>
        <p:nvSpPr>
          <p:cNvPr id="15" name="Text 13"/>
          <p:cNvSpPr/>
          <p:nvPr/>
        </p:nvSpPr>
        <p:spPr>
          <a:xfrm>
            <a:off x="4864608" y="1362456"/>
            <a:ext cx="3840480" cy="621792"/>
          </a:xfrm>
          <a:prstGeom prst="rect">
            <a:avLst/>
          </a:prstGeom>
          <a:noFill/>
          <a:ln/>
        </p:spPr>
        <p:txBody>
          <a:bodyPr wrap="square" lIns="0" tIns="0" rIns="0" bIns="0" rtlCol="0" anchor="t"/>
          <a:lstStyle/>
          <a:p>
            <a:pPr marL="0" indent="0">
              <a:buNone/>
            </a:pPr>
            <a:r>
              <a:rPr lang="en-US" sz="1200" dirty="0">
                <a:solidFill>
                  <a:srgbClr val="404040"/>
                </a:solidFill>
                <a:latin typeface="Arial" pitchFamily="34" charset="0"/>
                <a:ea typeface="Arial" pitchFamily="34" charset="-122"/>
                <a:cs typeface="Arial" pitchFamily="34" charset="-120"/>
              </a:rPr>
              <a:t>Par trenzado Cat5e/Cat6/Cat8, fibra óptica. Alta velocidad y estabilidad.</a:t>
            </a:r>
            <a:endParaRPr lang="en-US" sz="1200" dirty="0"/>
          </a:p>
        </p:txBody>
      </p:sp>
      <p:sp>
        <p:nvSpPr>
          <p:cNvPr id="16" name="Shape 14"/>
          <p:cNvSpPr/>
          <p:nvPr/>
        </p:nvSpPr>
        <p:spPr>
          <a:xfrm>
            <a:off x="4754880" y="2167128"/>
            <a:ext cx="4023360" cy="1115568"/>
          </a:xfrm>
          <a:prstGeom prst="rect">
            <a:avLst/>
          </a:prstGeom>
          <a:solidFill>
            <a:srgbClr val="E8F4FC"/>
          </a:solidFill>
          <a:ln w="12700">
            <a:solidFill>
              <a:srgbClr val="B9DEF8"/>
            </a:solidFill>
            <a:prstDash val="solid"/>
          </a:ln>
        </p:spPr>
        <p:txBody>
          <a:bodyPr/>
          <a:lstStyle/>
          <a:p>
            <a:endParaRPr lang="en-US"/>
          </a:p>
        </p:txBody>
      </p:sp>
      <p:sp>
        <p:nvSpPr>
          <p:cNvPr id="17" name="Shape 15"/>
          <p:cNvSpPr/>
          <p:nvPr/>
        </p:nvSpPr>
        <p:spPr>
          <a:xfrm>
            <a:off x="4754880" y="2167128"/>
            <a:ext cx="54864" cy="1115568"/>
          </a:xfrm>
          <a:prstGeom prst="rect">
            <a:avLst/>
          </a:prstGeom>
          <a:solidFill>
            <a:srgbClr val="5AA8D8"/>
          </a:solidFill>
          <a:ln w="12700">
            <a:solidFill>
              <a:srgbClr val="5AA8D8"/>
            </a:solidFill>
            <a:prstDash val="solid"/>
          </a:ln>
        </p:spPr>
        <p:txBody>
          <a:bodyPr/>
          <a:lstStyle/>
          <a:p>
            <a:endParaRPr lang="en-US"/>
          </a:p>
        </p:txBody>
      </p:sp>
      <p:sp>
        <p:nvSpPr>
          <p:cNvPr id="18" name="Text 16"/>
          <p:cNvSpPr/>
          <p:nvPr/>
        </p:nvSpPr>
        <p:spPr>
          <a:xfrm>
            <a:off x="4864608" y="2240280"/>
            <a:ext cx="3840480" cy="320040"/>
          </a:xfrm>
          <a:prstGeom prst="rect">
            <a:avLst/>
          </a:prstGeom>
          <a:noFill/>
          <a:ln/>
        </p:spPr>
        <p:txBody>
          <a:bodyPr wrap="square" lIns="0" tIns="0" rIns="0" bIns="0" rtlCol="0" anchor="ctr"/>
          <a:lstStyle/>
          <a:p>
            <a:pPr marL="0" indent="0">
              <a:buNone/>
            </a:pPr>
            <a:r>
              <a:rPr lang="en-US" sz="1300" b="1" dirty="0">
                <a:solidFill>
                  <a:srgbClr val="3A7BAA"/>
                </a:solidFill>
                <a:latin typeface="Arial" pitchFamily="34" charset="0"/>
                <a:ea typeface="Arial" pitchFamily="34" charset="-122"/>
                <a:cs typeface="Arial" pitchFamily="34" charset="-120"/>
              </a:rPr>
              <a:t>📶  Inalámbrico</a:t>
            </a:r>
            <a:endParaRPr lang="en-US" sz="1300" dirty="0"/>
          </a:p>
        </p:txBody>
      </p:sp>
      <p:sp>
        <p:nvSpPr>
          <p:cNvPr id="19" name="Text 17"/>
          <p:cNvSpPr/>
          <p:nvPr/>
        </p:nvSpPr>
        <p:spPr>
          <a:xfrm>
            <a:off x="4864608" y="2569464"/>
            <a:ext cx="3840480" cy="621792"/>
          </a:xfrm>
          <a:prstGeom prst="rect">
            <a:avLst/>
          </a:prstGeom>
          <a:noFill/>
          <a:ln/>
        </p:spPr>
        <p:txBody>
          <a:bodyPr wrap="square" lIns="0" tIns="0" rIns="0" bIns="0" rtlCol="0" anchor="t"/>
          <a:lstStyle/>
          <a:p>
            <a:pPr marL="0" indent="0">
              <a:buNone/>
            </a:pPr>
            <a:r>
              <a:rPr lang="en-US" sz="1200" dirty="0">
                <a:solidFill>
                  <a:srgbClr val="404040"/>
                </a:solidFill>
                <a:latin typeface="Arial" pitchFamily="34" charset="0"/>
                <a:ea typeface="Arial" pitchFamily="34" charset="-122"/>
                <a:cs typeface="Arial" pitchFamily="34" charset="-120"/>
              </a:rPr>
              <a:t>Wi-Fi 6/6E, Bluetooth, 5G/LTE, NFC, Zigbee, LoRa (IoT).</a:t>
            </a:r>
            <a:endParaRPr lang="en-US" sz="1200" dirty="0"/>
          </a:p>
        </p:txBody>
      </p:sp>
      <p:sp>
        <p:nvSpPr>
          <p:cNvPr id="20" name="Shape 18"/>
          <p:cNvSpPr/>
          <p:nvPr/>
        </p:nvSpPr>
        <p:spPr>
          <a:xfrm>
            <a:off x="4754880" y="3374136"/>
            <a:ext cx="4023360" cy="1115568"/>
          </a:xfrm>
          <a:prstGeom prst="rect">
            <a:avLst/>
          </a:prstGeom>
          <a:solidFill>
            <a:srgbClr val="E8F4FC"/>
          </a:solidFill>
          <a:ln w="12700">
            <a:solidFill>
              <a:srgbClr val="B9DEF8"/>
            </a:solidFill>
            <a:prstDash val="solid"/>
          </a:ln>
        </p:spPr>
        <p:txBody>
          <a:bodyPr/>
          <a:lstStyle/>
          <a:p>
            <a:endParaRPr lang="en-US"/>
          </a:p>
        </p:txBody>
      </p:sp>
      <p:sp>
        <p:nvSpPr>
          <p:cNvPr id="21" name="Shape 19"/>
          <p:cNvSpPr/>
          <p:nvPr/>
        </p:nvSpPr>
        <p:spPr>
          <a:xfrm>
            <a:off x="4754880" y="3374136"/>
            <a:ext cx="54864" cy="1115568"/>
          </a:xfrm>
          <a:prstGeom prst="rect">
            <a:avLst/>
          </a:prstGeom>
          <a:solidFill>
            <a:srgbClr val="5AA8D8"/>
          </a:solidFill>
          <a:ln w="12700">
            <a:solidFill>
              <a:srgbClr val="5AA8D8"/>
            </a:solidFill>
            <a:prstDash val="solid"/>
          </a:ln>
        </p:spPr>
        <p:txBody>
          <a:bodyPr/>
          <a:lstStyle/>
          <a:p>
            <a:endParaRPr lang="en-US"/>
          </a:p>
        </p:txBody>
      </p:sp>
      <p:sp>
        <p:nvSpPr>
          <p:cNvPr id="22" name="Text 20"/>
          <p:cNvSpPr/>
          <p:nvPr/>
        </p:nvSpPr>
        <p:spPr>
          <a:xfrm>
            <a:off x="4864608" y="3447288"/>
            <a:ext cx="3840480" cy="320040"/>
          </a:xfrm>
          <a:prstGeom prst="rect">
            <a:avLst/>
          </a:prstGeom>
          <a:noFill/>
          <a:ln/>
        </p:spPr>
        <p:txBody>
          <a:bodyPr wrap="square" lIns="0" tIns="0" rIns="0" bIns="0" rtlCol="0" anchor="ctr"/>
          <a:lstStyle/>
          <a:p>
            <a:pPr marL="0" indent="0">
              <a:buNone/>
            </a:pPr>
            <a:r>
              <a:rPr lang="en-US" sz="1300" b="1" dirty="0">
                <a:solidFill>
                  <a:srgbClr val="3A7BAA"/>
                </a:solidFill>
                <a:latin typeface="Arial" pitchFamily="34" charset="0"/>
                <a:ea typeface="Arial" pitchFamily="34" charset="-122"/>
                <a:cs typeface="Arial" pitchFamily="34" charset="-120"/>
              </a:rPr>
              <a:t>☁️  Redes híbridas</a:t>
            </a:r>
            <a:endParaRPr lang="en-US" sz="1300" dirty="0"/>
          </a:p>
        </p:txBody>
      </p:sp>
      <p:sp>
        <p:nvSpPr>
          <p:cNvPr id="23" name="Text 21"/>
          <p:cNvSpPr/>
          <p:nvPr/>
        </p:nvSpPr>
        <p:spPr>
          <a:xfrm>
            <a:off x="4864608" y="3776472"/>
            <a:ext cx="3840480" cy="621792"/>
          </a:xfrm>
          <a:prstGeom prst="rect">
            <a:avLst/>
          </a:prstGeom>
          <a:noFill/>
          <a:ln/>
        </p:spPr>
        <p:txBody>
          <a:bodyPr wrap="square" lIns="0" tIns="0" rIns="0" bIns="0" rtlCol="0" anchor="t"/>
          <a:lstStyle/>
          <a:p>
            <a:pPr marL="0" indent="0">
              <a:buNone/>
            </a:pPr>
            <a:r>
              <a:rPr lang="en-US" sz="1200" dirty="0">
                <a:solidFill>
                  <a:srgbClr val="404040"/>
                </a:solidFill>
                <a:latin typeface="Arial" pitchFamily="34" charset="0"/>
                <a:ea typeface="Arial" pitchFamily="34" charset="-122"/>
                <a:cs typeface="Arial" pitchFamily="34" charset="-120"/>
              </a:rPr>
              <a:t>La mayoría de redes actuales combinan cable e inalámbrico + nube.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109728"/>
            <a:ext cx="9144000" cy="713232"/>
          </a:xfrm>
          <a:prstGeom prst="rect">
            <a:avLst/>
          </a:prstGeom>
          <a:solidFill>
            <a:srgbClr val="FFFFFF"/>
          </a:solidFill>
          <a:ln w="12700">
            <a:solidFill>
              <a:srgbClr val="FFFFFF"/>
            </a:solidFill>
            <a:prstDash val="solid"/>
          </a:ln>
        </p:spPr>
        <p:txBody>
          <a:bodyPr/>
          <a:lstStyle/>
          <a:p>
            <a:endParaRPr lang="en-US"/>
          </a:p>
        </p:txBody>
      </p:sp>
      <p:sp>
        <p:nvSpPr>
          <p:cNvPr id="4" name="Text 2"/>
          <p:cNvSpPr/>
          <p:nvPr/>
        </p:nvSpPr>
        <p:spPr>
          <a:xfrm>
            <a:off x="320040" y="109728"/>
            <a:ext cx="8503920" cy="713232"/>
          </a:xfrm>
          <a:prstGeom prst="rect">
            <a:avLst/>
          </a:prstGeom>
          <a:noFill/>
          <a:ln/>
        </p:spPr>
        <p:txBody>
          <a:bodyPr wrap="square" lIns="0" tIns="0" rIns="0" bIns="0" rtlCol="0" anchor="ctr"/>
          <a:lstStyle/>
          <a:p>
            <a:pPr marL="0" indent="0">
              <a:buNone/>
            </a:pPr>
            <a:r>
              <a:rPr lang="en-US" sz="2200" b="1" dirty="0">
                <a:solidFill>
                  <a:srgbClr val="2D3030"/>
                </a:solidFill>
                <a:latin typeface="Arial" pitchFamily="34" charset="0"/>
                <a:ea typeface="Arial" pitchFamily="34" charset="-122"/>
                <a:cs typeface="Arial" pitchFamily="34" charset="-120"/>
              </a:rPr>
              <a:t>Recursos que se Comparten en una Red</a:t>
            </a:r>
            <a:endParaRPr lang="en-US" sz="2200" dirty="0"/>
          </a:p>
        </p:txBody>
      </p:sp>
      <p:sp>
        <p:nvSpPr>
          <p:cNvPr id="5" name="Shape 3"/>
          <p:cNvSpPr/>
          <p:nvPr/>
        </p:nvSpPr>
        <p:spPr>
          <a:xfrm>
            <a:off x="0" y="4892040"/>
            <a:ext cx="9144000" cy="251460"/>
          </a:xfrm>
          <a:prstGeom prst="rect">
            <a:avLst/>
          </a:prstGeom>
          <a:solidFill>
            <a:srgbClr val="2D3030"/>
          </a:solidFill>
          <a:ln w="12700">
            <a:solidFill>
              <a:srgbClr val="2D3030"/>
            </a:solidFill>
            <a:prstDash val="solid"/>
          </a:ln>
        </p:spPr>
        <p:txBody>
          <a:bodyPr/>
          <a:lstStyle/>
          <a:p>
            <a:endParaRPr lang="en-US"/>
          </a:p>
        </p:txBody>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808080"/>
                </a:solidFill>
                <a:latin typeface="Arial" pitchFamily="34" charset="0"/>
                <a:ea typeface="Arial" pitchFamily="34" charset="-122"/>
                <a:cs typeface="Arial" pitchFamily="34" charset="-120"/>
              </a:rPr>
              <a:t>IES – Redes y Comunicaciones | SP1/H1 | 2026</a:t>
            </a:r>
            <a:endParaRPr lang="en-US" sz="900" dirty="0"/>
          </a:p>
        </p:txBody>
      </p:sp>
      <p:sp>
        <p:nvSpPr>
          <p:cNvPr id="7" name="Shape 5"/>
          <p:cNvSpPr/>
          <p:nvPr/>
        </p:nvSpPr>
        <p:spPr>
          <a:xfrm>
            <a:off x="347472" y="1005840"/>
            <a:ext cx="1965960" cy="2697480"/>
          </a:xfrm>
          <a:prstGeom prst="rect">
            <a:avLst/>
          </a:prstGeom>
          <a:solidFill>
            <a:srgbClr val="FFFFFF"/>
          </a:solidFill>
          <a:ln w="19050">
            <a:solidFill>
              <a:srgbClr val="B9DEF8"/>
            </a:solidFill>
            <a:prstDash val="solid"/>
          </a:ln>
          <a:effectLst>
            <a:outerShdw blurRad="76200" dist="25400" dir="8100000" algn="bl" rotWithShape="0">
              <a:srgbClr val="000000">
                <a:alpha val="10000"/>
              </a:srgbClr>
            </a:outerShdw>
          </a:effectLst>
        </p:spPr>
        <p:txBody>
          <a:bodyPr/>
          <a:lstStyle/>
          <a:p>
            <a:endParaRPr lang="en-US"/>
          </a:p>
        </p:txBody>
      </p:sp>
      <p:sp>
        <p:nvSpPr>
          <p:cNvPr id="8" name="Shape 6"/>
          <p:cNvSpPr/>
          <p:nvPr/>
        </p:nvSpPr>
        <p:spPr>
          <a:xfrm>
            <a:off x="347472" y="1005840"/>
            <a:ext cx="1965960" cy="502920"/>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347472" y="1033272"/>
            <a:ext cx="502920" cy="45720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0" name="Text 8"/>
          <p:cNvSpPr/>
          <p:nvPr/>
        </p:nvSpPr>
        <p:spPr>
          <a:xfrm>
            <a:off x="804672" y="1051560"/>
            <a:ext cx="1463040" cy="41148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Hardware</a:t>
            </a:r>
            <a:endParaRPr lang="en-US" sz="1300" dirty="0"/>
          </a:p>
        </p:txBody>
      </p:sp>
      <p:sp>
        <p:nvSpPr>
          <p:cNvPr id="11" name="Text 9"/>
          <p:cNvSpPr/>
          <p:nvPr/>
        </p:nvSpPr>
        <p:spPr>
          <a:xfrm>
            <a:off x="457200" y="1600200"/>
            <a:ext cx="1783080" cy="2011680"/>
          </a:xfrm>
          <a:prstGeom prst="rect">
            <a:avLst/>
          </a:prstGeom>
          <a:noFill/>
          <a:ln/>
        </p:spPr>
        <p:txBody>
          <a:bodyPr wrap="square" lIns="25400" tIns="25400" rIns="25400" bIns="25400" rtlCol="0" anchor="t"/>
          <a:lstStyle/>
          <a:p>
            <a:pPr marL="0" indent="0">
              <a:buNone/>
            </a:pPr>
            <a:r>
              <a:rPr lang="en-US" sz="1200" dirty="0">
                <a:solidFill>
                  <a:srgbClr val="404040"/>
                </a:solidFill>
                <a:latin typeface="Arial" pitchFamily="34" charset="0"/>
                <a:ea typeface="Arial" pitchFamily="34" charset="-122"/>
                <a:cs typeface="Arial" pitchFamily="34" charset="-120"/>
              </a:rPr>
              <a:t>• Impresoras y escáneres</a:t>
            </a:r>
            <a:endParaRPr lang="en-US" sz="1200" dirty="0"/>
          </a:p>
          <a:p>
            <a:pPr marL="0" indent="0">
              <a:buNone/>
            </a:pPr>
            <a:r>
              <a:rPr lang="en-US" sz="1200" dirty="0">
                <a:solidFill>
                  <a:srgbClr val="404040"/>
                </a:solidFill>
                <a:latin typeface="Arial" pitchFamily="34" charset="0"/>
                <a:ea typeface="Arial" pitchFamily="34" charset="-122"/>
                <a:cs typeface="Arial" pitchFamily="34" charset="-120"/>
              </a:rPr>
              <a:t>• Almacenamiento (NAS, nube)</a:t>
            </a:r>
            <a:endParaRPr lang="en-US" sz="1200" dirty="0"/>
          </a:p>
          <a:p>
            <a:pPr marL="0" indent="0">
              <a:buNone/>
            </a:pPr>
            <a:r>
              <a:rPr lang="en-US" sz="1200" dirty="0">
                <a:solidFill>
                  <a:srgbClr val="404040"/>
                </a:solidFill>
                <a:latin typeface="Arial" pitchFamily="34" charset="0"/>
                <a:ea typeface="Arial" pitchFamily="34" charset="-122"/>
                <a:cs typeface="Arial" pitchFamily="34" charset="-120"/>
              </a:rPr>
              <a:t>• CPU/RAM en servidores</a:t>
            </a:r>
            <a:endParaRPr lang="en-US" sz="1200" dirty="0"/>
          </a:p>
          <a:p>
            <a:pPr marL="0" indent="0">
              <a:buNone/>
            </a:pPr>
            <a:r>
              <a:rPr lang="en-US" sz="1200" dirty="0">
                <a:solidFill>
                  <a:srgbClr val="404040"/>
                </a:solidFill>
                <a:latin typeface="Arial" pitchFamily="34" charset="0"/>
                <a:ea typeface="Arial" pitchFamily="34" charset="-122"/>
                <a:cs typeface="Arial" pitchFamily="34" charset="-120"/>
              </a:rPr>
              <a:t>• Routers, switches, APs</a:t>
            </a:r>
            <a:endParaRPr lang="en-US" sz="1200" dirty="0"/>
          </a:p>
        </p:txBody>
      </p:sp>
      <p:sp>
        <p:nvSpPr>
          <p:cNvPr id="12" name="Shape 10"/>
          <p:cNvSpPr/>
          <p:nvPr/>
        </p:nvSpPr>
        <p:spPr>
          <a:xfrm>
            <a:off x="2478024" y="1005840"/>
            <a:ext cx="1965960" cy="2697480"/>
          </a:xfrm>
          <a:prstGeom prst="rect">
            <a:avLst/>
          </a:prstGeom>
          <a:solidFill>
            <a:srgbClr val="FFFFFF"/>
          </a:solidFill>
          <a:ln w="19050">
            <a:solidFill>
              <a:srgbClr val="B9DEF8"/>
            </a:solidFill>
            <a:prstDash val="solid"/>
          </a:ln>
          <a:effectLst>
            <a:outerShdw blurRad="76200" dist="25400" dir="8100000" algn="bl" rotWithShape="0">
              <a:srgbClr val="000000">
                <a:alpha val="10000"/>
              </a:srgbClr>
            </a:outerShdw>
          </a:effectLst>
        </p:spPr>
        <p:txBody>
          <a:bodyPr/>
          <a:lstStyle/>
          <a:p>
            <a:endParaRPr lang="en-US"/>
          </a:p>
        </p:txBody>
      </p:sp>
      <p:sp>
        <p:nvSpPr>
          <p:cNvPr id="13" name="Shape 11"/>
          <p:cNvSpPr/>
          <p:nvPr/>
        </p:nvSpPr>
        <p:spPr>
          <a:xfrm>
            <a:off x="2478024" y="1005840"/>
            <a:ext cx="1965960" cy="502920"/>
          </a:xfrm>
          <a:prstGeom prst="rect">
            <a:avLst/>
          </a:prstGeom>
          <a:solidFill>
            <a:srgbClr val="5AA8D8"/>
          </a:solidFill>
          <a:ln w="12700">
            <a:solidFill>
              <a:srgbClr val="5AA8D8"/>
            </a:solidFill>
            <a:prstDash val="solid"/>
          </a:ln>
        </p:spPr>
        <p:txBody>
          <a:bodyPr/>
          <a:lstStyle/>
          <a:p>
            <a:endParaRPr lang="en-US"/>
          </a:p>
        </p:txBody>
      </p:sp>
      <p:sp>
        <p:nvSpPr>
          <p:cNvPr id="14" name="Text 12"/>
          <p:cNvSpPr/>
          <p:nvPr/>
        </p:nvSpPr>
        <p:spPr>
          <a:xfrm>
            <a:off x="2478024" y="1033272"/>
            <a:ext cx="502920" cy="45720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5" name="Text 13"/>
          <p:cNvSpPr/>
          <p:nvPr/>
        </p:nvSpPr>
        <p:spPr>
          <a:xfrm>
            <a:off x="2935224" y="1051560"/>
            <a:ext cx="1463040" cy="41148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Información</a:t>
            </a:r>
            <a:endParaRPr lang="en-US" sz="1300" dirty="0"/>
          </a:p>
        </p:txBody>
      </p:sp>
      <p:sp>
        <p:nvSpPr>
          <p:cNvPr id="16" name="Text 14"/>
          <p:cNvSpPr/>
          <p:nvPr/>
        </p:nvSpPr>
        <p:spPr>
          <a:xfrm>
            <a:off x="2587752" y="1600200"/>
            <a:ext cx="1783080" cy="2011680"/>
          </a:xfrm>
          <a:prstGeom prst="rect">
            <a:avLst/>
          </a:prstGeom>
          <a:noFill/>
          <a:ln/>
        </p:spPr>
        <p:txBody>
          <a:bodyPr wrap="square" lIns="25400" tIns="25400" rIns="25400" bIns="25400" rtlCol="0" anchor="t"/>
          <a:lstStyle/>
          <a:p>
            <a:pPr marL="0" indent="0">
              <a:buNone/>
            </a:pPr>
            <a:r>
              <a:rPr lang="en-US" sz="1200" dirty="0">
                <a:solidFill>
                  <a:srgbClr val="404040"/>
                </a:solidFill>
                <a:latin typeface="Arial" pitchFamily="34" charset="0"/>
                <a:ea typeface="Arial" pitchFamily="34" charset="-122"/>
                <a:cs typeface="Arial" pitchFamily="34" charset="-120"/>
              </a:rPr>
              <a:t>• Carpetas y archivos</a:t>
            </a:r>
            <a:endParaRPr lang="en-US" sz="1200" dirty="0"/>
          </a:p>
          <a:p>
            <a:pPr marL="0" indent="0">
              <a:buNone/>
            </a:pPr>
            <a:r>
              <a:rPr lang="en-US" sz="1200" dirty="0">
                <a:solidFill>
                  <a:srgbClr val="404040"/>
                </a:solidFill>
                <a:latin typeface="Arial" pitchFamily="34" charset="0"/>
                <a:ea typeface="Arial" pitchFamily="34" charset="-122"/>
                <a:cs typeface="Arial" pitchFamily="34" charset="-120"/>
              </a:rPr>
              <a:t>• Bases de datos</a:t>
            </a:r>
            <a:endParaRPr lang="en-US" sz="1200" dirty="0"/>
          </a:p>
          <a:p>
            <a:pPr marL="0" indent="0">
              <a:buNone/>
            </a:pPr>
            <a:r>
              <a:rPr lang="en-US" sz="1200" dirty="0">
                <a:solidFill>
                  <a:srgbClr val="404040"/>
                </a:solidFill>
                <a:latin typeface="Arial" pitchFamily="34" charset="0"/>
                <a:ea typeface="Arial" pitchFamily="34" charset="-122"/>
                <a:cs typeface="Arial" pitchFamily="34" charset="-120"/>
              </a:rPr>
              <a:t>• Documentos colaborativos</a:t>
            </a:r>
            <a:endParaRPr lang="en-US" sz="1200" dirty="0"/>
          </a:p>
          <a:p>
            <a:pPr marL="0" indent="0">
              <a:buNone/>
            </a:pPr>
            <a:r>
              <a:rPr lang="en-US" sz="1200" dirty="0">
                <a:solidFill>
                  <a:srgbClr val="404040"/>
                </a:solidFill>
                <a:latin typeface="Arial" pitchFamily="34" charset="0"/>
                <a:ea typeface="Arial" pitchFamily="34" charset="-122"/>
                <a:cs typeface="Arial" pitchFamily="34" charset="-120"/>
              </a:rPr>
              <a:t>• Agendas compartidas</a:t>
            </a:r>
            <a:endParaRPr lang="en-US" sz="1200" dirty="0"/>
          </a:p>
        </p:txBody>
      </p:sp>
      <p:sp>
        <p:nvSpPr>
          <p:cNvPr id="17" name="Shape 15"/>
          <p:cNvSpPr/>
          <p:nvPr/>
        </p:nvSpPr>
        <p:spPr>
          <a:xfrm>
            <a:off x="4608576" y="1005840"/>
            <a:ext cx="1965960" cy="2697480"/>
          </a:xfrm>
          <a:prstGeom prst="rect">
            <a:avLst/>
          </a:prstGeom>
          <a:solidFill>
            <a:srgbClr val="FFFFFF"/>
          </a:solidFill>
          <a:ln w="19050">
            <a:solidFill>
              <a:srgbClr val="B9DEF8"/>
            </a:solidFill>
            <a:prstDash val="solid"/>
          </a:ln>
          <a:effectLst>
            <a:outerShdw blurRad="76200" dist="25400" dir="8100000" algn="bl" rotWithShape="0">
              <a:srgbClr val="000000">
                <a:alpha val="10000"/>
              </a:srgbClr>
            </a:outerShdw>
          </a:effectLst>
        </p:spPr>
        <p:txBody>
          <a:bodyPr/>
          <a:lstStyle/>
          <a:p>
            <a:endParaRPr lang="en-US"/>
          </a:p>
        </p:txBody>
      </p:sp>
      <p:sp>
        <p:nvSpPr>
          <p:cNvPr id="18" name="Shape 16"/>
          <p:cNvSpPr/>
          <p:nvPr/>
        </p:nvSpPr>
        <p:spPr>
          <a:xfrm>
            <a:off x="4608576" y="1005840"/>
            <a:ext cx="1965960" cy="502920"/>
          </a:xfrm>
          <a:prstGeom prst="rect">
            <a:avLst/>
          </a:prstGeom>
          <a:solidFill>
            <a:srgbClr val="5AA8D8"/>
          </a:solidFill>
          <a:ln w="12700">
            <a:solidFill>
              <a:srgbClr val="5AA8D8"/>
            </a:solidFill>
            <a:prstDash val="solid"/>
          </a:ln>
        </p:spPr>
        <p:txBody>
          <a:bodyPr/>
          <a:lstStyle/>
          <a:p>
            <a:endParaRPr lang="en-US"/>
          </a:p>
        </p:txBody>
      </p:sp>
      <p:sp>
        <p:nvSpPr>
          <p:cNvPr id="19" name="Text 17"/>
          <p:cNvSpPr/>
          <p:nvPr/>
        </p:nvSpPr>
        <p:spPr>
          <a:xfrm>
            <a:off x="4608576" y="1033272"/>
            <a:ext cx="502920" cy="45720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0" name="Text 18"/>
          <p:cNvSpPr/>
          <p:nvPr/>
        </p:nvSpPr>
        <p:spPr>
          <a:xfrm>
            <a:off x="5065776" y="1051560"/>
            <a:ext cx="1463040" cy="41148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Servicios de Comunicación</a:t>
            </a:r>
            <a:endParaRPr lang="en-US" sz="1300" dirty="0"/>
          </a:p>
        </p:txBody>
      </p:sp>
      <p:sp>
        <p:nvSpPr>
          <p:cNvPr id="21" name="Text 19"/>
          <p:cNvSpPr/>
          <p:nvPr/>
        </p:nvSpPr>
        <p:spPr>
          <a:xfrm>
            <a:off x="4718304" y="1600200"/>
            <a:ext cx="1783080" cy="2011680"/>
          </a:xfrm>
          <a:prstGeom prst="rect">
            <a:avLst/>
          </a:prstGeom>
          <a:noFill/>
          <a:ln/>
        </p:spPr>
        <p:txBody>
          <a:bodyPr wrap="square" lIns="25400" tIns="25400" rIns="25400" bIns="25400" rtlCol="0" anchor="t"/>
          <a:lstStyle/>
          <a:p>
            <a:pPr marL="0" indent="0">
              <a:buNone/>
            </a:pPr>
            <a:r>
              <a:rPr lang="en-US" sz="1200" dirty="0">
                <a:solidFill>
                  <a:srgbClr val="404040"/>
                </a:solidFill>
                <a:latin typeface="Arial" pitchFamily="34" charset="0"/>
                <a:ea typeface="Arial" pitchFamily="34" charset="-122"/>
                <a:cs typeface="Arial" pitchFamily="34" charset="-120"/>
              </a:rPr>
              <a:t>• Correo electrónico</a:t>
            </a:r>
            <a:endParaRPr lang="en-US" sz="1200" dirty="0"/>
          </a:p>
          <a:p>
            <a:pPr marL="0" indent="0">
              <a:buNone/>
            </a:pPr>
            <a:r>
              <a:rPr lang="en-US" sz="1200" dirty="0">
                <a:solidFill>
                  <a:srgbClr val="404040"/>
                </a:solidFill>
                <a:latin typeface="Arial" pitchFamily="34" charset="0"/>
                <a:ea typeface="Arial" pitchFamily="34" charset="-122"/>
                <a:cs typeface="Arial" pitchFamily="34" charset="-120"/>
              </a:rPr>
              <a:t>• Chat y mensajería</a:t>
            </a:r>
            <a:endParaRPr lang="en-US" sz="1200" dirty="0"/>
          </a:p>
          <a:p>
            <a:pPr marL="0" indent="0">
              <a:buNone/>
            </a:pPr>
            <a:r>
              <a:rPr lang="en-US" sz="1200" dirty="0">
                <a:solidFill>
                  <a:srgbClr val="404040"/>
                </a:solidFill>
                <a:latin typeface="Arial" pitchFamily="34" charset="0"/>
                <a:ea typeface="Arial" pitchFamily="34" charset="-122"/>
                <a:cs typeface="Arial" pitchFamily="34" charset="-120"/>
              </a:rPr>
              <a:t>• Videoconferencias</a:t>
            </a:r>
            <a:endParaRPr lang="en-US" sz="1200" dirty="0"/>
          </a:p>
          <a:p>
            <a:pPr marL="0" indent="0">
              <a:buNone/>
            </a:pPr>
            <a:r>
              <a:rPr lang="en-US" sz="1200" dirty="0">
                <a:solidFill>
                  <a:srgbClr val="404040"/>
                </a:solidFill>
                <a:latin typeface="Arial" pitchFamily="34" charset="0"/>
                <a:ea typeface="Arial" pitchFamily="34" charset="-122"/>
                <a:cs typeface="Arial" pitchFamily="34" charset="-120"/>
              </a:rPr>
              <a:t>• Telefonía IP (VoIP)</a:t>
            </a:r>
            <a:endParaRPr lang="en-US" sz="1200" dirty="0"/>
          </a:p>
        </p:txBody>
      </p:sp>
      <p:sp>
        <p:nvSpPr>
          <p:cNvPr id="22" name="Shape 20"/>
          <p:cNvSpPr/>
          <p:nvPr/>
        </p:nvSpPr>
        <p:spPr>
          <a:xfrm>
            <a:off x="6739128" y="1005840"/>
            <a:ext cx="1965960" cy="2697480"/>
          </a:xfrm>
          <a:prstGeom prst="rect">
            <a:avLst/>
          </a:prstGeom>
          <a:solidFill>
            <a:srgbClr val="FFFFFF"/>
          </a:solidFill>
          <a:ln w="19050">
            <a:solidFill>
              <a:srgbClr val="B9DEF8"/>
            </a:solidFill>
            <a:prstDash val="solid"/>
          </a:ln>
          <a:effectLst>
            <a:outerShdw blurRad="76200" dist="25400" dir="8100000" algn="bl" rotWithShape="0">
              <a:srgbClr val="000000">
                <a:alpha val="10000"/>
              </a:srgbClr>
            </a:outerShdw>
          </a:effectLst>
        </p:spPr>
        <p:txBody>
          <a:bodyPr/>
          <a:lstStyle/>
          <a:p>
            <a:endParaRPr lang="en-US"/>
          </a:p>
        </p:txBody>
      </p:sp>
      <p:sp>
        <p:nvSpPr>
          <p:cNvPr id="23" name="Shape 21"/>
          <p:cNvSpPr/>
          <p:nvPr/>
        </p:nvSpPr>
        <p:spPr>
          <a:xfrm>
            <a:off x="6739128" y="1005840"/>
            <a:ext cx="1965960" cy="502920"/>
          </a:xfrm>
          <a:prstGeom prst="rect">
            <a:avLst/>
          </a:prstGeom>
          <a:solidFill>
            <a:srgbClr val="5AA8D8"/>
          </a:solidFill>
          <a:ln w="12700">
            <a:solidFill>
              <a:srgbClr val="5AA8D8"/>
            </a:solidFill>
            <a:prstDash val="solid"/>
          </a:ln>
        </p:spPr>
        <p:txBody>
          <a:bodyPr/>
          <a:lstStyle/>
          <a:p>
            <a:endParaRPr lang="en-US"/>
          </a:p>
        </p:txBody>
      </p:sp>
      <p:sp>
        <p:nvSpPr>
          <p:cNvPr id="24" name="Text 22"/>
          <p:cNvSpPr/>
          <p:nvPr/>
        </p:nvSpPr>
        <p:spPr>
          <a:xfrm>
            <a:off x="6739128" y="1033272"/>
            <a:ext cx="502920" cy="45720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5" name="Text 23"/>
          <p:cNvSpPr/>
          <p:nvPr/>
        </p:nvSpPr>
        <p:spPr>
          <a:xfrm>
            <a:off x="7196328" y="1051560"/>
            <a:ext cx="1463040" cy="41148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Servicios de Red</a:t>
            </a:r>
            <a:endParaRPr lang="en-US" sz="1300" dirty="0"/>
          </a:p>
        </p:txBody>
      </p:sp>
      <p:sp>
        <p:nvSpPr>
          <p:cNvPr id="26" name="Text 24"/>
          <p:cNvSpPr/>
          <p:nvPr/>
        </p:nvSpPr>
        <p:spPr>
          <a:xfrm>
            <a:off x="6848856" y="1600200"/>
            <a:ext cx="1783080" cy="2011680"/>
          </a:xfrm>
          <a:prstGeom prst="rect">
            <a:avLst/>
          </a:prstGeom>
          <a:noFill/>
          <a:ln/>
        </p:spPr>
        <p:txBody>
          <a:bodyPr wrap="square" lIns="25400" tIns="25400" rIns="25400" bIns="25400" rtlCol="0" anchor="t"/>
          <a:lstStyle/>
          <a:p>
            <a:pPr marL="0" indent="0">
              <a:buNone/>
            </a:pPr>
            <a:r>
              <a:rPr lang="en-US" sz="1200" dirty="0">
                <a:solidFill>
                  <a:srgbClr val="404040"/>
                </a:solidFill>
                <a:latin typeface="Arial" pitchFamily="34" charset="0"/>
                <a:ea typeface="Arial" pitchFamily="34" charset="-122"/>
                <a:cs typeface="Arial" pitchFamily="34" charset="-120"/>
              </a:rPr>
              <a:t>• Navegación web</a:t>
            </a:r>
            <a:endParaRPr lang="en-US" sz="1200" dirty="0"/>
          </a:p>
          <a:p>
            <a:pPr marL="0" indent="0">
              <a:buNone/>
            </a:pPr>
            <a:r>
              <a:rPr lang="en-US" sz="1200" dirty="0">
                <a:solidFill>
                  <a:srgbClr val="404040"/>
                </a:solidFill>
                <a:latin typeface="Arial" pitchFamily="34" charset="0"/>
                <a:ea typeface="Arial" pitchFamily="34" charset="-122"/>
                <a:cs typeface="Arial" pitchFamily="34" charset="-120"/>
              </a:rPr>
              <a:t>• Streaming</a:t>
            </a:r>
            <a:endParaRPr lang="en-US" sz="1200" dirty="0"/>
          </a:p>
          <a:p>
            <a:pPr marL="0" indent="0">
              <a:buNone/>
            </a:pPr>
            <a:r>
              <a:rPr lang="en-US" sz="1200" dirty="0">
                <a:solidFill>
                  <a:srgbClr val="404040"/>
                </a:solidFill>
                <a:latin typeface="Arial" pitchFamily="34" charset="0"/>
                <a:ea typeface="Arial" pitchFamily="34" charset="-122"/>
                <a:cs typeface="Arial" pitchFamily="34" charset="-120"/>
              </a:rPr>
              <a:t>• Copias de respaldo</a:t>
            </a:r>
            <a:endParaRPr lang="en-US" sz="1200" dirty="0"/>
          </a:p>
          <a:p>
            <a:pPr marL="0" indent="0">
              <a:buNone/>
            </a:pPr>
            <a:r>
              <a:rPr lang="en-US" sz="1200" dirty="0">
                <a:solidFill>
                  <a:srgbClr val="404040"/>
                </a:solidFill>
                <a:latin typeface="Arial" pitchFamily="34" charset="0"/>
                <a:ea typeface="Arial" pitchFamily="34" charset="-122"/>
                <a:cs typeface="Arial" pitchFamily="34" charset="-120"/>
              </a:rPr>
              <a:t>• Cloud Computing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109728"/>
            <a:ext cx="9144000" cy="713232"/>
          </a:xfrm>
          <a:prstGeom prst="rect">
            <a:avLst/>
          </a:prstGeom>
          <a:solidFill>
            <a:srgbClr val="FFFFFF"/>
          </a:solidFill>
          <a:ln w="12700">
            <a:solidFill>
              <a:srgbClr val="FFFFFF"/>
            </a:solidFill>
            <a:prstDash val="solid"/>
          </a:ln>
        </p:spPr>
        <p:txBody>
          <a:bodyPr/>
          <a:lstStyle/>
          <a:p>
            <a:endParaRPr lang="en-US"/>
          </a:p>
        </p:txBody>
      </p:sp>
      <p:sp>
        <p:nvSpPr>
          <p:cNvPr id="4" name="Text 2"/>
          <p:cNvSpPr/>
          <p:nvPr/>
        </p:nvSpPr>
        <p:spPr>
          <a:xfrm>
            <a:off x="320040" y="109728"/>
            <a:ext cx="8503920" cy="713232"/>
          </a:xfrm>
          <a:prstGeom prst="rect">
            <a:avLst/>
          </a:prstGeom>
          <a:noFill/>
          <a:ln/>
        </p:spPr>
        <p:txBody>
          <a:bodyPr wrap="square" lIns="0" tIns="0" rIns="0" bIns="0" rtlCol="0" anchor="ctr"/>
          <a:lstStyle/>
          <a:p>
            <a:pPr marL="0" indent="0">
              <a:buNone/>
            </a:pPr>
            <a:r>
              <a:rPr lang="en-US" sz="2200" b="1" dirty="0">
                <a:solidFill>
                  <a:srgbClr val="2D3030"/>
                </a:solidFill>
                <a:latin typeface="Arial" pitchFamily="34" charset="0"/>
                <a:ea typeface="Arial" pitchFamily="34" charset="-122"/>
                <a:cs typeface="Arial" pitchFamily="34" charset="-120"/>
              </a:rPr>
              <a:t>Ventajas del Trabajo en Red</a:t>
            </a:r>
            <a:endParaRPr lang="en-US" sz="2200" dirty="0"/>
          </a:p>
        </p:txBody>
      </p:sp>
      <p:sp>
        <p:nvSpPr>
          <p:cNvPr id="5" name="Shape 3"/>
          <p:cNvSpPr/>
          <p:nvPr/>
        </p:nvSpPr>
        <p:spPr>
          <a:xfrm>
            <a:off x="0" y="4892040"/>
            <a:ext cx="9144000" cy="251460"/>
          </a:xfrm>
          <a:prstGeom prst="rect">
            <a:avLst/>
          </a:prstGeom>
          <a:solidFill>
            <a:srgbClr val="2D3030"/>
          </a:solidFill>
          <a:ln w="12700">
            <a:solidFill>
              <a:srgbClr val="2D3030"/>
            </a:solidFill>
            <a:prstDash val="solid"/>
          </a:ln>
        </p:spPr>
        <p:txBody>
          <a:bodyPr/>
          <a:lstStyle/>
          <a:p>
            <a:endParaRPr lang="en-US"/>
          </a:p>
        </p:txBody>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808080"/>
                </a:solidFill>
                <a:latin typeface="Arial" pitchFamily="34" charset="0"/>
                <a:ea typeface="Arial" pitchFamily="34" charset="-122"/>
                <a:cs typeface="Arial" pitchFamily="34" charset="-120"/>
              </a:rPr>
              <a:t>IES – Redes y Comunicaciones | SP1/H1 | 2026</a:t>
            </a:r>
            <a:endParaRPr lang="en-US" sz="900" dirty="0"/>
          </a:p>
        </p:txBody>
      </p:sp>
      <p:sp>
        <p:nvSpPr>
          <p:cNvPr id="7" name="Shape 5"/>
          <p:cNvSpPr/>
          <p:nvPr/>
        </p:nvSpPr>
        <p:spPr>
          <a:xfrm>
            <a:off x="320040" y="1005840"/>
            <a:ext cx="3931920" cy="521208"/>
          </a:xfrm>
          <a:prstGeom prst="rect">
            <a:avLst/>
          </a:prstGeom>
          <a:solidFill>
            <a:srgbClr val="FFFFFF"/>
          </a:solidFill>
          <a:ln w="12700">
            <a:solidFill>
              <a:srgbClr val="B9DEF8"/>
            </a:solidFill>
            <a:prstDash val="solid"/>
          </a:ln>
          <a:effectLst>
            <a:outerShdw blurRad="50800" dist="12700" dir="8100000" algn="bl" rotWithShape="0">
              <a:srgbClr val="000000">
                <a:alpha val="8000"/>
              </a:srgbClr>
            </a:outerShdw>
          </a:effectLst>
        </p:spPr>
        <p:txBody>
          <a:bodyPr/>
          <a:lstStyle/>
          <a:p>
            <a:endParaRPr lang="en-US"/>
          </a:p>
        </p:txBody>
      </p:sp>
      <p:sp>
        <p:nvSpPr>
          <p:cNvPr id="8" name="Shape 6"/>
          <p:cNvSpPr/>
          <p:nvPr/>
        </p:nvSpPr>
        <p:spPr>
          <a:xfrm>
            <a:off x="320040" y="1005840"/>
            <a:ext cx="502920" cy="521208"/>
          </a:xfrm>
          <a:prstGeom prst="rect">
            <a:avLst/>
          </a:prstGeom>
          <a:solidFill>
            <a:srgbClr val="E8F4FC"/>
          </a:solidFill>
          <a:ln w="12700">
            <a:solidFill>
              <a:srgbClr val="B9DEF8"/>
            </a:solidFill>
            <a:prstDash val="solid"/>
          </a:ln>
        </p:spPr>
        <p:txBody>
          <a:bodyPr/>
          <a:lstStyle/>
          <a:p>
            <a:endParaRPr lang="en-US"/>
          </a:p>
        </p:txBody>
      </p:sp>
      <p:sp>
        <p:nvSpPr>
          <p:cNvPr id="9" name="Text 7"/>
          <p:cNvSpPr/>
          <p:nvPr/>
        </p:nvSpPr>
        <p:spPr>
          <a:xfrm>
            <a:off x="320040" y="1005840"/>
            <a:ext cx="502920" cy="52120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0" name="Text 8"/>
          <p:cNvSpPr/>
          <p:nvPr/>
        </p:nvSpPr>
        <p:spPr>
          <a:xfrm>
            <a:off x="886968" y="1005840"/>
            <a:ext cx="3310128" cy="521208"/>
          </a:xfrm>
          <a:prstGeom prst="rect">
            <a:avLst/>
          </a:prstGeom>
          <a:noFill/>
          <a:ln/>
        </p:spPr>
        <p:txBody>
          <a:bodyPr wrap="square" lIns="0" tIns="0" rIns="0" bIns="0" rtlCol="0" anchor="ctr"/>
          <a:lstStyle/>
          <a:p>
            <a:pPr marL="0" indent="0">
              <a:buNone/>
            </a:pPr>
            <a:r>
              <a:rPr lang="en-US" sz="1300" dirty="0">
                <a:solidFill>
                  <a:srgbClr val="2D3030"/>
                </a:solidFill>
                <a:latin typeface="Arial" pitchFamily="34" charset="0"/>
                <a:ea typeface="Arial" pitchFamily="34" charset="-122"/>
                <a:cs typeface="Arial" pitchFamily="34" charset="-120"/>
              </a:rPr>
              <a:t>Reducción de costos de hardware</a:t>
            </a:r>
            <a:endParaRPr lang="en-US" sz="1300" dirty="0"/>
          </a:p>
        </p:txBody>
      </p:sp>
      <p:sp>
        <p:nvSpPr>
          <p:cNvPr id="11" name="Shape 9"/>
          <p:cNvSpPr/>
          <p:nvPr/>
        </p:nvSpPr>
        <p:spPr>
          <a:xfrm>
            <a:off x="320040" y="1618488"/>
            <a:ext cx="3931920" cy="521208"/>
          </a:xfrm>
          <a:prstGeom prst="rect">
            <a:avLst/>
          </a:prstGeom>
          <a:solidFill>
            <a:srgbClr val="FFFFFF"/>
          </a:solidFill>
          <a:ln w="12700">
            <a:solidFill>
              <a:srgbClr val="B9DEF8"/>
            </a:solidFill>
            <a:prstDash val="solid"/>
          </a:ln>
          <a:effectLst>
            <a:outerShdw blurRad="50800" dist="12700" dir="8100000" algn="bl" rotWithShape="0">
              <a:srgbClr val="000000">
                <a:alpha val="8000"/>
              </a:srgbClr>
            </a:outerShdw>
          </a:effectLst>
        </p:spPr>
        <p:txBody>
          <a:bodyPr/>
          <a:lstStyle/>
          <a:p>
            <a:endParaRPr lang="en-US"/>
          </a:p>
        </p:txBody>
      </p:sp>
      <p:sp>
        <p:nvSpPr>
          <p:cNvPr id="12" name="Shape 10"/>
          <p:cNvSpPr/>
          <p:nvPr/>
        </p:nvSpPr>
        <p:spPr>
          <a:xfrm>
            <a:off x="320040" y="1618488"/>
            <a:ext cx="502920" cy="521208"/>
          </a:xfrm>
          <a:prstGeom prst="rect">
            <a:avLst/>
          </a:prstGeom>
          <a:solidFill>
            <a:srgbClr val="E8F4FC"/>
          </a:solidFill>
          <a:ln w="12700">
            <a:solidFill>
              <a:srgbClr val="B9DEF8"/>
            </a:solidFill>
            <a:prstDash val="solid"/>
          </a:ln>
        </p:spPr>
        <p:txBody>
          <a:bodyPr/>
          <a:lstStyle/>
          <a:p>
            <a:endParaRPr lang="en-US"/>
          </a:p>
        </p:txBody>
      </p:sp>
      <p:sp>
        <p:nvSpPr>
          <p:cNvPr id="13" name="Text 11"/>
          <p:cNvSpPr/>
          <p:nvPr/>
        </p:nvSpPr>
        <p:spPr>
          <a:xfrm>
            <a:off x="320040" y="1618488"/>
            <a:ext cx="502920" cy="52120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886968" y="1618488"/>
            <a:ext cx="3310128" cy="521208"/>
          </a:xfrm>
          <a:prstGeom prst="rect">
            <a:avLst/>
          </a:prstGeom>
          <a:noFill/>
          <a:ln/>
        </p:spPr>
        <p:txBody>
          <a:bodyPr wrap="square" lIns="0" tIns="0" rIns="0" bIns="0" rtlCol="0" anchor="ctr"/>
          <a:lstStyle/>
          <a:p>
            <a:pPr marL="0" indent="0">
              <a:buNone/>
            </a:pPr>
            <a:r>
              <a:rPr lang="en-US" sz="1300" dirty="0">
                <a:solidFill>
                  <a:srgbClr val="2D3030"/>
                </a:solidFill>
                <a:latin typeface="Arial" pitchFamily="34" charset="0"/>
                <a:ea typeface="Arial" pitchFamily="34" charset="-122"/>
                <a:cs typeface="Arial" pitchFamily="34" charset="-120"/>
              </a:rPr>
              <a:t>Intercambio de información más rápido y seguro</a:t>
            </a:r>
            <a:endParaRPr lang="en-US" sz="1300" dirty="0"/>
          </a:p>
        </p:txBody>
      </p:sp>
      <p:sp>
        <p:nvSpPr>
          <p:cNvPr id="15" name="Shape 13"/>
          <p:cNvSpPr/>
          <p:nvPr/>
        </p:nvSpPr>
        <p:spPr>
          <a:xfrm>
            <a:off x="320040" y="2231136"/>
            <a:ext cx="3931920" cy="521208"/>
          </a:xfrm>
          <a:prstGeom prst="rect">
            <a:avLst/>
          </a:prstGeom>
          <a:solidFill>
            <a:srgbClr val="FFFFFF"/>
          </a:solidFill>
          <a:ln w="12700">
            <a:solidFill>
              <a:srgbClr val="B9DEF8"/>
            </a:solidFill>
            <a:prstDash val="solid"/>
          </a:ln>
          <a:effectLst>
            <a:outerShdw blurRad="50800" dist="12700" dir="8100000" algn="bl" rotWithShape="0">
              <a:srgbClr val="000000">
                <a:alpha val="8000"/>
              </a:srgbClr>
            </a:outerShdw>
          </a:effectLst>
        </p:spPr>
        <p:txBody>
          <a:bodyPr/>
          <a:lstStyle/>
          <a:p>
            <a:endParaRPr lang="en-US"/>
          </a:p>
        </p:txBody>
      </p:sp>
      <p:sp>
        <p:nvSpPr>
          <p:cNvPr id="16" name="Shape 14"/>
          <p:cNvSpPr/>
          <p:nvPr/>
        </p:nvSpPr>
        <p:spPr>
          <a:xfrm>
            <a:off x="320040" y="2231136"/>
            <a:ext cx="502920" cy="521208"/>
          </a:xfrm>
          <a:prstGeom prst="rect">
            <a:avLst/>
          </a:prstGeom>
          <a:solidFill>
            <a:srgbClr val="E8F4FC"/>
          </a:solidFill>
          <a:ln w="12700">
            <a:solidFill>
              <a:srgbClr val="B9DEF8"/>
            </a:solidFill>
            <a:prstDash val="solid"/>
          </a:ln>
        </p:spPr>
        <p:txBody>
          <a:bodyPr/>
          <a:lstStyle/>
          <a:p>
            <a:endParaRPr lang="en-US"/>
          </a:p>
        </p:txBody>
      </p:sp>
      <p:sp>
        <p:nvSpPr>
          <p:cNvPr id="17" name="Text 15"/>
          <p:cNvSpPr/>
          <p:nvPr/>
        </p:nvSpPr>
        <p:spPr>
          <a:xfrm>
            <a:off x="320040" y="2231136"/>
            <a:ext cx="502920" cy="52120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886968" y="2231136"/>
            <a:ext cx="3310128" cy="521208"/>
          </a:xfrm>
          <a:prstGeom prst="rect">
            <a:avLst/>
          </a:prstGeom>
          <a:noFill/>
          <a:ln/>
        </p:spPr>
        <p:txBody>
          <a:bodyPr wrap="square" lIns="0" tIns="0" rIns="0" bIns="0" rtlCol="0" anchor="ctr"/>
          <a:lstStyle/>
          <a:p>
            <a:pPr marL="0" indent="0">
              <a:buNone/>
            </a:pPr>
            <a:r>
              <a:rPr lang="en-US" sz="1300" dirty="0">
                <a:solidFill>
                  <a:srgbClr val="2D3030"/>
                </a:solidFill>
                <a:latin typeface="Arial" pitchFamily="34" charset="0"/>
                <a:ea typeface="Arial" pitchFamily="34" charset="-122"/>
                <a:cs typeface="Arial" pitchFamily="34" charset="-120"/>
              </a:rPr>
              <a:t>Copias de respaldo centralizadas y automatizadas</a:t>
            </a:r>
            <a:endParaRPr lang="en-US" sz="1300" dirty="0"/>
          </a:p>
        </p:txBody>
      </p:sp>
      <p:sp>
        <p:nvSpPr>
          <p:cNvPr id="19" name="Shape 17"/>
          <p:cNvSpPr/>
          <p:nvPr/>
        </p:nvSpPr>
        <p:spPr>
          <a:xfrm>
            <a:off x="320040" y="2843784"/>
            <a:ext cx="3931920" cy="521208"/>
          </a:xfrm>
          <a:prstGeom prst="rect">
            <a:avLst/>
          </a:prstGeom>
          <a:solidFill>
            <a:srgbClr val="FFFFFF"/>
          </a:solidFill>
          <a:ln w="12700">
            <a:solidFill>
              <a:srgbClr val="B9DEF8"/>
            </a:solidFill>
            <a:prstDash val="solid"/>
          </a:ln>
          <a:effectLst>
            <a:outerShdw blurRad="50800" dist="12700" dir="8100000" algn="bl" rotWithShape="0">
              <a:srgbClr val="000000">
                <a:alpha val="8000"/>
              </a:srgbClr>
            </a:outerShdw>
          </a:effectLst>
        </p:spPr>
        <p:txBody>
          <a:bodyPr/>
          <a:lstStyle/>
          <a:p>
            <a:endParaRPr lang="en-US"/>
          </a:p>
        </p:txBody>
      </p:sp>
      <p:sp>
        <p:nvSpPr>
          <p:cNvPr id="20" name="Shape 18"/>
          <p:cNvSpPr/>
          <p:nvPr/>
        </p:nvSpPr>
        <p:spPr>
          <a:xfrm>
            <a:off x="320040" y="2843784"/>
            <a:ext cx="502920" cy="521208"/>
          </a:xfrm>
          <a:prstGeom prst="rect">
            <a:avLst/>
          </a:prstGeom>
          <a:solidFill>
            <a:srgbClr val="E8F4FC"/>
          </a:solidFill>
          <a:ln w="12700">
            <a:solidFill>
              <a:srgbClr val="B9DEF8"/>
            </a:solidFill>
            <a:prstDash val="solid"/>
          </a:ln>
        </p:spPr>
        <p:txBody>
          <a:bodyPr/>
          <a:lstStyle/>
          <a:p>
            <a:endParaRPr lang="en-US"/>
          </a:p>
        </p:txBody>
      </p:sp>
      <p:sp>
        <p:nvSpPr>
          <p:cNvPr id="21" name="Text 19"/>
          <p:cNvSpPr/>
          <p:nvPr/>
        </p:nvSpPr>
        <p:spPr>
          <a:xfrm>
            <a:off x="320040" y="2843784"/>
            <a:ext cx="502920" cy="52120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2" name="Text 20"/>
          <p:cNvSpPr/>
          <p:nvPr/>
        </p:nvSpPr>
        <p:spPr>
          <a:xfrm>
            <a:off x="886968" y="2843784"/>
            <a:ext cx="3310128" cy="521208"/>
          </a:xfrm>
          <a:prstGeom prst="rect">
            <a:avLst/>
          </a:prstGeom>
          <a:noFill/>
          <a:ln/>
        </p:spPr>
        <p:txBody>
          <a:bodyPr wrap="square" lIns="0" tIns="0" rIns="0" bIns="0" rtlCol="0" anchor="ctr"/>
          <a:lstStyle/>
          <a:p>
            <a:pPr marL="0" indent="0">
              <a:buNone/>
            </a:pPr>
            <a:r>
              <a:rPr lang="en-US" sz="1300" dirty="0">
                <a:solidFill>
                  <a:srgbClr val="2D3030"/>
                </a:solidFill>
                <a:latin typeface="Arial" pitchFamily="34" charset="0"/>
                <a:ea typeface="Arial" pitchFamily="34" charset="-122"/>
                <a:cs typeface="Arial" pitchFamily="34" charset="-120"/>
              </a:rPr>
              <a:t>Mejor administración del almacenamiento</a:t>
            </a:r>
            <a:endParaRPr lang="en-US" sz="1300" dirty="0"/>
          </a:p>
        </p:txBody>
      </p:sp>
      <p:sp>
        <p:nvSpPr>
          <p:cNvPr id="23" name="Shape 21"/>
          <p:cNvSpPr/>
          <p:nvPr/>
        </p:nvSpPr>
        <p:spPr>
          <a:xfrm>
            <a:off x="4617720" y="1005840"/>
            <a:ext cx="3931920" cy="521208"/>
          </a:xfrm>
          <a:prstGeom prst="rect">
            <a:avLst/>
          </a:prstGeom>
          <a:solidFill>
            <a:srgbClr val="FFFFFF"/>
          </a:solidFill>
          <a:ln w="12700">
            <a:solidFill>
              <a:srgbClr val="B9DEF8"/>
            </a:solidFill>
            <a:prstDash val="solid"/>
          </a:ln>
          <a:effectLst>
            <a:outerShdw blurRad="50800" dist="12700" dir="8100000" algn="bl" rotWithShape="0">
              <a:srgbClr val="000000">
                <a:alpha val="8000"/>
              </a:srgbClr>
            </a:outerShdw>
          </a:effectLst>
        </p:spPr>
        <p:txBody>
          <a:bodyPr/>
          <a:lstStyle/>
          <a:p>
            <a:endParaRPr lang="en-US"/>
          </a:p>
        </p:txBody>
      </p:sp>
      <p:sp>
        <p:nvSpPr>
          <p:cNvPr id="24" name="Shape 22"/>
          <p:cNvSpPr/>
          <p:nvPr/>
        </p:nvSpPr>
        <p:spPr>
          <a:xfrm>
            <a:off x="4617720" y="1005840"/>
            <a:ext cx="502920" cy="521208"/>
          </a:xfrm>
          <a:prstGeom prst="rect">
            <a:avLst/>
          </a:prstGeom>
          <a:solidFill>
            <a:srgbClr val="E8F4FC"/>
          </a:solidFill>
          <a:ln w="12700">
            <a:solidFill>
              <a:srgbClr val="B9DEF8"/>
            </a:solidFill>
            <a:prstDash val="solid"/>
          </a:ln>
        </p:spPr>
        <p:txBody>
          <a:bodyPr/>
          <a:lstStyle/>
          <a:p>
            <a:endParaRPr lang="en-US"/>
          </a:p>
        </p:txBody>
      </p:sp>
      <p:sp>
        <p:nvSpPr>
          <p:cNvPr id="25" name="Text 23"/>
          <p:cNvSpPr/>
          <p:nvPr/>
        </p:nvSpPr>
        <p:spPr>
          <a:xfrm>
            <a:off x="4617720" y="1005840"/>
            <a:ext cx="502920" cy="52120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6" name="Text 24"/>
          <p:cNvSpPr/>
          <p:nvPr/>
        </p:nvSpPr>
        <p:spPr>
          <a:xfrm>
            <a:off x="5184648" y="1005840"/>
            <a:ext cx="3310128" cy="521208"/>
          </a:xfrm>
          <a:prstGeom prst="rect">
            <a:avLst/>
          </a:prstGeom>
          <a:noFill/>
          <a:ln/>
        </p:spPr>
        <p:txBody>
          <a:bodyPr wrap="square" lIns="0" tIns="0" rIns="0" bIns="0" rtlCol="0" anchor="ctr"/>
          <a:lstStyle/>
          <a:p>
            <a:pPr marL="0" indent="0">
              <a:buNone/>
            </a:pPr>
            <a:r>
              <a:rPr lang="en-US" sz="1300" dirty="0">
                <a:solidFill>
                  <a:srgbClr val="2D3030"/>
                </a:solidFill>
                <a:latin typeface="Arial" pitchFamily="34" charset="0"/>
                <a:ea typeface="Arial" pitchFamily="34" charset="-122"/>
                <a:cs typeface="Arial" pitchFamily="34" charset="-120"/>
              </a:rPr>
              <a:t>Actualizaciones centralizadas (un punto, todos los equipos)</a:t>
            </a:r>
            <a:endParaRPr lang="en-US" sz="1300" dirty="0"/>
          </a:p>
        </p:txBody>
      </p:sp>
      <p:sp>
        <p:nvSpPr>
          <p:cNvPr id="27" name="Shape 25"/>
          <p:cNvSpPr/>
          <p:nvPr/>
        </p:nvSpPr>
        <p:spPr>
          <a:xfrm>
            <a:off x="4617720" y="1618488"/>
            <a:ext cx="3931920" cy="521208"/>
          </a:xfrm>
          <a:prstGeom prst="rect">
            <a:avLst/>
          </a:prstGeom>
          <a:solidFill>
            <a:srgbClr val="FFFFFF"/>
          </a:solidFill>
          <a:ln w="12700">
            <a:solidFill>
              <a:srgbClr val="B9DEF8"/>
            </a:solidFill>
            <a:prstDash val="solid"/>
          </a:ln>
          <a:effectLst>
            <a:outerShdw blurRad="50800" dist="12700" dir="8100000" algn="bl" rotWithShape="0">
              <a:srgbClr val="000000">
                <a:alpha val="8000"/>
              </a:srgbClr>
            </a:outerShdw>
          </a:effectLst>
        </p:spPr>
        <p:txBody>
          <a:bodyPr/>
          <a:lstStyle/>
          <a:p>
            <a:endParaRPr lang="en-US"/>
          </a:p>
        </p:txBody>
      </p:sp>
      <p:sp>
        <p:nvSpPr>
          <p:cNvPr id="28" name="Shape 26"/>
          <p:cNvSpPr/>
          <p:nvPr/>
        </p:nvSpPr>
        <p:spPr>
          <a:xfrm>
            <a:off x="4617720" y="1618488"/>
            <a:ext cx="502920" cy="521208"/>
          </a:xfrm>
          <a:prstGeom prst="rect">
            <a:avLst/>
          </a:prstGeom>
          <a:solidFill>
            <a:srgbClr val="E8F4FC"/>
          </a:solidFill>
          <a:ln w="12700">
            <a:solidFill>
              <a:srgbClr val="B9DEF8"/>
            </a:solidFill>
            <a:prstDash val="solid"/>
          </a:ln>
        </p:spPr>
        <p:txBody>
          <a:bodyPr/>
          <a:lstStyle/>
          <a:p>
            <a:endParaRPr lang="en-US"/>
          </a:p>
        </p:txBody>
      </p:sp>
      <p:sp>
        <p:nvSpPr>
          <p:cNvPr id="29" name="Text 27"/>
          <p:cNvSpPr/>
          <p:nvPr/>
        </p:nvSpPr>
        <p:spPr>
          <a:xfrm>
            <a:off x="4617720" y="1618488"/>
            <a:ext cx="502920" cy="52120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0" name="Text 28"/>
          <p:cNvSpPr/>
          <p:nvPr/>
        </p:nvSpPr>
        <p:spPr>
          <a:xfrm>
            <a:off x="5184648" y="1618488"/>
            <a:ext cx="3310128" cy="521208"/>
          </a:xfrm>
          <a:prstGeom prst="rect">
            <a:avLst/>
          </a:prstGeom>
          <a:noFill/>
          <a:ln/>
        </p:spPr>
        <p:txBody>
          <a:bodyPr wrap="square" lIns="0" tIns="0" rIns="0" bIns="0" rtlCol="0" anchor="ctr"/>
          <a:lstStyle/>
          <a:p>
            <a:pPr marL="0" indent="0">
              <a:buNone/>
            </a:pPr>
            <a:r>
              <a:rPr lang="en-US" sz="1300" dirty="0">
                <a:solidFill>
                  <a:srgbClr val="2D3030"/>
                </a:solidFill>
                <a:latin typeface="Arial" pitchFamily="34" charset="0"/>
                <a:ea typeface="Arial" pitchFamily="34" charset="-122"/>
                <a:cs typeface="Arial" pitchFamily="34" charset="-120"/>
              </a:rPr>
              <a:t>Trabajo colaborativo en tiempo real</a:t>
            </a:r>
            <a:endParaRPr lang="en-US" sz="1300" dirty="0"/>
          </a:p>
        </p:txBody>
      </p:sp>
      <p:sp>
        <p:nvSpPr>
          <p:cNvPr id="31" name="Shape 29"/>
          <p:cNvSpPr/>
          <p:nvPr/>
        </p:nvSpPr>
        <p:spPr>
          <a:xfrm>
            <a:off x="4617720" y="2231136"/>
            <a:ext cx="3931920" cy="521208"/>
          </a:xfrm>
          <a:prstGeom prst="rect">
            <a:avLst/>
          </a:prstGeom>
          <a:solidFill>
            <a:srgbClr val="FFFFFF"/>
          </a:solidFill>
          <a:ln w="12700">
            <a:solidFill>
              <a:srgbClr val="B9DEF8"/>
            </a:solidFill>
            <a:prstDash val="solid"/>
          </a:ln>
          <a:effectLst>
            <a:outerShdw blurRad="50800" dist="12700" dir="8100000" algn="bl" rotWithShape="0">
              <a:srgbClr val="000000">
                <a:alpha val="8000"/>
              </a:srgbClr>
            </a:outerShdw>
          </a:effectLst>
        </p:spPr>
        <p:txBody>
          <a:bodyPr/>
          <a:lstStyle/>
          <a:p>
            <a:endParaRPr lang="en-US"/>
          </a:p>
        </p:txBody>
      </p:sp>
      <p:sp>
        <p:nvSpPr>
          <p:cNvPr id="32" name="Shape 30"/>
          <p:cNvSpPr/>
          <p:nvPr/>
        </p:nvSpPr>
        <p:spPr>
          <a:xfrm>
            <a:off x="4617720" y="2231136"/>
            <a:ext cx="502920" cy="521208"/>
          </a:xfrm>
          <a:prstGeom prst="rect">
            <a:avLst/>
          </a:prstGeom>
          <a:solidFill>
            <a:srgbClr val="E8F4FC"/>
          </a:solidFill>
          <a:ln w="12700">
            <a:solidFill>
              <a:srgbClr val="B9DEF8"/>
            </a:solidFill>
            <a:prstDash val="solid"/>
          </a:ln>
        </p:spPr>
        <p:txBody>
          <a:bodyPr/>
          <a:lstStyle/>
          <a:p>
            <a:endParaRPr lang="en-US"/>
          </a:p>
        </p:txBody>
      </p:sp>
      <p:sp>
        <p:nvSpPr>
          <p:cNvPr id="33" name="Text 31"/>
          <p:cNvSpPr/>
          <p:nvPr/>
        </p:nvSpPr>
        <p:spPr>
          <a:xfrm>
            <a:off x="4617720" y="2231136"/>
            <a:ext cx="502920" cy="52120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4" name="Text 32"/>
          <p:cNvSpPr/>
          <p:nvPr/>
        </p:nvSpPr>
        <p:spPr>
          <a:xfrm>
            <a:off x="5184648" y="2231136"/>
            <a:ext cx="3310128" cy="521208"/>
          </a:xfrm>
          <a:prstGeom prst="rect">
            <a:avLst/>
          </a:prstGeom>
          <a:noFill/>
          <a:ln/>
        </p:spPr>
        <p:txBody>
          <a:bodyPr wrap="square" lIns="0" tIns="0" rIns="0" bIns="0" rtlCol="0" anchor="ctr"/>
          <a:lstStyle/>
          <a:p>
            <a:pPr marL="0" indent="0">
              <a:buNone/>
            </a:pPr>
            <a:r>
              <a:rPr lang="en-US" sz="1300" dirty="0">
                <a:solidFill>
                  <a:srgbClr val="2D3030"/>
                </a:solidFill>
                <a:latin typeface="Arial" pitchFamily="34" charset="0"/>
                <a:ea typeface="Arial" pitchFamily="34" charset="-122"/>
                <a:cs typeface="Arial" pitchFamily="34" charset="-120"/>
              </a:rPr>
              <a:t>Mayor seguridad: control de accesos y auditoría</a:t>
            </a:r>
            <a:endParaRPr lang="en-US" sz="1300" dirty="0"/>
          </a:p>
        </p:txBody>
      </p:sp>
      <p:sp>
        <p:nvSpPr>
          <p:cNvPr id="35" name="Shape 33"/>
          <p:cNvSpPr/>
          <p:nvPr/>
        </p:nvSpPr>
        <p:spPr>
          <a:xfrm>
            <a:off x="4617720" y="2843784"/>
            <a:ext cx="3931920" cy="521208"/>
          </a:xfrm>
          <a:prstGeom prst="rect">
            <a:avLst/>
          </a:prstGeom>
          <a:solidFill>
            <a:srgbClr val="FFFFFF"/>
          </a:solidFill>
          <a:ln w="12700">
            <a:solidFill>
              <a:srgbClr val="B9DEF8"/>
            </a:solidFill>
            <a:prstDash val="solid"/>
          </a:ln>
          <a:effectLst>
            <a:outerShdw blurRad="50800" dist="12700" dir="8100000" algn="bl" rotWithShape="0">
              <a:srgbClr val="000000">
                <a:alpha val="8000"/>
              </a:srgbClr>
            </a:outerShdw>
          </a:effectLst>
        </p:spPr>
        <p:txBody>
          <a:bodyPr/>
          <a:lstStyle/>
          <a:p>
            <a:endParaRPr lang="en-US"/>
          </a:p>
        </p:txBody>
      </p:sp>
      <p:sp>
        <p:nvSpPr>
          <p:cNvPr id="36" name="Shape 34"/>
          <p:cNvSpPr/>
          <p:nvPr/>
        </p:nvSpPr>
        <p:spPr>
          <a:xfrm>
            <a:off x="4617720" y="2843784"/>
            <a:ext cx="502920" cy="521208"/>
          </a:xfrm>
          <a:prstGeom prst="rect">
            <a:avLst/>
          </a:prstGeom>
          <a:solidFill>
            <a:srgbClr val="E8F4FC"/>
          </a:solidFill>
          <a:ln w="12700">
            <a:solidFill>
              <a:srgbClr val="B9DEF8"/>
            </a:solidFill>
            <a:prstDash val="solid"/>
          </a:ln>
        </p:spPr>
        <p:txBody>
          <a:bodyPr/>
          <a:lstStyle/>
          <a:p>
            <a:endParaRPr lang="en-US"/>
          </a:p>
        </p:txBody>
      </p:sp>
      <p:sp>
        <p:nvSpPr>
          <p:cNvPr id="37" name="Text 35"/>
          <p:cNvSpPr/>
          <p:nvPr/>
        </p:nvSpPr>
        <p:spPr>
          <a:xfrm>
            <a:off x="4617720" y="2843784"/>
            <a:ext cx="502920" cy="52120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8" name="Text 36"/>
          <p:cNvSpPr/>
          <p:nvPr/>
        </p:nvSpPr>
        <p:spPr>
          <a:xfrm>
            <a:off x="5184648" y="2843784"/>
            <a:ext cx="3310128" cy="521208"/>
          </a:xfrm>
          <a:prstGeom prst="rect">
            <a:avLst/>
          </a:prstGeom>
          <a:noFill/>
          <a:ln/>
        </p:spPr>
        <p:txBody>
          <a:bodyPr wrap="square" lIns="0" tIns="0" rIns="0" bIns="0" rtlCol="0" anchor="ctr"/>
          <a:lstStyle/>
          <a:p>
            <a:pPr marL="0" indent="0">
              <a:buNone/>
            </a:pPr>
            <a:r>
              <a:rPr lang="en-US" sz="1300" dirty="0">
                <a:solidFill>
                  <a:srgbClr val="2D3030"/>
                </a:solidFill>
                <a:latin typeface="Arial" pitchFamily="34" charset="0"/>
                <a:ea typeface="Arial" pitchFamily="34" charset="-122"/>
                <a:cs typeface="Arial" pitchFamily="34" charset="-120"/>
              </a:rPr>
              <a:t>Escalabilidad: crece con las necesidades del negocio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109728"/>
            <a:ext cx="9144000" cy="713232"/>
          </a:xfrm>
          <a:prstGeom prst="rect">
            <a:avLst/>
          </a:prstGeom>
          <a:solidFill>
            <a:srgbClr val="FFFFFF"/>
          </a:solidFill>
          <a:ln w="12700">
            <a:solidFill>
              <a:srgbClr val="FFFFFF"/>
            </a:solidFill>
            <a:prstDash val="solid"/>
          </a:ln>
        </p:spPr>
        <p:txBody>
          <a:bodyPr/>
          <a:lstStyle/>
          <a:p>
            <a:endParaRPr lang="en-US"/>
          </a:p>
        </p:txBody>
      </p:sp>
      <p:sp>
        <p:nvSpPr>
          <p:cNvPr id="4" name="Text 2"/>
          <p:cNvSpPr/>
          <p:nvPr/>
        </p:nvSpPr>
        <p:spPr>
          <a:xfrm>
            <a:off x="320040" y="109728"/>
            <a:ext cx="8503920" cy="713232"/>
          </a:xfrm>
          <a:prstGeom prst="rect">
            <a:avLst/>
          </a:prstGeom>
          <a:noFill/>
          <a:ln/>
        </p:spPr>
        <p:txBody>
          <a:bodyPr wrap="square" lIns="0" tIns="0" rIns="0" bIns="0" rtlCol="0" anchor="ctr"/>
          <a:lstStyle/>
          <a:p>
            <a:pPr marL="0" indent="0">
              <a:buNone/>
            </a:pPr>
            <a:r>
              <a:rPr lang="en-US" sz="2200" b="1" dirty="0">
                <a:solidFill>
                  <a:srgbClr val="2D3030"/>
                </a:solidFill>
                <a:latin typeface="Arial" pitchFamily="34" charset="0"/>
                <a:ea typeface="Arial" pitchFamily="34" charset="-122"/>
                <a:cs typeface="Arial" pitchFamily="34" charset="-120"/>
              </a:rPr>
              <a:t>Desventajas del Trabajo en Red</a:t>
            </a:r>
            <a:endParaRPr lang="en-US" sz="2200" dirty="0"/>
          </a:p>
        </p:txBody>
      </p:sp>
      <p:sp>
        <p:nvSpPr>
          <p:cNvPr id="5" name="Shape 3"/>
          <p:cNvSpPr/>
          <p:nvPr/>
        </p:nvSpPr>
        <p:spPr>
          <a:xfrm>
            <a:off x="0" y="4892040"/>
            <a:ext cx="9144000" cy="251460"/>
          </a:xfrm>
          <a:prstGeom prst="rect">
            <a:avLst/>
          </a:prstGeom>
          <a:solidFill>
            <a:srgbClr val="2D3030"/>
          </a:solidFill>
          <a:ln w="12700">
            <a:solidFill>
              <a:srgbClr val="2D3030"/>
            </a:solidFill>
            <a:prstDash val="solid"/>
          </a:ln>
        </p:spPr>
        <p:txBody>
          <a:bodyPr/>
          <a:lstStyle/>
          <a:p>
            <a:endParaRPr lang="en-US"/>
          </a:p>
        </p:txBody>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808080"/>
                </a:solidFill>
                <a:latin typeface="Arial" pitchFamily="34" charset="0"/>
                <a:ea typeface="Arial" pitchFamily="34" charset="-122"/>
                <a:cs typeface="Arial" pitchFamily="34" charset="-120"/>
              </a:rPr>
              <a:t>IES – Redes y Comunicaciones | SP1/H1 | 2026</a:t>
            </a:r>
            <a:endParaRPr lang="en-US" sz="900" dirty="0"/>
          </a:p>
        </p:txBody>
      </p:sp>
      <p:sp>
        <p:nvSpPr>
          <p:cNvPr id="7" name="Shape 5"/>
          <p:cNvSpPr/>
          <p:nvPr/>
        </p:nvSpPr>
        <p:spPr>
          <a:xfrm>
            <a:off x="320040" y="1005840"/>
            <a:ext cx="2651760" cy="1600200"/>
          </a:xfrm>
          <a:prstGeom prst="rect">
            <a:avLst/>
          </a:prstGeom>
          <a:solidFill>
            <a:srgbClr val="FFFFFF"/>
          </a:solidFill>
          <a:ln w="12700">
            <a:solidFill>
              <a:srgbClr val="B9DEF8"/>
            </a:solidFill>
            <a:prstDash val="solid"/>
          </a:ln>
          <a:effectLst>
            <a:outerShdw blurRad="63500" dist="25400" dir="8100000" algn="bl" rotWithShape="0">
              <a:srgbClr val="000000">
                <a:alpha val="10000"/>
              </a:srgbClr>
            </a:outerShdw>
          </a:effectLst>
        </p:spPr>
        <p:txBody>
          <a:bodyPr/>
          <a:lstStyle/>
          <a:p>
            <a:endParaRPr lang="en-US"/>
          </a:p>
        </p:txBody>
      </p:sp>
      <p:sp>
        <p:nvSpPr>
          <p:cNvPr id="8" name="Shape 6"/>
          <p:cNvSpPr/>
          <p:nvPr/>
        </p:nvSpPr>
        <p:spPr>
          <a:xfrm>
            <a:off x="320040" y="1005840"/>
            <a:ext cx="2651760" cy="402336"/>
          </a:xfrm>
          <a:prstGeom prst="rect">
            <a:avLst/>
          </a:prstGeom>
          <a:solidFill>
            <a:srgbClr val="2D3030"/>
          </a:solidFill>
          <a:ln w="12700">
            <a:solidFill>
              <a:srgbClr val="2D3030"/>
            </a:solidFill>
            <a:prstDash val="solid"/>
          </a:ln>
        </p:spPr>
        <p:txBody>
          <a:bodyPr/>
          <a:lstStyle/>
          <a:p>
            <a:endParaRPr lang="en-US"/>
          </a:p>
        </p:txBody>
      </p:sp>
      <p:sp>
        <p:nvSpPr>
          <p:cNvPr id="9" name="Text 7"/>
          <p:cNvSpPr/>
          <p:nvPr/>
        </p:nvSpPr>
        <p:spPr>
          <a:xfrm>
            <a:off x="393192" y="1005840"/>
            <a:ext cx="2542032" cy="40233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Inversión inicial</a:t>
            </a:r>
            <a:endParaRPr lang="en-US" sz="1200" dirty="0"/>
          </a:p>
        </p:txBody>
      </p:sp>
      <p:sp>
        <p:nvSpPr>
          <p:cNvPr id="10" name="Text 8"/>
          <p:cNvSpPr/>
          <p:nvPr/>
        </p:nvSpPr>
        <p:spPr>
          <a:xfrm>
            <a:off x="411480" y="1463040"/>
            <a:ext cx="2487168" cy="1069848"/>
          </a:xfrm>
          <a:prstGeom prst="rect">
            <a:avLst/>
          </a:prstGeom>
          <a:noFill/>
          <a:ln/>
        </p:spPr>
        <p:txBody>
          <a:bodyPr wrap="square" lIns="25400" tIns="25400" rIns="25400" bIns="25400" rtlCol="0" anchor="t"/>
          <a:lstStyle/>
          <a:p>
            <a:pPr marL="0" indent="0">
              <a:buNone/>
            </a:pPr>
            <a:r>
              <a:rPr lang="en-US" sz="1100" dirty="0">
                <a:solidFill>
                  <a:srgbClr val="404040"/>
                </a:solidFill>
                <a:latin typeface="Arial" pitchFamily="34" charset="0"/>
                <a:ea typeface="Arial" pitchFamily="34" charset="-122"/>
                <a:cs typeface="Arial" pitchFamily="34" charset="-120"/>
              </a:rPr>
              <a:t>Hardware, software de red, instalación y configuración tienen un costo inicial importante.</a:t>
            </a:r>
            <a:endParaRPr lang="en-US" sz="1100" dirty="0"/>
          </a:p>
        </p:txBody>
      </p:sp>
      <p:sp>
        <p:nvSpPr>
          <p:cNvPr id="11" name="Shape 9"/>
          <p:cNvSpPr/>
          <p:nvPr/>
        </p:nvSpPr>
        <p:spPr>
          <a:xfrm>
            <a:off x="320040" y="2834640"/>
            <a:ext cx="2651760" cy="1600200"/>
          </a:xfrm>
          <a:prstGeom prst="rect">
            <a:avLst/>
          </a:prstGeom>
          <a:solidFill>
            <a:srgbClr val="FFFFFF"/>
          </a:solidFill>
          <a:ln w="12700">
            <a:solidFill>
              <a:srgbClr val="B9DEF8"/>
            </a:solidFill>
            <a:prstDash val="solid"/>
          </a:ln>
          <a:effectLst>
            <a:outerShdw blurRad="63500" dist="25400" dir="8100000" algn="bl" rotWithShape="0">
              <a:srgbClr val="000000">
                <a:alpha val="10000"/>
              </a:srgbClr>
            </a:outerShdw>
          </a:effectLst>
        </p:spPr>
        <p:txBody>
          <a:bodyPr/>
          <a:lstStyle/>
          <a:p>
            <a:endParaRPr lang="en-US"/>
          </a:p>
        </p:txBody>
      </p:sp>
      <p:sp>
        <p:nvSpPr>
          <p:cNvPr id="12" name="Shape 10"/>
          <p:cNvSpPr/>
          <p:nvPr/>
        </p:nvSpPr>
        <p:spPr>
          <a:xfrm>
            <a:off x="320040" y="2834640"/>
            <a:ext cx="2651760" cy="402336"/>
          </a:xfrm>
          <a:prstGeom prst="rect">
            <a:avLst/>
          </a:prstGeom>
          <a:solidFill>
            <a:srgbClr val="2D3030"/>
          </a:solidFill>
          <a:ln w="12700">
            <a:solidFill>
              <a:srgbClr val="2D3030"/>
            </a:solidFill>
            <a:prstDash val="solid"/>
          </a:ln>
        </p:spPr>
        <p:txBody>
          <a:bodyPr/>
          <a:lstStyle/>
          <a:p>
            <a:endParaRPr lang="en-US"/>
          </a:p>
        </p:txBody>
      </p:sp>
      <p:sp>
        <p:nvSpPr>
          <p:cNvPr id="13" name="Text 11"/>
          <p:cNvSpPr/>
          <p:nvPr/>
        </p:nvSpPr>
        <p:spPr>
          <a:xfrm>
            <a:off x="393192" y="2834640"/>
            <a:ext cx="2542032" cy="40233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Dependencia de la red</a:t>
            </a:r>
            <a:endParaRPr lang="en-US" sz="1200" dirty="0"/>
          </a:p>
        </p:txBody>
      </p:sp>
      <p:sp>
        <p:nvSpPr>
          <p:cNvPr id="14" name="Text 12"/>
          <p:cNvSpPr/>
          <p:nvPr/>
        </p:nvSpPr>
        <p:spPr>
          <a:xfrm>
            <a:off x="411480" y="3291840"/>
            <a:ext cx="2487168" cy="1069848"/>
          </a:xfrm>
          <a:prstGeom prst="rect">
            <a:avLst/>
          </a:prstGeom>
          <a:noFill/>
          <a:ln/>
        </p:spPr>
        <p:txBody>
          <a:bodyPr wrap="square" lIns="25400" tIns="25400" rIns="25400" bIns="25400" rtlCol="0" anchor="t"/>
          <a:lstStyle/>
          <a:p>
            <a:pPr marL="0" indent="0">
              <a:buNone/>
            </a:pPr>
            <a:r>
              <a:rPr lang="en-US" sz="1100" dirty="0">
                <a:solidFill>
                  <a:srgbClr val="404040"/>
                </a:solidFill>
                <a:latin typeface="Arial" pitchFamily="34" charset="0"/>
                <a:ea typeface="Arial" pitchFamily="34" charset="-122"/>
                <a:cs typeface="Arial" pitchFamily="34" charset="-120"/>
              </a:rPr>
              <a:t>Si la red falla, todos los servicios quedan inaccesibles. Requiere planes de contingencia.</a:t>
            </a:r>
            <a:endParaRPr lang="en-US" sz="1100" dirty="0"/>
          </a:p>
        </p:txBody>
      </p:sp>
      <p:sp>
        <p:nvSpPr>
          <p:cNvPr id="15" name="Shape 13"/>
          <p:cNvSpPr/>
          <p:nvPr/>
        </p:nvSpPr>
        <p:spPr>
          <a:xfrm>
            <a:off x="3246120" y="1005840"/>
            <a:ext cx="2651760" cy="1600200"/>
          </a:xfrm>
          <a:prstGeom prst="rect">
            <a:avLst/>
          </a:prstGeom>
          <a:solidFill>
            <a:srgbClr val="FFFFFF"/>
          </a:solidFill>
          <a:ln w="12700">
            <a:solidFill>
              <a:srgbClr val="B9DEF8"/>
            </a:solidFill>
            <a:prstDash val="solid"/>
          </a:ln>
          <a:effectLst>
            <a:outerShdw blurRad="63500" dist="25400" dir="8100000" algn="bl" rotWithShape="0">
              <a:srgbClr val="000000">
                <a:alpha val="10000"/>
              </a:srgbClr>
            </a:outerShdw>
          </a:effectLst>
        </p:spPr>
        <p:txBody>
          <a:bodyPr/>
          <a:lstStyle/>
          <a:p>
            <a:endParaRPr lang="en-US"/>
          </a:p>
        </p:txBody>
      </p:sp>
      <p:sp>
        <p:nvSpPr>
          <p:cNvPr id="16" name="Shape 14"/>
          <p:cNvSpPr/>
          <p:nvPr/>
        </p:nvSpPr>
        <p:spPr>
          <a:xfrm>
            <a:off x="3246120" y="1005840"/>
            <a:ext cx="2651760" cy="402336"/>
          </a:xfrm>
          <a:prstGeom prst="rect">
            <a:avLst/>
          </a:prstGeom>
          <a:solidFill>
            <a:srgbClr val="2D3030"/>
          </a:solidFill>
          <a:ln w="12700">
            <a:solidFill>
              <a:srgbClr val="2D3030"/>
            </a:solidFill>
            <a:prstDash val="solid"/>
          </a:ln>
        </p:spPr>
        <p:txBody>
          <a:bodyPr/>
          <a:lstStyle/>
          <a:p>
            <a:endParaRPr lang="en-US"/>
          </a:p>
        </p:txBody>
      </p:sp>
      <p:sp>
        <p:nvSpPr>
          <p:cNvPr id="17" name="Text 15"/>
          <p:cNvSpPr/>
          <p:nvPr/>
        </p:nvSpPr>
        <p:spPr>
          <a:xfrm>
            <a:off x="3319272" y="1005840"/>
            <a:ext cx="2542032" cy="40233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Capacitación necesaria</a:t>
            </a:r>
            <a:endParaRPr lang="en-US" sz="1200" dirty="0"/>
          </a:p>
        </p:txBody>
      </p:sp>
      <p:sp>
        <p:nvSpPr>
          <p:cNvPr id="18" name="Text 16"/>
          <p:cNvSpPr/>
          <p:nvPr/>
        </p:nvSpPr>
        <p:spPr>
          <a:xfrm>
            <a:off x="3337560" y="1463040"/>
            <a:ext cx="2487168" cy="1069848"/>
          </a:xfrm>
          <a:prstGeom prst="rect">
            <a:avLst/>
          </a:prstGeom>
          <a:noFill/>
          <a:ln/>
        </p:spPr>
        <p:txBody>
          <a:bodyPr wrap="square" lIns="25400" tIns="25400" rIns="25400" bIns="25400" rtlCol="0" anchor="t"/>
          <a:lstStyle/>
          <a:p>
            <a:pPr marL="0" indent="0">
              <a:buNone/>
            </a:pPr>
            <a:r>
              <a:rPr lang="en-US" sz="1100" dirty="0">
                <a:solidFill>
                  <a:srgbClr val="404040"/>
                </a:solidFill>
                <a:latin typeface="Arial" pitchFamily="34" charset="0"/>
                <a:ea typeface="Arial" pitchFamily="34" charset="-122"/>
                <a:cs typeface="Arial" pitchFamily="34" charset="-120"/>
              </a:rPr>
              <a:t>Los usuarios y administradores deben aprender nuevos sistemas y procedimientos.</a:t>
            </a:r>
            <a:endParaRPr lang="en-US" sz="1100" dirty="0"/>
          </a:p>
        </p:txBody>
      </p:sp>
      <p:sp>
        <p:nvSpPr>
          <p:cNvPr id="19" name="Shape 17"/>
          <p:cNvSpPr/>
          <p:nvPr/>
        </p:nvSpPr>
        <p:spPr>
          <a:xfrm>
            <a:off x="3246120" y="2834640"/>
            <a:ext cx="2651760" cy="1600200"/>
          </a:xfrm>
          <a:prstGeom prst="rect">
            <a:avLst/>
          </a:prstGeom>
          <a:solidFill>
            <a:srgbClr val="FFFFFF"/>
          </a:solidFill>
          <a:ln w="12700">
            <a:solidFill>
              <a:srgbClr val="B9DEF8"/>
            </a:solidFill>
            <a:prstDash val="solid"/>
          </a:ln>
          <a:effectLst>
            <a:outerShdw blurRad="63500" dist="25400" dir="8100000" algn="bl" rotWithShape="0">
              <a:srgbClr val="000000">
                <a:alpha val="10000"/>
              </a:srgbClr>
            </a:outerShdw>
          </a:effectLst>
        </p:spPr>
        <p:txBody>
          <a:bodyPr/>
          <a:lstStyle/>
          <a:p>
            <a:endParaRPr lang="en-US"/>
          </a:p>
        </p:txBody>
      </p:sp>
      <p:sp>
        <p:nvSpPr>
          <p:cNvPr id="20" name="Shape 18"/>
          <p:cNvSpPr/>
          <p:nvPr/>
        </p:nvSpPr>
        <p:spPr>
          <a:xfrm>
            <a:off x="3246120" y="2834640"/>
            <a:ext cx="2651760" cy="402336"/>
          </a:xfrm>
          <a:prstGeom prst="rect">
            <a:avLst/>
          </a:prstGeom>
          <a:solidFill>
            <a:srgbClr val="2D3030"/>
          </a:solidFill>
          <a:ln w="12700">
            <a:solidFill>
              <a:srgbClr val="2D3030"/>
            </a:solidFill>
            <a:prstDash val="solid"/>
          </a:ln>
        </p:spPr>
        <p:txBody>
          <a:bodyPr/>
          <a:lstStyle/>
          <a:p>
            <a:endParaRPr lang="en-US"/>
          </a:p>
        </p:txBody>
      </p:sp>
      <p:sp>
        <p:nvSpPr>
          <p:cNvPr id="21" name="Text 19"/>
          <p:cNvSpPr/>
          <p:nvPr/>
        </p:nvSpPr>
        <p:spPr>
          <a:xfrm>
            <a:off x="3319272" y="2834640"/>
            <a:ext cx="2542032" cy="40233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Administración permanente</a:t>
            </a:r>
            <a:endParaRPr lang="en-US" sz="1200" dirty="0"/>
          </a:p>
        </p:txBody>
      </p:sp>
      <p:sp>
        <p:nvSpPr>
          <p:cNvPr id="22" name="Text 20"/>
          <p:cNvSpPr/>
          <p:nvPr/>
        </p:nvSpPr>
        <p:spPr>
          <a:xfrm>
            <a:off x="3337560" y="3291840"/>
            <a:ext cx="2487168" cy="1069848"/>
          </a:xfrm>
          <a:prstGeom prst="rect">
            <a:avLst/>
          </a:prstGeom>
          <a:noFill/>
          <a:ln/>
        </p:spPr>
        <p:txBody>
          <a:bodyPr wrap="square" lIns="25400" tIns="25400" rIns="25400" bIns="25400" rtlCol="0" anchor="t"/>
          <a:lstStyle/>
          <a:p>
            <a:pPr marL="0" indent="0">
              <a:buNone/>
            </a:pPr>
            <a:r>
              <a:rPr lang="en-US" sz="1100" dirty="0">
                <a:solidFill>
                  <a:srgbClr val="404040"/>
                </a:solidFill>
                <a:latin typeface="Arial" pitchFamily="34" charset="0"/>
                <a:ea typeface="Arial" pitchFamily="34" charset="-122"/>
                <a:cs typeface="Arial" pitchFamily="34" charset="-120"/>
              </a:rPr>
              <a:t>Redes medianas y grandes requieren un administrador de red dedicado.</a:t>
            </a:r>
            <a:endParaRPr lang="en-US" sz="1100" dirty="0"/>
          </a:p>
        </p:txBody>
      </p:sp>
      <p:sp>
        <p:nvSpPr>
          <p:cNvPr id="23" name="Shape 21"/>
          <p:cNvSpPr/>
          <p:nvPr/>
        </p:nvSpPr>
        <p:spPr>
          <a:xfrm>
            <a:off x="6172200" y="1005840"/>
            <a:ext cx="2651760" cy="1600200"/>
          </a:xfrm>
          <a:prstGeom prst="rect">
            <a:avLst/>
          </a:prstGeom>
          <a:solidFill>
            <a:srgbClr val="FFFFFF"/>
          </a:solidFill>
          <a:ln w="12700">
            <a:solidFill>
              <a:srgbClr val="B9DEF8"/>
            </a:solidFill>
            <a:prstDash val="solid"/>
          </a:ln>
          <a:effectLst>
            <a:outerShdw blurRad="63500" dist="25400" dir="8100000" algn="bl" rotWithShape="0">
              <a:srgbClr val="000000">
                <a:alpha val="10000"/>
              </a:srgbClr>
            </a:outerShdw>
          </a:effectLst>
        </p:spPr>
        <p:txBody>
          <a:bodyPr/>
          <a:lstStyle/>
          <a:p>
            <a:endParaRPr lang="en-US"/>
          </a:p>
        </p:txBody>
      </p:sp>
      <p:sp>
        <p:nvSpPr>
          <p:cNvPr id="24" name="Shape 22"/>
          <p:cNvSpPr/>
          <p:nvPr/>
        </p:nvSpPr>
        <p:spPr>
          <a:xfrm>
            <a:off x="6172200" y="1005840"/>
            <a:ext cx="2651760" cy="402336"/>
          </a:xfrm>
          <a:prstGeom prst="rect">
            <a:avLst/>
          </a:prstGeom>
          <a:solidFill>
            <a:srgbClr val="2D3030"/>
          </a:solidFill>
          <a:ln w="12700">
            <a:solidFill>
              <a:srgbClr val="2D3030"/>
            </a:solidFill>
            <a:prstDash val="solid"/>
          </a:ln>
        </p:spPr>
        <p:txBody>
          <a:bodyPr/>
          <a:lstStyle/>
          <a:p>
            <a:endParaRPr lang="en-US"/>
          </a:p>
        </p:txBody>
      </p:sp>
      <p:sp>
        <p:nvSpPr>
          <p:cNvPr id="25" name="Text 23"/>
          <p:cNvSpPr/>
          <p:nvPr/>
        </p:nvSpPr>
        <p:spPr>
          <a:xfrm>
            <a:off x="6245352" y="1005840"/>
            <a:ext cx="2542032" cy="40233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Resistencia al cambio</a:t>
            </a:r>
            <a:endParaRPr lang="en-US" sz="1200" dirty="0"/>
          </a:p>
        </p:txBody>
      </p:sp>
      <p:sp>
        <p:nvSpPr>
          <p:cNvPr id="26" name="Text 24"/>
          <p:cNvSpPr/>
          <p:nvPr/>
        </p:nvSpPr>
        <p:spPr>
          <a:xfrm>
            <a:off x="6263640" y="1463040"/>
            <a:ext cx="2487168" cy="1069848"/>
          </a:xfrm>
          <a:prstGeom prst="rect">
            <a:avLst/>
          </a:prstGeom>
          <a:noFill/>
          <a:ln/>
        </p:spPr>
        <p:txBody>
          <a:bodyPr wrap="square" lIns="25400" tIns="25400" rIns="25400" bIns="25400" rtlCol="0" anchor="t"/>
          <a:lstStyle/>
          <a:p>
            <a:pPr marL="0" indent="0">
              <a:buNone/>
            </a:pPr>
            <a:r>
              <a:rPr lang="en-US" sz="1100" dirty="0">
                <a:solidFill>
                  <a:srgbClr val="404040"/>
                </a:solidFill>
                <a:latin typeface="Arial" pitchFamily="34" charset="0"/>
                <a:ea typeface="Arial" pitchFamily="34" charset="-122"/>
                <a:cs typeface="Arial" pitchFamily="34" charset="-120"/>
              </a:rPr>
              <a:t>Algunos usuarios pueden oponerse inicialmente, reduciendo productividad durante la transición.</a:t>
            </a:r>
            <a:endParaRPr lang="en-US" sz="1100" dirty="0"/>
          </a:p>
        </p:txBody>
      </p:sp>
      <p:sp>
        <p:nvSpPr>
          <p:cNvPr id="27" name="Shape 25"/>
          <p:cNvSpPr/>
          <p:nvPr/>
        </p:nvSpPr>
        <p:spPr>
          <a:xfrm>
            <a:off x="6172200" y="2834640"/>
            <a:ext cx="2651760" cy="1600200"/>
          </a:xfrm>
          <a:prstGeom prst="rect">
            <a:avLst/>
          </a:prstGeom>
          <a:solidFill>
            <a:srgbClr val="FFF0F0"/>
          </a:solidFill>
          <a:ln w="25400">
            <a:solidFill>
              <a:srgbClr val="D04040"/>
            </a:solidFill>
            <a:prstDash val="solid"/>
          </a:ln>
          <a:effectLst>
            <a:outerShdw blurRad="63500" dist="25400" dir="8100000" algn="bl" rotWithShape="0">
              <a:srgbClr val="000000">
                <a:alpha val="10000"/>
              </a:srgbClr>
            </a:outerShdw>
          </a:effectLst>
        </p:spPr>
        <p:txBody>
          <a:bodyPr/>
          <a:lstStyle/>
          <a:p>
            <a:endParaRPr lang="en-US"/>
          </a:p>
        </p:txBody>
      </p:sp>
      <p:sp>
        <p:nvSpPr>
          <p:cNvPr id="28" name="Shape 26"/>
          <p:cNvSpPr/>
          <p:nvPr/>
        </p:nvSpPr>
        <p:spPr>
          <a:xfrm>
            <a:off x="6172200" y="2834640"/>
            <a:ext cx="2651760" cy="402336"/>
          </a:xfrm>
          <a:prstGeom prst="rect">
            <a:avLst/>
          </a:prstGeom>
          <a:solidFill>
            <a:srgbClr val="D04040"/>
          </a:solidFill>
          <a:ln w="12700">
            <a:solidFill>
              <a:srgbClr val="D04040"/>
            </a:solidFill>
            <a:prstDash val="solid"/>
          </a:ln>
        </p:spPr>
        <p:txBody>
          <a:bodyPr/>
          <a:lstStyle/>
          <a:p>
            <a:endParaRPr lang="en-US"/>
          </a:p>
        </p:txBody>
      </p:sp>
      <p:sp>
        <p:nvSpPr>
          <p:cNvPr id="29" name="Text 27"/>
          <p:cNvSpPr/>
          <p:nvPr/>
        </p:nvSpPr>
        <p:spPr>
          <a:xfrm>
            <a:off x="6245352" y="2834640"/>
            <a:ext cx="2542032" cy="40233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Ciberseguridad (2026)</a:t>
            </a:r>
            <a:endParaRPr lang="en-US" sz="1200" dirty="0"/>
          </a:p>
        </p:txBody>
      </p:sp>
      <p:sp>
        <p:nvSpPr>
          <p:cNvPr id="30" name="Text 28"/>
          <p:cNvSpPr/>
          <p:nvPr/>
        </p:nvSpPr>
        <p:spPr>
          <a:xfrm>
            <a:off x="6263640" y="3291840"/>
            <a:ext cx="2487168" cy="1069848"/>
          </a:xfrm>
          <a:prstGeom prst="rect">
            <a:avLst/>
          </a:prstGeom>
          <a:noFill/>
          <a:ln/>
        </p:spPr>
        <p:txBody>
          <a:bodyPr wrap="square" lIns="25400" tIns="25400" rIns="25400" bIns="25400" rtlCol="0" anchor="t"/>
          <a:lstStyle/>
          <a:p>
            <a:pPr marL="0" indent="0">
              <a:buNone/>
            </a:pPr>
            <a:r>
              <a:rPr lang="en-US" sz="1100" dirty="0">
                <a:solidFill>
                  <a:srgbClr val="404040"/>
                </a:solidFill>
                <a:latin typeface="Arial" pitchFamily="34" charset="0"/>
                <a:ea typeface="Arial" pitchFamily="34" charset="-122"/>
                <a:cs typeface="Arial" pitchFamily="34" charset="-120"/>
              </a:rPr>
              <a:t>Principal riesgo actual: ransomware, phishing, intrusiones. La seguridad es crítica y costosa.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535"/>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457200" y="182880"/>
            <a:ext cx="8229600" cy="594360"/>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 Redes en 2026: Más allá de las computadoras</a:t>
            </a:r>
            <a:endParaRPr lang="en-US" sz="2300" dirty="0"/>
          </a:p>
        </p:txBody>
      </p:sp>
      <p:sp>
        <p:nvSpPr>
          <p:cNvPr id="4" name="Shape 2"/>
          <p:cNvSpPr/>
          <p:nvPr/>
        </p:nvSpPr>
        <p:spPr>
          <a:xfrm>
            <a:off x="320040" y="914400"/>
            <a:ext cx="2651760" cy="1481328"/>
          </a:xfrm>
          <a:prstGeom prst="rect">
            <a:avLst/>
          </a:prstGeom>
          <a:solidFill>
            <a:srgbClr val="253045"/>
          </a:solidFill>
          <a:ln w="12700">
            <a:solidFill>
              <a:srgbClr val="3A7BAA"/>
            </a:solidFill>
            <a:prstDash val="solid"/>
          </a:ln>
        </p:spPr>
        <p:txBody>
          <a:bodyPr/>
          <a:lstStyle/>
          <a:p>
            <a:endParaRPr lang="en-US"/>
          </a:p>
        </p:txBody>
      </p:sp>
      <p:sp>
        <p:nvSpPr>
          <p:cNvPr id="5" name="Text 3"/>
          <p:cNvSpPr/>
          <p:nvPr/>
        </p:nvSpPr>
        <p:spPr>
          <a:xfrm>
            <a:off x="393192" y="987552"/>
            <a:ext cx="384048" cy="38404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6" name="Text 4"/>
          <p:cNvSpPr/>
          <p:nvPr/>
        </p:nvSpPr>
        <p:spPr>
          <a:xfrm>
            <a:off x="795528" y="987552"/>
            <a:ext cx="2103120" cy="384048"/>
          </a:xfrm>
          <a:prstGeom prst="rect">
            <a:avLst/>
          </a:prstGeom>
          <a:noFill/>
          <a:ln/>
        </p:spPr>
        <p:txBody>
          <a:bodyPr wrap="square" lIns="0" tIns="0" rIns="0" bIns="0" rtlCol="0" anchor="ctr"/>
          <a:lstStyle/>
          <a:p>
            <a:pPr marL="0" indent="0">
              <a:buNone/>
            </a:pPr>
            <a:r>
              <a:rPr lang="en-US" sz="1300" b="1" dirty="0">
                <a:solidFill>
                  <a:srgbClr val="5AA8D8"/>
                </a:solidFill>
                <a:latin typeface="Arial" pitchFamily="34" charset="0"/>
                <a:ea typeface="Arial" pitchFamily="34" charset="-122"/>
                <a:cs typeface="Arial" pitchFamily="34" charset="-120"/>
              </a:rPr>
              <a:t>5G y Wi-Fi 6E</a:t>
            </a:r>
            <a:endParaRPr lang="en-US" sz="1300" dirty="0"/>
          </a:p>
        </p:txBody>
      </p:sp>
      <p:sp>
        <p:nvSpPr>
          <p:cNvPr id="7" name="Text 5"/>
          <p:cNvSpPr/>
          <p:nvPr/>
        </p:nvSpPr>
        <p:spPr>
          <a:xfrm>
            <a:off x="411480" y="1426464"/>
            <a:ext cx="2487168" cy="914400"/>
          </a:xfrm>
          <a:prstGeom prst="rect">
            <a:avLst/>
          </a:prstGeom>
          <a:noFill/>
          <a:ln/>
        </p:spPr>
        <p:txBody>
          <a:bodyPr wrap="square" lIns="25400" tIns="25400" rIns="25400" bIns="25400" rtlCol="0" anchor="t"/>
          <a:lstStyle/>
          <a:p>
            <a:pPr marL="0" indent="0">
              <a:buNone/>
            </a:pPr>
            <a:r>
              <a:rPr lang="en-US" sz="1100" dirty="0">
                <a:solidFill>
                  <a:srgbClr val="B9DEF8"/>
                </a:solidFill>
                <a:latin typeface="Arial" pitchFamily="34" charset="0"/>
                <a:ea typeface="Arial" pitchFamily="34" charset="-122"/>
                <a:cs typeface="Arial" pitchFamily="34" charset="-120"/>
              </a:rPr>
              <a:t>Velocidades de hasta 10 Gbps. Latencia ultra baja. Base para IoT masivo, vehículos autónomos y ciudades inteligentes.</a:t>
            </a:r>
            <a:endParaRPr lang="en-US" sz="1100" dirty="0"/>
          </a:p>
        </p:txBody>
      </p:sp>
      <p:sp>
        <p:nvSpPr>
          <p:cNvPr id="8" name="Shape 6"/>
          <p:cNvSpPr/>
          <p:nvPr/>
        </p:nvSpPr>
        <p:spPr>
          <a:xfrm>
            <a:off x="320040" y="2596896"/>
            <a:ext cx="2651760" cy="1481328"/>
          </a:xfrm>
          <a:prstGeom prst="rect">
            <a:avLst/>
          </a:prstGeom>
          <a:solidFill>
            <a:srgbClr val="253045"/>
          </a:solidFill>
          <a:ln w="12700">
            <a:solidFill>
              <a:srgbClr val="3A7BAA"/>
            </a:solidFill>
            <a:prstDash val="solid"/>
          </a:ln>
        </p:spPr>
        <p:txBody>
          <a:bodyPr/>
          <a:lstStyle/>
          <a:p>
            <a:endParaRPr lang="en-US"/>
          </a:p>
        </p:txBody>
      </p:sp>
      <p:sp>
        <p:nvSpPr>
          <p:cNvPr id="9" name="Text 7"/>
          <p:cNvSpPr/>
          <p:nvPr/>
        </p:nvSpPr>
        <p:spPr>
          <a:xfrm>
            <a:off x="393192" y="2670048"/>
            <a:ext cx="384048" cy="38404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0" name="Text 8"/>
          <p:cNvSpPr/>
          <p:nvPr/>
        </p:nvSpPr>
        <p:spPr>
          <a:xfrm>
            <a:off x="795528" y="2670048"/>
            <a:ext cx="2103120" cy="384048"/>
          </a:xfrm>
          <a:prstGeom prst="rect">
            <a:avLst/>
          </a:prstGeom>
          <a:noFill/>
          <a:ln/>
        </p:spPr>
        <p:txBody>
          <a:bodyPr wrap="square" lIns="0" tIns="0" rIns="0" bIns="0" rtlCol="0" anchor="ctr"/>
          <a:lstStyle/>
          <a:p>
            <a:pPr marL="0" indent="0">
              <a:buNone/>
            </a:pPr>
            <a:r>
              <a:rPr lang="en-US" sz="1300" b="1" dirty="0">
                <a:solidFill>
                  <a:srgbClr val="5AA8D8"/>
                </a:solidFill>
                <a:latin typeface="Arial" pitchFamily="34" charset="0"/>
                <a:ea typeface="Arial" pitchFamily="34" charset="-122"/>
                <a:cs typeface="Arial" pitchFamily="34" charset="-120"/>
              </a:rPr>
              <a:t>Cloud Computing</a:t>
            </a:r>
            <a:endParaRPr lang="en-US" sz="1300" dirty="0"/>
          </a:p>
        </p:txBody>
      </p:sp>
      <p:sp>
        <p:nvSpPr>
          <p:cNvPr id="11" name="Text 9"/>
          <p:cNvSpPr/>
          <p:nvPr/>
        </p:nvSpPr>
        <p:spPr>
          <a:xfrm>
            <a:off x="411480" y="3108960"/>
            <a:ext cx="2487168" cy="914400"/>
          </a:xfrm>
          <a:prstGeom prst="rect">
            <a:avLst/>
          </a:prstGeom>
          <a:noFill/>
          <a:ln/>
        </p:spPr>
        <p:txBody>
          <a:bodyPr wrap="square" lIns="25400" tIns="25400" rIns="25400" bIns="25400" rtlCol="0" anchor="t"/>
          <a:lstStyle/>
          <a:p>
            <a:pPr marL="0" indent="0">
              <a:buNone/>
            </a:pPr>
            <a:r>
              <a:rPr lang="en-US" sz="1100" dirty="0">
                <a:solidFill>
                  <a:srgbClr val="B9DEF8"/>
                </a:solidFill>
                <a:latin typeface="Arial" pitchFamily="34" charset="0"/>
                <a:ea typeface="Arial" pitchFamily="34" charset="-122"/>
                <a:cs typeface="Arial" pitchFamily="34" charset="-120"/>
              </a:rPr>
              <a:t>AWS, Azure, Google Cloud. La red como plataforma de servicios. Almacenamiento, cómputo y IA accesibles vía Internet.</a:t>
            </a:r>
            <a:endParaRPr lang="en-US" sz="1100" dirty="0"/>
          </a:p>
        </p:txBody>
      </p:sp>
      <p:sp>
        <p:nvSpPr>
          <p:cNvPr id="12" name="Shape 10"/>
          <p:cNvSpPr/>
          <p:nvPr/>
        </p:nvSpPr>
        <p:spPr>
          <a:xfrm>
            <a:off x="3200400" y="914400"/>
            <a:ext cx="2651760" cy="1481328"/>
          </a:xfrm>
          <a:prstGeom prst="rect">
            <a:avLst/>
          </a:prstGeom>
          <a:solidFill>
            <a:srgbClr val="253045"/>
          </a:solidFill>
          <a:ln w="12700">
            <a:solidFill>
              <a:srgbClr val="3A7BAA"/>
            </a:solidFill>
            <a:prstDash val="solid"/>
          </a:ln>
        </p:spPr>
        <p:txBody>
          <a:bodyPr/>
          <a:lstStyle/>
          <a:p>
            <a:endParaRPr lang="en-US"/>
          </a:p>
        </p:txBody>
      </p:sp>
      <p:sp>
        <p:nvSpPr>
          <p:cNvPr id="13" name="Text 11"/>
          <p:cNvSpPr/>
          <p:nvPr/>
        </p:nvSpPr>
        <p:spPr>
          <a:xfrm>
            <a:off x="3273552" y="987552"/>
            <a:ext cx="384048" cy="38404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3675888" y="987552"/>
            <a:ext cx="2103120" cy="384048"/>
          </a:xfrm>
          <a:prstGeom prst="rect">
            <a:avLst/>
          </a:prstGeom>
          <a:noFill/>
          <a:ln/>
        </p:spPr>
        <p:txBody>
          <a:bodyPr wrap="square" lIns="0" tIns="0" rIns="0" bIns="0" rtlCol="0" anchor="ctr"/>
          <a:lstStyle/>
          <a:p>
            <a:pPr marL="0" indent="0">
              <a:buNone/>
            </a:pPr>
            <a:r>
              <a:rPr lang="en-US" sz="1300" b="1" dirty="0">
                <a:solidFill>
                  <a:srgbClr val="5AA8D8"/>
                </a:solidFill>
                <a:latin typeface="Arial" pitchFamily="34" charset="0"/>
                <a:ea typeface="Arial" pitchFamily="34" charset="-122"/>
                <a:cs typeface="Arial" pitchFamily="34" charset="-120"/>
              </a:rPr>
              <a:t>IoT (Internet of Things)</a:t>
            </a:r>
            <a:endParaRPr lang="en-US" sz="1300" dirty="0"/>
          </a:p>
        </p:txBody>
      </p:sp>
      <p:sp>
        <p:nvSpPr>
          <p:cNvPr id="15" name="Text 13"/>
          <p:cNvSpPr/>
          <p:nvPr/>
        </p:nvSpPr>
        <p:spPr>
          <a:xfrm>
            <a:off x="3291840" y="1426464"/>
            <a:ext cx="2487168" cy="914400"/>
          </a:xfrm>
          <a:prstGeom prst="rect">
            <a:avLst/>
          </a:prstGeom>
          <a:noFill/>
          <a:ln/>
        </p:spPr>
        <p:txBody>
          <a:bodyPr wrap="square" lIns="25400" tIns="25400" rIns="25400" bIns="25400" rtlCol="0" anchor="t"/>
          <a:lstStyle/>
          <a:p>
            <a:pPr marL="0" indent="0">
              <a:buNone/>
            </a:pPr>
            <a:r>
              <a:rPr lang="en-US" sz="1100" dirty="0">
                <a:solidFill>
                  <a:srgbClr val="B9DEF8"/>
                </a:solidFill>
                <a:latin typeface="Arial" pitchFamily="34" charset="0"/>
                <a:ea typeface="Arial" pitchFamily="34" charset="-122"/>
                <a:cs typeface="Arial" pitchFamily="34" charset="-120"/>
              </a:rPr>
              <a:t>Miles de millones de dispositivos conectados: sensores, cámaras, wearables, electrodomésticos. Todos son hosts en la red.</a:t>
            </a:r>
            <a:endParaRPr lang="en-US" sz="1100" dirty="0"/>
          </a:p>
        </p:txBody>
      </p:sp>
      <p:sp>
        <p:nvSpPr>
          <p:cNvPr id="16" name="Shape 14"/>
          <p:cNvSpPr/>
          <p:nvPr/>
        </p:nvSpPr>
        <p:spPr>
          <a:xfrm>
            <a:off x="3200400" y="2596896"/>
            <a:ext cx="2651760" cy="1481328"/>
          </a:xfrm>
          <a:prstGeom prst="rect">
            <a:avLst/>
          </a:prstGeom>
          <a:solidFill>
            <a:srgbClr val="253045"/>
          </a:solidFill>
          <a:ln w="12700">
            <a:solidFill>
              <a:srgbClr val="3A7BAA"/>
            </a:solidFill>
            <a:prstDash val="solid"/>
          </a:ln>
        </p:spPr>
        <p:txBody>
          <a:bodyPr/>
          <a:lstStyle/>
          <a:p>
            <a:endParaRPr lang="en-US"/>
          </a:p>
        </p:txBody>
      </p:sp>
      <p:sp>
        <p:nvSpPr>
          <p:cNvPr id="17" name="Text 15"/>
          <p:cNvSpPr/>
          <p:nvPr/>
        </p:nvSpPr>
        <p:spPr>
          <a:xfrm>
            <a:off x="3273552" y="2670048"/>
            <a:ext cx="384048" cy="38404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3675888" y="2670048"/>
            <a:ext cx="2103120" cy="384048"/>
          </a:xfrm>
          <a:prstGeom prst="rect">
            <a:avLst/>
          </a:prstGeom>
          <a:noFill/>
          <a:ln/>
        </p:spPr>
        <p:txBody>
          <a:bodyPr wrap="square" lIns="0" tIns="0" rIns="0" bIns="0" rtlCol="0" anchor="ctr"/>
          <a:lstStyle/>
          <a:p>
            <a:pPr marL="0" indent="0">
              <a:buNone/>
            </a:pPr>
            <a:r>
              <a:rPr lang="en-US" sz="1300" b="1" dirty="0">
                <a:solidFill>
                  <a:srgbClr val="5AA8D8"/>
                </a:solidFill>
                <a:latin typeface="Arial" pitchFamily="34" charset="0"/>
                <a:ea typeface="Arial" pitchFamily="34" charset="-122"/>
                <a:cs typeface="Arial" pitchFamily="34" charset="-120"/>
              </a:rPr>
              <a:t>Seguridad Zero Trust</a:t>
            </a:r>
            <a:endParaRPr lang="en-US" sz="1300" dirty="0"/>
          </a:p>
        </p:txBody>
      </p:sp>
      <p:sp>
        <p:nvSpPr>
          <p:cNvPr id="19" name="Text 17"/>
          <p:cNvSpPr/>
          <p:nvPr/>
        </p:nvSpPr>
        <p:spPr>
          <a:xfrm>
            <a:off x="3291840" y="3108960"/>
            <a:ext cx="2487168" cy="914400"/>
          </a:xfrm>
          <a:prstGeom prst="rect">
            <a:avLst/>
          </a:prstGeom>
          <a:noFill/>
          <a:ln/>
        </p:spPr>
        <p:txBody>
          <a:bodyPr wrap="square" lIns="25400" tIns="25400" rIns="25400" bIns="25400" rtlCol="0" anchor="t"/>
          <a:lstStyle/>
          <a:p>
            <a:pPr marL="0" indent="0">
              <a:buNone/>
            </a:pPr>
            <a:r>
              <a:rPr lang="en-US" sz="1100" dirty="0">
                <a:solidFill>
                  <a:srgbClr val="B9DEF8"/>
                </a:solidFill>
                <a:latin typeface="Arial" pitchFamily="34" charset="0"/>
                <a:ea typeface="Arial" pitchFamily="34" charset="-122"/>
                <a:cs typeface="Arial" pitchFamily="34" charset="-120"/>
              </a:rPr>
              <a:t>Modelo: nunca confiar, siempre verificar. Cada acceso requiere autenticación. Respuesta al auge del trabajo remoto.</a:t>
            </a:r>
            <a:endParaRPr lang="en-US" sz="1100" dirty="0"/>
          </a:p>
        </p:txBody>
      </p:sp>
      <p:sp>
        <p:nvSpPr>
          <p:cNvPr id="20" name="Shape 18"/>
          <p:cNvSpPr/>
          <p:nvPr/>
        </p:nvSpPr>
        <p:spPr>
          <a:xfrm>
            <a:off x="6080760" y="914400"/>
            <a:ext cx="2651760" cy="1481328"/>
          </a:xfrm>
          <a:prstGeom prst="rect">
            <a:avLst/>
          </a:prstGeom>
          <a:solidFill>
            <a:srgbClr val="253045"/>
          </a:solidFill>
          <a:ln w="12700">
            <a:solidFill>
              <a:srgbClr val="3A7BAA"/>
            </a:solidFill>
            <a:prstDash val="solid"/>
          </a:ln>
        </p:spPr>
        <p:txBody>
          <a:bodyPr/>
          <a:lstStyle/>
          <a:p>
            <a:endParaRPr lang="en-US"/>
          </a:p>
        </p:txBody>
      </p:sp>
      <p:sp>
        <p:nvSpPr>
          <p:cNvPr id="21" name="Text 19"/>
          <p:cNvSpPr/>
          <p:nvPr/>
        </p:nvSpPr>
        <p:spPr>
          <a:xfrm>
            <a:off x="6153912" y="987552"/>
            <a:ext cx="384048" cy="38404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2" name="Text 20"/>
          <p:cNvSpPr/>
          <p:nvPr/>
        </p:nvSpPr>
        <p:spPr>
          <a:xfrm>
            <a:off x="6556248" y="987552"/>
            <a:ext cx="2103120" cy="384048"/>
          </a:xfrm>
          <a:prstGeom prst="rect">
            <a:avLst/>
          </a:prstGeom>
          <a:noFill/>
          <a:ln/>
        </p:spPr>
        <p:txBody>
          <a:bodyPr wrap="square" lIns="0" tIns="0" rIns="0" bIns="0" rtlCol="0" anchor="ctr"/>
          <a:lstStyle/>
          <a:p>
            <a:pPr marL="0" indent="0">
              <a:buNone/>
            </a:pPr>
            <a:r>
              <a:rPr lang="en-US" sz="1300" b="1" dirty="0">
                <a:solidFill>
                  <a:srgbClr val="5AA8D8"/>
                </a:solidFill>
                <a:latin typeface="Arial" pitchFamily="34" charset="0"/>
                <a:ea typeface="Arial" pitchFamily="34" charset="-122"/>
                <a:cs typeface="Arial" pitchFamily="34" charset="-120"/>
              </a:rPr>
              <a:t>Edge Computing</a:t>
            </a:r>
            <a:endParaRPr lang="en-US" sz="1300" dirty="0"/>
          </a:p>
        </p:txBody>
      </p:sp>
      <p:sp>
        <p:nvSpPr>
          <p:cNvPr id="23" name="Text 21"/>
          <p:cNvSpPr/>
          <p:nvPr/>
        </p:nvSpPr>
        <p:spPr>
          <a:xfrm>
            <a:off x="6172200" y="1426464"/>
            <a:ext cx="2487168" cy="914400"/>
          </a:xfrm>
          <a:prstGeom prst="rect">
            <a:avLst/>
          </a:prstGeom>
          <a:noFill/>
          <a:ln/>
        </p:spPr>
        <p:txBody>
          <a:bodyPr wrap="square" lIns="25400" tIns="25400" rIns="25400" bIns="25400" rtlCol="0" anchor="t"/>
          <a:lstStyle/>
          <a:p>
            <a:pPr marL="0" indent="0">
              <a:buNone/>
            </a:pPr>
            <a:r>
              <a:rPr lang="en-US" sz="1100" dirty="0">
                <a:solidFill>
                  <a:srgbClr val="B9DEF8"/>
                </a:solidFill>
                <a:latin typeface="Arial" pitchFamily="34" charset="0"/>
                <a:ea typeface="Arial" pitchFamily="34" charset="-122"/>
                <a:cs typeface="Arial" pitchFamily="34" charset="-120"/>
              </a:rPr>
              <a:t>Procesamiento en el borde de la red (cerca del dispositivo) para reducir latencia. Clave en IA en tiempo real.</a:t>
            </a:r>
            <a:endParaRPr lang="en-US" sz="1100" dirty="0"/>
          </a:p>
        </p:txBody>
      </p:sp>
      <p:sp>
        <p:nvSpPr>
          <p:cNvPr id="24" name="Shape 22"/>
          <p:cNvSpPr/>
          <p:nvPr/>
        </p:nvSpPr>
        <p:spPr>
          <a:xfrm>
            <a:off x="6080760" y="2596896"/>
            <a:ext cx="2651760" cy="1481328"/>
          </a:xfrm>
          <a:prstGeom prst="rect">
            <a:avLst/>
          </a:prstGeom>
          <a:solidFill>
            <a:srgbClr val="253045"/>
          </a:solidFill>
          <a:ln w="12700">
            <a:solidFill>
              <a:srgbClr val="3A7BAA"/>
            </a:solidFill>
            <a:prstDash val="solid"/>
          </a:ln>
        </p:spPr>
        <p:txBody>
          <a:bodyPr/>
          <a:lstStyle/>
          <a:p>
            <a:endParaRPr lang="en-US"/>
          </a:p>
        </p:txBody>
      </p:sp>
      <p:sp>
        <p:nvSpPr>
          <p:cNvPr id="25" name="Text 23"/>
          <p:cNvSpPr/>
          <p:nvPr/>
        </p:nvSpPr>
        <p:spPr>
          <a:xfrm>
            <a:off x="6153912" y="2670048"/>
            <a:ext cx="384048" cy="38404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6" name="Text 24"/>
          <p:cNvSpPr/>
          <p:nvPr/>
        </p:nvSpPr>
        <p:spPr>
          <a:xfrm>
            <a:off x="6556248" y="2670048"/>
            <a:ext cx="2103120" cy="384048"/>
          </a:xfrm>
          <a:prstGeom prst="rect">
            <a:avLst/>
          </a:prstGeom>
          <a:noFill/>
          <a:ln/>
        </p:spPr>
        <p:txBody>
          <a:bodyPr wrap="square" lIns="0" tIns="0" rIns="0" bIns="0" rtlCol="0" anchor="ctr"/>
          <a:lstStyle/>
          <a:p>
            <a:pPr marL="0" indent="0">
              <a:buNone/>
            </a:pPr>
            <a:r>
              <a:rPr lang="en-US" sz="1300" b="1" dirty="0">
                <a:solidFill>
                  <a:srgbClr val="5AA8D8"/>
                </a:solidFill>
                <a:latin typeface="Arial" pitchFamily="34" charset="0"/>
                <a:ea typeface="Arial" pitchFamily="34" charset="-122"/>
                <a:cs typeface="Arial" pitchFamily="34" charset="-120"/>
              </a:rPr>
              <a:t>Redes privadas empresariales</a:t>
            </a:r>
            <a:endParaRPr lang="en-US" sz="1300" dirty="0"/>
          </a:p>
        </p:txBody>
      </p:sp>
      <p:sp>
        <p:nvSpPr>
          <p:cNvPr id="27" name="Text 25"/>
          <p:cNvSpPr/>
          <p:nvPr/>
        </p:nvSpPr>
        <p:spPr>
          <a:xfrm>
            <a:off x="6172200" y="3108960"/>
            <a:ext cx="2487168" cy="914400"/>
          </a:xfrm>
          <a:prstGeom prst="rect">
            <a:avLst/>
          </a:prstGeom>
          <a:noFill/>
          <a:ln/>
        </p:spPr>
        <p:txBody>
          <a:bodyPr wrap="square" lIns="25400" tIns="25400" rIns="25400" bIns="25400" rtlCol="0" anchor="t"/>
          <a:lstStyle/>
          <a:p>
            <a:pPr marL="0" indent="0">
              <a:buNone/>
            </a:pPr>
            <a:r>
              <a:rPr lang="en-US" sz="1100" dirty="0">
                <a:solidFill>
                  <a:srgbClr val="B9DEF8"/>
                </a:solidFill>
                <a:latin typeface="Arial" pitchFamily="34" charset="0"/>
                <a:ea typeface="Arial" pitchFamily="34" charset="-122"/>
                <a:cs typeface="Arial" pitchFamily="34" charset="-120"/>
              </a:rPr>
              <a:t>SD-WAN, MPLS, VPN. Las empresas usan redes privadas seguras sobre Internet para conectar sucursales.</a:t>
            </a:r>
            <a:endParaRPr lang="en-US" sz="1100" dirty="0"/>
          </a:p>
        </p:txBody>
      </p:sp>
      <p:sp>
        <p:nvSpPr>
          <p:cNvPr id="28" name="Shape 26"/>
          <p:cNvSpPr/>
          <p:nvPr/>
        </p:nvSpPr>
        <p:spPr>
          <a:xfrm>
            <a:off x="0" y="4892040"/>
            <a:ext cx="9144000" cy="251460"/>
          </a:xfrm>
          <a:prstGeom prst="rect">
            <a:avLst/>
          </a:prstGeom>
          <a:solidFill>
            <a:srgbClr val="111820"/>
          </a:solidFill>
          <a:ln w="12700">
            <a:solidFill>
              <a:srgbClr val="111820"/>
            </a:solidFill>
            <a:prstDash val="solid"/>
          </a:ln>
        </p:spPr>
        <p:txBody>
          <a:bodyPr/>
          <a:lstStyle/>
          <a:p>
            <a:endParaRPr lang="en-US"/>
          </a:p>
        </p:txBody>
      </p:sp>
      <p:sp>
        <p:nvSpPr>
          <p:cNvPr id="29" name="Text 27"/>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808080"/>
                </a:solidFill>
                <a:latin typeface="Arial" pitchFamily="34" charset="0"/>
                <a:ea typeface="Arial" pitchFamily="34" charset="-122"/>
                <a:cs typeface="Arial" pitchFamily="34" charset="-120"/>
              </a:rPr>
              <a:t>IES – Redes y Comunicaciones | SP1/H1 |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1800" b="1" dirty="0">
                <a:solidFill>
                  <a:srgbClr val="5AA8D8"/>
                </a:solidFill>
                <a:latin typeface="Arial" pitchFamily="34" charset="0"/>
                <a:ea typeface="Arial" pitchFamily="34" charset="-122"/>
                <a:cs typeface="Arial" pitchFamily="34" charset="-120"/>
              </a:rPr>
              <a:t>✅ Verdadero o Falso — Pregunta 1</a:t>
            </a:r>
            <a:endParaRPr lang="en-US" sz="1800" dirty="0"/>
          </a:p>
        </p:txBody>
      </p:sp>
      <p:sp>
        <p:nvSpPr>
          <p:cNvPr id="4" name="Shape 2"/>
          <p:cNvSpPr/>
          <p:nvPr/>
        </p:nvSpPr>
        <p:spPr>
          <a:xfrm>
            <a:off x="914400" y="914400"/>
            <a:ext cx="7315200" cy="2560320"/>
          </a:xfrm>
          <a:prstGeom prst="rect">
            <a:avLst/>
          </a:prstGeom>
          <a:solidFill>
            <a:srgbClr val="253045"/>
          </a:solidFill>
          <a:ln w="25400">
            <a:solidFill>
              <a:srgbClr val="B9DEF8"/>
            </a:solidFill>
            <a:prstDash val="solid"/>
          </a:ln>
        </p:spPr>
        <p:txBody>
          <a:bodyPr/>
          <a:lstStyle/>
          <a:p>
            <a:endParaRPr lang="en-US"/>
          </a:p>
        </p:txBody>
      </p:sp>
      <p:sp>
        <p:nvSpPr>
          <p:cNvPr id="5" name="Text 3"/>
          <p:cNvSpPr/>
          <p:nvPr/>
        </p:nvSpPr>
        <p:spPr>
          <a:xfrm>
            <a:off x="1005840" y="1005840"/>
            <a:ext cx="7132320" cy="2377440"/>
          </a:xfrm>
          <a:prstGeom prst="rect">
            <a:avLst/>
          </a:prstGeom>
          <a:noFill/>
          <a:ln/>
        </p:spPr>
        <p:txBody>
          <a:bodyPr wrap="square" lIns="101600" tIns="101600" rIns="101600" bIns="10160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Una </a:t>
            </a:r>
            <a:r>
              <a:rPr lang="en-US" sz="2200" b="1" dirty="0" err="1">
                <a:solidFill>
                  <a:srgbClr val="FFFFFF"/>
                </a:solidFill>
                <a:latin typeface="Arial" pitchFamily="34" charset="0"/>
                <a:ea typeface="Arial" pitchFamily="34" charset="-122"/>
                <a:cs typeface="Arial" pitchFamily="34" charset="-120"/>
              </a:rPr>
              <a:t>computadora</a:t>
            </a:r>
            <a:r>
              <a:rPr lang="en-US" sz="2200" b="1" dirty="0">
                <a:solidFill>
                  <a:srgbClr val="FFFFFF"/>
                </a:solidFill>
                <a:latin typeface="Arial" pitchFamily="34" charset="0"/>
                <a:ea typeface="Arial" pitchFamily="34" charset="-122"/>
                <a:cs typeface="Arial" pitchFamily="34" charset="-120"/>
              </a:rPr>
              <a:t> </a:t>
            </a:r>
            <a:r>
              <a:rPr lang="en-US" sz="2200" b="1" dirty="0" err="1">
                <a:solidFill>
                  <a:srgbClr val="FFFFFF"/>
                </a:solidFill>
                <a:latin typeface="Arial" pitchFamily="34" charset="0"/>
                <a:ea typeface="Arial" pitchFamily="34" charset="-122"/>
                <a:cs typeface="Arial" pitchFamily="34" charset="-120"/>
              </a:rPr>
              <a:t>en</a:t>
            </a:r>
            <a:r>
              <a:rPr lang="en-US" sz="2200" b="1" dirty="0">
                <a:solidFill>
                  <a:srgbClr val="FFFFFF"/>
                </a:solidFill>
                <a:latin typeface="Arial" pitchFamily="34" charset="0"/>
                <a:ea typeface="Arial" pitchFamily="34" charset="-122"/>
                <a:cs typeface="Arial" pitchFamily="34" charset="-120"/>
              </a:rPr>
              <a:t> </a:t>
            </a:r>
            <a:r>
              <a:rPr lang="en-US" sz="2200" b="1" dirty="0" err="1">
                <a:solidFill>
                  <a:srgbClr val="FFFFFF"/>
                </a:solidFill>
                <a:latin typeface="Arial" pitchFamily="34" charset="0"/>
                <a:ea typeface="Arial" pitchFamily="34" charset="-122"/>
                <a:cs typeface="Arial" pitchFamily="34" charset="-120"/>
              </a:rPr>
              <a:t>entorno</a:t>
            </a:r>
            <a:r>
              <a:rPr lang="en-US" sz="2200" b="1" dirty="0">
                <a:solidFill>
                  <a:srgbClr val="FFFFFF"/>
                </a:solidFill>
                <a:latin typeface="Arial" pitchFamily="34" charset="0"/>
                <a:ea typeface="Arial" pitchFamily="34" charset="-122"/>
                <a:cs typeface="Arial" pitchFamily="34" charset="-120"/>
              </a:rPr>
              <a:t> Stand Alone</a:t>
            </a:r>
            <a:endParaRPr lang="en-US" sz="2200" dirty="0"/>
          </a:p>
          <a:p>
            <a:pPr marL="0" indent="0" algn="ctr">
              <a:buNone/>
            </a:pPr>
            <a:r>
              <a:rPr lang="en-US" sz="2200" b="1" dirty="0" err="1">
                <a:solidFill>
                  <a:srgbClr val="FFFFFF"/>
                </a:solidFill>
                <a:latin typeface="Arial" pitchFamily="34" charset="0"/>
                <a:ea typeface="Arial" pitchFamily="34" charset="-122"/>
                <a:cs typeface="Arial" pitchFamily="34" charset="-120"/>
              </a:rPr>
              <a:t>puede</a:t>
            </a:r>
            <a:r>
              <a:rPr lang="en-US" sz="2200" b="1" dirty="0">
                <a:solidFill>
                  <a:srgbClr val="FFFFFF"/>
                </a:solidFill>
                <a:latin typeface="Arial" pitchFamily="34" charset="0"/>
                <a:ea typeface="Arial" pitchFamily="34" charset="-122"/>
                <a:cs typeface="Arial" pitchFamily="34" charset="-120"/>
              </a:rPr>
              <a:t> </a:t>
            </a:r>
            <a:r>
              <a:rPr lang="en-US" sz="2200" b="1" dirty="0" err="1">
                <a:solidFill>
                  <a:srgbClr val="FFFFFF"/>
                </a:solidFill>
                <a:latin typeface="Arial" pitchFamily="34" charset="0"/>
                <a:ea typeface="Arial" pitchFamily="34" charset="-122"/>
                <a:cs typeface="Arial" pitchFamily="34" charset="-120"/>
              </a:rPr>
              <a:t>compartir</a:t>
            </a:r>
            <a:r>
              <a:rPr lang="en-US" sz="2200" b="1" dirty="0">
                <a:solidFill>
                  <a:srgbClr val="FFFFFF"/>
                </a:solidFill>
                <a:latin typeface="Arial" pitchFamily="34" charset="0"/>
                <a:ea typeface="Arial" pitchFamily="34" charset="-122"/>
                <a:cs typeface="Arial" pitchFamily="34" charset="-120"/>
              </a:rPr>
              <a:t> </a:t>
            </a:r>
            <a:r>
              <a:rPr lang="en-US" sz="2200" b="1" dirty="0" err="1">
                <a:solidFill>
                  <a:srgbClr val="FFFFFF"/>
                </a:solidFill>
                <a:latin typeface="Arial" pitchFamily="34" charset="0"/>
                <a:ea typeface="Arial" pitchFamily="34" charset="-122"/>
                <a:cs typeface="Arial" pitchFamily="34" charset="-120"/>
              </a:rPr>
              <a:t>su</a:t>
            </a:r>
            <a:r>
              <a:rPr lang="en-US" sz="2200" b="1" dirty="0">
                <a:solidFill>
                  <a:srgbClr val="FFFFFF"/>
                </a:solidFill>
                <a:latin typeface="Arial" pitchFamily="34" charset="0"/>
                <a:ea typeface="Arial" pitchFamily="34" charset="-122"/>
                <a:cs typeface="Arial" pitchFamily="34" charset="-120"/>
              </a:rPr>
              <a:t> </a:t>
            </a:r>
            <a:r>
              <a:rPr lang="en-US" sz="2200" b="1" dirty="0" err="1">
                <a:solidFill>
                  <a:srgbClr val="FFFFFF"/>
                </a:solidFill>
                <a:latin typeface="Arial" pitchFamily="34" charset="0"/>
                <a:ea typeface="Arial" pitchFamily="34" charset="-122"/>
                <a:cs typeface="Arial" pitchFamily="34" charset="-120"/>
              </a:rPr>
              <a:t>impresora</a:t>
            </a:r>
            <a:r>
              <a:rPr lang="en-US" sz="2200" b="1" dirty="0">
                <a:solidFill>
                  <a:srgbClr val="FFFFFF"/>
                </a:solidFill>
                <a:latin typeface="Arial" pitchFamily="34" charset="0"/>
                <a:ea typeface="Arial" pitchFamily="34" charset="-122"/>
                <a:cs typeface="Arial" pitchFamily="34" charset="-120"/>
              </a:rPr>
              <a:t> con </a:t>
            </a:r>
            <a:r>
              <a:rPr lang="en-US" sz="2200" b="1" dirty="0" err="1">
                <a:solidFill>
                  <a:srgbClr val="FFFFFF"/>
                </a:solidFill>
                <a:latin typeface="Arial" pitchFamily="34" charset="0"/>
                <a:ea typeface="Arial" pitchFamily="34" charset="-122"/>
                <a:cs typeface="Arial" pitchFamily="34" charset="-120"/>
              </a:rPr>
              <a:t>otras</a:t>
            </a:r>
            <a:endParaRPr lang="en-US" sz="2200" dirty="0"/>
          </a:p>
          <a:p>
            <a:pPr marL="0" indent="0" algn="ctr">
              <a:buNone/>
            </a:pPr>
            <a:r>
              <a:rPr lang="en-US" sz="2200" b="1" dirty="0" err="1">
                <a:solidFill>
                  <a:srgbClr val="FFFFFF"/>
                </a:solidFill>
                <a:latin typeface="Arial" pitchFamily="34" charset="0"/>
                <a:ea typeface="Arial" pitchFamily="34" charset="-122"/>
                <a:cs typeface="Arial" pitchFamily="34" charset="-120"/>
              </a:rPr>
              <a:t>computadoras</a:t>
            </a:r>
            <a:r>
              <a:rPr lang="en-US" sz="2200" b="1" dirty="0">
                <a:solidFill>
                  <a:srgbClr val="FFFFFF"/>
                </a:solidFill>
                <a:latin typeface="Arial" pitchFamily="34" charset="0"/>
                <a:ea typeface="Arial" pitchFamily="34" charset="-122"/>
                <a:cs typeface="Arial" pitchFamily="34" charset="-120"/>
              </a:rPr>
              <a:t> de la </a:t>
            </a:r>
            <a:r>
              <a:rPr lang="en-US" sz="2200" b="1" dirty="0" err="1">
                <a:solidFill>
                  <a:srgbClr val="FFFFFF"/>
                </a:solidFill>
                <a:latin typeface="Arial" pitchFamily="34" charset="0"/>
                <a:ea typeface="Arial" pitchFamily="34" charset="-122"/>
                <a:cs typeface="Arial" pitchFamily="34" charset="-120"/>
              </a:rPr>
              <a:t>oficina</a:t>
            </a:r>
            <a:r>
              <a:rPr lang="en-US" sz="2200" b="1" dirty="0">
                <a:solidFill>
                  <a:srgbClr val="FFFFFF"/>
                </a:solidFill>
                <a:latin typeface="Arial" pitchFamily="34" charset="0"/>
                <a:ea typeface="Arial" pitchFamily="34" charset="-122"/>
                <a:cs typeface="Arial" pitchFamily="34" charset="-120"/>
              </a:rPr>
              <a:t> sin </a:t>
            </a:r>
            <a:r>
              <a:rPr lang="en-US" sz="2200" b="1" dirty="0" err="1">
                <a:solidFill>
                  <a:srgbClr val="FFFFFF"/>
                </a:solidFill>
                <a:latin typeface="Arial" pitchFamily="34" charset="0"/>
                <a:ea typeface="Arial" pitchFamily="34" charset="-122"/>
                <a:cs typeface="Arial" pitchFamily="34" charset="-120"/>
              </a:rPr>
              <a:t>necesitar</a:t>
            </a:r>
            <a:endParaRPr lang="en-US" sz="2200" dirty="0"/>
          </a:p>
          <a:p>
            <a:pPr marL="0" indent="0" algn="ctr">
              <a:buNone/>
            </a:pPr>
            <a:r>
              <a:rPr lang="en-US" sz="2200" b="1" dirty="0" err="1">
                <a:solidFill>
                  <a:srgbClr val="FFFFFF"/>
                </a:solidFill>
                <a:latin typeface="Arial" pitchFamily="34" charset="0"/>
                <a:ea typeface="Arial" pitchFamily="34" charset="-122"/>
                <a:cs typeface="Arial" pitchFamily="34" charset="-120"/>
              </a:rPr>
              <a:t>ningún</a:t>
            </a:r>
            <a:r>
              <a:rPr lang="en-US" sz="2200" b="1" dirty="0">
                <a:solidFill>
                  <a:srgbClr val="FFFFFF"/>
                </a:solidFill>
                <a:latin typeface="Arial" pitchFamily="34" charset="0"/>
                <a:ea typeface="Arial" pitchFamily="34" charset="-122"/>
                <a:cs typeface="Arial" pitchFamily="34" charset="-120"/>
              </a:rPr>
              <a:t> </a:t>
            </a:r>
            <a:r>
              <a:rPr lang="en-US" sz="2200" b="1" dirty="0" err="1">
                <a:solidFill>
                  <a:srgbClr val="FFFFFF"/>
                </a:solidFill>
                <a:latin typeface="Arial" pitchFamily="34" charset="0"/>
                <a:ea typeface="Arial" pitchFamily="34" charset="-122"/>
                <a:cs typeface="Arial" pitchFamily="34" charset="-120"/>
              </a:rPr>
              <a:t>tipo</a:t>
            </a:r>
            <a:r>
              <a:rPr lang="en-US" sz="2200" b="1" dirty="0">
                <a:solidFill>
                  <a:srgbClr val="FFFFFF"/>
                </a:solidFill>
                <a:latin typeface="Arial" pitchFamily="34" charset="0"/>
                <a:ea typeface="Arial" pitchFamily="34" charset="-122"/>
                <a:cs typeface="Arial" pitchFamily="34" charset="-120"/>
              </a:rPr>
              <a:t> de red.</a:t>
            </a:r>
            <a:endParaRPr lang="en-US" sz="2200" dirty="0"/>
          </a:p>
        </p:txBody>
      </p:sp>
      <p:sp>
        <p:nvSpPr>
          <p:cNvPr id="6" name="Shape 4"/>
          <p:cNvSpPr/>
          <p:nvPr/>
        </p:nvSpPr>
        <p:spPr>
          <a:xfrm>
            <a:off x="1828800" y="3703320"/>
            <a:ext cx="2286000" cy="777240"/>
          </a:xfrm>
          <a:prstGeom prst="rect">
            <a:avLst/>
          </a:prstGeom>
          <a:solidFill>
            <a:srgbClr val="2E7D32"/>
          </a:solidFill>
          <a:ln w="12700">
            <a:solidFill>
              <a:srgbClr val="2E7D32"/>
            </a:solidFill>
            <a:prstDash val="solid"/>
          </a:ln>
        </p:spPr>
        <p:txBody>
          <a:bodyPr/>
          <a:lstStyle/>
          <a:p>
            <a:endParaRPr lang="en-US"/>
          </a:p>
        </p:txBody>
      </p:sp>
      <p:sp>
        <p:nvSpPr>
          <p:cNvPr id="7" name="Text 5"/>
          <p:cNvSpPr/>
          <p:nvPr/>
        </p:nvSpPr>
        <p:spPr>
          <a:xfrm>
            <a:off x="1828800" y="3703320"/>
            <a:ext cx="228600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  VERDADERO</a:t>
            </a:r>
            <a:endParaRPr lang="en-US" sz="1800" dirty="0"/>
          </a:p>
        </p:txBody>
      </p:sp>
      <p:sp>
        <p:nvSpPr>
          <p:cNvPr id="8" name="Shape 6"/>
          <p:cNvSpPr/>
          <p:nvPr/>
        </p:nvSpPr>
        <p:spPr>
          <a:xfrm>
            <a:off x="5029200" y="3703320"/>
            <a:ext cx="2286000" cy="777240"/>
          </a:xfrm>
          <a:prstGeom prst="rect">
            <a:avLst/>
          </a:prstGeom>
          <a:solidFill>
            <a:srgbClr val="C62828"/>
          </a:solidFill>
          <a:ln w="12700">
            <a:solidFill>
              <a:srgbClr val="C62828"/>
            </a:solidFill>
            <a:prstDash val="solid"/>
          </a:ln>
        </p:spPr>
        <p:txBody>
          <a:bodyPr/>
          <a:lstStyle/>
          <a:p>
            <a:endParaRPr lang="en-US"/>
          </a:p>
        </p:txBody>
      </p:sp>
      <p:sp>
        <p:nvSpPr>
          <p:cNvPr id="9" name="Text 7"/>
          <p:cNvSpPr/>
          <p:nvPr/>
        </p:nvSpPr>
        <p:spPr>
          <a:xfrm>
            <a:off x="5029200" y="3703320"/>
            <a:ext cx="228600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  FALSO</a:t>
            </a:r>
            <a:endParaRPr lang="en-US" sz="1800" dirty="0"/>
          </a:p>
        </p:txBody>
      </p:sp>
      <p:sp>
        <p:nvSpPr>
          <p:cNvPr id="10" name="Text 8"/>
          <p:cNvSpPr/>
          <p:nvPr/>
        </p:nvSpPr>
        <p:spPr>
          <a:xfrm>
            <a:off x="3840480" y="4434840"/>
            <a:ext cx="1463040" cy="548640"/>
          </a:xfrm>
          <a:prstGeom prst="rect">
            <a:avLst/>
          </a:prstGeom>
          <a:noFill/>
          <a:ln/>
        </p:spPr>
        <p:txBody>
          <a:bodyPr wrap="square" lIns="0" tIns="0" rIns="0" bIns="0" rtlCol="0" anchor="ctr"/>
          <a:lstStyle/>
          <a:p>
            <a:pPr marL="0" indent="0" algn="ctr">
              <a:buNone/>
            </a:pPr>
            <a:r>
              <a:rPr lang="en-US" sz="3200" b="1" dirty="0">
                <a:solidFill>
                  <a:srgbClr val="808080"/>
                </a:solidFill>
                <a:latin typeface="Arial" pitchFamily="34" charset="0"/>
                <a:ea typeface="Arial" pitchFamily="34" charset="-122"/>
                <a:cs typeface="Arial" pitchFamily="34" charset="-120"/>
              </a:rPr>
              <a:t>?</a:t>
            </a:r>
            <a:endParaRPr 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1800" b="1" dirty="0">
                <a:solidFill>
                  <a:srgbClr val="5AA8D8"/>
                </a:solidFill>
                <a:latin typeface="Arial" pitchFamily="34" charset="0"/>
                <a:ea typeface="Arial" pitchFamily="34" charset="-122"/>
                <a:cs typeface="Arial" pitchFamily="34" charset="-120"/>
              </a:rPr>
              <a:t>✅ Respuesta — Pregunta 1</a:t>
            </a:r>
            <a:endParaRPr lang="en-US" sz="1800" dirty="0"/>
          </a:p>
        </p:txBody>
      </p:sp>
      <p:sp>
        <p:nvSpPr>
          <p:cNvPr id="4" name="Shape 2"/>
          <p:cNvSpPr/>
          <p:nvPr/>
        </p:nvSpPr>
        <p:spPr>
          <a:xfrm>
            <a:off x="914400" y="822960"/>
            <a:ext cx="7315200" cy="1417320"/>
          </a:xfrm>
          <a:prstGeom prst="rect">
            <a:avLst/>
          </a:prstGeom>
          <a:solidFill>
            <a:srgbClr val="253045"/>
          </a:solidFill>
          <a:ln w="12700">
            <a:solidFill>
              <a:srgbClr val="B9DEF8"/>
            </a:solidFill>
            <a:prstDash val="solid"/>
          </a:ln>
        </p:spPr>
        <p:txBody>
          <a:bodyPr/>
          <a:lstStyle/>
          <a:p>
            <a:endParaRPr lang="en-US"/>
          </a:p>
        </p:txBody>
      </p:sp>
      <p:sp>
        <p:nvSpPr>
          <p:cNvPr id="5" name="Text 3"/>
          <p:cNvSpPr/>
          <p:nvPr/>
        </p:nvSpPr>
        <p:spPr>
          <a:xfrm>
            <a:off x="1005840" y="822960"/>
            <a:ext cx="7132320" cy="1417320"/>
          </a:xfrm>
          <a:prstGeom prst="rect">
            <a:avLst/>
          </a:prstGeom>
          <a:noFill/>
          <a:ln/>
        </p:spPr>
        <p:txBody>
          <a:bodyPr wrap="square" lIns="50800" tIns="50800" rIns="50800" bIns="50800" rtlCol="0" anchor="ctr"/>
          <a:lstStyle/>
          <a:p>
            <a:pPr marL="0" indent="0" algn="ctr">
              <a:buNone/>
            </a:pPr>
            <a:r>
              <a:rPr lang="en-US" sz="1600" dirty="0">
                <a:solidFill>
                  <a:srgbClr val="B9DEF8"/>
                </a:solidFill>
                <a:latin typeface="Arial" pitchFamily="34" charset="0"/>
                <a:ea typeface="Arial" pitchFamily="34" charset="-122"/>
                <a:cs typeface="Arial" pitchFamily="34" charset="-120"/>
              </a:rPr>
              <a:t>Una computadora en entorno Stand Alone puede compartir</a:t>
            </a:r>
            <a:endParaRPr lang="en-US" sz="1600" dirty="0"/>
          </a:p>
          <a:p>
            <a:pPr marL="0" indent="0" algn="ctr">
              <a:buNone/>
            </a:pPr>
            <a:r>
              <a:rPr lang="en-US" sz="1600" dirty="0">
                <a:solidFill>
                  <a:srgbClr val="B9DEF8"/>
                </a:solidFill>
                <a:latin typeface="Arial" pitchFamily="34" charset="0"/>
                <a:ea typeface="Arial" pitchFamily="34" charset="-122"/>
                <a:cs typeface="Arial" pitchFamily="34" charset="-120"/>
              </a:rPr>
              <a:t>su impresora con otras computadoras sin ningún tipo de red.</a:t>
            </a:r>
            <a:endParaRPr lang="en-US" sz="1600" dirty="0"/>
          </a:p>
        </p:txBody>
      </p:sp>
      <p:sp>
        <p:nvSpPr>
          <p:cNvPr id="6" name="Shape 4"/>
          <p:cNvSpPr/>
          <p:nvPr/>
        </p:nvSpPr>
        <p:spPr>
          <a:xfrm>
            <a:off x="2743200" y="2423160"/>
            <a:ext cx="3657600" cy="868680"/>
          </a:xfrm>
          <a:prstGeom prst="rect">
            <a:avLst/>
          </a:prstGeom>
          <a:solidFill>
            <a:srgbClr val="C62828"/>
          </a:solidFill>
          <a:ln w="12700">
            <a:solidFill>
              <a:srgbClr val="C62828"/>
            </a:solidFill>
            <a:prstDash val="solid"/>
          </a:ln>
        </p:spPr>
        <p:txBody>
          <a:bodyPr/>
          <a:lstStyle/>
          <a:p>
            <a:endParaRPr lang="en-US"/>
          </a:p>
        </p:txBody>
      </p:sp>
      <p:sp>
        <p:nvSpPr>
          <p:cNvPr id="7" name="Text 5"/>
          <p:cNvSpPr/>
          <p:nvPr/>
        </p:nvSpPr>
        <p:spPr>
          <a:xfrm>
            <a:off x="2743200" y="2423160"/>
            <a:ext cx="3657600" cy="86868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  FALSO</a:t>
            </a:r>
            <a:endParaRPr lang="en-US" sz="2800" dirty="0"/>
          </a:p>
        </p:txBody>
      </p:sp>
      <p:sp>
        <p:nvSpPr>
          <p:cNvPr id="8" name="Shape 6"/>
          <p:cNvSpPr/>
          <p:nvPr/>
        </p:nvSpPr>
        <p:spPr>
          <a:xfrm>
            <a:off x="457200" y="3456432"/>
            <a:ext cx="8229600" cy="1389888"/>
          </a:xfrm>
          <a:prstGeom prst="rect">
            <a:avLst/>
          </a:prstGeom>
          <a:solidFill>
            <a:srgbClr val="1D2D1D"/>
          </a:solidFill>
          <a:ln w="19050">
            <a:solidFill>
              <a:srgbClr val="2E7D32"/>
            </a:solidFill>
            <a:prstDash val="solid"/>
          </a:ln>
        </p:spPr>
        <p:txBody>
          <a:bodyPr/>
          <a:lstStyle/>
          <a:p>
            <a:endParaRPr lang="en-US"/>
          </a:p>
        </p:txBody>
      </p:sp>
      <p:sp>
        <p:nvSpPr>
          <p:cNvPr id="9" name="Shape 7"/>
          <p:cNvSpPr/>
          <p:nvPr/>
        </p:nvSpPr>
        <p:spPr>
          <a:xfrm>
            <a:off x="457200" y="3456432"/>
            <a:ext cx="64008" cy="1389888"/>
          </a:xfrm>
          <a:prstGeom prst="rect">
            <a:avLst/>
          </a:prstGeom>
          <a:solidFill>
            <a:srgbClr val="2E7D32"/>
          </a:solidFill>
          <a:ln w="12700">
            <a:solidFill>
              <a:srgbClr val="2E7D32"/>
            </a:solidFill>
            <a:prstDash val="solid"/>
          </a:ln>
        </p:spPr>
        <p:txBody>
          <a:bodyPr/>
          <a:lstStyle/>
          <a:p>
            <a:endParaRPr lang="en-US"/>
          </a:p>
        </p:txBody>
      </p:sp>
      <p:sp>
        <p:nvSpPr>
          <p:cNvPr id="10" name="Text 8"/>
          <p:cNvSpPr/>
          <p:nvPr/>
        </p:nvSpPr>
        <p:spPr>
          <a:xfrm>
            <a:off x="594360" y="3502152"/>
            <a:ext cx="7955280" cy="274320"/>
          </a:xfrm>
          <a:prstGeom prst="rect">
            <a:avLst/>
          </a:prstGeom>
          <a:noFill/>
          <a:ln/>
        </p:spPr>
        <p:txBody>
          <a:bodyPr wrap="square" lIns="0" tIns="0" rIns="0" bIns="0" rtlCol="0" anchor="ctr"/>
          <a:lstStyle/>
          <a:p>
            <a:pPr marL="0" indent="0">
              <a:buNone/>
            </a:pPr>
            <a:r>
              <a:rPr lang="en-US" sz="1200" b="1" dirty="0">
                <a:solidFill>
                  <a:srgbClr val="66BB6A"/>
                </a:solidFill>
                <a:latin typeface="Arial" pitchFamily="34" charset="0"/>
                <a:ea typeface="Arial" pitchFamily="34" charset="-122"/>
                <a:cs typeface="Arial" pitchFamily="34" charset="-120"/>
              </a:rPr>
              <a:t>💡 Justificación</a:t>
            </a:r>
            <a:endParaRPr lang="en-US" sz="1200" dirty="0"/>
          </a:p>
        </p:txBody>
      </p:sp>
      <p:sp>
        <p:nvSpPr>
          <p:cNvPr id="11" name="Text 9"/>
          <p:cNvSpPr/>
          <p:nvPr/>
        </p:nvSpPr>
        <p:spPr>
          <a:xfrm>
            <a:off x="594360" y="3794760"/>
            <a:ext cx="7955280" cy="1005840"/>
          </a:xfrm>
          <a:prstGeom prst="rect">
            <a:avLst/>
          </a:prstGeom>
          <a:noFill/>
          <a:ln/>
        </p:spPr>
        <p:txBody>
          <a:bodyPr wrap="square" lIns="0" tIns="0" rIns="0" bIns="0" rtlCol="0" anchor="t"/>
          <a:lstStyle/>
          <a:p>
            <a:pPr marL="0" indent="0">
              <a:buNone/>
            </a:pPr>
            <a:r>
              <a:rPr lang="en-US" sz="1300" dirty="0">
                <a:solidFill>
                  <a:srgbClr val="B9DEF8"/>
                </a:solidFill>
                <a:latin typeface="Arial" pitchFamily="34" charset="0"/>
                <a:ea typeface="Arial" pitchFamily="34" charset="-122"/>
                <a:cs typeface="Arial" pitchFamily="34" charset="-120"/>
              </a:rPr>
              <a:t>En un entorno Stand Alone, una computadora SOLO puede usar los recursos físicamente conectados a ella. Para que varios usuarios compartan una impresora, las computadoras DEBEN estar conectadas en red.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1800" b="1" dirty="0">
                <a:solidFill>
                  <a:srgbClr val="5AA8D8"/>
                </a:solidFill>
                <a:latin typeface="Arial" pitchFamily="34" charset="0"/>
                <a:ea typeface="Arial" pitchFamily="34" charset="-122"/>
                <a:cs typeface="Arial" pitchFamily="34" charset="-120"/>
              </a:rPr>
              <a:t>✅ Verdadero o Falso — Pregunta 2</a:t>
            </a:r>
            <a:endParaRPr lang="en-US" sz="1800" dirty="0"/>
          </a:p>
        </p:txBody>
      </p:sp>
      <p:sp>
        <p:nvSpPr>
          <p:cNvPr id="4" name="Shape 2"/>
          <p:cNvSpPr/>
          <p:nvPr/>
        </p:nvSpPr>
        <p:spPr>
          <a:xfrm>
            <a:off x="914400" y="914400"/>
            <a:ext cx="7315200" cy="2560320"/>
          </a:xfrm>
          <a:prstGeom prst="rect">
            <a:avLst/>
          </a:prstGeom>
          <a:solidFill>
            <a:srgbClr val="253045"/>
          </a:solidFill>
          <a:ln w="25400">
            <a:solidFill>
              <a:srgbClr val="B9DEF8"/>
            </a:solidFill>
            <a:prstDash val="solid"/>
          </a:ln>
        </p:spPr>
        <p:txBody>
          <a:bodyPr/>
          <a:lstStyle/>
          <a:p>
            <a:endParaRPr lang="en-US"/>
          </a:p>
        </p:txBody>
      </p:sp>
      <p:sp>
        <p:nvSpPr>
          <p:cNvPr id="5" name="Text 3"/>
          <p:cNvSpPr/>
          <p:nvPr/>
        </p:nvSpPr>
        <p:spPr>
          <a:xfrm>
            <a:off x="1005840" y="1005840"/>
            <a:ext cx="7132320" cy="2377440"/>
          </a:xfrm>
          <a:prstGeom prst="rect">
            <a:avLst/>
          </a:prstGeom>
          <a:noFill/>
          <a:ln/>
        </p:spPr>
        <p:txBody>
          <a:bodyPr wrap="square" lIns="101600" tIns="101600" rIns="101600" bIns="10160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Una red de datos permite que varios usuarios</a:t>
            </a:r>
            <a:endParaRPr lang="en-US" sz="2200" dirty="0"/>
          </a:p>
          <a:p>
            <a:pPr marL="0" indent="0" algn="ctr">
              <a:buNone/>
            </a:pPr>
            <a:r>
              <a:rPr lang="en-US" sz="2200" b="1" dirty="0">
                <a:solidFill>
                  <a:srgbClr val="FFFFFF"/>
                </a:solidFill>
                <a:latin typeface="Arial" pitchFamily="34" charset="0"/>
                <a:ea typeface="Arial" pitchFamily="34" charset="-122"/>
                <a:cs typeface="Arial" pitchFamily="34" charset="-120"/>
              </a:rPr>
              <a:t>acceda simultáneamente a una base de datos</a:t>
            </a:r>
            <a:endParaRPr lang="en-US" sz="2200" dirty="0"/>
          </a:p>
          <a:p>
            <a:pPr marL="0" indent="0" algn="ctr">
              <a:buNone/>
            </a:pPr>
            <a:r>
              <a:rPr lang="en-US" sz="2200" b="1" dirty="0">
                <a:solidFill>
                  <a:srgbClr val="FFFFFF"/>
                </a:solidFill>
                <a:latin typeface="Arial" pitchFamily="34" charset="0"/>
                <a:ea typeface="Arial" pitchFamily="34" charset="-122"/>
                <a:cs typeface="Arial" pitchFamily="34" charset="-120"/>
              </a:rPr>
              <a:t>centralizada, evitando inconsistencias</a:t>
            </a:r>
            <a:endParaRPr lang="en-US" sz="2200" dirty="0"/>
          </a:p>
          <a:p>
            <a:pPr marL="0" indent="0" algn="ctr">
              <a:buNone/>
            </a:pPr>
            <a:r>
              <a:rPr lang="en-US" sz="2200" b="1" dirty="0">
                <a:solidFill>
                  <a:srgbClr val="FFFFFF"/>
                </a:solidFill>
                <a:latin typeface="Arial" pitchFamily="34" charset="0"/>
                <a:ea typeface="Arial" pitchFamily="34" charset="-122"/>
                <a:cs typeface="Arial" pitchFamily="34" charset="-120"/>
              </a:rPr>
              <a:t>en la información.</a:t>
            </a:r>
            <a:endParaRPr lang="en-US" sz="2200" dirty="0"/>
          </a:p>
        </p:txBody>
      </p:sp>
      <p:sp>
        <p:nvSpPr>
          <p:cNvPr id="6" name="Shape 4"/>
          <p:cNvSpPr/>
          <p:nvPr/>
        </p:nvSpPr>
        <p:spPr>
          <a:xfrm>
            <a:off x="1828800" y="3703320"/>
            <a:ext cx="2286000" cy="777240"/>
          </a:xfrm>
          <a:prstGeom prst="rect">
            <a:avLst/>
          </a:prstGeom>
          <a:solidFill>
            <a:srgbClr val="2E7D32"/>
          </a:solidFill>
          <a:ln w="12700">
            <a:solidFill>
              <a:srgbClr val="2E7D32"/>
            </a:solidFill>
            <a:prstDash val="solid"/>
          </a:ln>
        </p:spPr>
        <p:txBody>
          <a:bodyPr/>
          <a:lstStyle/>
          <a:p>
            <a:endParaRPr lang="en-US"/>
          </a:p>
        </p:txBody>
      </p:sp>
      <p:sp>
        <p:nvSpPr>
          <p:cNvPr id="7" name="Text 5"/>
          <p:cNvSpPr/>
          <p:nvPr/>
        </p:nvSpPr>
        <p:spPr>
          <a:xfrm>
            <a:off x="1828800" y="3703320"/>
            <a:ext cx="228600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  VERDADERO</a:t>
            </a:r>
            <a:endParaRPr lang="en-US" sz="1800" dirty="0"/>
          </a:p>
        </p:txBody>
      </p:sp>
      <p:sp>
        <p:nvSpPr>
          <p:cNvPr id="8" name="Shape 6"/>
          <p:cNvSpPr/>
          <p:nvPr/>
        </p:nvSpPr>
        <p:spPr>
          <a:xfrm>
            <a:off x="5029200" y="3703320"/>
            <a:ext cx="2286000" cy="777240"/>
          </a:xfrm>
          <a:prstGeom prst="rect">
            <a:avLst/>
          </a:prstGeom>
          <a:solidFill>
            <a:srgbClr val="C62828"/>
          </a:solidFill>
          <a:ln w="12700">
            <a:solidFill>
              <a:srgbClr val="C62828"/>
            </a:solidFill>
            <a:prstDash val="solid"/>
          </a:ln>
        </p:spPr>
        <p:txBody>
          <a:bodyPr/>
          <a:lstStyle/>
          <a:p>
            <a:endParaRPr lang="en-US"/>
          </a:p>
        </p:txBody>
      </p:sp>
      <p:sp>
        <p:nvSpPr>
          <p:cNvPr id="9" name="Text 7"/>
          <p:cNvSpPr/>
          <p:nvPr/>
        </p:nvSpPr>
        <p:spPr>
          <a:xfrm>
            <a:off x="5029200" y="3703320"/>
            <a:ext cx="228600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  FALSO</a:t>
            </a:r>
            <a:endParaRPr lang="en-US" sz="1800" dirty="0"/>
          </a:p>
        </p:txBody>
      </p:sp>
      <p:sp>
        <p:nvSpPr>
          <p:cNvPr id="10" name="Text 8"/>
          <p:cNvSpPr/>
          <p:nvPr/>
        </p:nvSpPr>
        <p:spPr>
          <a:xfrm>
            <a:off x="3840480" y="4434840"/>
            <a:ext cx="1463040" cy="548640"/>
          </a:xfrm>
          <a:prstGeom prst="rect">
            <a:avLst/>
          </a:prstGeom>
          <a:noFill/>
          <a:ln/>
        </p:spPr>
        <p:txBody>
          <a:bodyPr wrap="square" lIns="0" tIns="0" rIns="0" bIns="0" rtlCol="0" anchor="ctr"/>
          <a:lstStyle/>
          <a:p>
            <a:pPr marL="0" indent="0" algn="ctr">
              <a:buNone/>
            </a:pPr>
            <a:r>
              <a:rPr lang="en-US" sz="3200" b="1" dirty="0">
                <a:solidFill>
                  <a:srgbClr val="808080"/>
                </a:solidFill>
                <a:latin typeface="Arial" pitchFamily="34" charset="0"/>
                <a:ea typeface="Arial" pitchFamily="34" charset="-122"/>
                <a:cs typeface="Arial" pitchFamily="34" charset="-120"/>
              </a:rPr>
              <a:t>?</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1800" b="1" dirty="0">
                <a:solidFill>
                  <a:srgbClr val="5AA8D8"/>
                </a:solidFill>
                <a:latin typeface="Arial" pitchFamily="34" charset="0"/>
                <a:ea typeface="Arial" pitchFamily="34" charset="-122"/>
                <a:cs typeface="Arial" pitchFamily="34" charset="-120"/>
              </a:rPr>
              <a:t>✅ Respuesta — Pregunta 2</a:t>
            </a:r>
            <a:endParaRPr lang="en-US" sz="1800" dirty="0"/>
          </a:p>
        </p:txBody>
      </p:sp>
      <p:sp>
        <p:nvSpPr>
          <p:cNvPr id="4" name="Shape 2"/>
          <p:cNvSpPr/>
          <p:nvPr/>
        </p:nvSpPr>
        <p:spPr>
          <a:xfrm>
            <a:off x="914400" y="822960"/>
            <a:ext cx="7315200" cy="1417320"/>
          </a:xfrm>
          <a:prstGeom prst="rect">
            <a:avLst/>
          </a:prstGeom>
          <a:solidFill>
            <a:srgbClr val="253045"/>
          </a:solidFill>
          <a:ln w="12700">
            <a:solidFill>
              <a:srgbClr val="B9DEF8"/>
            </a:solidFill>
            <a:prstDash val="solid"/>
          </a:ln>
        </p:spPr>
        <p:txBody>
          <a:bodyPr/>
          <a:lstStyle/>
          <a:p>
            <a:endParaRPr lang="en-US"/>
          </a:p>
        </p:txBody>
      </p:sp>
      <p:sp>
        <p:nvSpPr>
          <p:cNvPr id="5" name="Text 3"/>
          <p:cNvSpPr/>
          <p:nvPr/>
        </p:nvSpPr>
        <p:spPr>
          <a:xfrm>
            <a:off x="1005840" y="822960"/>
            <a:ext cx="7132320" cy="1417320"/>
          </a:xfrm>
          <a:prstGeom prst="rect">
            <a:avLst/>
          </a:prstGeom>
          <a:noFill/>
          <a:ln/>
        </p:spPr>
        <p:txBody>
          <a:bodyPr wrap="square" lIns="50800" tIns="50800" rIns="50800" bIns="50800" rtlCol="0" anchor="ctr"/>
          <a:lstStyle/>
          <a:p>
            <a:pPr marL="0" indent="0" algn="ctr">
              <a:buNone/>
            </a:pPr>
            <a:r>
              <a:rPr lang="en-US" sz="1600" dirty="0">
                <a:solidFill>
                  <a:srgbClr val="B9DEF8"/>
                </a:solidFill>
                <a:latin typeface="Arial" pitchFamily="34" charset="0"/>
                <a:ea typeface="Arial" pitchFamily="34" charset="-122"/>
                <a:cs typeface="Arial" pitchFamily="34" charset="-120"/>
              </a:rPr>
              <a:t>Una red de datos permite acceso simultáneo a una base de</a:t>
            </a:r>
            <a:endParaRPr lang="en-US" sz="1600" dirty="0"/>
          </a:p>
          <a:p>
            <a:pPr marL="0" indent="0" algn="ctr">
              <a:buNone/>
            </a:pPr>
            <a:r>
              <a:rPr lang="en-US" sz="1600" dirty="0">
                <a:solidFill>
                  <a:srgbClr val="B9DEF8"/>
                </a:solidFill>
                <a:latin typeface="Arial" pitchFamily="34" charset="0"/>
                <a:ea typeface="Arial" pitchFamily="34" charset="-122"/>
                <a:cs typeface="Arial" pitchFamily="34" charset="-120"/>
              </a:rPr>
              <a:t>datos centralizada, evitando inconsistencias.</a:t>
            </a:r>
            <a:endParaRPr lang="en-US" sz="1600" dirty="0"/>
          </a:p>
        </p:txBody>
      </p:sp>
      <p:sp>
        <p:nvSpPr>
          <p:cNvPr id="6" name="Shape 4"/>
          <p:cNvSpPr/>
          <p:nvPr/>
        </p:nvSpPr>
        <p:spPr>
          <a:xfrm>
            <a:off x="2743200" y="2423160"/>
            <a:ext cx="3657600" cy="868680"/>
          </a:xfrm>
          <a:prstGeom prst="rect">
            <a:avLst/>
          </a:prstGeom>
          <a:solidFill>
            <a:srgbClr val="2E7D32"/>
          </a:solidFill>
          <a:ln w="12700">
            <a:solidFill>
              <a:srgbClr val="2E7D32"/>
            </a:solidFill>
            <a:prstDash val="solid"/>
          </a:ln>
        </p:spPr>
        <p:txBody>
          <a:bodyPr/>
          <a:lstStyle/>
          <a:p>
            <a:endParaRPr lang="en-US"/>
          </a:p>
        </p:txBody>
      </p:sp>
      <p:sp>
        <p:nvSpPr>
          <p:cNvPr id="7" name="Text 5"/>
          <p:cNvSpPr/>
          <p:nvPr/>
        </p:nvSpPr>
        <p:spPr>
          <a:xfrm>
            <a:off x="2743200" y="2423160"/>
            <a:ext cx="3657600" cy="86868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  VERDADERO</a:t>
            </a:r>
            <a:endParaRPr lang="en-US" sz="2800" dirty="0"/>
          </a:p>
        </p:txBody>
      </p:sp>
      <p:sp>
        <p:nvSpPr>
          <p:cNvPr id="8" name="Shape 6"/>
          <p:cNvSpPr/>
          <p:nvPr/>
        </p:nvSpPr>
        <p:spPr>
          <a:xfrm>
            <a:off x="457200" y="3456432"/>
            <a:ext cx="8229600" cy="1389888"/>
          </a:xfrm>
          <a:prstGeom prst="rect">
            <a:avLst/>
          </a:prstGeom>
          <a:solidFill>
            <a:srgbClr val="1D2D1D"/>
          </a:solidFill>
          <a:ln w="19050">
            <a:solidFill>
              <a:srgbClr val="2E7D32"/>
            </a:solidFill>
            <a:prstDash val="solid"/>
          </a:ln>
        </p:spPr>
        <p:txBody>
          <a:bodyPr/>
          <a:lstStyle/>
          <a:p>
            <a:endParaRPr lang="en-US"/>
          </a:p>
        </p:txBody>
      </p:sp>
      <p:sp>
        <p:nvSpPr>
          <p:cNvPr id="9" name="Shape 7"/>
          <p:cNvSpPr/>
          <p:nvPr/>
        </p:nvSpPr>
        <p:spPr>
          <a:xfrm>
            <a:off x="457200" y="3456432"/>
            <a:ext cx="64008" cy="1389888"/>
          </a:xfrm>
          <a:prstGeom prst="rect">
            <a:avLst/>
          </a:prstGeom>
          <a:solidFill>
            <a:srgbClr val="2E7D32"/>
          </a:solidFill>
          <a:ln w="12700">
            <a:solidFill>
              <a:srgbClr val="2E7D32"/>
            </a:solidFill>
            <a:prstDash val="solid"/>
          </a:ln>
        </p:spPr>
        <p:txBody>
          <a:bodyPr/>
          <a:lstStyle/>
          <a:p>
            <a:endParaRPr lang="en-US"/>
          </a:p>
        </p:txBody>
      </p:sp>
      <p:sp>
        <p:nvSpPr>
          <p:cNvPr id="10" name="Text 8"/>
          <p:cNvSpPr/>
          <p:nvPr/>
        </p:nvSpPr>
        <p:spPr>
          <a:xfrm>
            <a:off x="594360" y="3502152"/>
            <a:ext cx="7955280" cy="274320"/>
          </a:xfrm>
          <a:prstGeom prst="rect">
            <a:avLst/>
          </a:prstGeom>
          <a:noFill/>
          <a:ln/>
        </p:spPr>
        <p:txBody>
          <a:bodyPr wrap="square" lIns="0" tIns="0" rIns="0" bIns="0" rtlCol="0" anchor="ctr"/>
          <a:lstStyle/>
          <a:p>
            <a:pPr marL="0" indent="0">
              <a:buNone/>
            </a:pPr>
            <a:r>
              <a:rPr lang="en-US" sz="1200" b="1" dirty="0">
                <a:solidFill>
                  <a:srgbClr val="66BB6A"/>
                </a:solidFill>
                <a:latin typeface="Arial" pitchFamily="34" charset="0"/>
                <a:ea typeface="Arial" pitchFamily="34" charset="-122"/>
                <a:cs typeface="Arial" pitchFamily="34" charset="-120"/>
              </a:rPr>
              <a:t>💡 Justificación</a:t>
            </a:r>
            <a:endParaRPr lang="en-US" sz="1200" dirty="0"/>
          </a:p>
        </p:txBody>
      </p:sp>
      <p:sp>
        <p:nvSpPr>
          <p:cNvPr id="11" name="Text 9"/>
          <p:cNvSpPr/>
          <p:nvPr/>
        </p:nvSpPr>
        <p:spPr>
          <a:xfrm>
            <a:off x="594360" y="3794760"/>
            <a:ext cx="7955280" cy="1005840"/>
          </a:xfrm>
          <a:prstGeom prst="rect">
            <a:avLst/>
          </a:prstGeom>
          <a:noFill/>
          <a:ln/>
        </p:spPr>
        <p:txBody>
          <a:bodyPr wrap="square" lIns="0" tIns="0" rIns="0" bIns="0" rtlCol="0" anchor="t"/>
          <a:lstStyle/>
          <a:p>
            <a:pPr marL="0" indent="0">
              <a:buNone/>
            </a:pPr>
            <a:r>
              <a:rPr lang="en-US" sz="1300" dirty="0">
                <a:solidFill>
                  <a:srgbClr val="B9DEF8"/>
                </a:solidFill>
                <a:latin typeface="Arial" pitchFamily="34" charset="0"/>
                <a:ea typeface="Arial" pitchFamily="34" charset="-122"/>
                <a:cs typeface="Arial" pitchFamily="34" charset="-120"/>
              </a:rPr>
              <a:t>Este es uno de los argumentos más importantes para implementar una red. Sin ella, cada departamento tendría su propia copia de los datos, con el riesgo de trabajar con información desactualizada o contradictoria. La red centraliza y sincroniza todo.</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1800" b="1" dirty="0">
                <a:solidFill>
                  <a:srgbClr val="5AA8D8"/>
                </a:solidFill>
                <a:latin typeface="Arial" pitchFamily="34" charset="0"/>
                <a:ea typeface="Arial" pitchFamily="34" charset="-122"/>
                <a:cs typeface="Arial" pitchFamily="34" charset="-120"/>
              </a:rPr>
              <a:t>✅ Verdadero o Falso — Pregunta 3</a:t>
            </a:r>
            <a:endParaRPr lang="en-US" sz="1800" dirty="0"/>
          </a:p>
        </p:txBody>
      </p:sp>
      <p:sp>
        <p:nvSpPr>
          <p:cNvPr id="4" name="Shape 2"/>
          <p:cNvSpPr/>
          <p:nvPr/>
        </p:nvSpPr>
        <p:spPr>
          <a:xfrm>
            <a:off x="914400" y="914400"/>
            <a:ext cx="7315200" cy="2560320"/>
          </a:xfrm>
          <a:prstGeom prst="rect">
            <a:avLst/>
          </a:prstGeom>
          <a:solidFill>
            <a:srgbClr val="253045"/>
          </a:solidFill>
          <a:ln w="25400">
            <a:solidFill>
              <a:srgbClr val="B9DEF8"/>
            </a:solidFill>
            <a:prstDash val="solid"/>
          </a:ln>
        </p:spPr>
        <p:txBody>
          <a:bodyPr/>
          <a:lstStyle/>
          <a:p>
            <a:endParaRPr lang="en-US"/>
          </a:p>
        </p:txBody>
      </p:sp>
      <p:sp>
        <p:nvSpPr>
          <p:cNvPr id="5" name="Text 3"/>
          <p:cNvSpPr/>
          <p:nvPr/>
        </p:nvSpPr>
        <p:spPr>
          <a:xfrm>
            <a:off x="1005840" y="1005840"/>
            <a:ext cx="7132320" cy="2377440"/>
          </a:xfrm>
          <a:prstGeom prst="rect">
            <a:avLst/>
          </a:prstGeom>
          <a:noFill/>
          <a:ln/>
        </p:spPr>
        <p:txBody>
          <a:bodyPr wrap="square" lIns="101600" tIns="101600" rIns="101600" bIns="10160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En 2026, un smartphone es considerado</a:t>
            </a:r>
            <a:endParaRPr lang="en-US" sz="2200" dirty="0"/>
          </a:p>
          <a:p>
            <a:pPr marL="0" indent="0" algn="ctr">
              <a:buNone/>
            </a:pPr>
            <a:r>
              <a:rPr lang="en-US" sz="2200" b="1" dirty="0">
                <a:solidFill>
                  <a:srgbClr val="FFFFFF"/>
                </a:solidFill>
                <a:latin typeface="Arial" pitchFamily="34" charset="0"/>
                <a:ea typeface="Arial" pitchFamily="34" charset="-122"/>
                <a:cs typeface="Arial" pitchFamily="34" charset="-120"/>
              </a:rPr>
              <a:t>un HOST en una red, ya que posee</a:t>
            </a:r>
            <a:endParaRPr lang="en-US" sz="2200" dirty="0"/>
          </a:p>
          <a:p>
            <a:pPr marL="0" indent="0" algn="ctr">
              <a:buNone/>
            </a:pPr>
            <a:r>
              <a:rPr lang="en-US" sz="2200" b="1" dirty="0">
                <a:solidFill>
                  <a:srgbClr val="FFFFFF"/>
                </a:solidFill>
                <a:latin typeface="Arial" pitchFamily="34" charset="0"/>
                <a:ea typeface="Arial" pitchFamily="34" charset="-122"/>
                <a:cs typeface="Arial" pitchFamily="34" charset="-120"/>
              </a:rPr>
              <a:t>dirección IP y puede conectarse</a:t>
            </a:r>
            <a:endParaRPr lang="en-US" sz="2200" dirty="0"/>
          </a:p>
          <a:p>
            <a:pPr marL="0" indent="0" algn="ctr">
              <a:buNone/>
            </a:pPr>
            <a:r>
              <a:rPr lang="en-US" sz="2200" b="1" dirty="0">
                <a:solidFill>
                  <a:srgbClr val="FFFFFF"/>
                </a:solidFill>
                <a:latin typeface="Arial" pitchFamily="34" charset="0"/>
                <a:ea typeface="Arial" pitchFamily="34" charset="-122"/>
                <a:cs typeface="Arial" pitchFamily="34" charset="-120"/>
              </a:rPr>
              <a:t>a Internet.</a:t>
            </a:r>
            <a:endParaRPr lang="en-US" sz="2200" dirty="0"/>
          </a:p>
        </p:txBody>
      </p:sp>
      <p:sp>
        <p:nvSpPr>
          <p:cNvPr id="6" name="Shape 4"/>
          <p:cNvSpPr/>
          <p:nvPr/>
        </p:nvSpPr>
        <p:spPr>
          <a:xfrm>
            <a:off x="1828800" y="3703320"/>
            <a:ext cx="2286000" cy="777240"/>
          </a:xfrm>
          <a:prstGeom prst="rect">
            <a:avLst/>
          </a:prstGeom>
          <a:solidFill>
            <a:srgbClr val="2E7D32"/>
          </a:solidFill>
          <a:ln w="12700">
            <a:solidFill>
              <a:srgbClr val="2E7D32"/>
            </a:solidFill>
            <a:prstDash val="solid"/>
          </a:ln>
        </p:spPr>
        <p:txBody>
          <a:bodyPr/>
          <a:lstStyle/>
          <a:p>
            <a:endParaRPr lang="en-US"/>
          </a:p>
        </p:txBody>
      </p:sp>
      <p:sp>
        <p:nvSpPr>
          <p:cNvPr id="7" name="Text 5"/>
          <p:cNvSpPr/>
          <p:nvPr/>
        </p:nvSpPr>
        <p:spPr>
          <a:xfrm>
            <a:off x="1828800" y="3703320"/>
            <a:ext cx="228600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  VERDADERO</a:t>
            </a:r>
            <a:endParaRPr lang="en-US" sz="1800" dirty="0"/>
          </a:p>
        </p:txBody>
      </p:sp>
      <p:sp>
        <p:nvSpPr>
          <p:cNvPr id="8" name="Shape 6"/>
          <p:cNvSpPr/>
          <p:nvPr/>
        </p:nvSpPr>
        <p:spPr>
          <a:xfrm>
            <a:off x="5029200" y="3703320"/>
            <a:ext cx="2286000" cy="777240"/>
          </a:xfrm>
          <a:prstGeom prst="rect">
            <a:avLst/>
          </a:prstGeom>
          <a:solidFill>
            <a:srgbClr val="C62828"/>
          </a:solidFill>
          <a:ln w="12700">
            <a:solidFill>
              <a:srgbClr val="C62828"/>
            </a:solidFill>
            <a:prstDash val="solid"/>
          </a:ln>
        </p:spPr>
        <p:txBody>
          <a:bodyPr/>
          <a:lstStyle/>
          <a:p>
            <a:endParaRPr lang="en-US"/>
          </a:p>
        </p:txBody>
      </p:sp>
      <p:sp>
        <p:nvSpPr>
          <p:cNvPr id="9" name="Text 7"/>
          <p:cNvSpPr/>
          <p:nvPr/>
        </p:nvSpPr>
        <p:spPr>
          <a:xfrm>
            <a:off x="5029200" y="3703320"/>
            <a:ext cx="228600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  FALSO</a:t>
            </a:r>
            <a:endParaRPr lang="en-US" sz="1800" dirty="0"/>
          </a:p>
        </p:txBody>
      </p:sp>
      <p:sp>
        <p:nvSpPr>
          <p:cNvPr id="10" name="Text 8"/>
          <p:cNvSpPr/>
          <p:nvPr/>
        </p:nvSpPr>
        <p:spPr>
          <a:xfrm>
            <a:off x="3840480" y="4434840"/>
            <a:ext cx="1463040" cy="548640"/>
          </a:xfrm>
          <a:prstGeom prst="rect">
            <a:avLst/>
          </a:prstGeom>
          <a:noFill/>
          <a:ln/>
        </p:spPr>
        <p:txBody>
          <a:bodyPr wrap="square" lIns="0" tIns="0" rIns="0" bIns="0" rtlCol="0" anchor="ctr"/>
          <a:lstStyle/>
          <a:p>
            <a:pPr marL="0" indent="0" algn="ctr">
              <a:buNone/>
            </a:pPr>
            <a:r>
              <a:rPr lang="en-US" sz="3200" b="1" dirty="0">
                <a:solidFill>
                  <a:srgbClr val="808080"/>
                </a:solidFill>
                <a:latin typeface="Arial" pitchFamily="34" charset="0"/>
                <a:ea typeface="Arial" pitchFamily="34" charset="-122"/>
                <a:cs typeface="Arial" pitchFamily="34" charset="-120"/>
              </a:rPr>
              <a:t>?</a:t>
            </a:r>
            <a:endParaRPr lang="en-US" sz="3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457200" y="182880"/>
            <a:ext cx="8229600" cy="502920"/>
          </a:xfrm>
          <a:prstGeom prst="rect">
            <a:avLst/>
          </a:prstGeom>
          <a:noFill/>
          <a:ln/>
        </p:spPr>
        <p:txBody>
          <a:bodyPr wrap="square" lIns="0" tIns="0" rIns="0" bIns="0" rtlCol="0" anchor="ctr"/>
          <a:lstStyle/>
          <a:p>
            <a:pPr marL="0" indent="0">
              <a:buNone/>
            </a:pPr>
            <a:r>
              <a:rPr lang="en-US" sz="1800" b="1" dirty="0">
                <a:solidFill>
                  <a:srgbClr val="5AA8D8"/>
                </a:solidFill>
                <a:latin typeface="Arial" pitchFamily="34" charset="0"/>
                <a:ea typeface="Arial" pitchFamily="34" charset="-122"/>
                <a:cs typeface="Arial" pitchFamily="34" charset="-120"/>
              </a:rPr>
              <a:t>✅ Respuesta — Pregunta 3</a:t>
            </a:r>
            <a:endParaRPr lang="en-US" sz="1800" dirty="0"/>
          </a:p>
        </p:txBody>
      </p:sp>
      <p:sp>
        <p:nvSpPr>
          <p:cNvPr id="4" name="Shape 2"/>
          <p:cNvSpPr/>
          <p:nvPr/>
        </p:nvSpPr>
        <p:spPr>
          <a:xfrm>
            <a:off x="914400" y="822960"/>
            <a:ext cx="7315200" cy="1417320"/>
          </a:xfrm>
          <a:prstGeom prst="rect">
            <a:avLst/>
          </a:prstGeom>
          <a:solidFill>
            <a:srgbClr val="253045"/>
          </a:solidFill>
          <a:ln w="12700">
            <a:solidFill>
              <a:srgbClr val="B9DEF8"/>
            </a:solidFill>
            <a:prstDash val="solid"/>
          </a:ln>
        </p:spPr>
        <p:txBody>
          <a:bodyPr/>
          <a:lstStyle/>
          <a:p>
            <a:endParaRPr lang="en-US"/>
          </a:p>
        </p:txBody>
      </p:sp>
      <p:sp>
        <p:nvSpPr>
          <p:cNvPr id="5" name="Text 3"/>
          <p:cNvSpPr/>
          <p:nvPr/>
        </p:nvSpPr>
        <p:spPr>
          <a:xfrm>
            <a:off x="1005840" y="822960"/>
            <a:ext cx="7132320" cy="1417320"/>
          </a:xfrm>
          <a:prstGeom prst="rect">
            <a:avLst/>
          </a:prstGeom>
          <a:noFill/>
          <a:ln/>
        </p:spPr>
        <p:txBody>
          <a:bodyPr wrap="square" lIns="50800" tIns="50800" rIns="50800" bIns="50800" rtlCol="0" anchor="ctr"/>
          <a:lstStyle/>
          <a:p>
            <a:pPr marL="0" indent="0" algn="ctr">
              <a:buNone/>
            </a:pPr>
            <a:r>
              <a:rPr lang="en-US" sz="1600" dirty="0">
                <a:solidFill>
                  <a:srgbClr val="B9DEF8"/>
                </a:solidFill>
                <a:latin typeface="Arial" pitchFamily="34" charset="0"/>
                <a:ea typeface="Arial" pitchFamily="34" charset="-122"/>
                <a:cs typeface="Arial" pitchFamily="34" charset="-120"/>
              </a:rPr>
              <a:t>En la </a:t>
            </a:r>
            <a:r>
              <a:rPr lang="en-US" sz="1600" dirty="0" err="1">
                <a:solidFill>
                  <a:srgbClr val="B9DEF8"/>
                </a:solidFill>
                <a:latin typeface="Arial" pitchFamily="34" charset="0"/>
                <a:ea typeface="Arial" pitchFamily="34" charset="-122"/>
                <a:cs typeface="Arial" pitchFamily="34" charset="-120"/>
              </a:rPr>
              <a:t>actualidad</a:t>
            </a:r>
            <a:r>
              <a:rPr lang="en-US" sz="1600" dirty="0">
                <a:solidFill>
                  <a:srgbClr val="B9DEF8"/>
                </a:solidFill>
                <a:latin typeface="Arial" pitchFamily="34" charset="0"/>
                <a:ea typeface="Arial" pitchFamily="34" charset="-122"/>
                <a:cs typeface="Arial" pitchFamily="34" charset="-120"/>
              </a:rPr>
              <a:t>, un smartphone es un HOST en la red</a:t>
            </a:r>
            <a:endParaRPr lang="en-US" sz="1600" dirty="0"/>
          </a:p>
          <a:p>
            <a:pPr marL="0" indent="0" algn="ctr">
              <a:buNone/>
            </a:pPr>
            <a:r>
              <a:rPr lang="en-US" sz="1600" dirty="0">
                <a:solidFill>
                  <a:srgbClr val="B9DEF8"/>
                </a:solidFill>
                <a:latin typeface="Arial" pitchFamily="34" charset="0"/>
                <a:ea typeface="Arial" pitchFamily="34" charset="-122"/>
                <a:cs typeface="Arial" pitchFamily="34" charset="-120"/>
              </a:rPr>
              <a:t>con dirección IP y conectividad a Internet.</a:t>
            </a:r>
            <a:endParaRPr lang="en-US" sz="1600" dirty="0"/>
          </a:p>
        </p:txBody>
      </p:sp>
      <p:sp>
        <p:nvSpPr>
          <p:cNvPr id="6" name="Shape 4"/>
          <p:cNvSpPr/>
          <p:nvPr/>
        </p:nvSpPr>
        <p:spPr>
          <a:xfrm>
            <a:off x="2743200" y="2423160"/>
            <a:ext cx="3657600" cy="868680"/>
          </a:xfrm>
          <a:prstGeom prst="rect">
            <a:avLst/>
          </a:prstGeom>
          <a:solidFill>
            <a:srgbClr val="2E7D32"/>
          </a:solidFill>
          <a:ln w="12700">
            <a:solidFill>
              <a:srgbClr val="2E7D32"/>
            </a:solidFill>
            <a:prstDash val="solid"/>
          </a:ln>
        </p:spPr>
        <p:txBody>
          <a:bodyPr/>
          <a:lstStyle/>
          <a:p>
            <a:endParaRPr lang="en-US"/>
          </a:p>
        </p:txBody>
      </p:sp>
      <p:sp>
        <p:nvSpPr>
          <p:cNvPr id="7" name="Text 5"/>
          <p:cNvSpPr/>
          <p:nvPr/>
        </p:nvSpPr>
        <p:spPr>
          <a:xfrm>
            <a:off x="2743200" y="2423160"/>
            <a:ext cx="3657600" cy="86868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  VERDADERO</a:t>
            </a:r>
            <a:endParaRPr lang="en-US" sz="2800" dirty="0"/>
          </a:p>
        </p:txBody>
      </p:sp>
      <p:sp>
        <p:nvSpPr>
          <p:cNvPr id="8" name="Shape 6"/>
          <p:cNvSpPr/>
          <p:nvPr/>
        </p:nvSpPr>
        <p:spPr>
          <a:xfrm>
            <a:off x="457200" y="3456432"/>
            <a:ext cx="8229600" cy="1389888"/>
          </a:xfrm>
          <a:prstGeom prst="rect">
            <a:avLst/>
          </a:prstGeom>
          <a:solidFill>
            <a:srgbClr val="1D2D1D"/>
          </a:solidFill>
          <a:ln w="19050">
            <a:solidFill>
              <a:srgbClr val="2E7D32"/>
            </a:solidFill>
            <a:prstDash val="solid"/>
          </a:ln>
        </p:spPr>
        <p:txBody>
          <a:bodyPr/>
          <a:lstStyle/>
          <a:p>
            <a:endParaRPr lang="en-US"/>
          </a:p>
        </p:txBody>
      </p:sp>
      <p:sp>
        <p:nvSpPr>
          <p:cNvPr id="9" name="Shape 7"/>
          <p:cNvSpPr/>
          <p:nvPr/>
        </p:nvSpPr>
        <p:spPr>
          <a:xfrm>
            <a:off x="457200" y="3456432"/>
            <a:ext cx="64008" cy="1389888"/>
          </a:xfrm>
          <a:prstGeom prst="rect">
            <a:avLst/>
          </a:prstGeom>
          <a:solidFill>
            <a:srgbClr val="2E7D32"/>
          </a:solidFill>
          <a:ln w="12700">
            <a:solidFill>
              <a:srgbClr val="2E7D32"/>
            </a:solidFill>
            <a:prstDash val="solid"/>
          </a:ln>
        </p:spPr>
        <p:txBody>
          <a:bodyPr/>
          <a:lstStyle/>
          <a:p>
            <a:endParaRPr lang="en-US"/>
          </a:p>
        </p:txBody>
      </p:sp>
      <p:sp>
        <p:nvSpPr>
          <p:cNvPr id="10" name="Text 8"/>
          <p:cNvSpPr/>
          <p:nvPr/>
        </p:nvSpPr>
        <p:spPr>
          <a:xfrm>
            <a:off x="594360" y="3502152"/>
            <a:ext cx="7955280" cy="274320"/>
          </a:xfrm>
          <a:prstGeom prst="rect">
            <a:avLst/>
          </a:prstGeom>
          <a:noFill/>
          <a:ln/>
        </p:spPr>
        <p:txBody>
          <a:bodyPr wrap="square" lIns="0" tIns="0" rIns="0" bIns="0" rtlCol="0" anchor="ctr"/>
          <a:lstStyle/>
          <a:p>
            <a:pPr marL="0" indent="0">
              <a:buNone/>
            </a:pPr>
            <a:r>
              <a:rPr lang="en-US" sz="1200" b="1" dirty="0">
                <a:solidFill>
                  <a:srgbClr val="66BB6A"/>
                </a:solidFill>
                <a:latin typeface="Arial" pitchFamily="34" charset="0"/>
                <a:ea typeface="Arial" pitchFamily="34" charset="-122"/>
                <a:cs typeface="Arial" pitchFamily="34" charset="-120"/>
              </a:rPr>
              <a:t>💡 Justificación</a:t>
            </a:r>
            <a:endParaRPr lang="en-US" sz="1200" dirty="0"/>
          </a:p>
        </p:txBody>
      </p:sp>
      <p:sp>
        <p:nvSpPr>
          <p:cNvPr id="11" name="Text 9"/>
          <p:cNvSpPr/>
          <p:nvPr/>
        </p:nvSpPr>
        <p:spPr>
          <a:xfrm>
            <a:off x="594360" y="3794760"/>
            <a:ext cx="7955280" cy="1005840"/>
          </a:xfrm>
          <a:prstGeom prst="rect">
            <a:avLst/>
          </a:prstGeom>
          <a:noFill/>
          <a:ln/>
        </p:spPr>
        <p:txBody>
          <a:bodyPr wrap="square" lIns="0" tIns="0" rIns="0" bIns="0" rtlCol="0" anchor="t"/>
          <a:lstStyle/>
          <a:p>
            <a:pPr marL="0" indent="0">
              <a:buNone/>
            </a:pPr>
            <a:r>
              <a:rPr lang="en-US" sz="1300" dirty="0">
                <a:solidFill>
                  <a:srgbClr val="B9DEF8"/>
                </a:solidFill>
                <a:latin typeface="Arial" pitchFamily="34" charset="0"/>
                <a:ea typeface="Arial" pitchFamily="34" charset="-122"/>
                <a:cs typeface="Arial" pitchFamily="34" charset="-120"/>
              </a:rPr>
              <a:t>Un host es cualquier dispositivo con dirección IP conectado a una red. Los smartphones modernos usan TCP/IP (los mismos protocolos que las computadoras) y se conectan a redes Wi-Fi y móviles. Son, en todos los aspectos técnicos, hosts de la red.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5006340"/>
            <a:ext cx="9144000" cy="137160"/>
          </a:xfrm>
          <a:prstGeom prst="rect">
            <a:avLst/>
          </a:prstGeom>
          <a:solidFill>
            <a:srgbClr val="5AA8D8"/>
          </a:solidFill>
          <a:ln w="12700">
            <a:solidFill>
              <a:srgbClr val="5AA8D8"/>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365760" y="320040"/>
            <a:ext cx="1417320" cy="1216152"/>
          </a:xfrm>
          <a:prstGeom prst="rect">
            <a:avLst/>
          </a:prstGeom>
        </p:spPr>
      </p:pic>
      <p:sp>
        <p:nvSpPr>
          <p:cNvPr id="5" name="Text 2"/>
          <p:cNvSpPr/>
          <p:nvPr/>
        </p:nvSpPr>
        <p:spPr>
          <a:xfrm>
            <a:off x="2103120" y="365760"/>
            <a:ext cx="6675120" cy="777240"/>
          </a:xfrm>
          <a:prstGeom prst="rect">
            <a:avLst/>
          </a:prstGeom>
          <a:noFill/>
          <a:ln/>
        </p:spPr>
        <p:txBody>
          <a:bodyPr wrap="square" lIns="0" tIns="0" rIns="0" bIns="0" rtlCol="0" anchor="ctr"/>
          <a:lstStyle/>
          <a:p>
            <a:pPr marL="0" indent="0">
              <a:buNone/>
            </a:pPr>
            <a:r>
              <a:rPr lang="en-US" sz="4800" b="1" dirty="0">
                <a:solidFill>
                  <a:srgbClr val="FFFFFF"/>
                </a:solidFill>
                <a:latin typeface="Arial" pitchFamily="34" charset="0"/>
                <a:ea typeface="Arial" pitchFamily="34" charset="-122"/>
                <a:cs typeface="Arial" pitchFamily="34" charset="-120"/>
              </a:rPr>
              <a:t>¡Gracias!</a:t>
            </a:r>
            <a:endParaRPr lang="en-US" sz="4800" dirty="0"/>
          </a:p>
        </p:txBody>
      </p:sp>
      <p:sp>
        <p:nvSpPr>
          <p:cNvPr id="6" name="Shape 3"/>
          <p:cNvSpPr/>
          <p:nvPr/>
        </p:nvSpPr>
        <p:spPr>
          <a:xfrm>
            <a:off x="2103120" y="1234440"/>
            <a:ext cx="6400800" cy="54864"/>
          </a:xfrm>
          <a:prstGeom prst="rect">
            <a:avLst/>
          </a:prstGeom>
          <a:solidFill>
            <a:srgbClr val="5AA8D8"/>
          </a:solidFill>
          <a:ln w="12700">
            <a:solidFill>
              <a:srgbClr val="5AA8D8"/>
            </a:solidFill>
            <a:prstDash val="solid"/>
          </a:ln>
        </p:spPr>
        <p:txBody>
          <a:bodyPr/>
          <a:lstStyle/>
          <a:p>
            <a:endParaRPr lang="en-US"/>
          </a:p>
        </p:txBody>
      </p:sp>
      <p:sp>
        <p:nvSpPr>
          <p:cNvPr id="7" name="Text 4"/>
          <p:cNvSpPr/>
          <p:nvPr/>
        </p:nvSpPr>
        <p:spPr>
          <a:xfrm>
            <a:off x="2103120" y="1417320"/>
            <a:ext cx="6400800" cy="457200"/>
          </a:xfrm>
          <a:prstGeom prst="rect">
            <a:avLst/>
          </a:prstGeom>
          <a:noFill/>
          <a:ln/>
        </p:spPr>
        <p:txBody>
          <a:bodyPr wrap="square" lIns="0" tIns="0" rIns="0" bIns="0" rtlCol="0" anchor="ctr"/>
          <a:lstStyle/>
          <a:p>
            <a:pPr marL="0" indent="0">
              <a:buNone/>
            </a:pPr>
            <a:r>
              <a:rPr lang="en-US" sz="2000" b="1" dirty="0">
                <a:solidFill>
                  <a:srgbClr val="5AA8D8"/>
                </a:solidFill>
                <a:latin typeface="Arial" pitchFamily="34" charset="0"/>
                <a:ea typeface="Arial" pitchFamily="34" charset="-122"/>
                <a:cs typeface="Arial" pitchFamily="34" charset="-120"/>
              </a:rPr>
              <a:t>SP1 / H1: Usos de las Redes de Datos</a:t>
            </a:r>
            <a:endParaRPr lang="en-US" sz="2000" dirty="0"/>
          </a:p>
        </p:txBody>
      </p:sp>
      <p:sp>
        <p:nvSpPr>
          <p:cNvPr id="8" name="Text 5"/>
          <p:cNvSpPr/>
          <p:nvPr/>
        </p:nvSpPr>
        <p:spPr>
          <a:xfrm>
            <a:off x="2103120" y="1965960"/>
            <a:ext cx="6400800" cy="685800"/>
          </a:xfrm>
          <a:prstGeom prst="rect">
            <a:avLst/>
          </a:prstGeom>
          <a:noFill/>
          <a:ln/>
        </p:spPr>
        <p:txBody>
          <a:bodyPr wrap="square" lIns="0" tIns="0" rIns="0" bIns="0" rtlCol="0" anchor="ctr"/>
          <a:lstStyle/>
          <a:p>
            <a:pPr marL="0" indent="0">
              <a:buNone/>
            </a:pPr>
            <a:r>
              <a:rPr lang="en-US" sz="1500" dirty="0">
                <a:solidFill>
                  <a:srgbClr val="808080"/>
                </a:solidFill>
                <a:latin typeface="Arial" pitchFamily="34" charset="0"/>
                <a:ea typeface="Arial" pitchFamily="34" charset="-122"/>
                <a:cs typeface="Arial" pitchFamily="34" charset="-120"/>
              </a:rPr>
              <a:t>Redes y Comunicaciones</a:t>
            </a:r>
            <a:endParaRPr lang="en-US" sz="1500" dirty="0"/>
          </a:p>
          <a:p>
            <a:pPr marL="0" indent="0">
              <a:buNone/>
            </a:pPr>
            <a:r>
              <a:rPr lang="en-US" sz="1500" dirty="0">
                <a:solidFill>
                  <a:srgbClr val="808080"/>
                </a:solidFill>
                <a:latin typeface="Arial" pitchFamily="34" charset="0"/>
                <a:ea typeface="Arial" pitchFamily="34" charset="-122"/>
                <a:cs typeface="Arial" pitchFamily="34" charset="-120"/>
              </a:rPr>
              <a:t>Colegio Universitario IES — 2026</a:t>
            </a:r>
            <a:endParaRPr lang="en-US" sz="1500" dirty="0"/>
          </a:p>
        </p:txBody>
      </p:sp>
      <p:sp>
        <p:nvSpPr>
          <p:cNvPr id="9" name="Shape 6"/>
          <p:cNvSpPr/>
          <p:nvPr/>
        </p:nvSpPr>
        <p:spPr>
          <a:xfrm>
            <a:off x="365760" y="2926080"/>
            <a:ext cx="2057400" cy="1783080"/>
          </a:xfrm>
          <a:prstGeom prst="rect">
            <a:avLst/>
          </a:prstGeom>
          <a:solidFill>
            <a:srgbClr val="3D4545"/>
          </a:solidFill>
          <a:ln w="12700">
            <a:solidFill>
              <a:srgbClr val="3A7BAA"/>
            </a:solidFill>
            <a:prstDash val="solid"/>
          </a:ln>
        </p:spPr>
        <p:txBody>
          <a:bodyPr/>
          <a:lstStyle/>
          <a:p>
            <a:endParaRPr lang="en-US"/>
          </a:p>
        </p:txBody>
      </p:sp>
      <p:sp>
        <p:nvSpPr>
          <p:cNvPr id="10" name="Text 7"/>
          <p:cNvSpPr/>
          <p:nvPr/>
        </p:nvSpPr>
        <p:spPr>
          <a:xfrm>
            <a:off x="365760" y="3063240"/>
            <a:ext cx="205740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1" name="Text 8"/>
          <p:cNvSpPr/>
          <p:nvPr/>
        </p:nvSpPr>
        <p:spPr>
          <a:xfrm>
            <a:off x="457200" y="3703320"/>
            <a:ext cx="1874520" cy="384048"/>
          </a:xfrm>
          <a:prstGeom prst="rect">
            <a:avLst/>
          </a:prstGeom>
          <a:noFill/>
          <a:ln/>
        </p:spPr>
        <p:txBody>
          <a:bodyPr wrap="square" lIns="0" tIns="0" rIns="0" bIns="0" rtlCol="0" anchor="ctr"/>
          <a:lstStyle/>
          <a:p>
            <a:pPr marL="0" indent="0" algn="ctr">
              <a:buNone/>
            </a:pPr>
            <a:r>
              <a:rPr lang="en-US" sz="1300" b="1" dirty="0">
                <a:solidFill>
                  <a:srgbClr val="5AA8D8"/>
                </a:solidFill>
                <a:latin typeface="Arial" pitchFamily="34" charset="0"/>
                <a:ea typeface="Arial" pitchFamily="34" charset="-122"/>
                <a:cs typeface="Arial" pitchFamily="34" charset="-120"/>
              </a:rPr>
              <a:t>Stand Alone</a:t>
            </a:r>
            <a:endParaRPr lang="en-US" sz="1300" dirty="0"/>
          </a:p>
        </p:txBody>
      </p:sp>
      <p:sp>
        <p:nvSpPr>
          <p:cNvPr id="12" name="Text 9"/>
          <p:cNvSpPr/>
          <p:nvPr/>
        </p:nvSpPr>
        <p:spPr>
          <a:xfrm>
            <a:off x="457200" y="4114800"/>
            <a:ext cx="1874520" cy="502920"/>
          </a:xfrm>
          <a:prstGeom prst="rect">
            <a:avLst/>
          </a:prstGeom>
          <a:noFill/>
          <a:ln/>
        </p:spPr>
        <p:txBody>
          <a:bodyPr wrap="square" lIns="25400" tIns="25400" rIns="25400" bIns="25400" rtlCol="0" anchor="ctr"/>
          <a:lstStyle/>
          <a:p>
            <a:pPr marL="0" indent="0" algn="ctr">
              <a:buNone/>
            </a:pPr>
            <a:r>
              <a:rPr lang="en-US" sz="1100" dirty="0">
                <a:solidFill>
                  <a:srgbClr val="B9DEF8"/>
                </a:solidFill>
                <a:latin typeface="Arial" pitchFamily="34" charset="0"/>
                <a:ea typeface="Arial" pitchFamily="34" charset="-122"/>
                <a:cs typeface="Arial" pitchFamily="34" charset="-120"/>
              </a:rPr>
              <a:t>Sin red, sin colaboración</a:t>
            </a:r>
            <a:endParaRPr lang="en-US" sz="1100" dirty="0"/>
          </a:p>
        </p:txBody>
      </p:sp>
      <p:sp>
        <p:nvSpPr>
          <p:cNvPr id="13" name="Shape 10"/>
          <p:cNvSpPr/>
          <p:nvPr/>
        </p:nvSpPr>
        <p:spPr>
          <a:xfrm>
            <a:off x="2542032" y="2926080"/>
            <a:ext cx="2057400" cy="1783080"/>
          </a:xfrm>
          <a:prstGeom prst="rect">
            <a:avLst/>
          </a:prstGeom>
          <a:solidFill>
            <a:srgbClr val="3D4545"/>
          </a:solidFill>
          <a:ln w="12700">
            <a:solidFill>
              <a:srgbClr val="3A7BAA"/>
            </a:solidFill>
            <a:prstDash val="solid"/>
          </a:ln>
        </p:spPr>
        <p:txBody>
          <a:bodyPr/>
          <a:lstStyle/>
          <a:p>
            <a:endParaRPr lang="en-US"/>
          </a:p>
        </p:txBody>
      </p:sp>
      <p:sp>
        <p:nvSpPr>
          <p:cNvPr id="14" name="Text 11"/>
          <p:cNvSpPr/>
          <p:nvPr/>
        </p:nvSpPr>
        <p:spPr>
          <a:xfrm>
            <a:off x="2542032" y="3063240"/>
            <a:ext cx="205740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5" name="Text 12"/>
          <p:cNvSpPr/>
          <p:nvPr/>
        </p:nvSpPr>
        <p:spPr>
          <a:xfrm>
            <a:off x="2633472" y="3703320"/>
            <a:ext cx="1874520" cy="384048"/>
          </a:xfrm>
          <a:prstGeom prst="rect">
            <a:avLst/>
          </a:prstGeom>
          <a:noFill/>
          <a:ln/>
        </p:spPr>
        <p:txBody>
          <a:bodyPr wrap="square" lIns="0" tIns="0" rIns="0" bIns="0" rtlCol="0" anchor="ctr"/>
          <a:lstStyle/>
          <a:p>
            <a:pPr marL="0" indent="0" algn="ctr">
              <a:buNone/>
            </a:pPr>
            <a:r>
              <a:rPr lang="en-US" sz="1300" b="1" dirty="0">
                <a:solidFill>
                  <a:srgbClr val="5AA8D8"/>
                </a:solidFill>
                <a:latin typeface="Arial" pitchFamily="34" charset="0"/>
                <a:ea typeface="Arial" pitchFamily="34" charset="-122"/>
                <a:cs typeface="Arial" pitchFamily="34" charset="-120"/>
              </a:rPr>
              <a:t>Red de datos</a:t>
            </a:r>
            <a:endParaRPr lang="en-US" sz="1300" dirty="0"/>
          </a:p>
        </p:txBody>
      </p:sp>
      <p:sp>
        <p:nvSpPr>
          <p:cNvPr id="16" name="Text 13"/>
          <p:cNvSpPr/>
          <p:nvPr/>
        </p:nvSpPr>
        <p:spPr>
          <a:xfrm>
            <a:off x="2633472" y="4114800"/>
            <a:ext cx="1874520" cy="502920"/>
          </a:xfrm>
          <a:prstGeom prst="rect">
            <a:avLst/>
          </a:prstGeom>
          <a:noFill/>
          <a:ln/>
        </p:spPr>
        <p:txBody>
          <a:bodyPr wrap="square" lIns="25400" tIns="25400" rIns="25400" bIns="25400" rtlCol="0" anchor="ctr"/>
          <a:lstStyle/>
          <a:p>
            <a:pPr marL="0" indent="0" algn="ctr">
              <a:buNone/>
            </a:pPr>
            <a:r>
              <a:rPr lang="en-US" sz="1100" dirty="0">
                <a:solidFill>
                  <a:srgbClr val="B9DEF8"/>
                </a:solidFill>
                <a:latin typeface="Arial" pitchFamily="34" charset="0"/>
                <a:ea typeface="Arial" pitchFamily="34" charset="-122"/>
                <a:cs typeface="Arial" pitchFamily="34" charset="-120"/>
              </a:rPr>
              <a:t>Compartir hardware e información</a:t>
            </a:r>
            <a:endParaRPr lang="en-US" sz="1100" dirty="0"/>
          </a:p>
        </p:txBody>
      </p:sp>
      <p:sp>
        <p:nvSpPr>
          <p:cNvPr id="17" name="Shape 14"/>
          <p:cNvSpPr/>
          <p:nvPr/>
        </p:nvSpPr>
        <p:spPr>
          <a:xfrm>
            <a:off x="4718304" y="2926080"/>
            <a:ext cx="2057400" cy="1783080"/>
          </a:xfrm>
          <a:prstGeom prst="rect">
            <a:avLst/>
          </a:prstGeom>
          <a:solidFill>
            <a:srgbClr val="3D4545"/>
          </a:solidFill>
          <a:ln w="12700">
            <a:solidFill>
              <a:srgbClr val="3A7BAA"/>
            </a:solidFill>
            <a:prstDash val="solid"/>
          </a:ln>
        </p:spPr>
        <p:txBody>
          <a:bodyPr/>
          <a:lstStyle/>
          <a:p>
            <a:endParaRPr lang="en-US"/>
          </a:p>
        </p:txBody>
      </p:sp>
      <p:sp>
        <p:nvSpPr>
          <p:cNvPr id="18" name="Text 15"/>
          <p:cNvSpPr/>
          <p:nvPr/>
        </p:nvSpPr>
        <p:spPr>
          <a:xfrm>
            <a:off x="4718304" y="3063240"/>
            <a:ext cx="205740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9" name="Text 16"/>
          <p:cNvSpPr/>
          <p:nvPr/>
        </p:nvSpPr>
        <p:spPr>
          <a:xfrm>
            <a:off x="4809744" y="3703320"/>
            <a:ext cx="1874520" cy="384048"/>
          </a:xfrm>
          <a:prstGeom prst="rect">
            <a:avLst/>
          </a:prstGeom>
          <a:noFill/>
          <a:ln/>
        </p:spPr>
        <p:txBody>
          <a:bodyPr wrap="square" lIns="0" tIns="0" rIns="0" bIns="0" rtlCol="0" anchor="ctr"/>
          <a:lstStyle/>
          <a:p>
            <a:pPr marL="0" indent="0" algn="ctr">
              <a:buNone/>
            </a:pPr>
            <a:r>
              <a:rPr lang="en-US" sz="1300" b="1" dirty="0">
                <a:solidFill>
                  <a:srgbClr val="5AA8D8"/>
                </a:solidFill>
                <a:latin typeface="Arial" pitchFamily="34" charset="0"/>
                <a:ea typeface="Arial" pitchFamily="34" charset="-122"/>
                <a:cs typeface="Arial" pitchFamily="34" charset="-120"/>
              </a:rPr>
              <a:t>Host moderno</a:t>
            </a:r>
            <a:endParaRPr lang="en-US" sz="1300" dirty="0"/>
          </a:p>
        </p:txBody>
      </p:sp>
      <p:sp>
        <p:nvSpPr>
          <p:cNvPr id="20" name="Text 17"/>
          <p:cNvSpPr/>
          <p:nvPr/>
        </p:nvSpPr>
        <p:spPr>
          <a:xfrm>
            <a:off x="4809744" y="4114800"/>
            <a:ext cx="1874520" cy="502920"/>
          </a:xfrm>
          <a:prstGeom prst="rect">
            <a:avLst/>
          </a:prstGeom>
          <a:noFill/>
          <a:ln/>
        </p:spPr>
        <p:txBody>
          <a:bodyPr wrap="square" lIns="25400" tIns="25400" rIns="25400" bIns="25400" rtlCol="0" anchor="ctr"/>
          <a:lstStyle/>
          <a:p>
            <a:pPr marL="0" indent="0" algn="ctr">
              <a:buNone/>
            </a:pPr>
            <a:r>
              <a:rPr lang="en-US" sz="1100" dirty="0">
                <a:solidFill>
                  <a:srgbClr val="B9DEF8"/>
                </a:solidFill>
                <a:latin typeface="Arial" pitchFamily="34" charset="0"/>
                <a:ea typeface="Arial" pitchFamily="34" charset="-122"/>
                <a:cs typeface="Arial" pitchFamily="34" charset="-120"/>
              </a:rPr>
              <a:t>PC, móvil, IoT, cloud</a:t>
            </a:r>
            <a:endParaRPr lang="en-US" sz="1100" dirty="0"/>
          </a:p>
        </p:txBody>
      </p:sp>
      <p:sp>
        <p:nvSpPr>
          <p:cNvPr id="21" name="Shape 18"/>
          <p:cNvSpPr/>
          <p:nvPr/>
        </p:nvSpPr>
        <p:spPr>
          <a:xfrm>
            <a:off x="6894576" y="2926080"/>
            <a:ext cx="2057400" cy="1783080"/>
          </a:xfrm>
          <a:prstGeom prst="rect">
            <a:avLst/>
          </a:prstGeom>
          <a:solidFill>
            <a:srgbClr val="3D4545"/>
          </a:solidFill>
          <a:ln w="12700">
            <a:solidFill>
              <a:srgbClr val="3A7BAA"/>
            </a:solidFill>
            <a:prstDash val="solid"/>
          </a:ln>
        </p:spPr>
        <p:txBody>
          <a:bodyPr/>
          <a:lstStyle/>
          <a:p>
            <a:endParaRPr lang="en-US"/>
          </a:p>
        </p:txBody>
      </p:sp>
      <p:sp>
        <p:nvSpPr>
          <p:cNvPr id="22" name="Text 19"/>
          <p:cNvSpPr/>
          <p:nvPr/>
        </p:nvSpPr>
        <p:spPr>
          <a:xfrm>
            <a:off x="6894576" y="3063240"/>
            <a:ext cx="205740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3" name="Text 20"/>
          <p:cNvSpPr/>
          <p:nvPr/>
        </p:nvSpPr>
        <p:spPr>
          <a:xfrm>
            <a:off x="6986016" y="3703320"/>
            <a:ext cx="1874520" cy="384048"/>
          </a:xfrm>
          <a:prstGeom prst="rect">
            <a:avLst/>
          </a:prstGeom>
          <a:noFill/>
          <a:ln/>
        </p:spPr>
        <p:txBody>
          <a:bodyPr wrap="square" lIns="0" tIns="0" rIns="0" bIns="0" rtlCol="0" anchor="ctr"/>
          <a:lstStyle/>
          <a:p>
            <a:pPr marL="0" indent="0" algn="ctr">
              <a:buNone/>
            </a:pPr>
            <a:r>
              <a:rPr lang="en-US" sz="1300" b="1" dirty="0">
                <a:solidFill>
                  <a:srgbClr val="5AA8D8"/>
                </a:solidFill>
                <a:latin typeface="Arial" pitchFamily="34" charset="0"/>
                <a:ea typeface="Arial" pitchFamily="34" charset="-122"/>
                <a:cs typeface="Arial" pitchFamily="34" charset="-120"/>
              </a:rPr>
              <a:t>Seguridad</a:t>
            </a:r>
            <a:endParaRPr lang="en-US" sz="1300" dirty="0"/>
          </a:p>
        </p:txBody>
      </p:sp>
      <p:sp>
        <p:nvSpPr>
          <p:cNvPr id="24" name="Text 21"/>
          <p:cNvSpPr/>
          <p:nvPr/>
        </p:nvSpPr>
        <p:spPr>
          <a:xfrm>
            <a:off x="6986016" y="4114800"/>
            <a:ext cx="1874520" cy="502920"/>
          </a:xfrm>
          <a:prstGeom prst="rect">
            <a:avLst/>
          </a:prstGeom>
          <a:noFill/>
          <a:ln/>
        </p:spPr>
        <p:txBody>
          <a:bodyPr wrap="square" lIns="25400" tIns="25400" rIns="25400" bIns="25400" rtlCol="0" anchor="ctr"/>
          <a:lstStyle/>
          <a:p>
            <a:pPr marL="0" indent="0" algn="ctr">
              <a:buNone/>
            </a:pPr>
            <a:r>
              <a:rPr lang="en-US" sz="1100" dirty="0">
                <a:solidFill>
                  <a:srgbClr val="B9DEF8"/>
                </a:solidFill>
                <a:latin typeface="Arial" pitchFamily="34" charset="0"/>
                <a:ea typeface="Arial" pitchFamily="34" charset="-122"/>
                <a:cs typeface="Arial" pitchFamily="34" charset="-120"/>
              </a:rPr>
              <a:t>El mayor desafío actual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TotalTime>
  <Words>1247</Words>
  <Application>Microsoft Office PowerPoint</Application>
  <PresentationFormat>Presentación en pantalla (16:9)</PresentationFormat>
  <Paragraphs>211</Paragraphs>
  <Slides>16</Slides>
  <Notes>16</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16</vt:i4>
      </vt:variant>
    </vt:vector>
  </HeadingPairs>
  <TitlesOfParts>
    <vt:vector size="18"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SP1/H1 - Usos de las Redes de Datos</dc:title>
  <dc:subject>PptxGenJS Presentation</dc:subject>
  <dc:creator>IES - Redes y Comunicaciones</dc:creator>
  <cp:lastModifiedBy>PEREZ ESPAÑON, ANTONIO VICTOR</cp:lastModifiedBy>
  <cp:revision>3</cp:revision>
  <dcterms:created xsi:type="dcterms:W3CDTF">2026-03-30T22:51:37Z</dcterms:created>
  <dcterms:modified xsi:type="dcterms:W3CDTF">2026-04-04T03:51:01Z</dcterms:modified>
</cp:coreProperties>
</file>